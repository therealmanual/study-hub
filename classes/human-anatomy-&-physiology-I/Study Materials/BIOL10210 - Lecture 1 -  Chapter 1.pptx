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81"/>
  </p:notesMasterIdLst>
  <p:sldIdLst>
    <p:sldId id="496" r:id="rId11"/>
    <p:sldId id="305" r:id="rId12"/>
    <p:sldId id="497" r:id="rId13"/>
    <p:sldId id="258" r:id="rId14"/>
    <p:sldId id="259" r:id="rId15"/>
    <p:sldId id="260" r:id="rId16"/>
    <p:sldId id="261" r:id="rId17"/>
    <p:sldId id="262" r:id="rId18"/>
    <p:sldId id="263" r:id="rId19"/>
    <p:sldId id="516" r:id="rId20"/>
    <p:sldId id="326" r:id="rId21"/>
    <p:sldId id="264" r:id="rId22"/>
    <p:sldId id="266" r:id="rId23"/>
    <p:sldId id="265" r:id="rId24"/>
    <p:sldId id="267" r:id="rId25"/>
    <p:sldId id="268" r:id="rId26"/>
    <p:sldId id="269" r:id="rId27"/>
    <p:sldId id="270" r:id="rId28"/>
    <p:sldId id="498" r:id="rId29"/>
    <p:sldId id="271" r:id="rId30"/>
    <p:sldId id="272" r:id="rId31"/>
    <p:sldId id="273" r:id="rId32"/>
    <p:sldId id="274" r:id="rId33"/>
    <p:sldId id="275" r:id="rId34"/>
    <p:sldId id="499" r:id="rId35"/>
    <p:sldId id="276" r:id="rId36"/>
    <p:sldId id="500" r:id="rId37"/>
    <p:sldId id="277" r:id="rId38"/>
    <p:sldId id="327" r:id="rId39"/>
    <p:sldId id="278" r:id="rId40"/>
    <p:sldId id="501" r:id="rId41"/>
    <p:sldId id="279" r:id="rId42"/>
    <p:sldId id="502" r:id="rId43"/>
    <p:sldId id="517" r:id="rId44"/>
    <p:sldId id="280" r:id="rId45"/>
    <p:sldId id="281" r:id="rId46"/>
    <p:sldId id="328" r:id="rId47"/>
    <p:sldId id="282" r:id="rId48"/>
    <p:sldId id="503" r:id="rId49"/>
    <p:sldId id="504" r:id="rId50"/>
    <p:sldId id="505" r:id="rId51"/>
    <p:sldId id="283" r:id="rId52"/>
    <p:sldId id="506" r:id="rId53"/>
    <p:sldId id="507" r:id="rId54"/>
    <p:sldId id="508" r:id="rId55"/>
    <p:sldId id="519" r:id="rId56"/>
    <p:sldId id="518" r:id="rId57"/>
    <p:sldId id="509" r:id="rId58"/>
    <p:sldId id="521" r:id="rId59"/>
    <p:sldId id="520" r:id="rId60"/>
    <p:sldId id="285" r:id="rId61"/>
    <p:sldId id="522" r:id="rId62"/>
    <p:sldId id="510" r:id="rId63"/>
    <p:sldId id="286" r:id="rId64"/>
    <p:sldId id="511" r:id="rId65"/>
    <p:sldId id="288" r:id="rId66"/>
    <p:sldId id="289" r:id="rId67"/>
    <p:sldId id="512" r:id="rId68"/>
    <p:sldId id="513" r:id="rId69"/>
    <p:sldId id="292" r:id="rId70"/>
    <p:sldId id="514" r:id="rId71"/>
    <p:sldId id="293" r:id="rId72"/>
    <p:sldId id="294" r:id="rId73"/>
    <p:sldId id="295" r:id="rId74"/>
    <p:sldId id="296" r:id="rId75"/>
    <p:sldId id="314" r:id="rId76"/>
    <p:sldId id="298" r:id="rId77"/>
    <p:sldId id="300" r:id="rId78"/>
    <p:sldId id="301" r:id="rId79"/>
    <p:sldId id="323" r:id="rId80"/>
  </p:sldIdLst>
  <p:sldSz cx="9144000" cy="6858000" type="screen4x3"/>
  <p:notesSz cx="7102475" cy="9388475"/>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2880">
          <p15:clr>
            <a:srgbClr val="A4A3A4"/>
          </p15:clr>
        </p15:guide>
        <p15:guide id="3" pos="5664" userDrawn="1">
          <p15:clr>
            <a:srgbClr val="A4A3A4"/>
          </p15:clr>
        </p15:guide>
        <p15:guide id="4" pos="192" userDrawn="1">
          <p15:clr>
            <a:srgbClr val="A4A3A4"/>
          </p15:clr>
        </p15:guide>
        <p15:guide id="5" pos="4464" userDrawn="1">
          <p15:clr>
            <a:srgbClr val="A4A3A4"/>
          </p15:clr>
        </p15:guide>
        <p15:guide id="6" pos="1632"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CD" initials="CD" lastIdx="6" clrIdx="4">
    <p:extLst>
      <p:ext uri="{19B8F6BF-5375-455C-9EA6-DF929625EA0E}">
        <p15:presenceInfo xmlns:p15="http://schemas.microsoft.com/office/powerpoint/2012/main" userId="C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D5D6"/>
    <a:srgbClr val="E4E5E3"/>
    <a:srgbClr val="EAEAE9"/>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2" autoAdjust="0"/>
    <p:restoredTop sz="86375" autoAdjust="0"/>
  </p:normalViewPr>
  <p:slideViewPr>
    <p:cSldViewPr snapToGrid="0">
      <p:cViewPr varScale="1">
        <p:scale>
          <a:sx n="78" d="100"/>
          <a:sy n="78" d="100"/>
        </p:scale>
        <p:origin x="1212" y="84"/>
      </p:cViewPr>
      <p:guideLst>
        <p:guide orient="horz" pos="1200"/>
        <p:guide pos="2880"/>
        <p:guide pos="5664"/>
        <p:guide pos="192"/>
        <p:guide pos="4464"/>
        <p:guide pos="1632"/>
      </p:guideLst>
    </p:cSldViewPr>
  </p:slideViewPr>
  <p:outlineViewPr>
    <p:cViewPr>
      <p:scale>
        <a:sx n="33" d="100"/>
        <a:sy n="33" d="100"/>
      </p:scale>
      <p:origin x="0" y="-17520"/>
    </p:cViewPr>
  </p:outlineViewPr>
  <p:notesTextViewPr>
    <p:cViewPr>
      <p:scale>
        <a:sx n="66" d="100"/>
        <a:sy n="66" d="100"/>
      </p:scale>
      <p:origin x="0" y="0"/>
    </p:cViewPr>
  </p:notesTextViewPr>
  <p:sorterViewPr>
    <p:cViewPr varScale="1">
      <p:scale>
        <a:sx n="1" d="1"/>
        <a:sy n="1" d="1"/>
      </p:scale>
      <p:origin x="0" y="-6378"/>
    </p:cViewPr>
  </p:sorterViewPr>
  <p:notesViewPr>
    <p:cSldViewPr snapToGrid="0">
      <p:cViewPr varScale="1">
        <p:scale>
          <a:sx n="134" d="100"/>
          <a:sy n="134" d="100"/>
        </p:scale>
        <p:origin x="3184" y="200"/>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slide" Target="slides/slide53.xml"/><Relationship Id="rId68" Type="http://schemas.openxmlformats.org/officeDocument/2006/relationships/slide" Target="slides/slide58.xml"/><Relationship Id="rId76" Type="http://schemas.openxmlformats.org/officeDocument/2006/relationships/slide" Target="slides/slide66.xml"/><Relationship Id="rId84"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slide" Target="slides/slide64.xml"/><Relationship Id="rId79" Type="http://schemas.openxmlformats.org/officeDocument/2006/relationships/slide" Target="slides/slide69.xml"/><Relationship Id="rId87"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1.xml"/><Relationship Id="rId82" Type="http://schemas.openxmlformats.org/officeDocument/2006/relationships/tags" Target="tags/tag1.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notesMaster" Target="notesMasters/notesMaster1.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5" tIns="47113" rIns="94225" bIns="47113" rtlCol="0"/>
          <a:lstStyle>
            <a:lvl1pPr algn="l">
              <a:defRPr sz="1300"/>
            </a:lvl1pPr>
          </a:lstStyle>
          <a:p>
            <a:endParaRPr lang="en-US" dirty="0"/>
          </a:p>
        </p:txBody>
      </p:sp>
      <p:sp>
        <p:nvSpPr>
          <p:cNvPr id="3" name="Date Placeholder 2"/>
          <p:cNvSpPr>
            <a:spLocks noGrp="1"/>
          </p:cNvSpPr>
          <p:nvPr>
            <p:ph type="dt" idx="1"/>
          </p:nvPr>
        </p:nvSpPr>
        <p:spPr>
          <a:xfrm>
            <a:off x="4023092" y="0"/>
            <a:ext cx="3077739" cy="469424"/>
          </a:xfrm>
          <a:prstGeom prst="rect">
            <a:avLst/>
          </a:prstGeom>
        </p:spPr>
        <p:txBody>
          <a:bodyPr vert="horz" lIns="94225" tIns="47113" rIns="94225" bIns="47113" rtlCol="0"/>
          <a:lstStyle>
            <a:lvl1pPr algn="r">
              <a:defRPr sz="1300"/>
            </a:lvl1pPr>
          </a:lstStyle>
          <a:p>
            <a:fld id="{E194C1A8-DC4B-4329-AF88-FD913597DE85}" type="datetimeFigureOut">
              <a:rPr lang="en-US" smtClean="0"/>
              <a:t>5/23/2021</a:t>
            </a:fld>
            <a:endParaRPr lang="en-US" dirty="0"/>
          </a:p>
        </p:txBody>
      </p:sp>
      <p:sp>
        <p:nvSpPr>
          <p:cNvPr id="4" name="Slide Image Placeholder 3"/>
          <p:cNvSpPr>
            <a:spLocks noGrp="1" noRot="1" noChangeAspect="1"/>
          </p:cNvSpPr>
          <p:nvPr>
            <p:ph type="sldImg" idx="2"/>
          </p:nvPr>
        </p:nvSpPr>
        <p:spPr>
          <a:xfrm>
            <a:off x="1204913" y="704850"/>
            <a:ext cx="4692650" cy="3521075"/>
          </a:xfrm>
          <a:prstGeom prst="rect">
            <a:avLst/>
          </a:prstGeom>
          <a:noFill/>
          <a:ln w="12700">
            <a:solidFill>
              <a:prstClr val="black"/>
            </a:solidFill>
          </a:ln>
        </p:spPr>
        <p:txBody>
          <a:bodyPr vert="horz" lIns="94225" tIns="47113" rIns="94225" bIns="47113" rtlCol="0" anchor="ctr"/>
          <a:lstStyle/>
          <a:p>
            <a:endParaRPr lang="en-US" dirty="0"/>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5" tIns="47113" rIns="94225" bIns="471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5" tIns="47113" rIns="94225" bIns="47113"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5" tIns="47113" rIns="94225" bIns="47113"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35796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8</a:t>
            </a:fld>
            <a:endParaRPr lang="en-US" dirty="0"/>
          </a:p>
        </p:txBody>
      </p:sp>
    </p:spTree>
    <p:extLst>
      <p:ext uri="{BB962C8B-B14F-4D97-AF65-F5344CB8AC3E}">
        <p14:creationId xmlns:p14="http://schemas.microsoft.com/office/powerpoint/2010/main" val="3397111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24</a:t>
            </a:fld>
            <a:endParaRPr lang="en-US" dirty="0"/>
          </a:p>
        </p:txBody>
      </p:sp>
    </p:spTree>
    <p:extLst>
      <p:ext uri="{BB962C8B-B14F-4D97-AF65-F5344CB8AC3E}">
        <p14:creationId xmlns:p14="http://schemas.microsoft.com/office/powerpoint/2010/main" val="380636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r>
              <a:rPr lang="en-US" dirty="0"/>
              <a:t>You must be connected to the Internet and in Slideshow Mode to run this animation.</a:t>
            </a:r>
          </a:p>
        </p:txBody>
      </p:sp>
      <p:sp>
        <p:nvSpPr>
          <p:cNvPr id="4" name="Slide Number Placeholder 3"/>
          <p:cNvSpPr>
            <a:spLocks noGrp="1"/>
          </p:cNvSpPr>
          <p:nvPr>
            <p:ph type="sldNum" sz="quarter" idx="5"/>
          </p:nvPr>
        </p:nvSpPr>
        <p:spPr/>
        <p:txBody>
          <a:bodyPr/>
          <a:lstStyle/>
          <a:p>
            <a:fld id="{A8073E54-D085-4E2E-B9A5-A53D7E51940E}" type="slidenum">
              <a:rPr lang="en-US" smtClean="0"/>
              <a:t>30</a:t>
            </a:fld>
            <a:endParaRPr lang="en-US" dirty="0"/>
          </a:p>
        </p:txBody>
      </p:sp>
    </p:spTree>
    <p:extLst>
      <p:ext uri="{BB962C8B-B14F-4D97-AF65-F5344CB8AC3E}">
        <p14:creationId xmlns:p14="http://schemas.microsoft.com/office/powerpoint/2010/main" val="1748045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r>
              <a:rPr lang="en-US" dirty="0"/>
              <a:t>You must be connected to the Internet and in Slideshow Mode to run this animation.</a:t>
            </a:r>
          </a:p>
        </p:txBody>
      </p:sp>
      <p:sp>
        <p:nvSpPr>
          <p:cNvPr id="4" name="Slide Number Placeholder 3"/>
          <p:cNvSpPr>
            <a:spLocks noGrp="1"/>
          </p:cNvSpPr>
          <p:nvPr>
            <p:ph type="sldNum" sz="quarter" idx="5"/>
          </p:nvPr>
        </p:nvSpPr>
        <p:spPr/>
        <p:txBody>
          <a:bodyPr/>
          <a:lstStyle/>
          <a:p>
            <a:fld id="{A8073E54-D085-4E2E-B9A5-A53D7E51940E}" type="slidenum">
              <a:rPr lang="en-US" smtClean="0"/>
              <a:t>33</a:t>
            </a:fld>
            <a:endParaRPr lang="en-US" dirty="0"/>
          </a:p>
        </p:txBody>
      </p:sp>
    </p:spTree>
    <p:extLst>
      <p:ext uri="{BB962C8B-B14F-4D97-AF65-F5344CB8AC3E}">
        <p14:creationId xmlns:p14="http://schemas.microsoft.com/office/powerpoint/2010/main" val="780000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r>
              <a:rPr lang="en-US" dirty="0"/>
              <a:t>You must be connected to the Internet and in Slideshow Mode to run this animation.</a:t>
            </a:r>
          </a:p>
        </p:txBody>
      </p:sp>
      <p:sp>
        <p:nvSpPr>
          <p:cNvPr id="4" name="Slide Number Placeholder 3"/>
          <p:cNvSpPr>
            <a:spLocks noGrp="1"/>
          </p:cNvSpPr>
          <p:nvPr>
            <p:ph type="sldNum" sz="quarter" idx="5"/>
          </p:nvPr>
        </p:nvSpPr>
        <p:spPr/>
        <p:txBody>
          <a:bodyPr/>
          <a:lstStyle/>
          <a:p>
            <a:fld id="{A8073E54-D085-4E2E-B9A5-A53D7E51940E}" type="slidenum">
              <a:rPr lang="en-US" smtClean="0"/>
              <a:t>34</a:t>
            </a:fld>
            <a:endParaRPr lang="en-US" dirty="0"/>
          </a:p>
        </p:txBody>
      </p:sp>
    </p:spTree>
    <p:extLst>
      <p:ext uri="{BB962C8B-B14F-4D97-AF65-F5344CB8AC3E}">
        <p14:creationId xmlns:p14="http://schemas.microsoft.com/office/powerpoint/2010/main" val="2474169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38</a:t>
            </a:fld>
            <a:endParaRPr lang="en-US" dirty="0"/>
          </a:p>
        </p:txBody>
      </p:sp>
    </p:spTree>
    <p:extLst>
      <p:ext uri="{BB962C8B-B14F-4D97-AF65-F5344CB8AC3E}">
        <p14:creationId xmlns:p14="http://schemas.microsoft.com/office/powerpoint/2010/main" val="2764814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39</a:t>
            </a:fld>
            <a:endParaRPr lang="en-US" dirty="0"/>
          </a:p>
        </p:txBody>
      </p:sp>
    </p:spTree>
    <p:extLst>
      <p:ext uri="{BB962C8B-B14F-4D97-AF65-F5344CB8AC3E}">
        <p14:creationId xmlns:p14="http://schemas.microsoft.com/office/powerpoint/2010/main" val="3814110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42</a:t>
            </a:fld>
            <a:endParaRPr lang="en-US" dirty="0"/>
          </a:p>
        </p:txBody>
      </p:sp>
    </p:spTree>
    <p:extLst>
      <p:ext uri="{BB962C8B-B14F-4D97-AF65-F5344CB8AC3E}">
        <p14:creationId xmlns:p14="http://schemas.microsoft.com/office/powerpoint/2010/main" val="323079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43</a:t>
            </a:fld>
            <a:endParaRPr lang="en-US" dirty="0"/>
          </a:p>
        </p:txBody>
      </p:sp>
    </p:spTree>
    <p:extLst>
      <p:ext uri="{BB962C8B-B14F-4D97-AF65-F5344CB8AC3E}">
        <p14:creationId xmlns:p14="http://schemas.microsoft.com/office/powerpoint/2010/main" val="4029687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58</a:t>
            </a:fld>
            <a:endParaRPr lang="en-US" dirty="0"/>
          </a:p>
        </p:txBody>
      </p:sp>
    </p:spTree>
    <p:extLst>
      <p:ext uri="{BB962C8B-B14F-4D97-AF65-F5344CB8AC3E}">
        <p14:creationId xmlns:p14="http://schemas.microsoft.com/office/powerpoint/2010/main" val="2492552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60</a:t>
            </a:fld>
            <a:endParaRPr lang="en-US" dirty="0"/>
          </a:p>
        </p:txBody>
      </p:sp>
    </p:spTree>
    <p:extLst>
      <p:ext uri="{BB962C8B-B14F-4D97-AF65-F5344CB8AC3E}">
        <p14:creationId xmlns:p14="http://schemas.microsoft.com/office/powerpoint/2010/main" val="3351234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91357">
              <a:defRPr/>
            </a:pPr>
            <a:endParaRPr lang="en-US" dirty="0">
              <a:latin typeface="Calibri "/>
            </a:endParaRPr>
          </a:p>
        </p:txBody>
      </p:sp>
      <p:sp>
        <p:nvSpPr>
          <p:cNvPr id="4" name="Slide Number Placeholder 3"/>
          <p:cNvSpPr>
            <a:spLocks noGrp="1"/>
          </p:cNvSpPr>
          <p:nvPr>
            <p:ph type="sldNum" sz="quarter" idx="10"/>
          </p:nvPr>
        </p:nvSpPr>
        <p:spPr/>
        <p:txBody>
          <a:bodyPr/>
          <a:lstStyle/>
          <a:p>
            <a:fld id="{A8073E54-D085-4E2E-B9A5-A53D7E51940E}" type="slidenum">
              <a:rPr lang="en-US" smtClean="0"/>
              <a:t>61</a:t>
            </a:fld>
            <a:endParaRPr lang="en-US" dirty="0"/>
          </a:p>
        </p:txBody>
      </p:sp>
    </p:spTree>
    <p:extLst>
      <p:ext uri="{BB962C8B-B14F-4D97-AF65-F5344CB8AC3E}">
        <p14:creationId xmlns:p14="http://schemas.microsoft.com/office/powerpoint/2010/main" val="2873898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70</a:t>
            </a:fld>
            <a:endParaRPr lang="en-US" dirty="0"/>
          </a:p>
        </p:txBody>
      </p:sp>
    </p:spTree>
    <p:extLst>
      <p:ext uri="{BB962C8B-B14F-4D97-AF65-F5344CB8AC3E}">
        <p14:creationId xmlns:p14="http://schemas.microsoft.com/office/powerpoint/2010/main" val="952343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828800"/>
            <a:ext cx="8839200" cy="4572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4343400"/>
            <a:ext cx="8839200" cy="23622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838200"/>
            <a:ext cx="8839200" cy="2189672"/>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105400"/>
            <a:ext cx="8839200" cy="6858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9596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53578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F5D095A-BE6A-47A1-8722-8C6BB720CC13}"/>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DEFECBCA-CFAF-4829-AEAC-1A3EFCAE9F2B}"/>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786427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82295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856488"/>
          </a:xfrm>
          <a:prstGeom prst="rect">
            <a:avLst/>
          </a:prstGeom>
        </p:spPr>
        <p:txBody>
          <a:bodyPr/>
          <a:lstStyle>
            <a:lvl1pPr>
              <a:defRPr sz="4000" b="1"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8704" y="762002"/>
            <a:ext cx="8540496" cy="838198"/>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1"/>
            <a:ext cx="8534400" cy="831850"/>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6857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9" name="TextBox 8">
            <a:extLst>
              <a:ext uri="{FF2B5EF4-FFF2-40B4-BE49-F238E27FC236}">
                <a16:creationId xmlns:a16="http://schemas.microsoft.com/office/drawing/2014/main" id="{FB501DE6-FC1F-4C0F-B099-C234E332659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4E5A6272-279A-4E71-B650-7305815A41A9}"/>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977103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599"/>
            <a:ext cx="8534400" cy="43433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TextBox 6">
            <a:extLst>
              <a:ext uri="{FF2B5EF4-FFF2-40B4-BE49-F238E27FC236}">
                <a16:creationId xmlns:a16="http://schemas.microsoft.com/office/drawing/2014/main" id="{49F3BC24-D00F-46ED-9B77-96B82B16530C}"/>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8" name="Slide Number Placeholder 5">
            <a:extLst>
              <a:ext uri="{FF2B5EF4-FFF2-40B4-BE49-F238E27FC236}">
                <a16:creationId xmlns:a16="http://schemas.microsoft.com/office/drawing/2014/main" id="{F6CBFB03-72E3-4638-BD49-DEAC24330D52}"/>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53979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22098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7" name="Content Placeholder 6">
            <a:extLst>
              <a:ext uri="{FF2B5EF4-FFF2-40B4-BE49-F238E27FC236}">
                <a16:creationId xmlns:a16="http://schemas.microsoft.com/office/drawing/2014/main" id="{52B1A8B2-2771-405C-ADB7-8F62B695734A}"/>
              </a:ext>
            </a:extLst>
          </p:cNvPr>
          <p:cNvSpPr>
            <a:spLocks noGrp="1"/>
          </p:cNvSpPr>
          <p:nvPr>
            <p:ph sz="quarter" idx="17"/>
          </p:nvPr>
        </p:nvSpPr>
        <p:spPr>
          <a:xfrm>
            <a:off x="304800" y="4191000"/>
            <a:ext cx="8458200" cy="1752600"/>
          </a:xfrm>
          <a:prstGeom prst="rect">
            <a:avLst/>
          </a:prstGeom>
        </p:spPr>
        <p:txBody>
          <a:bodyPr/>
          <a:lstStyle>
            <a:lvl1pPr marL="0" indent="0">
              <a:buNone/>
              <a:defRPr/>
            </a:lvl1pPr>
          </a:lstStyle>
          <a:p>
            <a:pPr lvl="0"/>
            <a:endParaRPr lang="en-US" dirty="0"/>
          </a:p>
        </p:txBody>
      </p:sp>
      <p:sp>
        <p:nvSpPr>
          <p:cNvPr id="8" name="TextBox 7">
            <a:extLst>
              <a:ext uri="{FF2B5EF4-FFF2-40B4-BE49-F238E27FC236}">
                <a16:creationId xmlns:a16="http://schemas.microsoft.com/office/drawing/2014/main" id="{726C990E-8B83-4B60-916E-6CE28C3F6DCA}"/>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00CD5B1C-2CB6-469B-B41C-DBEBB2CEFA2C}"/>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8953155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A1108085-6D8E-4689-991B-902943EB6D3D}"/>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D16373F4-B83A-400A-A60C-3FCC3DFC45A1}"/>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1264760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
        <p:nvSpPr>
          <p:cNvPr id="8" name="TextBox 7">
            <a:extLst>
              <a:ext uri="{FF2B5EF4-FFF2-40B4-BE49-F238E27FC236}">
                <a16:creationId xmlns:a16="http://schemas.microsoft.com/office/drawing/2014/main" id="{F5E6360E-5B6F-4AAB-86ED-9632394E8A31}"/>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10" name="Slide Number Placeholder 5">
            <a:extLst>
              <a:ext uri="{FF2B5EF4-FFF2-40B4-BE49-F238E27FC236}">
                <a16:creationId xmlns:a16="http://schemas.microsoft.com/office/drawing/2014/main" id="{77BBB985-21A2-4C48-B021-545D1D7D91E5}"/>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
        <p:nvSpPr>
          <p:cNvPr id="11" name="Picture Placeholder 10">
            <a:extLst>
              <a:ext uri="{FF2B5EF4-FFF2-40B4-BE49-F238E27FC236}">
                <a16:creationId xmlns:a16="http://schemas.microsoft.com/office/drawing/2014/main" id="{89617563-8D73-4C30-971E-1632BF42D33E}"/>
              </a:ext>
            </a:extLst>
          </p:cNvPr>
          <p:cNvSpPr>
            <a:spLocks noGrp="1"/>
          </p:cNvSpPr>
          <p:nvPr>
            <p:ph type="pic" sz="quarter" idx="19"/>
          </p:nvPr>
        </p:nvSpPr>
        <p:spPr>
          <a:xfrm>
            <a:off x="636588" y="3429000"/>
            <a:ext cx="2779712" cy="1089025"/>
          </a:xfrm>
          <a:prstGeom prst="rect">
            <a:avLst/>
          </a:prstGeom>
        </p:spPr>
        <p:txBody>
          <a:bodyPr/>
          <a:lstStyle/>
          <a:p>
            <a:endParaRPr lang="en-US"/>
          </a:p>
        </p:txBody>
      </p:sp>
      <p:sp>
        <p:nvSpPr>
          <p:cNvPr id="13" name="Table Placeholder 12">
            <a:extLst>
              <a:ext uri="{FF2B5EF4-FFF2-40B4-BE49-F238E27FC236}">
                <a16:creationId xmlns:a16="http://schemas.microsoft.com/office/drawing/2014/main" id="{3C31ED0D-F26D-466E-B664-31DE0E08F964}"/>
              </a:ext>
            </a:extLst>
          </p:cNvPr>
          <p:cNvSpPr>
            <a:spLocks noGrp="1"/>
          </p:cNvSpPr>
          <p:nvPr>
            <p:ph type="tbl" sz="quarter" idx="20"/>
          </p:nvPr>
        </p:nvSpPr>
        <p:spPr>
          <a:xfrm>
            <a:off x="5854700" y="3952875"/>
            <a:ext cx="2652713" cy="1489075"/>
          </a:xfrm>
          <a:prstGeom prst="rect">
            <a:avLst/>
          </a:prstGeom>
        </p:spPr>
        <p:txBody>
          <a:bodyPr/>
          <a:lstStyle/>
          <a:p>
            <a:endParaRPr lang="en-US"/>
          </a:p>
        </p:txBody>
      </p:sp>
    </p:spTree>
    <p:extLst>
      <p:ext uri="{BB962C8B-B14F-4D97-AF65-F5344CB8AC3E}">
        <p14:creationId xmlns:p14="http://schemas.microsoft.com/office/powerpoint/2010/main" val="613298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13265" y="2980267"/>
            <a:ext cx="8534400" cy="838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TextBox 7">
            <a:extLst>
              <a:ext uri="{FF2B5EF4-FFF2-40B4-BE49-F238E27FC236}">
                <a16:creationId xmlns:a16="http://schemas.microsoft.com/office/drawing/2014/main" id="{D6301D86-595C-4C8C-8A69-C187BE494230}"/>
              </a:ext>
            </a:extLst>
          </p:cNvPr>
          <p:cNvSpPr txBox="1"/>
          <p:nvPr userDrawn="1"/>
        </p:nvSpPr>
        <p:spPr>
          <a:xfrm>
            <a:off x="2941320" y="6419851"/>
            <a:ext cx="3278293" cy="276999"/>
          </a:xfrm>
          <a:prstGeom prst="rect">
            <a:avLst/>
          </a:prstGeom>
          <a:noFill/>
        </p:spPr>
        <p:txBody>
          <a:bodyPr wrap="square" rtlCol="0">
            <a:spAutoFit/>
          </a:bodyPr>
          <a:lstStyle/>
          <a:p>
            <a:pPr marL="0" indent="0" algn="ctr" defTabSz="914400" rtl="0" eaLnBrk="1" latinLnBrk="0" hangingPunct="1">
              <a:buNone/>
            </a:pPr>
            <a:r>
              <a:rPr lang="en-US" sz="1200" b="0" i="0" kern="1200" dirty="0">
                <a:solidFill>
                  <a:schemeClr val="tx1">
                    <a:tint val="75000"/>
                  </a:schemeClr>
                </a:solidFill>
                <a:latin typeface="Calibri" panose="020F0502020204030204" pitchFamily="34" charset="0"/>
                <a:ea typeface="Times New Roman" charset="0"/>
                <a:cs typeface="Times New Roman" charset="0"/>
              </a:rPr>
              <a:t>Copyright ©2021 John Wiley &amp; Sons, Inc.</a:t>
            </a:r>
          </a:p>
        </p:txBody>
      </p:sp>
      <p:sp>
        <p:nvSpPr>
          <p:cNvPr id="9" name="Slide Number Placeholder 5">
            <a:extLst>
              <a:ext uri="{FF2B5EF4-FFF2-40B4-BE49-F238E27FC236}">
                <a16:creationId xmlns:a16="http://schemas.microsoft.com/office/drawing/2014/main" id="{3969569B-6835-4753-9259-94CFABF9200F}"/>
              </a:ext>
            </a:extLst>
          </p:cNvPr>
          <p:cNvSpPr txBox="1">
            <a:spLocks/>
          </p:cNvSpPr>
          <p:nvPr userDrawn="1"/>
        </p:nvSpPr>
        <p:spPr>
          <a:xfrm>
            <a:off x="8275657" y="6438773"/>
            <a:ext cx="559780" cy="258077"/>
          </a:xfrm>
          <a:prstGeom prst="rect">
            <a:avLst/>
          </a:prstGeom>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algn="ctr" defTabSz="914400" rtl="0" eaLnBrk="1" latinLnBrk="0" hangingPunct="1">
              <a:defRPr/>
            </a:pPr>
            <a:fld id="{6F94BB01-2447-4377-8194-F82F4D072C18}" type="slidenum">
              <a:rPr lang="en-US" sz="1200" b="0" i="0" kern="1200" smtClean="0">
                <a:solidFill>
                  <a:schemeClr val="tx1">
                    <a:tint val="75000"/>
                  </a:schemeClr>
                </a:solidFill>
                <a:latin typeface="Calibri" pitchFamily="34" charset="0"/>
                <a:ea typeface="Times New Roman" charset="0"/>
                <a:cs typeface="Times New Roman" charset="0"/>
              </a:rPr>
              <a:pPr marL="0" algn="ctr" defTabSz="914400" rtl="0" eaLnBrk="1" latinLnBrk="0" hangingPunct="1">
                <a:defRPr/>
              </a:pPr>
              <a:t>‹#›</a:t>
            </a:fld>
            <a:endParaRPr lang="en-US" sz="1200" b="0" i="0" kern="1200" dirty="0">
              <a:solidFill>
                <a:schemeClr val="tx1">
                  <a:tint val="75000"/>
                </a:schemeClr>
              </a:solidFill>
              <a:latin typeface="Calibri" pitchFamily="34" charset="0"/>
              <a:ea typeface="Times New Roman" charset="0"/>
              <a:cs typeface="Times New Roman" charset="0"/>
            </a:endParaRPr>
          </a:p>
        </p:txBody>
      </p:sp>
    </p:spTree>
    <p:extLst>
      <p:ext uri="{BB962C8B-B14F-4D97-AF65-F5344CB8AC3E}">
        <p14:creationId xmlns:p14="http://schemas.microsoft.com/office/powerpoint/2010/main" val="27128524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theme" Target="../theme/theme6.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83" r:id="rId3"/>
    <p:sldLayoutId id="2147483984" r:id="rId4"/>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©2017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1" r:id="rId3"/>
    <p:sldLayoutId id="2147483974" r:id="rId4"/>
    <p:sldLayoutId id="2147483975" r:id="rId5"/>
    <p:sldLayoutId id="2147483982" r:id="rId6"/>
  </p:sldLayoutIdLst>
  <p:hf hdr="0" dt="0"/>
  <p:txStyles>
    <p:titleStyle>
      <a:lvl1pPr algn="l" defTabSz="914400" rtl="0" eaLnBrk="1" latinLnBrk="0" hangingPunct="1">
        <a:lnSpc>
          <a:spcPct val="90000"/>
        </a:lnSpc>
        <a:spcBef>
          <a:spcPct val="0"/>
        </a:spcBef>
        <a:buNone/>
        <a:defRPr sz="4000" b="1"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©2017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hyperlink" Target="https://education.wiley.com/wpng/api/v1/content/resource/7ba4b0b5-0c9d-48fe-979a-cbaefc08ee44" TargetMode="External"/><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hyperlink" Target="https://education.wiley.com/wpng/api/v1/content/resource/375a2c47-e874-4990-bcaf-fdea8735686f"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hyperlink" Target="https://education.wiley.com/wpng/api/v1/content/resource/a0aa6c69-b603-4fa7-b7e2-840afc672ddd" TargetMode="External"/><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1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800" b="1" dirty="0">
                <a:latin typeface="Calibri" panose="020F0502020204030204" pitchFamily="34" charset="0"/>
                <a:cs typeface="Calibri" panose="020F0502020204030204" pitchFamily="34" charset="0"/>
              </a:rPr>
              <a:t>Principles of Anatomy and Physiology</a:t>
            </a:r>
          </a:p>
        </p:txBody>
      </p:sp>
      <p:sp>
        <p:nvSpPr>
          <p:cNvPr id="4" name="Author"/>
          <p:cNvSpPr>
            <a:spLocks noGrp="1"/>
          </p:cNvSpPr>
          <p:nvPr>
            <p:ph sz="quarter" idx="21"/>
          </p:nvPr>
        </p:nvSpPr>
        <p:spPr>
          <a:prstGeom prst="rect">
            <a:avLst/>
          </a:prstGeom>
        </p:spPr>
        <p:txBody>
          <a:bodyPr/>
          <a:lstStyle/>
          <a:p>
            <a:r>
              <a:rPr lang="sv-SE" dirty="0">
                <a:latin typeface="Calibri" panose="020F0502020204030204" pitchFamily="34" charset="0"/>
                <a:cs typeface="Calibri" panose="020F0502020204030204" pitchFamily="34" charset="0"/>
              </a:rPr>
              <a:t>Gerard Tortora and Bryan Derrickson</a:t>
            </a:r>
          </a:p>
        </p:txBody>
      </p:sp>
      <p:sp>
        <p:nvSpPr>
          <p:cNvPr id="3" name="Edition"/>
          <p:cNvSpPr>
            <a:spLocks noGrp="1"/>
          </p:cNvSpPr>
          <p:nvPr>
            <p:ph sz="quarter" idx="22"/>
          </p:nvPr>
        </p:nvSpPr>
        <p:spPr>
          <a:prstGeom prst="rect">
            <a:avLst/>
          </a:prstGeom>
        </p:spPr>
        <p:txBody>
          <a:bodyPr/>
          <a:lstStyle/>
          <a:p>
            <a:r>
              <a:rPr lang="en-US" dirty="0">
                <a:latin typeface="Calibri" panose="020F0502020204030204" pitchFamily="34" charset="0"/>
                <a:cs typeface="Calibri" panose="020F0502020204030204" pitchFamily="34" charset="0"/>
              </a:rPr>
              <a:t>Sixteenth Edition</a:t>
            </a:r>
          </a:p>
        </p:txBody>
      </p:sp>
      <p:sp>
        <p:nvSpPr>
          <p:cNvPr id="5" name="CN"/>
          <p:cNvSpPr>
            <a:spLocks noGrp="1"/>
          </p:cNvSpPr>
          <p:nvPr>
            <p:ph sz="quarter" idx="19"/>
          </p:nvPr>
        </p:nvSpPr>
        <p:spPr>
          <a:xfrm>
            <a:off x="152400" y="3628572"/>
            <a:ext cx="8839200" cy="533400"/>
          </a:xfrm>
        </p:spPr>
        <p:txBody>
          <a:bodyPr anchor="ctr"/>
          <a:lstStyle/>
          <a:p>
            <a:r>
              <a:rPr lang="en-US" dirty="0">
                <a:latin typeface="Calibri" panose="020F0502020204030204" pitchFamily="34" charset="0"/>
                <a:cs typeface="Calibri" panose="020F0502020204030204" pitchFamily="34" charset="0"/>
              </a:rPr>
              <a:t>Chapter 1</a:t>
            </a:r>
          </a:p>
        </p:txBody>
      </p:sp>
      <p:sp>
        <p:nvSpPr>
          <p:cNvPr id="6" name="CT"/>
          <p:cNvSpPr>
            <a:spLocks noGrp="1"/>
          </p:cNvSpPr>
          <p:nvPr>
            <p:ph sz="quarter" idx="20"/>
          </p:nvPr>
        </p:nvSpPr>
        <p:spPr>
          <a:xfrm>
            <a:off x="152400" y="4366920"/>
            <a:ext cx="8839200" cy="833000"/>
          </a:xfrm>
        </p:spPr>
        <p:txBody>
          <a:bodyPr/>
          <a:lstStyle/>
          <a:p>
            <a:r>
              <a:rPr lang="en-US" altLang="en-US" sz="3600" dirty="0">
                <a:latin typeface="Calibri" panose="020F0502020204030204" pitchFamily="34" charset="0"/>
                <a:cs typeface="Calibri" panose="020F0502020204030204" pitchFamily="34" charset="0"/>
              </a:rPr>
              <a:t>An Introduction to the Human Body</a:t>
            </a:r>
          </a:p>
        </p:txBody>
      </p:sp>
      <p:sp>
        <p:nvSpPr>
          <p:cNvPr id="14" name="Content Placeholder 13"/>
          <p:cNvSpPr>
            <a:spLocks noGrp="1"/>
          </p:cNvSpPr>
          <p:nvPr>
            <p:ph sz="quarter" idx="24"/>
          </p:nvPr>
        </p:nvSpPr>
        <p:spPr>
          <a:xfrm>
            <a:off x="152400" y="6003472"/>
            <a:ext cx="8839200" cy="273050"/>
          </a:xfrm>
        </p:spPr>
        <p:txBody>
          <a:bodyPr/>
          <a:lstStyle/>
          <a:p>
            <a:r>
              <a:rPr lang="en-IN" sz="1200" dirty="0">
                <a:solidFill>
                  <a:schemeClr val="bg1"/>
                </a:solidFill>
                <a:latin typeface="Calibri" panose="020F0502020204030204" pitchFamily="34" charset="0"/>
                <a:cs typeface="Calibri" panose="020F0502020204030204" pitchFamily="34"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86978" y="6339840"/>
            <a:ext cx="6584482" cy="457200"/>
          </a:xfrm>
          <a:prstGeom prst="rect">
            <a:avLst/>
          </a:prstGeom>
        </p:spPr>
        <p:txBody>
          <a:bodyPr anchor="ctr"/>
          <a:lstStyle/>
          <a:p>
            <a:pPr algn="ctr"/>
            <a:r>
              <a:rPr lang="en-US" sz="1200" dirty="0">
                <a:solidFill>
                  <a:schemeClr val="tx1">
                    <a:tint val="75000"/>
                  </a:schemeClr>
                </a:solidFill>
                <a:latin typeface="Calibri" panose="020F0502020204030204" pitchFamily="34" charset="0"/>
                <a:ea typeface="Times New Roman" charset="0"/>
                <a:cs typeface="Calibri" panose="020F0502020204030204" pitchFamily="34" charset="0"/>
              </a:rPr>
              <a:t>Copyright ©2021 John Wiley &amp; Sons, Inc.</a:t>
            </a:r>
          </a:p>
        </p:txBody>
      </p:sp>
    </p:spTree>
    <p:extLst>
      <p:ext uri="{BB962C8B-B14F-4D97-AF65-F5344CB8AC3E}">
        <p14:creationId xmlns:p14="http://schemas.microsoft.com/office/powerpoint/2010/main" val="399952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21BA7EF-1CE7-4E41-9D28-AD75BA944BE8}"/>
              </a:ext>
            </a:extLst>
          </p:cNvPr>
          <p:cNvSpPr>
            <a:spLocks noGrp="1"/>
          </p:cNvSpPr>
          <p:nvPr>
            <p:ph type="title"/>
          </p:nvPr>
        </p:nvSpPr>
        <p:spPr>
          <a:xfrm>
            <a:off x="304800" y="475581"/>
            <a:ext cx="8534400" cy="822959"/>
          </a:xfrm>
        </p:spPr>
        <p:txBody>
          <a:bodyPr/>
          <a:lstStyle/>
          <a:p>
            <a:r>
              <a:rPr lang="en-US" b="1" dirty="0">
                <a:latin typeface="Calibri" panose="020F0502020204030204" pitchFamily="34" charset="0"/>
                <a:cs typeface="Calibri" panose="020F0502020204030204" pitchFamily="34" charset="0"/>
              </a:rPr>
              <a:t>Introduction</a:t>
            </a:r>
          </a:p>
        </p:txBody>
      </p:sp>
      <p:sp>
        <p:nvSpPr>
          <p:cNvPr id="5" name="Content Placeholder 4">
            <a:extLst>
              <a:ext uri="{FF2B5EF4-FFF2-40B4-BE49-F238E27FC236}">
                <a16:creationId xmlns:a16="http://schemas.microsoft.com/office/drawing/2014/main" id="{1E8B25AA-E4BC-4085-8C8A-30A249130E0E}"/>
              </a:ext>
            </a:extLst>
          </p:cNvPr>
          <p:cNvSpPr>
            <a:spLocks noGrp="1"/>
          </p:cNvSpPr>
          <p:nvPr>
            <p:ph sz="quarter" idx="12"/>
          </p:nvPr>
        </p:nvSpPr>
        <p:spPr>
          <a:xfrm>
            <a:off x="304800" y="1611195"/>
            <a:ext cx="8534400" cy="4495800"/>
          </a:xfrm>
        </p:spPr>
        <p:txBody>
          <a:bodyPr/>
          <a:lstStyle/>
          <a:p>
            <a:pPr marL="0" indent="0">
              <a:lnSpc>
                <a:spcPct val="100000"/>
              </a:lnSpc>
              <a:spcBef>
                <a:spcPts val="624"/>
              </a:spcBef>
              <a:spcAft>
                <a:spcPts val="600"/>
              </a:spcAft>
              <a:buNone/>
            </a:pPr>
            <a:r>
              <a:rPr lang="en-US" sz="3200" dirty="0">
                <a:latin typeface="Calibri" panose="020F0502020204030204" pitchFamily="34" charset="0"/>
                <a:cs typeface="Calibri" panose="020F0502020204030204" pitchFamily="34" charset="0"/>
              </a:rPr>
              <a:t>The purpose of the chapter is to:</a:t>
            </a:r>
          </a:p>
          <a:p>
            <a:pPr marL="400050" indent="-400050">
              <a:lnSpc>
                <a:spcPct val="100000"/>
              </a:lnSpc>
              <a:spcBef>
                <a:spcPts val="624"/>
              </a:spcBef>
              <a:spcAft>
                <a:spcPts val="600"/>
              </a:spcAft>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Introduce the disciplines of anatomy and physiology</a:t>
            </a:r>
          </a:p>
          <a:p>
            <a:pPr marL="400050" indent="-400050">
              <a:lnSpc>
                <a:spcPct val="100000"/>
              </a:lnSpc>
              <a:spcBef>
                <a:spcPts val="624"/>
              </a:spcBef>
              <a:spcAft>
                <a:spcPts val="600"/>
              </a:spcAft>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00050" indent="-400050">
              <a:lnSpc>
                <a:spcPct val="100000"/>
              </a:lnSpc>
              <a:spcBef>
                <a:spcPts val="624"/>
              </a:spcBef>
              <a:spcAft>
                <a:spcPts val="600"/>
              </a:spcAft>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Discuss the organization of the human body</a:t>
            </a:r>
          </a:p>
          <a:p>
            <a:pPr marL="400050" indent="-400050">
              <a:lnSpc>
                <a:spcPct val="100000"/>
              </a:lnSpc>
              <a:spcBef>
                <a:spcPts val="624"/>
              </a:spcBef>
              <a:spcAft>
                <a:spcPts val="600"/>
              </a:spcAft>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00050" indent="-400050">
              <a:lnSpc>
                <a:spcPct val="100000"/>
              </a:lnSpc>
              <a:spcBef>
                <a:spcPts val="624"/>
              </a:spcBef>
              <a:spcAft>
                <a:spcPts val="600"/>
              </a:spcAft>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Reveal shared properties of all living things</a:t>
            </a:r>
          </a:p>
          <a:p>
            <a:pPr marL="400050" indent="-400050">
              <a:lnSpc>
                <a:spcPct val="100000"/>
              </a:lnSpc>
              <a:spcBef>
                <a:spcPts val="624"/>
              </a:spcBef>
              <a:spcAft>
                <a:spcPts val="600"/>
              </a:spcAft>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00050" indent="-400050">
              <a:lnSpc>
                <a:spcPct val="100000"/>
              </a:lnSpc>
              <a:spcBef>
                <a:spcPts val="624"/>
              </a:spcBef>
              <a:spcAft>
                <a:spcPts val="600"/>
              </a:spcAft>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Discuss the concept of homeostasis</a:t>
            </a:r>
          </a:p>
        </p:txBody>
      </p:sp>
    </p:spTree>
    <p:extLst>
      <p:ext uri="{BB962C8B-B14F-4D97-AF65-F5344CB8AC3E}">
        <p14:creationId xmlns:p14="http://schemas.microsoft.com/office/powerpoint/2010/main" val="3820016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7E5AF-E629-485A-97C3-374AEE4AEB2B}"/>
              </a:ext>
            </a:extLst>
          </p:cNvPr>
          <p:cNvSpPr>
            <a:spLocks noGrp="1"/>
          </p:cNvSpPr>
          <p:nvPr>
            <p:ph type="title"/>
          </p:nvPr>
        </p:nvSpPr>
        <p:spPr>
          <a:xfrm>
            <a:off x="304800" y="3047687"/>
            <a:ext cx="8443274" cy="762627"/>
          </a:xfrm>
        </p:spPr>
        <p:txBody>
          <a:bodyPr/>
          <a:lstStyle/>
          <a:p>
            <a:pPr algn="ctr"/>
            <a:r>
              <a:rPr lang="en-US" b="1" dirty="0">
                <a:solidFill>
                  <a:srgbClr val="196E78"/>
                </a:solidFill>
                <a:latin typeface="Calibri" panose="020F0502020204030204" pitchFamily="34" charset="0"/>
                <a:cs typeface="Calibri" panose="020F0502020204030204" pitchFamily="34" charset="0"/>
              </a:rPr>
              <a:t>Anatomy &amp; Physiology Defined</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4253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E9EEF18-394A-44FE-AD19-3DF3D6F723DC}"/>
              </a:ext>
            </a:extLst>
          </p:cNvPr>
          <p:cNvSpPr>
            <a:spLocks noGrp="1"/>
          </p:cNvSpPr>
          <p:nvPr>
            <p:ph type="title"/>
          </p:nvPr>
        </p:nvSpPr>
        <p:spPr>
          <a:xfrm>
            <a:off x="304800" y="460341"/>
            <a:ext cx="8534400" cy="838199"/>
          </a:xfrm>
        </p:spPr>
        <p:txBody>
          <a:bodyPr/>
          <a:lstStyle/>
          <a:p>
            <a:r>
              <a:rPr lang="en-US" dirty="0">
                <a:latin typeface="Calibri" panose="020F0502020204030204" pitchFamily="34" charset="0"/>
                <a:cs typeface="Calibri" panose="020F0502020204030204" pitchFamily="34" charset="0"/>
              </a:rPr>
              <a:t>Anatomy vs. Physiology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2DBA006A-E6B7-447B-B94C-961F838F717E}"/>
              </a:ext>
            </a:extLst>
          </p:cNvPr>
          <p:cNvSpPr>
            <a:spLocks noGrp="1"/>
          </p:cNvSpPr>
          <p:nvPr>
            <p:ph sz="quarter" idx="16"/>
          </p:nvPr>
        </p:nvSpPr>
        <p:spPr>
          <a:xfrm>
            <a:off x="333080" y="1620625"/>
            <a:ext cx="8188751" cy="4431383"/>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Anatomy is the study of structure </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Physiology is the study of function</a:t>
            </a:r>
          </a:p>
        </p:txBody>
      </p:sp>
    </p:spTree>
    <p:extLst>
      <p:ext uri="{BB962C8B-B14F-4D97-AF65-F5344CB8AC3E}">
        <p14:creationId xmlns:p14="http://schemas.microsoft.com/office/powerpoint/2010/main" val="82646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E978B5-B0CC-430E-8E8C-DA7BEB548EEF}"/>
              </a:ext>
            </a:extLst>
          </p:cNvPr>
          <p:cNvSpPr>
            <a:spLocks noGrp="1"/>
          </p:cNvSpPr>
          <p:nvPr>
            <p:ph type="title"/>
          </p:nvPr>
        </p:nvSpPr>
        <p:spPr>
          <a:xfrm>
            <a:off x="304800" y="460338"/>
            <a:ext cx="8534400" cy="838199"/>
          </a:xfrm>
        </p:spPr>
        <p:txBody>
          <a:bodyPr/>
          <a:lstStyle/>
          <a:p>
            <a:r>
              <a:rPr lang="en-US" dirty="0">
                <a:latin typeface="Calibri" panose="020F0502020204030204" pitchFamily="34" charset="0"/>
                <a:cs typeface="Calibri" panose="020F0502020204030204" pitchFamily="34" charset="0"/>
              </a:rPr>
              <a:t>Anatomy vs. Physiology </a:t>
            </a:r>
            <a:endParaRPr lang="en-US" sz="20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247E7685-75B9-4918-9E7A-5A466AD91DFB}"/>
              </a:ext>
            </a:extLst>
          </p:cNvPr>
          <p:cNvSpPr>
            <a:spLocks noGrp="1"/>
          </p:cNvSpPr>
          <p:nvPr>
            <p:ph sz="quarter" idx="16"/>
          </p:nvPr>
        </p:nvSpPr>
        <p:spPr>
          <a:xfrm>
            <a:off x="217603" y="1544814"/>
            <a:ext cx="8534400" cy="604497"/>
          </a:xfrm>
        </p:spPr>
        <p:txBody>
          <a:bodyPr/>
          <a:lstStyle/>
          <a:p>
            <a:r>
              <a:rPr lang="en-US" b="1" dirty="0">
                <a:latin typeface="Calibri" panose="020F0502020204030204" pitchFamily="34" charset="0"/>
                <a:cs typeface="Calibri" panose="020F0502020204030204" pitchFamily="34" charset="0"/>
              </a:rPr>
              <a:t>Table 1.1 </a:t>
            </a:r>
            <a:r>
              <a:rPr lang="en-US" dirty="0">
                <a:latin typeface="Calibri" panose="020F0502020204030204" pitchFamily="34" charset="0"/>
                <a:cs typeface="Calibri" panose="020F0502020204030204" pitchFamily="34" charset="0"/>
              </a:rPr>
              <a:t>Selected Branches of Anatomy and Physiology</a:t>
            </a:r>
          </a:p>
        </p:txBody>
      </p:sp>
      <p:graphicFrame>
        <p:nvGraphicFramePr>
          <p:cNvPr id="2" name="Table 2">
            <a:extLst>
              <a:ext uri="{FF2B5EF4-FFF2-40B4-BE49-F238E27FC236}">
                <a16:creationId xmlns:a16="http://schemas.microsoft.com/office/drawing/2014/main" id="{D039846B-06DD-46F0-89B0-EF173934BEE0}"/>
              </a:ext>
            </a:extLst>
          </p:cNvPr>
          <p:cNvGraphicFramePr>
            <a:graphicFrameLocks noGrp="1"/>
          </p:cNvGraphicFramePr>
          <p:nvPr>
            <p:ph sz="quarter" idx="17"/>
            <p:extLst>
              <p:ext uri="{D42A27DB-BD31-4B8C-83A1-F6EECF244321}">
                <p14:modId xmlns:p14="http://schemas.microsoft.com/office/powerpoint/2010/main" val="438450791"/>
              </p:ext>
            </p:extLst>
          </p:nvPr>
        </p:nvGraphicFramePr>
        <p:xfrm>
          <a:off x="956820" y="2347272"/>
          <a:ext cx="7418896" cy="3364264"/>
        </p:xfrm>
        <a:graphic>
          <a:graphicData uri="http://schemas.openxmlformats.org/drawingml/2006/table">
            <a:tbl>
              <a:tblPr firstRow="1" bandRow="1">
                <a:tableStyleId>{69012ECD-51FC-41F1-AA8D-1B2483CD663E}</a:tableStyleId>
              </a:tblPr>
              <a:tblGrid>
                <a:gridCol w="3063712">
                  <a:extLst>
                    <a:ext uri="{9D8B030D-6E8A-4147-A177-3AD203B41FA5}">
                      <a16:colId xmlns:a16="http://schemas.microsoft.com/office/drawing/2014/main" val="397940488"/>
                    </a:ext>
                  </a:extLst>
                </a:gridCol>
                <a:gridCol w="4355184">
                  <a:extLst>
                    <a:ext uri="{9D8B030D-6E8A-4147-A177-3AD203B41FA5}">
                      <a16:colId xmlns:a16="http://schemas.microsoft.com/office/drawing/2014/main" val="3076262028"/>
                    </a:ext>
                  </a:extLst>
                </a:gridCol>
              </a:tblGrid>
              <a:tr h="407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Branch of Anatomy</a:t>
                      </a:r>
                    </a:p>
                  </a:txBody>
                  <a:tcPr marT="50292" marB="502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Study of</a:t>
                      </a:r>
                    </a:p>
                  </a:txBody>
                  <a:tcPr marT="50292" marB="50292"/>
                </a:tc>
                <a:extLst>
                  <a:ext uri="{0D108BD9-81ED-4DB2-BD59-A6C34878D82A}">
                    <a16:rowId xmlns:a16="http://schemas.microsoft.com/office/drawing/2014/main" val="284454172"/>
                  </a:ext>
                </a:extLst>
              </a:tr>
              <a:tr h="5524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Developmental biology</a:t>
                      </a:r>
                    </a:p>
                  </a:txBody>
                  <a:tcPr marT="50292" marB="502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growth and development of an individual from fertilization to death.</a:t>
                      </a:r>
                    </a:p>
                  </a:txBody>
                  <a:tcPr marT="50292" marB="50292"/>
                </a:tc>
                <a:extLst>
                  <a:ext uri="{0D108BD9-81ED-4DB2-BD59-A6C34878D82A}">
                    <a16:rowId xmlns:a16="http://schemas.microsoft.com/office/drawing/2014/main" val="1883179917"/>
                  </a:ext>
                </a:extLst>
              </a:tr>
              <a:tr h="622169">
                <a:tc>
                  <a:txBody>
                    <a:bodyPr/>
                    <a:lstStyle/>
                    <a:p>
                      <a:r>
                        <a:rPr lang="en-US" sz="1600" b="1" dirty="0"/>
                        <a:t>Embryology</a:t>
                      </a:r>
                    </a:p>
                    <a:p>
                      <a:r>
                        <a:rPr lang="en-US" sz="1600" dirty="0"/>
                        <a:t>(</a:t>
                      </a:r>
                      <a:r>
                        <a:rPr lang="en-US" sz="1600" dirty="0" err="1"/>
                        <a:t>em</a:t>
                      </a:r>
                      <a:r>
                        <a:rPr lang="en-US" sz="1600" dirty="0"/>
                        <a:t>′-</a:t>
                      </a:r>
                      <a:r>
                        <a:rPr lang="en-US" sz="1600" dirty="0" err="1"/>
                        <a:t>brē</a:t>
                      </a:r>
                      <a:r>
                        <a:rPr lang="en-US" sz="1600" dirty="0"/>
                        <a:t>-OL-ō-</a:t>
                      </a:r>
                      <a:r>
                        <a:rPr lang="en-US" sz="1600" dirty="0" err="1"/>
                        <a:t>jē</a:t>
                      </a:r>
                      <a:r>
                        <a:rPr lang="en-US" sz="1600" dirty="0"/>
                        <a:t>; </a:t>
                      </a:r>
                      <a:r>
                        <a:rPr lang="en-US" sz="1600" i="1" dirty="0" err="1"/>
                        <a:t>embry</a:t>
                      </a:r>
                      <a:r>
                        <a:rPr lang="en-US" sz="1600" i="1" dirty="0"/>
                        <a:t>-</a:t>
                      </a:r>
                      <a:r>
                        <a:rPr lang="en-US" sz="1600" dirty="0"/>
                        <a:t> = embryo; -</a:t>
                      </a:r>
                      <a:r>
                        <a:rPr lang="en-US" sz="1600" i="1" dirty="0"/>
                        <a:t>logy</a:t>
                      </a:r>
                      <a:r>
                        <a:rPr lang="en-US" sz="1600" dirty="0"/>
                        <a:t> = study of)</a:t>
                      </a:r>
                    </a:p>
                  </a:txBody>
                  <a:tcPr marT="50292" marB="502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first eight weeks of growth and development after fertilization of a human egg; the earliest stage of developmental biology.</a:t>
                      </a:r>
                    </a:p>
                  </a:txBody>
                  <a:tcPr marT="50292" marB="50292"/>
                </a:tc>
                <a:extLst>
                  <a:ext uri="{0D108BD9-81ED-4DB2-BD59-A6C34878D82A}">
                    <a16:rowId xmlns:a16="http://schemas.microsoft.com/office/drawing/2014/main" val="753219651"/>
                  </a:ext>
                </a:extLst>
              </a:tr>
              <a:tr h="359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Cell biology</a:t>
                      </a:r>
                    </a:p>
                  </a:txBody>
                  <a:tcPr marT="50292" marB="502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Cellular structure and functions.</a:t>
                      </a:r>
                    </a:p>
                  </a:txBody>
                  <a:tcPr marT="50292" marB="50292"/>
                </a:tc>
                <a:extLst>
                  <a:ext uri="{0D108BD9-81ED-4DB2-BD59-A6C34878D82A}">
                    <a16:rowId xmlns:a16="http://schemas.microsoft.com/office/drawing/2014/main" val="24279854"/>
                  </a:ext>
                </a:extLst>
              </a:tr>
              <a:tr h="375213">
                <a:tc>
                  <a:txBody>
                    <a:bodyPr/>
                    <a:lstStyle/>
                    <a:p>
                      <a:r>
                        <a:rPr lang="en-US" sz="1600" b="1" dirty="0"/>
                        <a:t>Histology</a:t>
                      </a:r>
                    </a:p>
                    <a:p>
                      <a:r>
                        <a:rPr lang="en-US" sz="1600" dirty="0"/>
                        <a:t>(his-TOL-ō -</a:t>
                      </a:r>
                      <a:r>
                        <a:rPr lang="en-US" sz="1600" dirty="0" err="1"/>
                        <a:t>jē</a:t>
                      </a:r>
                      <a:r>
                        <a:rPr lang="en-US" sz="1600" dirty="0"/>
                        <a:t>; </a:t>
                      </a:r>
                      <a:r>
                        <a:rPr lang="en-US" sz="1600" i="1" dirty="0"/>
                        <a:t>hist-</a:t>
                      </a:r>
                      <a:r>
                        <a:rPr lang="en-US" sz="1600" dirty="0"/>
                        <a:t> = tissue)</a:t>
                      </a:r>
                    </a:p>
                  </a:txBody>
                  <a:tcPr marT="50292" marB="502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Microscopic structure of tissues.</a:t>
                      </a:r>
                    </a:p>
                  </a:txBody>
                  <a:tcPr marT="50292" marB="50292"/>
                </a:tc>
                <a:extLst>
                  <a:ext uri="{0D108BD9-81ED-4DB2-BD59-A6C34878D82A}">
                    <a16:rowId xmlns:a16="http://schemas.microsoft.com/office/drawing/2014/main" val="1554230280"/>
                  </a:ext>
                </a:extLst>
              </a:tr>
              <a:tr h="407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Gross anatomy</a:t>
                      </a:r>
                    </a:p>
                  </a:txBody>
                  <a:tcPr marT="50292" marB="5029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Structures that can be examined without a microscope.</a:t>
                      </a:r>
                    </a:p>
                  </a:txBody>
                  <a:tcPr marT="50292" marB="50292"/>
                </a:tc>
                <a:extLst>
                  <a:ext uri="{0D108BD9-81ED-4DB2-BD59-A6C34878D82A}">
                    <a16:rowId xmlns:a16="http://schemas.microsoft.com/office/drawing/2014/main" val="2798082199"/>
                  </a:ext>
                </a:extLst>
              </a:tr>
            </a:tbl>
          </a:graphicData>
        </a:graphic>
      </p:graphicFrame>
    </p:spTree>
    <p:extLst>
      <p:ext uri="{BB962C8B-B14F-4D97-AF65-F5344CB8AC3E}">
        <p14:creationId xmlns:p14="http://schemas.microsoft.com/office/powerpoint/2010/main" val="2474439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206E8F1-0006-4D86-BF06-67857CB3F328}"/>
              </a:ext>
            </a:extLst>
          </p:cNvPr>
          <p:cNvSpPr>
            <a:spLocks noGrp="1"/>
          </p:cNvSpPr>
          <p:nvPr>
            <p:ph type="title"/>
          </p:nvPr>
        </p:nvSpPr>
        <p:spPr>
          <a:xfrm>
            <a:off x="304800" y="461468"/>
            <a:ext cx="8534400" cy="838199"/>
          </a:xfrm>
        </p:spPr>
        <p:txBody>
          <a:bodyPr/>
          <a:lstStyle/>
          <a:p>
            <a:r>
              <a:rPr lang="en-US" dirty="0">
                <a:latin typeface="Calibri" panose="020F0502020204030204" pitchFamily="34" charset="0"/>
                <a:cs typeface="Calibri" panose="020F0502020204030204" pitchFamily="34" charset="0"/>
              </a:rPr>
              <a:t>Anatomy vs. Physiology</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2E4111C1-83F1-4325-ABFC-4D8894993044}"/>
              </a:ext>
            </a:extLst>
          </p:cNvPr>
          <p:cNvGraphicFramePr>
            <a:graphicFrameLocks noGrp="1"/>
          </p:cNvGraphicFramePr>
          <p:nvPr>
            <p:ph sz="quarter" idx="16"/>
            <p:extLst>
              <p:ext uri="{D42A27DB-BD31-4B8C-83A1-F6EECF244321}">
                <p14:modId xmlns:p14="http://schemas.microsoft.com/office/powerpoint/2010/main" val="2205849166"/>
              </p:ext>
            </p:extLst>
          </p:nvPr>
        </p:nvGraphicFramePr>
        <p:xfrm>
          <a:off x="595460" y="1615858"/>
          <a:ext cx="7953080" cy="4546086"/>
        </p:xfrm>
        <a:graphic>
          <a:graphicData uri="http://schemas.openxmlformats.org/drawingml/2006/table">
            <a:tbl>
              <a:tblPr firstRow="1" bandRow="1">
                <a:tableStyleId>{69012ECD-51FC-41F1-AA8D-1B2483CD663E}</a:tableStyleId>
              </a:tblPr>
              <a:tblGrid>
                <a:gridCol w="2081752">
                  <a:extLst>
                    <a:ext uri="{9D8B030D-6E8A-4147-A177-3AD203B41FA5}">
                      <a16:colId xmlns:a16="http://schemas.microsoft.com/office/drawing/2014/main" val="1592855653"/>
                    </a:ext>
                  </a:extLst>
                </a:gridCol>
                <a:gridCol w="5871328">
                  <a:extLst>
                    <a:ext uri="{9D8B030D-6E8A-4147-A177-3AD203B41FA5}">
                      <a16:colId xmlns:a16="http://schemas.microsoft.com/office/drawing/2014/main" val="3811955999"/>
                    </a:ext>
                  </a:extLst>
                </a:gridCol>
              </a:tblGrid>
              <a:tr h="3238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Branch of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Study of</a:t>
                      </a:r>
                    </a:p>
                  </a:txBody>
                  <a:tcPr/>
                </a:tc>
                <a:extLst>
                  <a:ext uri="{0D108BD9-81ED-4DB2-BD59-A6C34878D82A}">
                    <a16:rowId xmlns:a16="http://schemas.microsoft.com/office/drawing/2014/main" val="2384137880"/>
                  </a:ext>
                </a:extLst>
              </a:tr>
              <a:tr h="4525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Systemic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Structure of specific systems of the body such as the nervous or respiratory systems.</a:t>
                      </a:r>
                    </a:p>
                  </a:txBody>
                  <a:tcPr/>
                </a:tc>
                <a:extLst>
                  <a:ext uri="{0D108BD9-81ED-4DB2-BD59-A6C34878D82A}">
                    <a16:rowId xmlns:a16="http://schemas.microsoft.com/office/drawing/2014/main" val="2888291127"/>
                  </a:ext>
                </a:extLst>
              </a:tr>
              <a:tr h="3238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Regional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Specific regions of the body such as the head or chest.</a:t>
                      </a:r>
                    </a:p>
                  </a:txBody>
                  <a:tcPr/>
                </a:tc>
                <a:extLst>
                  <a:ext uri="{0D108BD9-81ED-4DB2-BD59-A6C34878D82A}">
                    <a16:rowId xmlns:a16="http://schemas.microsoft.com/office/drawing/2014/main" val="1219942849"/>
                  </a:ext>
                </a:extLst>
              </a:tr>
              <a:tr h="4525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Surface (topographical)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Surface markings of the body to understand internal anatomy through visualization and palpation (gentle touch).</a:t>
                      </a:r>
                    </a:p>
                  </a:txBody>
                  <a:tcPr/>
                </a:tc>
                <a:extLst>
                  <a:ext uri="{0D108BD9-81ED-4DB2-BD59-A6C34878D82A}">
                    <a16:rowId xmlns:a16="http://schemas.microsoft.com/office/drawing/2014/main" val="391450166"/>
                  </a:ext>
                </a:extLst>
              </a:tr>
              <a:tr h="6388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Imaging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Internal body structures that can be visualized with techniques such as x-rays, MRI, CT scans, and other technologies for clinical analysis and medical intervention.</a:t>
                      </a:r>
                    </a:p>
                  </a:txBody>
                  <a:tcPr/>
                </a:tc>
                <a:extLst>
                  <a:ext uri="{0D108BD9-81ED-4DB2-BD59-A6C34878D82A}">
                    <a16:rowId xmlns:a16="http://schemas.microsoft.com/office/drawing/2014/main" val="2414631581"/>
                  </a:ext>
                </a:extLst>
              </a:tr>
              <a:tr h="8252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Clinical anatomy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application of anatomy to the practice of medicine, dentistry, and other health-related sciences, for example, to aid in the diagnosis and treatment of disease.</a:t>
                      </a:r>
                    </a:p>
                  </a:txBody>
                  <a:tcPr/>
                </a:tc>
                <a:extLst>
                  <a:ext uri="{0D108BD9-81ED-4DB2-BD59-A6C34878D82A}">
                    <a16:rowId xmlns:a16="http://schemas.microsoft.com/office/drawing/2014/main" val="4244604399"/>
                  </a:ext>
                </a:extLst>
              </a:tr>
              <a:tr h="825243">
                <a:tc>
                  <a:txBody>
                    <a:bodyPr/>
                    <a:lstStyle/>
                    <a:p>
                      <a:r>
                        <a:rPr lang="en-US" sz="1600" b="1" dirty="0"/>
                        <a:t>Pathological anatomy</a:t>
                      </a:r>
                    </a:p>
                    <a:p>
                      <a:r>
                        <a:rPr lang="en-US" sz="1600" dirty="0"/>
                        <a:t>(path′-ō-LOJ-</a:t>
                      </a:r>
                      <a:r>
                        <a:rPr lang="en-US" sz="1600" dirty="0" err="1"/>
                        <a:t>i</a:t>
                      </a:r>
                      <a:r>
                        <a:rPr lang="en-US" sz="1600" dirty="0"/>
                        <a:t>-</a:t>
                      </a:r>
                      <a:r>
                        <a:rPr lang="en-US" sz="1600" dirty="0" err="1"/>
                        <a:t>kal</a:t>
                      </a:r>
                      <a:r>
                        <a:rPr lang="en-US" sz="1600" dirty="0"/>
                        <a:t>; </a:t>
                      </a:r>
                      <a:r>
                        <a:rPr lang="en-US" sz="1600" i="1" dirty="0"/>
                        <a:t>path-</a:t>
                      </a:r>
                      <a:r>
                        <a:rPr lang="en-US" sz="1600" dirty="0"/>
                        <a:t> = disease)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Structural changes (gross to microscopic) associated with disease.</a:t>
                      </a:r>
                    </a:p>
                  </a:txBody>
                  <a:tcPr/>
                </a:tc>
                <a:extLst>
                  <a:ext uri="{0D108BD9-81ED-4DB2-BD59-A6C34878D82A}">
                    <a16:rowId xmlns:a16="http://schemas.microsoft.com/office/drawing/2014/main" val="1190684780"/>
                  </a:ext>
                </a:extLst>
              </a:tr>
            </a:tbl>
          </a:graphicData>
        </a:graphic>
      </p:graphicFrame>
    </p:spTree>
    <p:extLst>
      <p:ext uri="{BB962C8B-B14F-4D97-AF65-F5344CB8AC3E}">
        <p14:creationId xmlns:p14="http://schemas.microsoft.com/office/powerpoint/2010/main" val="520910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D270DB3-A965-46D8-A7E3-A17329429C15}"/>
              </a:ext>
            </a:extLst>
          </p:cNvPr>
          <p:cNvSpPr>
            <a:spLocks noGrp="1"/>
          </p:cNvSpPr>
          <p:nvPr>
            <p:ph type="title"/>
          </p:nvPr>
        </p:nvSpPr>
        <p:spPr>
          <a:xfrm>
            <a:off x="304800" y="469766"/>
            <a:ext cx="8534400" cy="838199"/>
          </a:xfrm>
        </p:spPr>
        <p:txBody>
          <a:bodyPr/>
          <a:lstStyle/>
          <a:p>
            <a:r>
              <a:rPr lang="en-US" dirty="0">
                <a:latin typeface="Calibri" panose="020F0502020204030204" pitchFamily="34" charset="0"/>
                <a:cs typeface="Calibri" panose="020F0502020204030204" pitchFamily="34" charset="0"/>
              </a:rPr>
              <a:t>Anatomy vs. Physiology</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01A36599-4C2B-41CC-8CE1-D13EC14A083A}"/>
              </a:ext>
            </a:extLst>
          </p:cNvPr>
          <p:cNvGraphicFramePr>
            <a:graphicFrameLocks noGrp="1"/>
          </p:cNvGraphicFramePr>
          <p:nvPr>
            <p:ph sz="quarter" idx="16"/>
            <p:extLst>
              <p:ext uri="{D42A27DB-BD31-4B8C-83A1-F6EECF244321}">
                <p14:modId xmlns:p14="http://schemas.microsoft.com/office/powerpoint/2010/main" val="2357123750"/>
              </p:ext>
            </p:extLst>
          </p:nvPr>
        </p:nvGraphicFramePr>
        <p:xfrm>
          <a:off x="304800" y="1752600"/>
          <a:ext cx="8534400" cy="3906520"/>
        </p:xfrm>
        <a:graphic>
          <a:graphicData uri="http://schemas.openxmlformats.org/drawingml/2006/table">
            <a:tbl>
              <a:tblPr firstRow="1" bandRow="1">
                <a:tableStyleId>{69012ECD-51FC-41F1-AA8D-1B2483CD663E}</a:tableStyleId>
              </a:tblPr>
              <a:tblGrid>
                <a:gridCol w="3437641">
                  <a:extLst>
                    <a:ext uri="{9D8B030D-6E8A-4147-A177-3AD203B41FA5}">
                      <a16:colId xmlns:a16="http://schemas.microsoft.com/office/drawing/2014/main" val="1872868866"/>
                    </a:ext>
                  </a:extLst>
                </a:gridCol>
                <a:gridCol w="5096759">
                  <a:extLst>
                    <a:ext uri="{9D8B030D-6E8A-4147-A177-3AD203B41FA5}">
                      <a16:colId xmlns:a16="http://schemas.microsoft.com/office/drawing/2014/main" val="68819479"/>
                    </a:ext>
                  </a:extLst>
                </a:gridCol>
              </a:tblGrid>
              <a:tr h="370840">
                <a:tc>
                  <a:txBody>
                    <a:bodyPr/>
                    <a:lstStyle/>
                    <a:p>
                      <a:r>
                        <a:rPr lang="en-US" sz="1600" b="1" dirty="0"/>
                        <a:t>Branch of Physiology</a:t>
                      </a:r>
                    </a:p>
                  </a:txBody>
                  <a:tcPr/>
                </a:tc>
                <a:tc>
                  <a:txBody>
                    <a:bodyPr/>
                    <a:lstStyle/>
                    <a:p>
                      <a:r>
                        <a:rPr lang="en-US" sz="1600" b="1" dirty="0"/>
                        <a:t>Study of</a:t>
                      </a:r>
                    </a:p>
                  </a:txBody>
                  <a:tcPr/>
                </a:tc>
                <a:extLst>
                  <a:ext uri="{0D108BD9-81ED-4DB2-BD59-A6C34878D82A}">
                    <a16:rowId xmlns:a16="http://schemas.microsoft.com/office/drawing/2014/main" val="1600691330"/>
                  </a:ext>
                </a:extLst>
              </a:tr>
              <a:tr h="370840">
                <a:tc>
                  <a:txBody>
                    <a:bodyPr/>
                    <a:lstStyle/>
                    <a:p>
                      <a:r>
                        <a:rPr lang="en-US" sz="1600" b="1" dirty="0"/>
                        <a:t>Molecular physiology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Functions of individual molecules such as proteins and DNA.</a:t>
                      </a:r>
                    </a:p>
                  </a:txBody>
                  <a:tcPr/>
                </a:tc>
                <a:extLst>
                  <a:ext uri="{0D108BD9-81ED-4DB2-BD59-A6C34878D82A}">
                    <a16:rowId xmlns:a16="http://schemas.microsoft.com/office/drawing/2014/main" val="3310494834"/>
                  </a:ext>
                </a:extLst>
              </a:tr>
              <a:tr h="370840">
                <a:tc>
                  <a:txBody>
                    <a:bodyPr/>
                    <a:lstStyle/>
                    <a:p>
                      <a:r>
                        <a:rPr lang="en-US" sz="1600" b="1" dirty="0"/>
                        <a:t>Neurophysiology</a:t>
                      </a:r>
                    </a:p>
                    <a:p>
                      <a:pPr marL="288925" indent="0"/>
                      <a:r>
                        <a:rPr lang="en-US" sz="1600" b="0" dirty="0"/>
                        <a:t>(NOOR-ō-</a:t>
                      </a:r>
                      <a:r>
                        <a:rPr lang="en-US" sz="1600" b="0" dirty="0" err="1"/>
                        <a:t>fiz</a:t>
                      </a:r>
                      <a:r>
                        <a:rPr lang="en-US" sz="1600" b="0" dirty="0"/>
                        <a:t>-ē-</a:t>
                      </a:r>
                      <a:r>
                        <a:rPr lang="en-US" sz="1600" b="0" dirty="0" err="1"/>
                        <a:t>ol</a:t>
                      </a:r>
                      <a:r>
                        <a:rPr lang="en-US" sz="1600" b="0" dirty="0"/>
                        <a:t>'-ō-</a:t>
                      </a:r>
                      <a:r>
                        <a:rPr lang="en-US" sz="1600" b="0" dirty="0" err="1"/>
                        <a:t>jē</a:t>
                      </a:r>
                      <a:r>
                        <a:rPr lang="en-US" sz="1600" b="0" dirty="0"/>
                        <a:t>;</a:t>
                      </a:r>
                    </a:p>
                    <a:p>
                      <a:pPr marL="288925" indent="0"/>
                      <a:r>
                        <a:rPr lang="en-US" sz="1600" b="0" dirty="0"/>
                        <a:t> </a:t>
                      </a:r>
                      <a:r>
                        <a:rPr lang="en-US" sz="1600" b="0" i="1" dirty="0"/>
                        <a:t>neuro-</a:t>
                      </a:r>
                      <a:r>
                        <a:rPr lang="en-US" sz="1600" b="0" dirty="0"/>
                        <a:t> = nerve)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Functional properties of nerve cells.</a:t>
                      </a:r>
                    </a:p>
                  </a:txBody>
                  <a:tcPr/>
                </a:tc>
                <a:extLst>
                  <a:ext uri="{0D108BD9-81ED-4DB2-BD59-A6C34878D82A}">
                    <a16:rowId xmlns:a16="http://schemas.microsoft.com/office/drawing/2014/main" val="3205359996"/>
                  </a:ext>
                </a:extLst>
              </a:tr>
              <a:tr h="370840">
                <a:tc>
                  <a:txBody>
                    <a:bodyPr/>
                    <a:lstStyle/>
                    <a:p>
                      <a:r>
                        <a:rPr lang="en-US" sz="1600" b="1" dirty="0"/>
                        <a:t>Endocrinology</a:t>
                      </a:r>
                    </a:p>
                    <a:p>
                      <a:pPr marL="288925" indent="0"/>
                      <a:r>
                        <a:rPr lang="en-US" sz="1600" b="0" dirty="0"/>
                        <a:t>(</a:t>
                      </a:r>
                      <a:r>
                        <a:rPr lang="en-US" sz="1600" b="0" dirty="0" err="1"/>
                        <a:t>en</a:t>
                      </a:r>
                      <a:r>
                        <a:rPr lang="en-US" sz="1600" b="0" dirty="0"/>
                        <a:t>'-</a:t>
                      </a:r>
                      <a:r>
                        <a:rPr lang="en-US" sz="1600" b="0" dirty="0" err="1"/>
                        <a:t>dō</a:t>
                      </a:r>
                      <a:r>
                        <a:rPr lang="en-US" sz="1600" b="0" dirty="0"/>
                        <a:t>-</a:t>
                      </a:r>
                      <a:r>
                        <a:rPr lang="en-US" sz="1600" b="0" dirty="0" err="1"/>
                        <a:t>kri</a:t>
                      </a:r>
                      <a:r>
                        <a:rPr lang="en-US" sz="1600" b="0" dirty="0"/>
                        <a:t>-NOL-ō-</a:t>
                      </a:r>
                      <a:r>
                        <a:rPr lang="en-US" sz="1600" b="0" dirty="0" err="1"/>
                        <a:t>jē</a:t>
                      </a:r>
                      <a:r>
                        <a:rPr lang="en-US" sz="1600" b="0" dirty="0"/>
                        <a:t>; </a:t>
                      </a:r>
                    </a:p>
                    <a:p>
                      <a:pPr marL="288925" indent="0"/>
                      <a:r>
                        <a:rPr lang="en-US" sz="1600" b="0" i="1" dirty="0"/>
                        <a:t>endo-</a:t>
                      </a:r>
                      <a:r>
                        <a:rPr lang="en-US" sz="1600" b="0" dirty="0"/>
                        <a:t> = within; </a:t>
                      </a:r>
                    </a:p>
                    <a:p>
                      <a:pPr marL="288925" indent="0"/>
                      <a:r>
                        <a:rPr lang="en-US" sz="1600" b="0" dirty="0"/>
                        <a:t>-</a:t>
                      </a:r>
                      <a:r>
                        <a:rPr lang="en-US" sz="1600" b="0" i="1" dirty="0" err="1"/>
                        <a:t>crin</a:t>
                      </a:r>
                      <a:r>
                        <a:rPr lang="en-US" sz="1600" b="0" dirty="0"/>
                        <a:t> = secretion)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Hormones (chemical regulators in the blood) and how they control body functions.</a:t>
                      </a:r>
                    </a:p>
                  </a:txBody>
                  <a:tcPr/>
                </a:tc>
                <a:extLst>
                  <a:ext uri="{0D108BD9-81ED-4DB2-BD59-A6C34878D82A}">
                    <a16:rowId xmlns:a16="http://schemas.microsoft.com/office/drawing/2014/main" val="1681851513"/>
                  </a:ext>
                </a:extLst>
              </a:tr>
              <a:tr h="370840">
                <a:tc>
                  <a:txBody>
                    <a:bodyPr/>
                    <a:lstStyle/>
                    <a:p>
                      <a:pPr marL="0" indent="0"/>
                      <a:r>
                        <a:rPr lang="en-US" sz="1600" b="1" dirty="0"/>
                        <a:t>Cardiovascular physiology</a:t>
                      </a:r>
                    </a:p>
                    <a:p>
                      <a:pPr marL="288925" indent="0"/>
                      <a:r>
                        <a:rPr lang="en-US" sz="1600" b="0" dirty="0"/>
                        <a:t>(</a:t>
                      </a:r>
                      <a:r>
                        <a:rPr lang="en-US" sz="1600" b="0" dirty="0" err="1"/>
                        <a:t>kar</a:t>
                      </a:r>
                      <a:r>
                        <a:rPr lang="en-US" sz="1600" b="0" dirty="0"/>
                        <a:t>-</a:t>
                      </a:r>
                      <a:r>
                        <a:rPr lang="en-US" sz="1600" b="0" dirty="0" err="1"/>
                        <a:t>dē</a:t>
                      </a:r>
                      <a:r>
                        <a:rPr lang="en-US" sz="1600" b="0" dirty="0"/>
                        <a:t>-ō-VAS-</a:t>
                      </a:r>
                      <a:r>
                        <a:rPr lang="en-US" sz="1600" b="0" dirty="0" err="1"/>
                        <a:t>kū</a:t>
                      </a:r>
                      <a:r>
                        <a:rPr lang="en-US" sz="1600" b="0" dirty="0"/>
                        <a:t>-lar;</a:t>
                      </a:r>
                    </a:p>
                    <a:p>
                      <a:pPr marL="288925" indent="0"/>
                      <a:r>
                        <a:rPr lang="en-US" sz="1600" b="0" i="1" dirty="0" err="1"/>
                        <a:t>cardi</a:t>
                      </a:r>
                      <a:r>
                        <a:rPr lang="en-US" sz="1600" b="0" i="1" dirty="0"/>
                        <a:t>-</a:t>
                      </a:r>
                      <a:r>
                        <a:rPr lang="en-US" sz="1600" b="0" dirty="0"/>
                        <a:t> = heart;</a:t>
                      </a:r>
                    </a:p>
                    <a:p>
                      <a:pPr marL="288925" indent="0"/>
                      <a:r>
                        <a:rPr lang="en-US" sz="1600" b="0" i="1" dirty="0"/>
                        <a:t>vascular</a:t>
                      </a:r>
                      <a:r>
                        <a:rPr lang="en-US" sz="1600" b="0" dirty="0"/>
                        <a:t> = blood vessels)</a:t>
                      </a:r>
                      <a:endParaRPr lang="en-US" sz="1600" b="0" i="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Functions of the heart and blood vessels.</a:t>
                      </a:r>
                      <a:endParaRPr lang="en-US" sz="1600" i="0" dirty="0"/>
                    </a:p>
                  </a:txBody>
                  <a:tcPr/>
                </a:tc>
                <a:extLst>
                  <a:ext uri="{0D108BD9-81ED-4DB2-BD59-A6C34878D82A}">
                    <a16:rowId xmlns:a16="http://schemas.microsoft.com/office/drawing/2014/main" val="1762897285"/>
                  </a:ext>
                </a:extLst>
              </a:tr>
            </a:tbl>
          </a:graphicData>
        </a:graphic>
      </p:graphicFrame>
    </p:spTree>
    <p:extLst>
      <p:ext uri="{BB962C8B-B14F-4D97-AF65-F5344CB8AC3E}">
        <p14:creationId xmlns:p14="http://schemas.microsoft.com/office/powerpoint/2010/main" val="2519120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0F5DEB2-2721-4D41-B354-B1E4D8677AC6}"/>
              </a:ext>
            </a:extLst>
          </p:cNvPr>
          <p:cNvSpPr>
            <a:spLocks noGrp="1"/>
          </p:cNvSpPr>
          <p:nvPr>
            <p:ph type="title"/>
          </p:nvPr>
        </p:nvSpPr>
        <p:spPr>
          <a:xfrm>
            <a:off x="304800" y="469766"/>
            <a:ext cx="8534400" cy="838199"/>
          </a:xfrm>
        </p:spPr>
        <p:txBody>
          <a:bodyPr/>
          <a:lstStyle/>
          <a:p>
            <a:r>
              <a:rPr lang="en-US" dirty="0">
                <a:latin typeface="Calibri" panose="020F0502020204030204" pitchFamily="34" charset="0"/>
                <a:cs typeface="Calibri" panose="020F0502020204030204" pitchFamily="34" charset="0"/>
              </a:rPr>
              <a:t>Anatomy vs. Physiology</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AEBD123B-F1A4-4208-8C3B-9DA1AD32DD7E}"/>
              </a:ext>
            </a:extLst>
          </p:cNvPr>
          <p:cNvGraphicFramePr>
            <a:graphicFrameLocks noGrp="1"/>
          </p:cNvGraphicFramePr>
          <p:nvPr>
            <p:ph sz="quarter" idx="16"/>
            <p:extLst>
              <p:ext uri="{D42A27DB-BD31-4B8C-83A1-F6EECF244321}">
                <p14:modId xmlns:p14="http://schemas.microsoft.com/office/powerpoint/2010/main" val="3314994577"/>
              </p:ext>
            </p:extLst>
          </p:nvPr>
        </p:nvGraphicFramePr>
        <p:xfrm>
          <a:off x="634807" y="1839924"/>
          <a:ext cx="7874387" cy="3754120"/>
        </p:xfrm>
        <a:graphic>
          <a:graphicData uri="http://schemas.openxmlformats.org/drawingml/2006/table">
            <a:tbl>
              <a:tblPr firstRow="1" bandRow="1">
                <a:tableStyleId>{69012ECD-51FC-41F1-AA8D-1B2483CD663E}</a:tableStyleId>
              </a:tblPr>
              <a:tblGrid>
                <a:gridCol w="3102691">
                  <a:extLst>
                    <a:ext uri="{9D8B030D-6E8A-4147-A177-3AD203B41FA5}">
                      <a16:colId xmlns:a16="http://schemas.microsoft.com/office/drawing/2014/main" val="17068945"/>
                    </a:ext>
                  </a:extLst>
                </a:gridCol>
                <a:gridCol w="4771696">
                  <a:extLst>
                    <a:ext uri="{9D8B030D-6E8A-4147-A177-3AD203B41FA5}">
                      <a16:colId xmlns:a16="http://schemas.microsoft.com/office/drawing/2014/main" val="1961628721"/>
                    </a:ext>
                  </a:extLst>
                </a:gridCol>
              </a:tblGrid>
              <a:tr h="370840">
                <a:tc>
                  <a:txBody>
                    <a:bodyPr/>
                    <a:lstStyle/>
                    <a:p>
                      <a:r>
                        <a:rPr lang="en-US" sz="1600" b="1" dirty="0"/>
                        <a:t>Branch of Physiology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Study of</a:t>
                      </a:r>
                      <a:endParaRPr lang="en-US" sz="1600" b="1" i="0" dirty="0"/>
                    </a:p>
                  </a:txBody>
                  <a:tcPr/>
                </a:tc>
                <a:extLst>
                  <a:ext uri="{0D108BD9-81ED-4DB2-BD59-A6C34878D82A}">
                    <a16:rowId xmlns:a16="http://schemas.microsoft.com/office/drawing/2014/main" val="2839983536"/>
                  </a:ext>
                </a:extLst>
              </a:tr>
              <a:tr h="370840">
                <a:tc>
                  <a:txBody>
                    <a:bodyPr/>
                    <a:lstStyle/>
                    <a:p>
                      <a:pPr marL="0" indent="0"/>
                      <a:r>
                        <a:rPr lang="en-US" sz="1600" b="1" dirty="0"/>
                        <a:t>Immunology</a:t>
                      </a:r>
                    </a:p>
                    <a:p>
                      <a:pPr marL="288925" indent="0"/>
                      <a:r>
                        <a:rPr lang="fr-FR" sz="1600" b="0" dirty="0"/>
                        <a:t>(</a:t>
                      </a:r>
                      <a:r>
                        <a:rPr lang="fr-FR" sz="1600" b="0" dirty="0" err="1"/>
                        <a:t>im</a:t>
                      </a:r>
                      <a:r>
                        <a:rPr lang="fr-FR" sz="1600" b="0" dirty="0"/>
                        <a:t>'-ū-NOL-ō-</a:t>
                      </a:r>
                      <a:r>
                        <a:rPr lang="fr-FR" sz="1600" b="0" dirty="0" err="1"/>
                        <a:t>jē</a:t>
                      </a:r>
                      <a:r>
                        <a:rPr lang="fr-FR" sz="1600" b="0" dirty="0"/>
                        <a:t>; </a:t>
                      </a:r>
                      <a:r>
                        <a:rPr lang="fr-FR" sz="1600" b="0" i="1" dirty="0"/>
                        <a:t>immun-</a:t>
                      </a:r>
                      <a:r>
                        <a:rPr lang="fr-FR" sz="1600" b="0" dirty="0"/>
                        <a:t> = not susceptible)</a:t>
                      </a:r>
                      <a:endParaRPr lang="en-US" sz="1600" b="0" i="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body's defenses against disease-causing agents.</a:t>
                      </a:r>
                      <a:endParaRPr lang="en-US" sz="1600" i="0" dirty="0"/>
                    </a:p>
                  </a:txBody>
                  <a:tcPr/>
                </a:tc>
                <a:extLst>
                  <a:ext uri="{0D108BD9-81ED-4DB2-BD59-A6C34878D82A}">
                    <a16:rowId xmlns:a16="http://schemas.microsoft.com/office/drawing/2014/main" val="2838419505"/>
                  </a:ext>
                </a:extLst>
              </a:tr>
              <a:tr h="370840">
                <a:tc>
                  <a:txBody>
                    <a:bodyPr/>
                    <a:lstStyle/>
                    <a:p>
                      <a:r>
                        <a:rPr lang="en-US" sz="1600" b="1" dirty="0"/>
                        <a:t>Respiratory physiology</a:t>
                      </a:r>
                    </a:p>
                    <a:p>
                      <a:pPr marL="288925" indent="0"/>
                      <a:r>
                        <a:rPr lang="en-US" sz="1600" b="0" dirty="0"/>
                        <a:t>(RES-pi-ra-</a:t>
                      </a:r>
                      <a:r>
                        <a:rPr lang="en-US" sz="1600" b="0" dirty="0" err="1"/>
                        <a:t>tōr</a:t>
                      </a:r>
                      <a:r>
                        <a:rPr lang="en-US" sz="1600" b="0" dirty="0"/>
                        <a:t>-ē; </a:t>
                      </a:r>
                      <a:r>
                        <a:rPr lang="en-US" sz="1600" b="0" i="1" dirty="0" err="1"/>
                        <a:t>respira</a:t>
                      </a:r>
                      <a:r>
                        <a:rPr lang="en-US" sz="1600" b="0" i="1" dirty="0"/>
                        <a:t>-</a:t>
                      </a:r>
                      <a:r>
                        <a:rPr lang="en-US" sz="1600" b="0" dirty="0"/>
                        <a:t> = to breathe)</a:t>
                      </a:r>
                      <a:endParaRPr lang="en-US" sz="1600" b="0" i="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Functions of the air passageways and lungs.</a:t>
                      </a:r>
                      <a:endParaRPr lang="en-US" sz="1600" i="0" dirty="0"/>
                    </a:p>
                  </a:txBody>
                  <a:tcPr/>
                </a:tc>
                <a:extLst>
                  <a:ext uri="{0D108BD9-81ED-4DB2-BD59-A6C34878D82A}">
                    <a16:rowId xmlns:a16="http://schemas.microsoft.com/office/drawing/2014/main" val="2659807304"/>
                  </a:ext>
                </a:extLst>
              </a:tr>
              <a:tr h="370840">
                <a:tc>
                  <a:txBody>
                    <a:bodyPr/>
                    <a:lstStyle/>
                    <a:p>
                      <a:r>
                        <a:rPr lang="en-US" sz="1600" b="1" dirty="0"/>
                        <a:t>Renal physiology</a:t>
                      </a:r>
                    </a:p>
                    <a:p>
                      <a:pPr marL="288925" indent="0"/>
                      <a:r>
                        <a:rPr lang="en-US" sz="1600" b="0" dirty="0"/>
                        <a:t>(RĒ-</a:t>
                      </a:r>
                      <a:r>
                        <a:rPr lang="en-US" sz="1600" b="0" dirty="0" err="1"/>
                        <a:t>nal</a:t>
                      </a:r>
                      <a:r>
                        <a:rPr lang="en-US" sz="1600" b="0" dirty="0"/>
                        <a:t>; </a:t>
                      </a:r>
                      <a:r>
                        <a:rPr lang="en-US" sz="1600" b="0" i="1" dirty="0"/>
                        <a:t>ren-</a:t>
                      </a:r>
                      <a:r>
                        <a:rPr lang="en-US" sz="1600" b="0" dirty="0"/>
                        <a:t> = kidney)</a:t>
                      </a:r>
                      <a:endParaRPr lang="en-US" sz="1600" b="0" i="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Functions of the kidneys.</a:t>
                      </a:r>
                      <a:endParaRPr lang="en-US" sz="1600" i="0" dirty="0"/>
                    </a:p>
                  </a:txBody>
                  <a:tcPr/>
                </a:tc>
                <a:extLst>
                  <a:ext uri="{0D108BD9-81ED-4DB2-BD59-A6C34878D82A}">
                    <a16:rowId xmlns:a16="http://schemas.microsoft.com/office/drawing/2014/main" val="28855181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Exercise physiology</a:t>
                      </a:r>
                      <a:endParaRPr lang="en-US" sz="1600" b="1" i="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Changes in cell and organ functions due to muscular activity.</a:t>
                      </a:r>
                      <a:endParaRPr lang="en-US" sz="1600" i="0" dirty="0"/>
                    </a:p>
                  </a:txBody>
                  <a:tcPr/>
                </a:tc>
                <a:extLst>
                  <a:ext uri="{0D108BD9-81ED-4DB2-BD59-A6C34878D82A}">
                    <a16:rowId xmlns:a16="http://schemas.microsoft.com/office/drawing/2014/main" val="2538765279"/>
                  </a:ext>
                </a:extLst>
              </a:tr>
              <a:tr h="370840">
                <a:tc>
                  <a:txBody>
                    <a:bodyPr/>
                    <a:lstStyle/>
                    <a:p>
                      <a:pPr marL="0" indent="0"/>
                      <a:r>
                        <a:rPr lang="en-US" sz="1600" b="1" dirty="0"/>
                        <a:t>Pathophysiology</a:t>
                      </a:r>
                    </a:p>
                    <a:p>
                      <a:pPr marL="288925" indent="0"/>
                      <a:r>
                        <a:rPr lang="en-US" sz="1600" b="0" dirty="0"/>
                        <a:t>(Path-ō-</a:t>
                      </a:r>
                      <a:r>
                        <a:rPr lang="en-US" sz="1600" b="0" dirty="0" err="1"/>
                        <a:t>fiz</a:t>
                      </a:r>
                      <a:r>
                        <a:rPr lang="en-US" sz="1600" b="0" dirty="0"/>
                        <a:t>-ē-</a:t>
                      </a:r>
                      <a:r>
                        <a:rPr lang="en-US" sz="1600" b="0" dirty="0" err="1"/>
                        <a:t>ol</a:t>
                      </a:r>
                      <a:r>
                        <a:rPr lang="en-US" sz="1600" b="0" dirty="0"/>
                        <a:t>'-ō-</a:t>
                      </a:r>
                      <a:r>
                        <a:rPr lang="en-US" sz="1600" b="0" dirty="0" err="1"/>
                        <a:t>jē</a:t>
                      </a:r>
                      <a:r>
                        <a:rPr lang="en-US" sz="1600" b="0" dirty="0"/>
                        <a:t>)</a:t>
                      </a:r>
                      <a:endParaRPr lang="en-US" sz="1600" b="0" i="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Functional changes associated with disease and aging.</a:t>
                      </a:r>
                      <a:endParaRPr lang="en-US" sz="1600" i="0" dirty="0"/>
                    </a:p>
                  </a:txBody>
                  <a:tcPr/>
                </a:tc>
                <a:extLst>
                  <a:ext uri="{0D108BD9-81ED-4DB2-BD59-A6C34878D82A}">
                    <a16:rowId xmlns:a16="http://schemas.microsoft.com/office/drawing/2014/main" val="985164835"/>
                  </a:ext>
                </a:extLst>
              </a:tr>
            </a:tbl>
          </a:graphicData>
        </a:graphic>
      </p:graphicFrame>
    </p:spTree>
    <p:extLst>
      <p:ext uri="{BB962C8B-B14F-4D97-AF65-F5344CB8AC3E}">
        <p14:creationId xmlns:p14="http://schemas.microsoft.com/office/powerpoint/2010/main" val="2196717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918E207-AE5E-4E08-8548-A39628990791}"/>
              </a:ext>
            </a:extLst>
          </p:cNvPr>
          <p:cNvSpPr>
            <a:spLocks noGrp="1"/>
          </p:cNvSpPr>
          <p:nvPr>
            <p:ph type="title"/>
          </p:nvPr>
        </p:nvSpPr>
        <p:spPr>
          <a:xfrm>
            <a:off x="304800" y="2921890"/>
            <a:ext cx="8534400" cy="1014221"/>
          </a:xfrm>
        </p:spPr>
        <p:txBody>
          <a:bodyPr>
            <a:noAutofit/>
          </a:bodyPr>
          <a:lstStyle/>
          <a:p>
            <a:pPr algn="ctr"/>
            <a:r>
              <a:rPr lang="en-US" dirty="0">
                <a:latin typeface="Calibri" panose="020F0502020204030204" pitchFamily="34" charset="0"/>
                <a:cs typeface="Calibri" panose="020F0502020204030204" pitchFamily="34" charset="0"/>
              </a:rPr>
              <a:t>Levels of Structural Organization and Body Systems</a:t>
            </a:r>
          </a:p>
        </p:txBody>
      </p:sp>
    </p:spTree>
    <p:extLst>
      <p:ext uri="{BB962C8B-B14F-4D97-AF65-F5344CB8AC3E}">
        <p14:creationId xmlns:p14="http://schemas.microsoft.com/office/powerpoint/2010/main" val="379689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0A78730-AEA1-42CF-A99D-E79839F8D4A4}"/>
              </a:ext>
            </a:extLst>
          </p:cNvPr>
          <p:cNvSpPr>
            <a:spLocks noGrp="1"/>
          </p:cNvSpPr>
          <p:nvPr>
            <p:ph type="title"/>
          </p:nvPr>
        </p:nvSpPr>
        <p:spPr/>
        <p:txBody>
          <a:bodyPr/>
          <a:lstStyle/>
          <a:p>
            <a:r>
              <a:rPr lang="en-US" dirty="0"/>
              <a:t>Levels of Structural Organization </a:t>
            </a:r>
          </a:p>
        </p:txBody>
      </p:sp>
      <p:sp>
        <p:nvSpPr>
          <p:cNvPr id="8" name="Content Placeholder 7">
            <a:extLst>
              <a:ext uri="{FF2B5EF4-FFF2-40B4-BE49-F238E27FC236}">
                <a16:creationId xmlns:a16="http://schemas.microsoft.com/office/drawing/2014/main" id="{6A463F36-A277-4A46-B8E6-5A0A181A4A72}"/>
              </a:ext>
            </a:extLst>
          </p:cNvPr>
          <p:cNvSpPr>
            <a:spLocks noGrp="1"/>
          </p:cNvSpPr>
          <p:nvPr>
            <p:ph sz="quarter" idx="16"/>
          </p:nvPr>
        </p:nvSpPr>
        <p:spPr/>
        <p:txBody>
          <a:bodyPr/>
          <a:lstStyle/>
          <a:p>
            <a:r>
              <a:rPr lang="en-US" sz="3200" dirty="0"/>
              <a:t>Chemical: atoms and molecules </a:t>
            </a:r>
          </a:p>
          <a:p>
            <a:r>
              <a:rPr lang="en-US" sz="3200" dirty="0"/>
              <a:t>Cellular: cells and their organelles </a:t>
            </a:r>
          </a:p>
          <a:p>
            <a:r>
              <a:rPr lang="en-US" sz="3200" dirty="0"/>
              <a:t>Tissue: group of similar cells </a:t>
            </a:r>
          </a:p>
          <a:p>
            <a:r>
              <a:rPr lang="en-US" sz="3200" dirty="0"/>
              <a:t>Organ: contains two or more types of tissues </a:t>
            </a:r>
          </a:p>
          <a:p>
            <a:r>
              <a:rPr lang="en-US" sz="3200" dirty="0"/>
              <a:t>Organ system: organs that work closely together </a:t>
            </a:r>
          </a:p>
          <a:p>
            <a:r>
              <a:rPr lang="en-US" sz="3200" dirty="0"/>
              <a:t>Organismal: all organ systems of a complete individual</a:t>
            </a:r>
          </a:p>
        </p:txBody>
      </p:sp>
      <p:sp>
        <p:nvSpPr>
          <p:cNvPr id="5" name="Slide Number Placeholder 4">
            <a:extLst>
              <a:ext uri="{FF2B5EF4-FFF2-40B4-BE49-F238E27FC236}">
                <a16:creationId xmlns:a16="http://schemas.microsoft.com/office/drawing/2014/main" id="{8C3B81CC-7E5A-4B8C-9E7D-3F2068A4D4CA}"/>
              </a:ext>
            </a:extLst>
          </p:cNvPr>
          <p:cNvSpPr>
            <a:spLocks noGrp="1"/>
          </p:cNvSpPr>
          <p:nvPr>
            <p:ph type="sldNum" sz="quarter" idx="4294967295"/>
          </p:nvPr>
        </p:nvSpPr>
        <p:spPr>
          <a:xfrm>
            <a:off x="6762750" y="6356350"/>
            <a:ext cx="2381250" cy="365125"/>
          </a:xfrm>
        </p:spPr>
        <p:txBody>
          <a:bodyPr/>
          <a:lstStyle/>
          <a:p>
            <a:fld id="{67B19427-F580-D146-B60E-4CADEE75497F}" type="slidenum">
              <a:rPr lang="en-US" smtClean="0"/>
              <a:pPr/>
              <a:t>10</a:t>
            </a:fld>
            <a:endParaRPr lang="en-US" dirty="0"/>
          </a:p>
        </p:txBody>
      </p:sp>
      <p:sp>
        <p:nvSpPr>
          <p:cNvPr id="6" name="Footer Placeholder 5">
            <a:extLst>
              <a:ext uri="{FF2B5EF4-FFF2-40B4-BE49-F238E27FC236}">
                <a16:creationId xmlns:a16="http://schemas.microsoft.com/office/drawing/2014/main" id="{217B3AF5-D286-4C3B-81FF-1D354531EA7A}"/>
              </a:ext>
            </a:extLst>
          </p:cNvPr>
          <p:cNvSpPr>
            <a:spLocks noGrp="1"/>
          </p:cNvSpPr>
          <p:nvPr>
            <p:ph type="ftr" sz="quarter" idx="4294967295"/>
          </p:nvPr>
        </p:nvSpPr>
        <p:spPr>
          <a:xfrm>
            <a:off x="0" y="6356350"/>
            <a:ext cx="3086100" cy="365125"/>
          </a:xfrm>
        </p:spPr>
        <p:txBody>
          <a:bodyPr/>
          <a:lstStyle/>
          <a:p>
            <a:r>
              <a:rPr lang="en-US"/>
              <a:t>Copyright ©2017 John Wiley &amp; Sons, Inc. </a:t>
            </a:r>
            <a:endParaRPr lang="en-US" dirty="0"/>
          </a:p>
        </p:txBody>
      </p:sp>
    </p:spTree>
    <p:extLst>
      <p:ext uri="{BB962C8B-B14F-4D97-AF65-F5344CB8AC3E}">
        <p14:creationId xmlns:p14="http://schemas.microsoft.com/office/powerpoint/2010/main" val="27908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FEDDEBA-DB7A-40F4-96FF-63CA0BC99B6D}"/>
              </a:ext>
            </a:extLst>
          </p:cNvPr>
          <p:cNvSpPr>
            <a:spLocks noGrp="1"/>
          </p:cNvSpPr>
          <p:nvPr>
            <p:ph type="title"/>
          </p:nvPr>
        </p:nvSpPr>
        <p:spPr>
          <a:xfrm>
            <a:off x="304800" y="469769"/>
            <a:ext cx="8534400" cy="838199"/>
          </a:xfrm>
        </p:spPr>
        <p:txBody>
          <a:bodyPr/>
          <a:lstStyle/>
          <a:p>
            <a:r>
              <a:rPr lang="en-US" dirty="0">
                <a:latin typeface="Calibri" panose="020F0502020204030204" pitchFamily="34" charset="0"/>
                <a:cs typeface="Calibri" panose="020F0502020204030204" pitchFamily="34" charset="0"/>
              </a:rPr>
              <a:t>Levels of Structural Organization</a:t>
            </a:r>
          </a:p>
        </p:txBody>
      </p:sp>
      <p:pic>
        <p:nvPicPr>
          <p:cNvPr id="6" name="Content Placeholder 8" descr="A diagram illustrates the 6 levels of structural organization from smallest to largest. 1. Chemical level shows atoms of C, H, O, N, and P and a molecule of D N A. 2. Cellular level shows a long smooth muscle cell with tapering ends and a wide center that contains the elongated nucleus. 3. Tissue level shows smooth muscle tissue as a block section of smooth muscle layers. 4. Organ level shows the following tissues that comprise the stomach: Epithelial and connective tissue line the exterior of the organ; this layer is cut away to expose smooth muscle tissue layers underneath; two layers are cut away to expose epithelial tissue that lines the interior of the stomach. 5. System level shows the following components of the digestive system: The mouth, with salivary glands present in three locations; two glands are located in the lower jaw under the tongue and the third extends from the back of the jaws into the nasal septum. The pharynx is located anterior to the uppermost salivary gland, and the esophagus runs down to the stomach. Other system elements include the stomach, pancreas (located behind the stomach), liver and gall bladder, and small and large intestines. 6. Organismal level shows a photo of a human boy standing in the anatomical position represents an organism made up of many systems.">
            <a:extLst>
              <a:ext uri="{FF2B5EF4-FFF2-40B4-BE49-F238E27FC236}">
                <a16:creationId xmlns:a16="http://schemas.microsoft.com/office/drawing/2014/main" id="{869D577D-BD06-4DBD-8C3A-98FCA7C9D20F}"/>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1710385" y="1050324"/>
            <a:ext cx="5723230" cy="5224428"/>
          </a:xfrm>
        </p:spPr>
      </p:pic>
    </p:spTree>
    <p:extLst>
      <p:ext uri="{BB962C8B-B14F-4D97-AF65-F5344CB8AC3E}">
        <p14:creationId xmlns:p14="http://schemas.microsoft.com/office/powerpoint/2010/main" val="115133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5BA6A2-F136-4AAE-9651-13A369ADDF62}"/>
              </a:ext>
            </a:extLst>
          </p:cNvPr>
          <p:cNvSpPr>
            <a:spLocks noGrp="1"/>
          </p:cNvSpPr>
          <p:nvPr>
            <p:ph type="title"/>
          </p:nvPr>
        </p:nvSpPr>
        <p:spPr>
          <a:xfrm>
            <a:off x="304800" y="450919"/>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0120CBEF-1AFB-49C3-BD0B-B761C2443C8A}"/>
              </a:ext>
            </a:extLst>
          </p:cNvPr>
          <p:cNvSpPr>
            <a:spLocks noGrp="1"/>
          </p:cNvSpPr>
          <p:nvPr>
            <p:ph sz="quarter" idx="16"/>
          </p:nvPr>
        </p:nvSpPr>
        <p:spPr>
          <a:xfrm>
            <a:off x="467458" y="1542287"/>
            <a:ext cx="8286017" cy="4601338"/>
          </a:xfrm>
        </p:spPr>
        <p:txBody>
          <a:bodyPr/>
          <a:lstStyle/>
          <a:p>
            <a:pPr>
              <a:lnSpc>
                <a:spcPct val="100000"/>
              </a:lnSpc>
              <a:spcBef>
                <a:spcPts val="624"/>
              </a:spcBef>
            </a:pPr>
            <a:r>
              <a:rPr lang="en-US" dirty="0">
                <a:latin typeface="Calibri" panose="020F0502020204030204" pitchFamily="34" charset="0"/>
                <a:cs typeface="Calibri" panose="020F0502020204030204" pitchFamily="34" charset="0"/>
              </a:rPr>
              <a:t>The eleven systems of the human body are the integumentary, skeletal, muscular, nervous, endocrine, cardiovascular, lymphatic/immune, respiratory, digestive, urinary, and reproductive</a:t>
            </a:r>
          </a:p>
        </p:txBody>
      </p:sp>
    </p:spTree>
    <p:extLst>
      <p:ext uri="{BB962C8B-B14F-4D97-AF65-F5344CB8AC3E}">
        <p14:creationId xmlns:p14="http://schemas.microsoft.com/office/powerpoint/2010/main" val="299450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6BF03E65-66FE-4426-838B-DC72FB066E6D}"/>
              </a:ext>
            </a:extLst>
          </p:cNvPr>
          <p:cNvSpPr>
            <a:spLocks noGrp="1"/>
          </p:cNvSpPr>
          <p:nvPr>
            <p:ph type="title"/>
          </p:nvPr>
        </p:nvSpPr>
        <p:spPr>
          <a:xfrm>
            <a:off x="304800" y="469768"/>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sp>
        <p:nvSpPr>
          <p:cNvPr id="9" name="Content Placeholder 8">
            <a:extLst>
              <a:ext uri="{FF2B5EF4-FFF2-40B4-BE49-F238E27FC236}">
                <a16:creationId xmlns:a16="http://schemas.microsoft.com/office/drawing/2014/main" id="{10258F91-1AB4-42AA-8E7E-12C0439E0F58}"/>
              </a:ext>
            </a:extLst>
          </p:cNvPr>
          <p:cNvSpPr>
            <a:spLocks noGrp="1"/>
          </p:cNvSpPr>
          <p:nvPr>
            <p:ph sz="quarter" idx="16"/>
          </p:nvPr>
        </p:nvSpPr>
        <p:spPr>
          <a:xfrm>
            <a:off x="399069" y="1611195"/>
            <a:ext cx="7610573" cy="509833"/>
          </a:xfrm>
        </p:spPr>
        <p:txBody>
          <a:bodyPr/>
          <a:lstStyle/>
          <a:p>
            <a:r>
              <a:rPr lang="en-US" b="1" dirty="0">
                <a:latin typeface="Calibri" panose="020F0502020204030204" pitchFamily="34" charset="0"/>
                <a:cs typeface="Calibri" panose="020F0502020204030204" pitchFamily="34" charset="0"/>
              </a:rPr>
              <a:t>Table 1.2 </a:t>
            </a:r>
            <a:r>
              <a:rPr lang="en-US" dirty="0">
                <a:latin typeface="Calibri" panose="020F0502020204030204" pitchFamily="34" charset="0"/>
                <a:cs typeface="Calibri" panose="020F0502020204030204" pitchFamily="34" charset="0"/>
              </a:rPr>
              <a:t>The Eleven Systems of the Human Body</a:t>
            </a:r>
          </a:p>
        </p:txBody>
      </p:sp>
      <p:graphicFrame>
        <p:nvGraphicFramePr>
          <p:cNvPr id="2" name="Table 2">
            <a:extLst>
              <a:ext uri="{FF2B5EF4-FFF2-40B4-BE49-F238E27FC236}">
                <a16:creationId xmlns:a16="http://schemas.microsoft.com/office/drawing/2014/main" id="{09AED5BC-6552-4A36-A2F0-8307AAD765AD}"/>
              </a:ext>
            </a:extLst>
          </p:cNvPr>
          <p:cNvGraphicFramePr>
            <a:graphicFrameLocks noGrp="1"/>
          </p:cNvGraphicFramePr>
          <p:nvPr>
            <p:ph sz="quarter" idx="17"/>
            <p:extLst>
              <p:ext uri="{D42A27DB-BD31-4B8C-83A1-F6EECF244321}">
                <p14:modId xmlns:p14="http://schemas.microsoft.com/office/powerpoint/2010/main" val="2135339692"/>
              </p:ext>
            </p:extLst>
          </p:nvPr>
        </p:nvGraphicFramePr>
        <p:xfrm>
          <a:off x="513925" y="2424256"/>
          <a:ext cx="8136089" cy="3022600"/>
        </p:xfrm>
        <a:graphic>
          <a:graphicData uri="http://schemas.openxmlformats.org/drawingml/2006/table">
            <a:tbl>
              <a:tblPr firstRow="1" bandRow="1">
                <a:tableStyleId>{69012ECD-51FC-41F1-AA8D-1B2483CD663E}</a:tableStyleId>
              </a:tblPr>
              <a:tblGrid>
                <a:gridCol w="4215730">
                  <a:extLst>
                    <a:ext uri="{9D8B030D-6E8A-4147-A177-3AD203B41FA5}">
                      <a16:colId xmlns:a16="http://schemas.microsoft.com/office/drawing/2014/main" val="1469700583"/>
                    </a:ext>
                  </a:extLst>
                </a:gridCol>
                <a:gridCol w="3920359">
                  <a:extLst>
                    <a:ext uri="{9D8B030D-6E8A-4147-A177-3AD203B41FA5}">
                      <a16:colId xmlns:a16="http://schemas.microsoft.com/office/drawing/2014/main" val="84432974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Integumentary System (chapter 5)</a:t>
                      </a:r>
                    </a:p>
                  </a:txBody>
                  <a:tcPr/>
                </a:tc>
                <a:tc>
                  <a:txBody>
                    <a:bodyPr/>
                    <a:lstStyle/>
                    <a:p>
                      <a:r>
                        <a:rPr lang="en-US" sz="1800" b="1" dirty="0"/>
                        <a:t>Skeletal System (chapters 6-9)</a:t>
                      </a:r>
                    </a:p>
                  </a:txBody>
                  <a:tcPr/>
                </a:tc>
                <a:extLst>
                  <a:ext uri="{0D108BD9-81ED-4DB2-BD59-A6C34878D82A}">
                    <a16:rowId xmlns:a16="http://schemas.microsoft.com/office/drawing/2014/main" val="8146992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b="1" dirty="0"/>
                        <a:t>: Skin</a:t>
                      </a:r>
                      <a:r>
                        <a:rPr lang="en-US" sz="1800" dirty="0"/>
                        <a:t> and associated structures, such as </a:t>
                      </a:r>
                      <a:r>
                        <a:rPr lang="en-US" sz="1800" b="1" dirty="0"/>
                        <a:t>hair, fingernails </a:t>
                      </a:r>
                      <a:r>
                        <a:rPr lang="en-US" sz="1800" dirty="0"/>
                        <a:t>and </a:t>
                      </a:r>
                      <a:r>
                        <a:rPr lang="en-US" sz="1800" b="1" dirty="0"/>
                        <a:t>toenails, sweat glands,</a:t>
                      </a:r>
                      <a:r>
                        <a:rPr lang="en-US" sz="1800" dirty="0"/>
                        <a:t> and</a:t>
                      </a:r>
                      <a:r>
                        <a:rPr lang="en-US" sz="1800" b="1" dirty="0"/>
                        <a:t> oil glands.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b="1" dirty="0"/>
                        <a:t>: Bones </a:t>
                      </a:r>
                      <a:r>
                        <a:rPr lang="en-US" sz="1800" dirty="0"/>
                        <a:t>and </a:t>
                      </a:r>
                      <a:r>
                        <a:rPr lang="en-US" sz="1800" b="1" dirty="0"/>
                        <a:t>joints</a:t>
                      </a:r>
                      <a:r>
                        <a:rPr lang="en-US" sz="1800" dirty="0"/>
                        <a:t> of the body</a:t>
                      </a:r>
                      <a:r>
                        <a:rPr lang="en-US" sz="1800" baseline="0" dirty="0"/>
                        <a:t> </a:t>
                      </a:r>
                      <a:r>
                        <a:rPr lang="en-US" sz="1800" dirty="0"/>
                        <a:t>and their associated </a:t>
                      </a:r>
                      <a:r>
                        <a:rPr lang="en-US" sz="1800" b="1" dirty="0"/>
                        <a:t>cartilages</a:t>
                      </a:r>
                      <a:r>
                        <a:rPr lang="en-US" sz="1800" dirty="0"/>
                        <a:t>.</a:t>
                      </a:r>
                      <a:endParaRPr lang="en-US" sz="1800" b="1" dirty="0"/>
                    </a:p>
                  </a:txBody>
                  <a:tcPr/>
                </a:tc>
                <a:extLst>
                  <a:ext uri="{0D108BD9-81ED-4DB2-BD59-A6C34878D82A}">
                    <a16:rowId xmlns:a16="http://schemas.microsoft.com/office/drawing/2014/main" val="30749149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dirty="0"/>
                        <a:t>: Protects body; helps regulate</a:t>
                      </a:r>
                      <a:r>
                        <a:rPr lang="en-US" sz="1800" baseline="0" dirty="0"/>
                        <a:t> </a:t>
                      </a:r>
                      <a:r>
                        <a:rPr lang="en-US" sz="1800" dirty="0"/>
                        <a:t>body temperature; eliminates some wastes; helps make vitamin D; detects sensations such as touch, pain, warmth, and cold; stores fat and provides insulation.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dirty="0"/>
                        <a:t>: Supports and protects body; provides surface area for muscle attachments; aids body movements; houses cells that produce blood cells; stores minerals and lipids (fats).</a:t>
                      </a:r>
                    </a:p>
                  </a:txBody>
                  <a:tcPr/>
                </a:tc>
                <a:extLst>
                  <a:ext uri="{0D108BD9-81ED-4DB2-BD59-A6C34878D82A}">
                    <a16:rowId xmlns:a16="http://schemas.microsoft.com/office/drawing/2014/main" val="1015653180"/>
                  </a:ext>
                </a:extLst>
              </a:tr>
            </a:tbl>
          </a:graphicData>
        </a:graphic>
      </p:graphicFrame>
    </p:spTree>
    <p:extLst>
      <p:ext uri="{BB962C8B-B14F-4D97-AF65-F5344CB8AC3E}">
        <p14:creationId xmlns:p14="http://schemas.microsoft.com/office/powerpoint/2010/main" val="1889723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19F2A2-48D2-4C90-9131-16041D9C8843}"/>
              </a:ext>
            </a:extLst>
          </p:cNvPr>
          <p:cNvSpPr>
            <a:spLocks noGrp="1"/>
          </p:cNvSpPr>
          <p:nvPr>
            <p:ph type="title"/>
          </p:nvPr>
        </p:nvSpPr>
        <p:spPr>
          <a:xfrm>
            <a:off x="304800" y="460341"/>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pic>
        <p:nvPicPr>
          <p:cNvPr id="2" name="Content Placeholder 1" descr="Two diagrams show different systems of the human body. The diagram on the left illustrates the integumentary system in a human female with the following components: Hair, skin and associated glands, fingernails, and toenails. The diagram on the right illustrates the skeletal system in a human male with the following components: Bone labeled in the arm; cartilage labeled at the inferior ends of the ribs; and joints labeled at the joint between the hip and the leg.">
            <a:extLst>
              <a:ext uri="{FF2B5EF4-FFF2-40B4-BE49-F238E27FC236}">
                <a16:creationId xmlns:a16="http://schemas.microsoft.com/office/drawing/2014/main" id="{C112B992-E222-4445-BC7B-2C3567B0D2B7}"/>
              </a:ext>
            </a:extLst>
          </p:cNvPr>
          <p:cNvPicPr>
            <a:picLocks noGrp="1" noChangeAspect="1"/>
          </p:cNvPicPr>
          <p:nvPr>
            <p:ph sz="quarter" idx="17"/>
          </p:nvPr>
        </p:nvPicPr>
        <p:blipFill>
          <a:blip r:embed="rId2"/>
          <a:stretch>
            <a:fillRect/>
          </a:stretch>
        </p:blipFill>
        <p:spPr>
          <a:xfrm>
            <a:off x="285750" y="1597474"/>
            <a:ext cx="8572500" cy="3992880"/>
          </a:xfrm>
          <a:prstGeom prst="rect">
            <a:avLst/>
          </a:prstGeom>
        </p:spPr>
      </p:pic>
    </p:spTree>
    <p:extLst>
      <p:ext uri="{BB962C8B-B14F-4D97-AF65-F5344CB8AC3E}">
        <p14:creationId xmlns:p14="http://schemas.microsoft.com/office/powerpoint/2010/main" val="2506100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4A0EC39-7C45-44FD-A8C9-3AE327A1BDA5}"/>
              </a:ext>
            </a:extLst>
          </p:cNvPr>
          <p:cNvSpPr>
            <a:spLocks noGrp="1"/>
          </p:cNvSpPr>
          <p:nvPr>
            <p:ph type="title"/>
          </p:nvPr>
        </p:nvSpPr>
        <p:spPr>
          <a:xfrm>
            <a:off x="304800" y="450917"/>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45722B9F-32E4-43AD-A9C8-B373A62CDB7B}"/>
              </a:ext>
            </a:extLst>
          </p:cNvPr>
          <p:cNvGraphicFramePr>
            <a:graphicFrameLocks noGrp="1"/>
          </p:cNvGraphicFramePr>
          <p:nvPr>
            <p:ph sz="quarter" idx="16"/>
            <p:extLst>
              <p:ext uri="{D42A27DB-BD31-4B8C-83A1-F6EECF244321}">
                <p14:modId xmlns:p14="http://schemas.microsoft.com/office/powerpoint/2010/main" val="193164095"/>
              </p:ext>
            </p:extLst>
          </p:nvPr>
        </p:nvGraphicFramePr>
        <p:xfrm>
          <a:off x="624256" y="1615527"/>
          <a:ext cx="7895489" cy="3571240"/>
        </p:xfrm>
        <a:graphic>
          <a:graphicData uri="http://schemas.openxmlformats.org/drawingml/2006/table">
            <a:tbl>
              <a:tblPr firstRow="1" bandRow="1">
                <a:tableStyleId>{69012ECD-51FC-41F1-AA8D-1B2483CD663E}</a:tableStyleId>
              </a:tblPr>
              <a:tblGrid>
                <a:gridCol w="4048702">
                  <a:extLst>
                    <a:ext uri="{9D8B030D-6E8A-4147-A177-3AD203B41FA5}">
                      <a16:colId xmlns:a16="http://schemas.microsoft.com/office/drawing/2014/main" val="4141802228"/>
                    </a:ext>
                  </a:extLst>
                </a:gridCol>
                <a:gridCol w="3846787">
                  <a:extLst>
                    <a:ext uri="{9D8B030D-6E8A-4147-A177-3AD203B41FA5}">
                      <a16:colId xmlns:a16="http://schemas.microsoft.com/office/drawing/2014/main" val="157449145"/>
                    </a:ext>
                  </a:extLst>
                </a:gridCol>
              </a:tblGrid>
              <a:tr h="370840">
                <a:tc>
                  <a:txBody>
                    <a:bodyPr/>
                    <a:lstStyle/>
                    <a:p>
                      <a:r>
                        <a:rPr lang="en-US" sz="1800" dirty="0"/>
                        <a:t>Muscular System (Chapters 10, 11)</a:t>
                      </a:r>
                      <a:endParaRPr lang="en-US" sz="1800" dirty="0">
                        <a:latin typeface="+mn-lt"/>
                      </a:endParaRPr>
                    </a:p>
                  </a:txBody>
                  <a:tcPr/>
                </a:tc>
                <a:tc>
                  <a:txBody>
                    <a:bodyPr/>
                    <a:lstStyle/>
                    <a:p>
                      <a:r>
                        <a:rPr lang="en-US" sz="1800" dirty="0"/>
                        <a:t>Nervous System (Chapters 12-17)</a:t>
                      </a:r>
                      <a:endParaRPr lang="en-US" sz="1800" dirty="0">
                        <a:latin typeface="+mn-lt"/>
                      </a:endParaRPr>
                    </a:p>
                  </a:txBody>
                  <a:tcPr/>
                </a:tc>
                <a:extLst>
                  <a:ext uri="{0D108BD9-81ED-4DB2-BD59-A6C34878D82A}">
                    <a16:rowId xmlns:a16="http://schemas.microsoft.com/office/drawing/2014/main" val="20084644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dirty="0"/>
                        <a:t>: Specifically, </a:t>
                      </a:r>
                      <a:r>
                        <a:rPr lang="en-US" sz="1800" b="1" dirty="0"/>
                        <a:t>skeletal muscle tissue</a:t>
                      </a:r>
                      <a:r>
                        <a:rPr lang="en-US" sz="1800" b="0" dirty="0"/>
                        <a:t>—</a:t>
                      </a:r>
                      <a:r>
                        <a:rPr lang="en-US" sz="1800" dirty="0"/>
                        <a:t>muscle usually attached to bones (other muscle tissues include smooth and cardiac).</a:t>
                      </a:r>
                      <a:endParaRPr lang="en-US" sz="18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dirty="0"/>
                        <a:t>: </a:t>
                      </a:r>
                      <a:r>
                        <a:rPr lang="en-US" sz="1800" b="1" dirty="0"/>
                        <a:t>Brain, spinal cord, nerves, </a:t>
                      </a:r>
                      <a:r>
                        <a:rPr lang="en-US" sz="1800" dirty="0"/>
                        <a:t>and special sense organs, such as</a:t>
                      </a:r>
                      <a:r>
                        <a:rPr lang="en-US" sz="1800" b="1" dirty="0"/>
                        <a:t> eyes </a:t>
                      </a:r>
                      <a:r>
                        <a:rPr lang="en-US" sz="1800" b="0" dirty="0"/>
                        <a:t>and </a:t>
                      </a:r>
                      <a:r>
                        <a:rPr lang="en-US" sz="1800" b="1" dirty="0"/>
                        <a:t>ears.</a:t>
                      </a:r>
                      <a:endParaRPr lang="en-US" sz="1800" b="1" dirty="0">
                        <a:latin typeface="+mn-lt"/>
                      </a:endParaRPr>
                    </a:p>
                  </a:txBody>
                  <a:tcPr/>
                </a:tc>
                <a:extLst>
                  <a:ext uri="{0D108BD9-81ED-4DB2-BD59-A6C34878D82A}">
                    <a16:rowId xmlns:a16="http://schemas.microsoft.com/office/drawing/2014/main" val="5121201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dirty="0"/>
                        <a:t>: Participates in body movements, such as walking; maintains posture; produces heat.</a:t>
                      </a:r>
                      <a:endParaRPr lang="en-US" sz="18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dirty="0"/>
                        <a:t>: Generates action potentials (nerve impulses) to regulate body activities; detects changes in body's internal and external environments, interprets changes, and responds by causing muscular</a:t>
                      </a:r>
                      <a:r>
                        <a:rPr lang="en-US" sz="1800" baseline="0" dirty="0"/>
                        <a:t> </a:t>
                      </a:r>
                      <a:r>
                        <a:rPr lang="en-US" sz="1800" dirty="0"/>
                        <a:t>contractions or glandular secretions.</a:t>
                      </a:r>
                      <a:endParaRPr lang="en-US" sz="1800" dirty="0">
                        <a:latin typeface="+mn-lt"/>
                      </a:endParaRPr>
                    </a:p>
                  </a:txBody>
                  <a:tcPr/>
                </a:tc>
                <a:extLst>
                  <a:ext uri="{0D108BD9-81ED-4DB2-BD59-A6C34878D82A}">
                    <a16:rowId xmlns:a16="http://schemas.microsoft.com/office/drawing/2014/main" val="2483935"/>
                  </a:ext>
                </a:extLst>
              </a:tr>
            </a:tbl>
          </a:graphicData>
        </a:graphic>
      </p:graphicFrame>
    </p:spTree>
    <p:extLst>
      <p:ext uri="{BB962C8B-B14F-4D97-AF65-F5344CB8AC3E}">
        <p14:creationId xmlns:p14="http://schemas.microsoft.com/office/powerpoint/2010/main" val="1132347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3D23CF1-F222-4B18-A9CD-2F0BEDEA4984}"/>
              </a:ext>
            </a:extLst>
          </p:cNvPr>
          <p:cNvSpPr>
            <a:spLocks noGrp="1"/>
          </p:cNvSpPr>
          <p:nvPr>
            <p:ph type="title"/>
          </p:nvPr>
        </p:nvSpPr>
        <p:spPr>
          <a:xfrm>
            <a:off x="304800" y="469767"/>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pic>
        <p:nvPicPr>
          <p:cNvPr id="2" name="Content Placeholder 1" descr="Two diagrams show different systems of the human body. The diagram on the left illustrates the muscular system in a human female, with the following components: Skeletal muscle represented by the pectoral muscles of the chest, and a tendon in the arm. The diagram on the right illustrates the nervous system in a human female, with the following components: Brain, spinal cord, and a nerve in the thigh that extends from the spinal cord and splits into two branches at the knee.">
            <a:extLst>
              <a:ext uri="{FF2B5EF4-FFF2-40B4-BE49-F238E27FC236}">
                <a16:creationId xmlns:a16="http://schemas.microsoft.com/office/drawing/2014/main" id="{B114FABE-87BC-4F65-A987-191DADFB6080}"/>
              </a:ext>
            </a:extLst>
          </p:cNvPr>
          <p:cNvPicPr>
            <a:picLocks noGrp="1" noChangeAspect="1"/>
          </p:cNvPicPr>
          <p:nvPr>
            <p:ph sz="quarter" idx="16"/>
          </p:nvPr>
        </p:nvPicPr>
        <p:blipFill>
          <a:blip r:embed="rId2"/>
          <a:stretch>
            <a:fillRect/>
          </a:stretch>
        </p:blipFill>
        <p:spPr>
          <a:xfrm>
            <a:off x="285750" y="1582957"/>
            <a:ext cx="8572500" cy="3710940"/>
          </a:xfrm>
          <a:prstGeom prst="rect">
            <a:avLst/>
          </a:prstGeom>
        </p:spPr>
      </p:pic>
    </p:spTree>
    <p:extLst>
      <p:ext uri="{BB962C8B-B14F-4D97-AF65-F5344CB8AC3E}">
        <p14:creationId xmlns:p14="http://schemas.microsoft.com/office/powerpoint/2010/main" val="2848996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4682FAD-EA3B-4C52-A94F-0AA2DCA31DA7}"/>
              </a:ext>
            </a:extLst>
          </p:cNvPr>
          <p:cNvSpPr>
            <a:spLocks noGrp="1"/>
          </p:cNvSpPr>
          <p:nvPr>
            <p:ph type="title"/>
          </p:nvPr>
        </p:nvSpPr>
        <p:spPr>
          <a:xfrm>
            <a:off x="304800" y="469764"/>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sp>
        <p:nvSpPr>
          <p:cNvPr id="9" name="Content Placeholder 8">
            <a:extLst>
              <a:ext uri="{FF2B5EF4-FFF2-40B4-BE49-F238E27FC236}">
                <a16:creationId xmlns:a16="http://schemas.microsoft.com/office/drawing/2014/main" id="{2E3ED338-7637-429F-AFDD-1CC958F780C1}"/>
              </a:ext>
            </a:extLst>
          </p:cNvPr>
          <p:cNvSpPr>
            <a:spLocks noGrp="1"/>
          </p:cNvSpPr>
          <p:nvPr>
            <p:ph sz="quarter" idx="16"/>
          </p:nvPr>
        </p:nvSpPr>
        <p:spPr>
          <a:xfrm>
            <a:off x="399068" y="1623767"/>
            <a:ext cx="7641996" cy="509833"/>
          </a:xfrm>
        </p:spPr>
        <p:txBody>
          <a:bodyPr/>
          <a:lstStyle/>
          <a:p>
            <a:r>
              <a:rPr lang="en-US" b="1" dirty="0">
                <a:latin typeface="Calibri" panose="020F0502020204030204" pitchFamily="34" charset="0"/>
                <a:cs typeface="Calibri" panose="020F0502020204030204" pitchFamily="34" charset="0"/>
              </a:rPr>
              <a:t>Table 1.2 </a:t>
            </a:r>
            <a:r>
              <a:rPr lang="en-US" dirty="0">
                <a:latin typeface="Calibri" panose="020F0502020204030204" pitchFamily="34" charset="0"/>
                <a:cs typeface="Calibri" panose="020F0502020204030204" pitchFamily="34" charset="0"/>
              </a:rPr>
              <a:t>The Eleven Systems of the Human Body</a:t>
            </a:r>
          </a:p>
        </p:txBody>
      </p:sp>
      <p:graphicFrame>
        <p:nvGraphicFramePr>
          <p:cNvPr id="2" name="Table 2">
            <a:extLst>
              <a:ext uri="{FF2B5EF4-FFF2-40B4-BE49-F238E27FC236}">
                <a16:creationId xmlns:a16="http://schemas.microsoft.com/office/drawing/2014/main" id="{956582FF-1725-4683-B08F-0441E93AF34D}"/>
              </a:ext>
            </a:extLst>
          </p:cNvPr>
          <p:cNvGraphicFramePr>
            <a:graphicFrameLocks noGrp="1"/>
          </p:cNvGraphicFramePr>
          <p:nvPr>
            <p:ph sz="quarter" idx="18"/>
            <p:extLst>
              <p:ext uri="{D42A27DB-BD31-4B8C-83A1-F6EECF244321}">
                <p14:modId xmlns:p14="http://schemas.microsoft.com/office/powerpoint/2010/main" val="4070316684"/>
              </p:ext>
            </p:extLst>
          </p:nvPr>
        </p:nvGraphicFramePr>
        <p:xfrm>
          <a:off x="582430" y="2283731"/>
          <a:ext cx="8193708" cy="3723640"/>
        </p:xfrm>
        <a:graphic>
          <a:graphicData uri="http://schemas.openxmlformats.org/drawingml/2006/table">
            <a:tbl>
              <a:tblPr firstRow="1" bandRow="1">
                <a:tableStyleId>{69012ECD-51FC-41F1-AA8D-1B2483CD663E}</a:tableStyleId>
              </a:tblPr>
              <a:tblGrid>
                <a:gridCol w="3915998">
                  <a:extLst>
                    <a:ext uri="{9D8B030D-6E8A-4147-A177-3AD203B41FA5}">
                      <a16:colId xmlns:a16="http://schemas.microsoft.com/office/drawing/2014/main" val="3885355010"/>
                    </a:ext>
                  </a:extLst>
                </a:gridCol>
                <a:gridCol w="4277710">
                  <a:extLst>
                    <a:ext uri="{9D8B030D-6E8A-4147-A177-3AD203B41FA5}">
                      <a16:colId xmlns:a16="http://schemas.microsoft.com/office/drawing/2014/main" val="20567919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Endocrine System (chapter 18)</a:t>
                      </a:r>
                      <a:endParaRPr lang="en-US" sz="1600" b="1"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Cardiovascular System (chapters 19-21)</a:t>
                      </a:r>
                      <a:endParaRPr lang="en-US" sz="1600" b="1" dirty="0">
                        <a:latin typeface="+mn-lt"/>
                      </a:endParaRPr>
                    </a:p>
                  </a:txBody>
                  <a:tcPr/>
                </a:tc>
                <a:extLst>
                  <a:ext uri="{0D108BD9-81ED-4DB2-BD59-A6C34878D82A}">
                    <a16:rowId xmlns:a16="http://schemas.microsoft.com/office/drawing/2014/main" val="40013644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Components</a:t>
                      </a:r>
                      <a:r>
                        <a:rPr lang="en-US" sz="1600" dirty="0"/>
                        <a:t>: Hormone-producing glands </a:t>
                      </a:r>
                      <a:r>
                        <a:rPr lang="en-US" sz="1600" b="1" dirty="0"/>
                        <a:t>(pineal gland, hypothalamus, pituitary gland, thymus, thyroid gland, parathyroid glands, adrenal glands, pancreas, ovaries, </a:t>
                      </a:r>
                      <a:r>
                        <a:rPr lang="en-US" sz="1600" dirty="0"/>
                        <a:t>and </a:t>
                      </a:r>
                      <a:r>
                        <a:rPr lang="en-US" sz="1600" b="1" dirty="0"/>
                        <a:t>testes</a:t>
                      </a:r>
                      <a:r>
                        <a:rPr lang="en-US" sz="1600" dirty="0"/>
                        <a:t>) and hormone-producing cells in several other organs.</a:t>
                      </a:r>
                      <a:endParaRPr lang="en-US" sz="16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Components</a:t>
                      </a:r>
                      <a:r>
                        <a:rPr lang="en-US" sz="1600" b="1" dirty="0"/>
                        <a:t>: Blood, heart,</a:t>
                      </a:r>
                      <a:r>
                        <a:rPr lang="en-US" sz="1600" dirty="0"/>
                        <a:t> and </a:t>
                      </a:r>
                      <a:r>
                        <a:rPr lang="en-US" sz="1600" b="1" dirty="0"/>
                        <a:t>blood vessels.</a:t>
                      </a:r>
                      <a:endParaRPr lang="en-US" sz="1600" b="1" dirty="0">
                        <a:latin typeface="+mn-lt"/>
                      </a:endParaRPr>
                    </a:p>
                  </a:txBody>
                  <a:tcPr/>
                </a:tc>
                <a:extLst>
                  <a:ext uri="{0D108BD9-81ED-4DB2-BD59-A6C34878D82A}">
                    <a16:rowId xmlns:a16="http://schemas.microsoft.com/office/drawing/2014/main" val="1305164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Functions</a:t>
                      </a:r>
                      <a:r>
                        <a:rPr lang="en-US" sz="1600" b="1" dirty="0"/>
                        <a:t> </a:t>
                      </a:r>
                      <a:r>
                        <a:rPr lang="en-US" sz="1600" dirty="0"/>
                        <a:t>: Regulates body activities by releasing hormones (chemical messengers transported in blood from endocrine</a:t>
                      </a:r>
                      <a:r>
                        <a:rPr lang="en-US" sz="1600" baseline="0" dirty="0"/>
                        <a:t> g</a:t>
                      </a:r>
                      <a:r>
                        <a:rPr lang="en-US" sz="1600" dirty="0"/>
                        <a:t>land or tissue to target organ).</a:t>
                      </a:r>
                      <a:endParaRPr lang="en-US" sz="16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Functions</a:t>
                      </a:r>
                      <a:r>
                        <a:rPr lang="en-US" sz="1600" b="0" dirty="0"/>
                        <a:t>: Heart pumps blood through blood vessels; blood carries oxygen and nutrients to cells and carbon dioxide and wastes away from cells and helps regulate acid–base balance, temperature, and water content of body fluids; blood components help defend against disease and repair damaged blood vessels.</a:t>
                      </a:r>
                      <a:endParaRPr lang="en-US" sz="1600" b="0" dirty="0">
                        <a:latin typeface="+mn-lt"/>
                      </a:endParaRPr>
                    </a:p>
                  </a:txBody>
                  <a:tcPr/>
                </a:tc>
                <a:extLst>
                  <a:ext uri="{0D108BD9-81ED-4DB2-BD59-A6C34878D82A}">
                    <a16:rowId xmlns:a16="http://schemas.microsoft.com/office/drawing/2014/main" val="1782159584"/>
                  </a:ext>
                </a:extLst>
              </a:tr>
            </a:tbl>
          </a:graphicData>
        </a:graphic>
      </p:graphicFrame>
    </p:spTree>
    <p:extLst>
      <p:ext uri="{BB962C8B-B14F-4D97-AF65-F5344CB8AC3E}">
        <p14:creationId xmlns:p14="http://schemas.microsoft.com/office/powerpoint/2010/main" val="1389154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43D6B0D-56E9-4753-986B-02AD6A6252F6}"/>
              </a:ext>
            </a:extLst>
          </p:cNvPr>
          <p:cNvSpPr>
            <a:spLocks noGrp="1"/>
          </p:cNvSpPr>
          <p:nvPr>
            <p:ph type="title"/>
          </p:nvPr>
        </p:nvSpPr>
        <p:spPr>
          <a:xfrm>
            <a:off x="304800" y="460342"/>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pic>
        <p:nvPicPr>
          <p:cNvPr id="2" name="Content Placeholder 1" descr="Two diagrams show different systems of the human body. The diagram on the left illustrates the endocrine system in a human male, with the following components: Thyroid gland in the neck; suprarenal gland and pancreas in the abdominal cavity; and testis extending below the pelvic cavity. An expanded view of a sagittal section of the center of the brain shows the hypothalamus, the pineal glands, and the pituitary glands from superior to inferior. Another expanded view shows the thyroid gland in posterior view with the positions of the parathyroid glands indicated. A third expanded view shows the ovary because of its dual roles in the endocrine and female reproductive systems.&#10;The diagram on the right illustrates the cardiovascular system in a human male, with the following components: Blood vessels, a vein, and the heart in the thoracic cavity, and an artery in the abdominal cavity.">
            <a:extLst>
              <a:ext uri="{FF2B5EF4-FFF2-40B4-BE49-F238E27FC236}">
                <a16:creationId xmlns:a16="http://schemas.microsoft.com/office/drawing/2014/main" id="{B9F8FE44-8028-4A41-B2A8-F83B64616807}"/>
              </a:ext>
            </a:extLst>
          </p:cNvPr>
          <p:cNvPicPr>
            <a:picLocks noGrp="1" noChangeAspect="1"/>
          </p:cNvPicPr>
          <p:nvPr>
            <p:ph sz="quarter" idx="16"/>
          </p:nvPr>
        </p:nvPicPr>
        <p:blipFill>
          <a:blip r:embed="rId2"/>
          <a:stretch>
            <a:fillRect/>
          </a:stretch>
        </p:blipFill>
        <p:spPr>
          <a:xfrm>
            <a:off x="285750" y="1581150"/>
            <a:ext cx="8572500" cy="3695700"/>
          </a:xfrm>
          <a:prstGeom prst="rect">
            <a:avLst/>
          </a:prstGeom>
        </p:spPr>
      </p:pic>
    </p:spTree>
    <p:extLst>
      <p:ext uri="{BB962C8B-B14F-4D97-AF65-F5344CB8AC3E}">
        <p14:creationId xmlns:p14="http://schemas.microsoft.com/office/powerpoint/2010/main" val="3941917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569B840-D803-4F1D-963B-29C754167151}"/>
              </a:ext>
            </a:extLst>
          </p:cNvPr>
          <p:cNvSpPr>
            <a:spLocks noGrp="1"/>
          </p:cNvSpPr>
          <p:nvPr>
            <p:ph type="title"/>
          </p:nvPr>
        </p:nvSpPr>
        <p:spPr>
          <a:xfrm>
            <a:off x="304800" y="460341"/>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sp>
        <p:nvSpPr>
          <p:cNvPr id="9" name="Content Placeholder 8">
            <a:extLst>
              <a:ext uri="{FF2B5EF4-FFF2-40B4-BE49-F238E27FC236}">
                <a16:creationId xmlns:a16="http://schemas.microsoft.com/office/drawing/2014/main" id="{61FF67FE-5F08-4470-A5E2-A2FE10146FC0}"/>
              </a:ext>
            </a:extLst>
          </p:cNvPr>
          <p:cNvSpPr>
            <a:spLocks noGrp="1"/>
          </p:cNvSpPr>
          <p:nvPr>
            <p:ph sz="quarter" idx="16"/>
          </p:nvPr>
        </p:nvSpPr>
        <p:spPr>
          <a:xfrm>
            <a:off x="304800" y="1611198"/>
            <a:ext cx="8047348" cy="381000"/>
          </a:xfrm>
        </p:spPr>
        <p:txBody>
          <a:bodyPr/>
          <a:lstStyle/>
          <a:p>
            <a:r>
              <a:rPr lang="en-US" b="1" dirty="0">
                <a:latin typeface="Calibri" panose="020F0502020204030204" pitchFamily="34" charset="0"/>
                <a:cs typeface="Calibri" panose="020F0502020204030204" pitchFamily="34" charset="0"/>
              </a:rPr>
              <a:t>Table 1.2 </a:t>
            </a:r>
            <a:r>
              <a:rPr lang="en-US" dirty="0">
                <a:latin typeface="Calibri" panose="020F0502020204030204" pitchFamily="34" charset="0"/>
                <a:cs typeface="Calibri" panose="020F0502020204030204" pitchFamily="34" charset="0"/>
              </a:rPr>
              <a:t>The Eleven Systems of the Human Body</a:t>
            </a:r>
          </a:p>
        </p:txBody>
      </p:sp>
      <p:graphicFrame>
        <p:nvGraphicFramePr>
          <p:cNvPr id="2" name="Table 2">
            <a:extLst>
              <a:ext uri="{FF2B5EF4-FFF2-40B4-BE49-F238E27FC236}">
                <a16:creationId xmlns:a16="http://schemas.microsoft.com/office/drawing/2014/main" id="{4A6053A9-A206-4EF7-89F4-55F5838E18A3}"/>
              </a:ext>
            </a:extLst>
          </p:cNvPr>
          <p:cNvGraphicFramePr>
            <a:graphicFrameLocks noGrp="1"/>
          </p:cNvGraphicFramePr>
          <p:nvPr>
            <p:ph sz="quarter" idx="18"/>
            <p:extLst>
              <p:ext uri="{D42A27DB-BD31-4B8C-83A1-F6EECF244321}">
                <p14:modId xmlns:p14="http://schemas.microsoft.com/office/powerpoint/2010/main" val="3707700997"/>
              </p:ext>
            </p:extLst>
          </p:nvPr>
        </p:nvGraphicFramePr>
        <p:xfrm>
          <a:off x="606240" y="2220773"/>
          <a:ext cx="8096326" cy="3840480"/>
        </p:xfrm>
        <a:graphic>
          <a:graphicData uri="http://schemas.openxmlformats.org/drawingml/2006/table">
            <a:tbl>
              <a:tblPr firstRow="1" bandRow="1">
                <a:tableStyleId>{69012ECD-51FC-41F1-AA8D-1B2483CD663E}</a:tableStyleId>
              </a:tblPr>
              <a:tblGrid>
                <a:gridCol w="3839636">
                  <a:extLst>
                    <a:ext uri="{9D8B030D-6E8A-4147-A177-3AD203B41FA5}">
                      <a16:colId xmlns:a16="http://schemas.microsoft.com/office/drawing/2014/main" val="2080062519"/>
                    </a:ext>
                  </a:extLst>
                </a:gridCol>
                <a:gridCol w="4256690">
                  <a:extLst>
                    <a:ext uri="{9D8B030D-6E8A-4147-A177-3AD203B41FA5}">
                      <a16:colId xmlns:a16="http://schemas.microsoft.com/office/drawing/2014/main" val="294251998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Lymphoid (Lymphatic) System and Immunity (Chapter 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Respiratory System (Chapter 23)</a:t>
                      </a:r>
                    </a:p>
                  </a:txBody>
                  <a:tcPr/>
                </a:tc>
                <a:extLst>
                  <a:ext uri="{0D108BD9-81ED-4DB2-BD59-A6C34878D82A}">
                    <a16:rowId xmlns:a16="http://schemas.microsoft.com/office/drawing/2014/main" val="39056036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b="1" dirty="0"/>
                        <a:t>: Lymphatic fluid (lymph plasma) and lymphatic vessels; spleen, thymus, lymph nodes, and tonsils; </a:t>
                      </a:r>
                      <a:r>
                        <a:rPr lang="en-US" sz="1800" dirty="0"/>
                        <a:t>cells that carry out immune responses (</a:t>
                      </a:r>
                      <a:r>
                        <a:rPr lang="en-US" sz="1800" b="1" dirty="0"/>
                        <a:t>B cells</a:t>
                      </a:r>
                      <a:r>
                        <a:rPr lang="en-US" sz="1800" dirty="0"/>
                        <a:t>, </a:t>
                      </a:r>
                      <a:r>
                        <a:rPr lang="en-US" sz="1800" b="1" dirty="0"/>
                        <a:t>T cells</a:t>
                      </a:r>
                      <a:r>
                        <a:rPr lang="en-US" sz="1800" dirty="0"/>
                        <a:t>, and others).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b="1" dirty="0"/>
                        <a:t>: Lungs </a:t>
                      </a:r>
                      <a:r>
                        <a:rPr lang="en-US" sz="1800" dirty="0"/>
                        <a:t>and air passageways such as the </a:t>
                      </a:r>
                      <a:r>
                        <a:rPr lang="en-US" sz="1800" b="1" dirty="0"/>
                        <a:t>pharynx</a:t>
                      </a:r>
                      <a:r>
                        <a:rPr lang="en-US" sz="1800" dirty="0"/>
                        <a:t> (throat), </a:t>
                      </a:r>
                      <a:r>
                        <a:rPr lang="en-US" sz="1800" b="1" dirty="0"/>
                        <a:t>larynx</a:t>
                      </a:r>
                      <a:r>
                        <a:rPr lang="en-US" sz="1800" dirty="0"/>
                        <a:t> (voice box), </a:t>
                      </a:r>
                      <a:r>
                        <a:rPr lang="en-US" sz="1800" b="1" dirty="0"/>
                        <a:t>trachea</a:t>
                      </a:r>
                      <a:r>
                        <a:rPr lang="en-US" sz="1800" dirty="0"/>
                        <a:t> (windpipe), and </a:t>
                      </a:r>
                      <a:r>
                        <a:rPr lang="en-US" sz="1800" b="1" dirty="0"/>
                        <a:t>bronchial tubes </a:t>
                      </a:r>
                      <a:r>
                        <a:rPr lang="en-US" sz="1800" dirty="0"/>
                        <a:t>leading into and out of lungs.</a:t>
                      </a:r>
                    </a:p>
                  </a:txBody>
                  <a:tcPr/>
                </a:tc>
                <a:extLst>
                  <a:ext uri="{0D108BD9-81ED-4DB2-BD59-A6C34878D82A}">
                    <a16:rowId xmlns:a16="http://schemas.microsoft.com/office/drawing/2014/main" val="39403306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b="1" dirty="0"/>
                        <a:t>: </a:t>
                      </a:r>
                      <a:r>
                        <a:rPr lang="en-US" sz="1800" dirty="0"/>
                        <a:t>Returns proteins and fluid to blood; carries lipids from gastrointestinal tract to blood; contains sites of maturation and proliferation of B cells and T cells that protect against disease-causing microbes.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b="1" dirty="0"/>
                        <a:t>:</a:t>
                      </a:r>
                      <a:r>
                        <a:rPr lang="en-US" sz="1800" dirty="0"/>
                        <a:t> Transfers oxygen from inhaled air to blood and carbon dioxide from blood to exhaled air; helps regulate acid– base balance of body fluids; air flowing out of lungs through vocal cords produces sounds.</a:t>
                      </a:r>
                    </a:p>
                  </a:txBody>
                  <a:tcPr/>
                </a:tc>
                <a:extLst>
                  <a:ext uri="{0D108BD9-81ED-4DB2-BD59-A6C34878D82A}">
                    <a16:rowId xmlns:a16="http://schemas.microsoft.com/office/drawing/2014/main" val="1971018234"/>
                  </a:ext>
                </a:extLst>
              </a:tr>
            </a:tbl>
          </a:graphicData>
        </a:graphic>
      </p:graphicFrame>
    </p:spTree>
    <p:extLst>
      <p:ext uri="{BB962C8B-B14F-4D97-AF65-F5344CB8AC3E}">
        <p14:creationId xmlns:p14="http://schemas.microsoft.com/office/powerpoint/2010/main" val="3328074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21FC492-ED50-41D7-8598-75B2F11D62EA}"/>
              </a:ext>
            </a:extLst>
          </p:cNvPr>
          <p:cNvSpPr>
            <a:spLocks noGrp="1"/>
          </p:cNvSpPr>
          <p:nvPr>
            <p:ph type="title"/>
          </p:nvPr>
        </p:nvSpPr>
        <p:spPr>
          <a:xfrm>
            <a:off x="304800" y="469768"/>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pic>
        <p:nvPicPr>
          <p:cNvPr id="2" name="Content Placeholder 1" descr="Two diagrams show different systems of the human body. The diagram on the left illustrates the lymphatic system in a human female, with the following components: Thymus, in the neck; thoracic duct, in the thoracic cavity; the spleen, in the abdominal cavity; a lymph node in the lower left side of the abdomen; and a lymphatic vessel in the thigh near the knee. Red bone marrow is highlighted by an arrow pointing to the superior portion of the femur. An expanded view of a sagittal section of the head shows the pharyngeal tonsil on the posterior wall of the nasal cavity, the palatine tonsil within the pharynx, and the lingual tonsil under the tongue.&#10;The diagram on the right illustrates the respiratory system in a human male, with the following components: Larynx and trachea, in the throat; and bronchus, which extends to the lung. An expanded view shows the pharynx in correlation to the larynx. From bottom to top, the larynx is in the throat, and the oral and nasal cavities are located above it.">
            <a:extLst>
              <a:ext uri="{FF2B5EF4-FFF2-40B4-BE49-F238E27FC236}">
                <a16:creationId xmlns:a16="http://schemas.microsoft.com/office/drawing/2014/main" id="{D6A6B312-D2D4-44A9-80D0-1A53BE4B4CEE}"/>
              </a:ext>
            </a:extLst>
          </p:cNvPr>
          <p:cNvPicPr>
            <a:picLocks noGrp="1" noChangeAspect="1"/>
          </p:cNvPicPr>
          <p:nvPr>
            <p:ph sz="quarter" idx="16"/>
          </p:nvPr>
        </p:nvPicPr>
        <p:blipFill>
          <a:blip r:embed="rId2"/>
          <a:stretch>
            <a:fillRect/>
          </a:stretch>
        </p:blipFill>
        <p:spPr>
          <a:xfrm>
            <a:off x="675409" y="1773382"/>
            <a:ext cx="7793182" cy="3311236"/>
          </a:xfrm>
          <a:prstGeom prst="rect">
            <a:avLst/>
          </a:prstGeom>
        </p:spPr>
      </p:pic>
    </p:spTree>
    <p:extLst>
      <p:ext uri="{BB962C8B-B14F-4D97-AF65-F5344CB8AC3E}">
        <p14:creationId xmlns:p14="http://schemas.microsoft.com/office/powerpoint/2010/main" val="2899342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569B840-D803-4F1D-963B-29C754167151}"/>
              </a:ext>
            </a:extLst>
          </p:cNvPr>
          <p:cNvSpPr>
            <a:spLocks noGrp="1"/>
          </p:cNvSpPr>
          <p:nvPr>
            <p:ph type="title"/>
          </p:nvPr>
        </p:nvSpPr>
        <p:spPr>
          <a:xfrm>
            <a:off x="304800" y="460341"/>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C21A6DE9-E604-4201-AE54-FF81DD193D5D}"/>
              </a:ext>
            </a:extLst>
          </p:cNvPr>
          <p:cNvGraphicFramePr>
            <a:graphicFrameLocks noGrp="1"/>
          </p:cNvGraphicFramePr>
          <p:nvPr>
            <p:ph sz="quarter" idx="18"/>
            <p:extLst>
              <p:ext uri="{D42A27DB-BD31-4B8C-83A1-F6EECF244321}">
                <p14:modId xmlns:p14="http://schemas.microsoft.com/office/powerpoint/2010/main" val="3933963933"/>
              </p:ext>
            </p:extLst>
          </p:nvPr>
        </p:nvGraphicFramePr>
        <p:xfrm>
          <a:off x="369285" y="1585050"/>
          <a:ext cx="8405431" cy="4668520"/>
        </p:xfrm>
        <a:graphic>
          <a:graphicData uri="http://schemas.openxmlformats.org/drawingml/2006/table">
            <a:tbl>
              <a:tblPr firstRow="1" bandRow="1">
                <a:tableStyleId>{69012ECD-51FC-41F1-AA8D-1B2483CD663E}</a:tableStyleId>
              </a:tblPr>
              <a:tblGrid>
                <a:gridCol w="4001597">
                  <a:extLst>
                    <a:ext uri="{9D8B030D-6E8A-4147-A177-3AD203B41FA5}">
                      <a16:colId xmlns:a16="http://schemas.microsoft.com/office/drawing/2014/main" val="2087004029"/>
                    </a:ext>
                  </a:extLst>
                </a:gridCol>
                <a:gridCol w="4403834">
                  <a:extLst>
                    <a:ext uri="{9D8B030D-6E8A-4147-A177-3AD203B41FA5}">
                      <a16:colId xmlns:a16="http://schemas.microsoft.com/office/drawing/2014/main" val="1988171028"/>
                    </a:ext>
                  </a:extLst>
                </a:gridCol>
              </a:tblGrid>
              <a:tr h="370840">
                <a:tc>
                  <a:txBody>
                    <a:bodyPr/>
                    <a:lstStyle/>
                    <a:p>
                      <a:r>
                        <a:rPr lang="en-US" sz="1800" b="1" dirty="0"/>
                        <a:t>Digestive System (chapter 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Urinary System (chapter 26)</a:t>
                      </a:r>
                    </a:p>
                  </a:txBody>
                  <a:tcPr/>
                </a:tc>
                <a:extLst>
                  <a:ext uri="{0D108BD9-81ED-4DB2-BD59-A6C34878D82A}">
                    <a16:rowId xmlns:a16="http://schemas.microsoft.com/office/drawing/2014/main" val="19473400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dirty="0"/>
                        <a:t>: Organs of gastrointestinal tract, a long tube that includes the </a:t>
                      </a:r>
                      <a:r>
                        <a:rPr lang="en-US" sz="1800" b="1" dirty="0"/>
                        <a:t>mouth, pharynx </a:t>
                      </a:r>
                      <a:r>
                        <a:rPr lang="en-US" sz="1800" dirty="0"/>
                        <a:t>(throat), </a:t>
                      </a:r>
                      <a:r>
                        <a:rPr lang="en-US" sz="1800" b="1" dirty="0"/>
                        <a:t>esophagus </a:t>
                      </a:r>
                      <a:r>
                        <a:rPr lang="en-US" sz="1800" dirty="0"/>
                        <a:t>(food tube), </a:t>
                      </a:r>
                      <a:r>
                        <a:rPr lang="en-US" sz="1800" b="1" dirty="0"/>
                        <a:t>stomach</a:t>
                      </a:r>
                      <a:r>
                        <a:rPr lang="en-US" sz="1800" dirty="0"/>
                        <a:t>, </a:t>
                      </a:r>
                      <a:r>
                        <a:rPr lang="en-US" sz="1800" b="1" dirty="0"/>
                        <a:t>small </a:t>
                      </a:r>
                      <a:r>
                        <a:rPr lang="en-US" sz="1800" b="0" dirty="0"/>
                        <a:t>and</a:t>
                      </a:r>
                      <a:r>
                        <a:rPr lang="en-US" sz="1800" b="1" dirty="0"/>
                        <a:t> large intestines</a:t>
                      </a:r>
                      <a:r>
                        <a:rPr lang="en-US" sz="1800" dirty="0"/>
                        <a:t>, and </a:t>
                      </a:r>
                      <a:r>
                        <a:rPr lang="en-US" sz="1800" b="1" dirty="0"/>
                        <a:t>anus</a:t>
                      </a:r>
                      <a:r>
                        <a:rPr lang="en-US" sz="1800" dirty="0"/>
                        <a:t>; also includes accessory organs that assist in digestive processes, such as </a:t>
                      </a:r>
                      <a:r>
                        <a:rPr lang="en-US" sz="1800" b="1" dirty="0"/>
                        <a:t>salivary glands, liver, gallbladder, </a:t>
                      </a:r>
                      <a:r>
                        <a:rPr lang="en-US" sz="1800" b="0" dirty="0"/>
                        <a:t>and</a:t>
                      </a:r>
                      <a:r>
                        <a:rPr lang="en-US" sz="1800" b="1" dirty="0"/>
                        <a:t> pancreas</a:t>
                      </a:r>
                      <a:r>
                        <a:rPr lang="en-US" sz="1800" b="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Components</a:t>
                      </a:r>
                      <a:r>
                        <a:rPr lang="en-US" sz="1800" b="1" dirty="0"/>
                        <a:t>: Kidneys, ureters, urinary bladder</a:t>
                      </a:r>
                      <a:r>
                        <a:rPr lang="en-US" sz="1800" b="0" dirty="0"/>
                        <a:t>, and </a:t>
                      </a:r>
                      <a:r>
                        <a:rPr lang="en-US" sz="1800" b="1" dirty="0"/>
                        <a:t>urethra</a:t>
                      </a:r>
                      <a:r>
                        <a:rPr lang="en-US" sz="1800" b="0" dirty="0"/>
                        <a:t>.</a:t>
                      </a:r>
                    </a:p>
                  </a:txBody>
                  <a:tcPr/>
                </a:tc>
                <a:extLst>
                  <a:ext uri="{0D108BD9-81ED-4DB2-BD59-A6C34878D82A}">
                    <a16:rowId xmlns:a16="http://schemas.microsoft.com/office/drawing/2014/main" val="21024526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b="0" dirty="0"/>
                        <a:t>: Achieves physical and chemical breakdown of food; absorbs nutrients; eliminates solid wastes.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Functions</a:t>
                      </a:r>
                      <a:r>
                        <a:rPr lang="en-US" sz="1800" b="0" dirty="0"/>
                        <a:t>: Produces, stores, and eliminates urine; eliminates wastes and regulates volume and chemical composition of blood; helps maintain the acid–base balance of body fluids; maintains body's mineral balance; helps regulate production of red blood cells.</a:t>
                      </a:r>
                    </a:p>
                  </a:txBody>
                  <a:tcPr/>
                </a:tc>
                <a:extLst>
                  <a:ext uri="{0D108BD9-81ED-4DB2-BD59-A6C34878D82A}">
                    <a16:rowId xmlns:a16="http://schemas.microsoft.com/office/drawing/2014/main" val="2845614611"/>
                  </a:ext>
                </a:extLst>
              </a:tr>
            </a:tbl>
          </a:graphicData>
        </a:graphic>
      </p:graphicFrame>
    </p:spTree>
    <p:extLst>
      <p:ext uri="{BB962C8B-B14F-4D97-AF65-F5344CB8AC3E}">
        <p14:creationId xmlns:p14="http://schemas.microsoft.com/office/powerpoint/2010/main" val="1090274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0913C33-2D94-4A60-8183-8DEB91D589E8}"/>
              </a:ext>
            </a:extLst>
          </p:cNvPr>
          <p:cNvSpPr>
            <a:spLocks noGrp="1"/>
          </p:cNvSpPr>
          <p:nvPr>
            <p:ph type="title"/>
          </p:nvPr>
        </p:nvSpPr>
        <p:spPr>
          <a:xfrm>
            <a:off x="304800" y="469768"/>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pic>
        <p:nvPicPr>
          <p:cNvPr id="2" name="Content Placeholder 1" descr="Two diagrams show different systems of the human body. The diagram on the left illustrates the digestive system in a human female, with the following components: The mouth, pharynx, and salivary glands are located in the head and neck; and the esophagus extends from the pharynx to the stomach. Organs in the abdominal cavity include the stomach, pancreas (located behind the stomach), liver, gallbladder, small and large intestines, rectum, and anus.&#10;The diagram on the right illustrates the urinary system in a human male, with the following components: Kidney, ureters extending from the kidney to the urinary bladder, and the urethra within the penis.">
            <a:extLst>
              <a:ext uri="{FF2B5EF4-FFF2-40B4-BE49-F238E27FC236}">
                <a16:creationId xmlns:a16="http://schemas.microsoft.com/office/drawing/2014/main" id="{6EC21B4E-FD0A-40AC-9BEF-45B0F0D0A896}"/>
              </a:ext>
            </a:extLst>
          </p:cNvPr>
          <p:cNvPicPr>
            <a:picLocks noGrp="1" noChangeAspect="1"/>
          </p:cNvPicPr>
          <p:nvPr>
            <p:ph sz="quarter" idx="16"/>
          </p:nvPr>
        </p:nvPicPr>
        <p:blipFill>
          <a:blip r:embed="rId2"/>
          <a:stretch>
            <a:fillRect/>
          </a:stretch>
        </p:blipFill>
        <p:spPr>
          <a:xfrm>
            <a:off x="285750" y="1939718"/>
            <a:ext cx="8572500" cy="3825240"/>
          </a:xfrm>
          <a:prstGeom prst="rect">
            <a:avLst/>
          </a:prstGeom>
        </p:spPr>
      </p:pic>
    </p:spTree>
    <p:extLst>
      <p:ext uri="{BB962C8B-B14F-4D97-AF65-F5344CB8AC3E}">
        <p14:creationId xmlns:p14="http://schemas.microsoft.com/office/powerpoint/2010/main" val="1259414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2566901-10DB-4D6D-87AB-9182C615130C}"/>
              </a:ext>
            </a:extLst>
          </p:cNvPr>
          <p:cNvSpPr>
            <a:spLocks noGrp="1"/>
          </p:cNvSpPr>
          <p:nvPr>
            <p:ph type="title"/>
          </p:nvPr>
        </p:nvSpPr>
        <p:spPr>
          <a:xfrm>
            <a:off x="304800" y="479192"/>
            <a:ext cx="8534400" cy="838199"/>
          </a:xfrm>
        </p:spPr>
        <p:txBody>
          <a:bodyPr/>
          <a:lstStyle/>
          <a:p>
            <a:r>
              <a:rPr lang="en-US" dirty="0">
                <a:latin typeface="Calibri" panose="020F0502020204030204" pitchFamily="34" charset="0"/>
                <a:cs typeface="Calibri" panose="020F0502020204030204" pitchFamily="34" charset="0"/>
              </a:rPr>
              <a:t>Systems of the Human Body </a:t>
            </a:r>
            <a:endParaRPr lang="en-US" sz="2000" b="0" dirty="0">
              <a:latin typeface="Calibri" panose="020F0502020204030204" pitchFamily="34" charset="0"/>
              <a:cs typeface="Calibri" panose="020F0502020204030204" pitchFamily="34" charset="0"/>
            </a:endParaRPr>
          </a:p>
        </p:txBody>
      </p:sp>
      <p:graphicFrame>
        <p:nvGraphicFramePr>
          <p:cNvPr id="11" name="Table 11">
            <a:extLst>
              <a:ext uri="{FF2B5EF4-FFF2-40B4-BE49-F238E27FC236}">
                <a16:creationId xmlns:a16="http://schemas.microsoft.com/office/drawing/2014/main" id="{47B97FD3-2B46-4407-8643-2DD42E10FF8E}"/>
              </a:ext>
            </a:extLst>
          </p:cNvPr>
          <p:cNvGraphicFramePr>
            <a:graphicFrameLocks noGrp="1"/>
          </p:cNvGraphicFramePr>
          <p:nvPr>
            <p:ph sz="quarter" idx="16"/>
            <p:extLst>
              <p:ext uri="{D42A27DB-BD31-4B8C-83A1-F6EECF244321}">
                <p14:modId xmlns:p14="http://schemas.microsoft.com/office/powerpoint/2010/main" val="2542586271"/>
              </p:ext>
            </p:extLst>
          </p:nvPr>
        </p:nvGraphicFramePr>
        <p:xfrm>
          <a:off x="433416" y="1588989"/>
          <a:ext cx="8185067" cy="2458720"/>
        </p:xfrm>
        <a:graphic>
          <a:graphicData uri="http://schemas.openxmlformats.org/drawingml/2006/table">
            <a:tbl>
              <a:tblPr firstRow="1" bandRow="1">
                <a:tableStyleId>{69012ECD-51FC-41F1-AA8D-1B2483CD663E}</a:tableStyleId>
              </a:tblPr>
              <a:tblGrid>
                <a:gridCol w="8185067">
                  <a:extLst>
                    <a:ext uri="{9D8B030D-6E8A-4147-A177-3AD203B41FA5}">
                      <a16:colId xmlns:a16="http://schemas.microsoft.com/office/drawing/2014/main" val="195621802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Genital (Reproductive) Systems (Chapter 28)</a:t>
                      </a:r>
                    </a:p>
                  </a:txBody>
                  <a:tcPr/>
                </a:tc>
                <a:extLst>
                  <a:ext uri="{0D108BD9-81ED-4DB2-BD59-A6C34878D82A}">
                    <a16:rowId xmlns:a16="http://schemas.microsoft.com/office/drawing/2014/main" val="1042655130"/>
                  </a:ext>
                </a:extLst>
              </a:tr>
              <a:tr h="370840">
                <a:tc>
                  <a:txBody>
                    <a:bodyPr/>
                    <a:lstStyle/>
                    <a:p>
                      <a:pPr>
                        <a:spcAft>
                          <a:spcPts val="600"/>
                        </a:spcAft>
                      </a:pPr>
                      <a:r>
                        <a:rPr lang="en-US" b="1" i="1" dirty="0"/>
                        <a:t>Components</a:t>
                      </a:r>
                      <a:r>
                        <a:rPr lang="en-US" dirty="0"/>
                        <a:t>: </a:t>
                      </a:r>
                      <a:r>
                        <a:rPr lang="en-US" b="1" dirty="0"/>
                        <a:t>Gonads</a:t>
                      </a:r>
                      <a:r>
                        <a:rPr lang="en-US" dirty="0"/>
                        <a:t> (</a:t>
                      </a:r>
                      <a:r>
                        <a:rPr lang="en-US" b="1" dirty="0"/>
                        <a:t>testes</a:t>
                      </a:r>
                      <a:r>
                        <a:rPr lang="en-US" dirty="0"/>
                        <a:t> in males and </a:t>
                      </a:r>
                      <a:r>
                        <a:rPr lang="en-US" b="1" dirty="0"/>
                        <a:t>ovaries</a:t>
                      </a:r>
                      <a:r>
                        <a:rPr lang="en-US" dirty="0"/>
                        <a:t> in females) and associated organs (</a:t>
                      </a:r>
                      <a:r>
                        <a:rPr lang="en-US" b="1" dirty="0"/>
                        <a:t>uterine tubes</a:t>
                      </a:r>
                      <a:r>
                        <a:rPr lang="en-US" dirty="0"/>
                        <a:t>, </a:t>
                      </a:r>
                      <a:r>
                        <a:rPr lang="en-US" b="1" dirty="0"/>
                        <a:t>uterus</a:t>
                      </a:r>
                      <a:r>
                        <a:rPr lang="en-US" dirty="0"/>
                        <a:t>, </a:t>
                      </a:r>
                      <a:r>
                        <a:rPr lang="en-US" b="1" dirty="0"/>
                        <a:t>vagina</a:t>
                      </a:r>
                      <a:r>
                        <a:rPr lang="en-US" dirty="0"/>
                        <a:t>, </a:t>
                      </a:r>
                      <a:r>
                        <a:rPr lang="en-US" b="1" dirty="0"/>
                        <a:t>clitoris</a:t>
                      </a:r>
                      <a:r>
                        <a:rPr lang="en-US" dirty="0"/>
                        <a:t>, and </a:t>
                      </a:r>
                      <a:r>
                        <a:rPr lang="en-US" b="1" dirty="0"/>
                        <a:t>mammary glands</a:t>
                      </a:r>
                      <a:r>
                        <a:rPr lang="en-US" dirty="0"/>
                        <a:t> in females and </a:t>
                      </a:r>
                      <a:r>
                        <a:rPr lang="en-US" b="1" dirty="0"/>
                        <a:t>epididymis</a:t>
                      </a:r>
                      <a:r>
                        <a:rPr lang="en-US" dirty="0"/>
                        <a:t>, </a:t>
                      </a:r>
                      <a:r>
                        <a:rPr lang="en-US" b="1" dirty="0"/>
                        <a:t>ductus deferens</a:t>
                      </a:r>
                      <a:r>
                        <a:rPr lang="en-US" dirty="0"/>
                        <a:t>, </a:t>
                      </a:r>
                      <a:r>
                        <a:rPr lang="en-US" b="1" dirty="0"/>
                        <a:t>seminal glands</a:t>
                      </a:r>
                      <a:r>
                        <a:rPr lang="en-US" dirty="0"/>
                        <a:t>, </a:t>
                      </a:r>
                      <a:r>
                        <a:rPr lang="en-US" b="1" dirty="0"/>
                        <a:t>prostate</a:t>
                      </a:r>
                      <a:r>
                        <a:rPr lang="en-US" dirty="0"/>
                        <a:t>, and </a:t>
                      </a:r>
                      <a:r>
                        <a:rPr lang="en-US" b="1" dirty="0"/>
                        <a:t>penis</a:t>
                      </a:r>
                      <a:r>
                        <a:rPr lang="en-US" dirty="0"/>
                        <a:t> in males).</a:t>
                      </a:r>
                    </a:p>
                    <a:p>
                      <a:pPr>
                        <a:spcAft>
                          <a:spcPts val="600"/>
                        </a:spcAft>
                      </a:pPr>
                      <a:r>
                        <a:rPr lang="en-US" b="1" i="1" dirty="0"/>
                        <a:t>Functions</a:t>
                      </a:r>
                      <a:r>
                        <a:rPr lang="en-US" dirty="0"/>
                        <a:t>: Gonads produce gametes (sperm or oocytes) that unite to form a new organism; gonads also release hormones that regulate reproduction and other body processes; associated organs transport and store gametes; mammary glands produce milk</a:t>
                      </a:r>
                    </a:p>
                  </a:txBody>
                  <a:tcPr/>
                </a:tc>
                <a:extLst>
                  <a:ext uri="{0D108BD9-81ED-4DB2-BD59-A6C34878D82A}">
                    <a16:rowId xmlns:a16="http://schemas.microsoft.com/office/drawing/2014/main" val="3085955946"/>
                  </a:ext>
                </a:extLst>
              </a:tr>
            </a:tbl>
          </a:graphicData>
        </a:graphic>
      </p:graphicFrame>
    </p:spTree>
    <p:extLst>
      <p:ext uri="{BB962C8B-B14F-4D97-AF65-F5344CB8AC3E}">
        <p14:creationId xmlns:p14="http://schemas.microsoft.com/office/powerpoint/2010/main" val="802344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D7F3C2-7399-45C0-80E5-7FBC52FE76EE}"/>
              </a:ext>
            </a:extLst>
          </p:cNvPr>
          <p:cNvSpPr>
            <a:spLocks noGrp="1"/>
          </p:cNvSpPr>
          <p:nvPr>
            <p:ph type="title"/>
          </p:nvPr>
        </p:nvSpPr>
        <p:spPr>
          <a:xfrm>
            <a:off x="304800" y="478971"/>
            <a:ext cx="8534400" cy="838199"/>
          </a:xfrm>
        </p:spPr>
        <p:txBody>
          <a:bodyPr/>
          <a:lstStyle/>
          <a:p>
            <a:r>
              <a:rPr lang="en-US" dirty="0">
                <a:latin typeface="Calibri" panose="020F0502020204030204" pitchFamily="34" charset="0"/>
                <a:cs typeface="Calibri" panose="020F0502020204030204" pitchFamily="34" charset="0"/>
              </a:rPr>
              <a:t>Systems of the Human Body</a:t>
            </a:r>
            <a:endParaRPr lang="en-US" sz="2000" b="0" dirty="0">
              <a:latin typeface="Calibri" panose="020F0502020204030204" pitchFamily="34" charset="0"/>
              <a:cs typeface="Calibri" panose="020F0502020204030204" pitchFamily="34" charset="0"/>
            </a:endParaRPr>
          </a:p>
        </p:txBody>
      </p:sp>
      <p:pic>
        <p:nvPicPr>
          <p:cNvPr id="2" name="Content Placeholder 1" descr="Two diagrams show different systems of the human body. The diagram on the left illustrates the reproductive system in a human female, with the following components: Mammary glands, uterine tubes, ovaries, uterus, and vagina. An expanded view shows a frontal section of the uterine tube, ovary, uterus, and vagina.&#10;The diagram on the right illustrates the reproductive system in a human male, with the following components: Penis, testis, ductus deferens, seminal gland, and prostate. An expanded view shows a frontal view of the penis and other organs, including the epididymis superior to each testis and the ductus deferens extending from the epididymis, through the prostate, to the seminal vesicle.">
            <a:extLst>
              <a:ext uri="{FF2B5EF4-FFF2-40B4-BE49-F238E27FC236}">
                <a16:creationId xmlns:a16="http://schemas.microsoft.com/office/drawing/2014/main" id="{5B87BA28-5BA2-407F-8A35-62468EECEBF9}"/>
              </a:ext>
            </a:extLst>
          </p:cNvPr>
          <p:cNvPicPr>
            <a:picLocks noGrp="1" noChangeAspect="1"/>
          </p:cNvPicPr>
          <p:nvPr>
            <p:ph sz="quarter" idx="16"/>
          </p:nvPr>
        </p:nvPicPr>
        <p:blipFill>
          <a:blip r:embed="rId3"/>
          <a:stretch>
            <a:fillRect/>
          </a:stretch>
        </p:blipFill>
        <p:spPr>
          <a:xfrm>
            <a:off x="675409" y="1660939"/>
            <a:ext cx="7793182" cy="4177146"/>
          </a:xfrm>
          <a:prstGeom prst="rect">
            <a:avLst/>
          </a:prstGeom>
        </p:spPr>
      </p:pic>
    </p:spTree>
    <p:extLst>
      <p:ext uri="{BB962C8B-B14F-4D97-AF65-F5344CB8AC3E}">
        <p14:creationId xmlns:p14="http://schemas.microsoft.com/office/powerpoint/2010/main" val="1739822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D5B3-1F31-463F-97DC-5E56EA3699A7}"/>
              </a:ext>
            </a:extLst>
          </p:cNvPr>
          <p:cNvSpPr>
            <a:spLocks noGrp="1"/>
          </p:cNvSpPr>
          <p:nvPr>
            <p:ph type="title"/>
          </p:nvPr>
        </p:nvSpPr>
        <p:spPr>
          <a:xfrm>
            <a:off x="304800" y="2871179"/>
            <a:ext cx="8534400" cy="1115643"/>
          </a:xfrm>
        </p:spPr>
        <p:txBody>
          <a:bodyPr>
            <a:noAutofit/>
          </a:bodyPr>
          <a:lstStyle/>
          <a:p>
            <a:pPr algn="ctr"/>
            <a:r>
              <a:rPr lang="en-US" dirty="0">
                <a:latin typeface="Calibri" panose="020F0502020204030204" pitchFamily="34" charset="0"/>
                <a:cs typeface="Calibri" panose="020F0502020204030204" pitchFamily="34" charset="0"/>
              </a:rPr>
              <a:t>Characteristics of the Living Human Organism</a:t>
            </a:r>
          </a:p>
        </p:txBody>
      </p:sp>
    </p:spTree>
    <p:extLst>
      <p:ext uri="{BB962C8B-B14F-4D97-AF65-F5344CB8AC3E}">
        <p14:creationId xmlns:p14="http://schemas.microsoft.com/office/powerpoint/2010/main" val="3364273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9E13943-35B4-4273-8899-6AEC8F4906F0}"/>
              </a:ext>
            </a:extLst>
          </p:cNvPr>
          <p:cNvSpPr>
            <a:spLocks noGrp="1"/>
          </p:cNvSpPr>
          <p:nvPr>
            <p:ph type="title"/>
          </p:nvPr>
        </p:nvSpPr>
        <p:spPr>
          <a:xfrm>
            <a:off x="304800" y="469769"/>
            <a:ext cx="8534400" cy="838199"/>
          </a:xfrm>
        </p:spPr>
        <p:txBody>
          <a:bodyPr/>
          <a:lstStyle/>
          <a:p>
            <a:r>
              <a:rPr lang="en-US" dirty="0">
                <a:latin typeface="Calibri" panose="020F0502020204030204" pitchFamily="34" charset="0"/>
                <a:cs typeface="Calibri" panose="020F0502020204030204" pitchFamily="34" charset="0"/>
              </a:rPr>
              <a:t>Basic Life Processes</a:t>
            </a:r>
          </a:p>
        </p:txBody>
      </p:sp>
      <p:sp>
        <p:nvSpPr>
          <p:cNvPr id="5" name="Content Placeholder 4">
            <a:extLst>
              <a:ext uri="{FF2B5EF4-FFF2-40B4-BE49-F238E27FC236}">
                <a16:creationId xmlns:a16="http://schemas.microsoft.com/office/drawing/2014/main" id="{D31D07F8-4E71-4C92-816E-7E68F7356E42}"/>
              </a:ext>
            </a:extLst>
          </p:cNvPr>
          <p:cNvSpPr>
            <a:spLocks noGrp="1"/>
          </p:cNvSpPr>
          <p:nvPr>
            <p:ph sz="quarter" idx="16"/>
          </p:nvPr>
        </p:nvSpPr>
        <p:spPr>
          <a:xfrm>
            <a:off x="304800" y="1601770"/>
            <a:ext cx="8226458" cy="4629347"/>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All living things have certain characteristics that distinguish them from nonliving things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Life processes in humans include metabolism, responsiveness, movement, growth, differentiation, and reproduction</a:t>
            </a:r>
          </a:p>
        </p:txBody>
      </p:sp>
    </p:spTree>
    <p:extLst>
      <p:ext uri="{BB962C8B-B14F-4D97-AF65-F5344CB8AC3E}">
        <p14:creationId xmlns:p14="http://schemas.microsoft.com/office/powerpoint/2010/main" val="1223125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9E13943-35B4-4273-8899-6AEC8F4906F0}"/>
              </a:ext>
            </a:extLst>
          </p:cNvPr>
          <p:cNvSpPr>
            <a:spLocks noGrp="1"/>
          </p:cNvSpPr>
          <p:nvPr>
            <p:ph type="title"/>
          </p:nvPr>
        </p:nvSpPr>
        <p:spPr>
          <a:xfrm>
            <a:off x="304800" y="469769"/>
            <a:ext cx="8534400" cy="838199"/>
          </a:xfrm>
        </p:spPr>
        <p:txBody>
          <a:bodyPr/>
          <a:lstStyle/>
          <a:p>
            <a:r>
              <a:rPr lang="en-US" dirty="0">
                <a:latin typeface="Calibri" panose="020F0502020204030204" pitchFamily="34" charset="0"/>
                <a:cs typeface="Calibri" panose="020F0502020204030204" pitchFamily="34" charset="0"/>
              </a:rPr>
              <a:t>Homeostasis  </a:t>
            </a:r>
          </a:p>
        </p:txBody>
      </p:sp>
      <p:sp>
        <p:nvSpPr>
          <p:cNvPr id="5" name="Content Placeholder 4">
            <a:extLst>
              <a:ext uri="{FF2B5EF4-FFF2-40B4-BE49-F238E27FC236}">
                <a16:creationId xmlns:a16="http://schemas.microsoft.com/office/drawing/2014/main" id="{D31D07F8-4E71-4C92-816E-7E68F7356E42}"/>
              </a:ext>
            </a:extLst>
          </p:cNvPr>
          <p:cNvSpPr>
            <a:spLocks noGrp="1"/>
          </p:cNvSpPr>
          <p:nvPr>
            <p:ph sz="quarter" idx="16"/>
          </p:nvPr>
        </p:nvSpPr>
        <p:spPr>
          <a:xfrm>
            <a:off x="304799" y="1198605"/>
            <a:ext cx="8534399" cy="5032512"/>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Homeostasis is a condition of equilibrium, or balance, in the body’s internal environment</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Homeostasis is maintained by the body’s regulatory processes</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Involves continuous monitoring and regulation of many factors </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Nervous and endocrine systems accomplish this communication via nervous impulses and hormones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Nervous system – fast acting; often short-lived effects </a:t>
            </a:r>
          </a:p>
          <a:p>
            <a:pPr marL="1147763" lvl="1" indent="-461963">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Endocrine – slow acting; often longer-lived effects </a:t>
            </a:r>
          </a:p>
        </p:txBody>
      </p:sp>
    </p:spTree>
    <p:extLst>
      <p:ext uri="{BB962C8B-B14F-4D97-AF65-F5344CB8AC3E}">
        <p14:creationId xmlns:p14="http://schemas.microsoft.com/office/powerpoint/2010/main" val="1970693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6089BF8-81DA-4A7E-92A0-F4F3EA329C80}"/>
              </a:ext>
            </a:extLst>
          </p:cNvPr>
          <p:cNvSpPr>
            <a:spLocks noGrp="1"/>
          </p:cNvSpPr>
          <p:nvPr>
            <p:ph type="title"/>
          </p:nvPr>
        </p:nvSpPr>
        <p:spPr>
          <a:xfrm>
            <a:off x="304800" y="460345"/>
            <a:ext cx="8534400" cy="838199"/>
          </a:xfrm>
        </p:spPr>
        <p:txBody>
          <a:bodyPr/>
          <a:lstStyle/>
          <a:p>
            <a:r>
              <a:rPr lang="en-US" dirty="0">
                <a:latin typeface="Calibri" panose="020F0502020204030204" pitchFamily="34" charset="0"/>
                <a:cs typeface="Calibri" panose="020F0502020204030204" pitchFamily="34" charset="0"/>
              </a:rPr>
              <a:t>Body Fluids &amp; Homeostasis</a:t>
            </a:r>
          </a:p>
        </p:txBody>
      </p:sp>
      <p:sp>
        <p:nvSpPr>
          <p:cNvPr id="6" name="Content Placeholder 5">
            <a:extLst>
              <a:ext uri="{FF2B5EF4-FFF2-40B4-BE49-F238E27FC236}">
                <a16:creationId xmlns:a16="http://schemas.microsoft.com/office/drawing/2014/main" id="{F830A205-4E6D-40E1-90E8-1319E9DDD734}"/>
              </a:ext>
            </a:extLst>
          </p:cNvPr>
          <p:cNvSpPr>
            <a:spLocks noGrp="1"/>
          </p:cNvSpPr>
          <p:nvPr>
            <p:ph sz="quarter" idx="16"/>
          </p:nvPr>
        </p:nvSpPr>
        <p:spPr>
          <a:xfrm>
            <a:off x="304800" y="1298544"/>
            <a:ext cx="4514850" cy="4905406"/>
          </a:xfrm>
        </p:spPr>
        <p:txBody>
          <a:bodyPr/>
          <a:lstStyle/>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The survival of our body cells is dependent on the precise regulation of the chemical composition of their surrounding fluid</a:t>
            </a:r>
          </a:p>
          <a:p>
            <a:pPr marL="1147763" lvl="1" indent="-461963">
              <a:lnSpc>
                <a:spcPct val="100000"/>
              </a:lnSpc>
              <a:spcBef>
                <a:spcPts val="624"/>
              </a:spcBef>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This fluid is known as extracellular fluid</a:t>
            </a:r>
          </a:p>
        </p:txBody>
      </p:sp>
      <p:pic>
        <p:nvPicPr>
          <p:cNvPr id="5" name="Content Placeholder 7" descr="A diagram summarizes the external and internal environments of the body and several body systems. The external environment consists of the integumentary system, and the internal environment (extracellular fluid) consists of interstitial fluid and blood plasma. Nutrients enter the digestive system as food, pass into the blood within the blood vessels of the cardiovascular system, then move to body cells. Nitrogenous wastes from body cells pass into the blood stream and are directed to the urinary system, where they exit as urine. Solid wastes proceed through the digestive system and exit the body through the rectum. Oxygen enters the respiratory system through the lungs, and is passed to body cells via the blood stream. Carbon dioxide passes from body cells to the blood stream and is carried to the lungs for expulsion as exhaled air.">
            <a:extLst>
              <a:ext uri="{FF2B5EF4-FFF2-40B4-BE49-F238E27FC236}">
                <a16:creationId xmlns:a16="http://schemas.microsoft.com/office/drawing/2014/main" id="{25172277-9ECA-4384-BC2E-E17C27063328}"/>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957156" y="1298270"/>
            <a:ext cx="3882044" cy="4905406"/>
          </a:xfrm>
          <a:prstGeom prst="rect">
            <a:avLst/>
          </a:prstGeom>
        </p:spPr>
      </p:pic>
    </p:spTree>
    <p:extLst>
      <p:ext uri="{BB962C8B-B14F-4D97-AF65-F5344CB8AC3E}">
        <p14:creationId xmlns:p14="http://schemas.microsoft.com/office/powerpoint/2010/main" val="3931158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637875B-044A-44BB-B4BF-724526E44F36}"/>
              </a:ext>
            </a:extLst>
          </p:cNvPr>
          <p:cNvSpPr>
            <a:spLocks noGrp="1"/>
          </p:cNvSpPr>
          <p:nvPr>
            <p:ph type="title"/>
          </p:nvPr>
        </p:nvSpPr>
        <p:spPr>
          <a:xfrm>
            <a:off x="304800" y="3009901"/>
            <a:ext cx="8534400" cy="838199"/>
          </a:xfrm>
        </p:spPr>
        <p:txBody>
          <a:bodyPr/>
          <a:lstStyle/>
          <a:p>
            <a:pPr algn="ctr"/>
            <a:r>
              <a:rPr lang="en-US" dirty="0">
                <a:latin typeface="Calibri" panose="020F0502020204030204" pitchFamily="34" charset="0"/>
                <a:cs typeface="Calibri" panose="020F0502020204030204" pitchFamily="34" charset="0"/>
              </a:rPr>
              <a:t>Control of Homeostasis </a:t>
            </a:r>
          </a:p>
        </p:txBody>
      </p:sp>
    </p:spTree>
    <p:extLst>
      <p:ext uri="{BB962C8B-B14F-4D97-AF65-F5344CB8AC3E}">
        <p14:creationId xmlns:p14="http://schemas.microsoft.com/office/powerpoint/2010/main" val="1183534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BE2573-0C52-4424-9890-D16F02DDFD3F}"/>
              </a:ext>
            </a:extLst>
          </p:cNvPr>
          <p:cNvSpPr>
            <a:spLocks noGrp="1"/>
          </p:cNvSpPr>
          <p:nvPr>
            <p:ph type="title"/>
          </p:nvPr>
        </p:nvSpPr>
        <p:spPr>
          <a:xfrm>
            <a:off x="304800" y="470164"/>
            <a:ext cx="8534400" cy="761999"/>
          </a:xfrm>
        </p:spPr>
        <p:txBody>
          <a:bodyPr/>
          <a:lstStyle/>
          <a:p>
            <a:r>
              <a:rPr lang="en-US" dirty="0">
                <a:latin typeface="Calibri" panose="020F0502020204030204" pitchFamily="34" charset="0"/>
                <a:cs typeface="Calibri" panose="020F0502020204030204" pitchFamily="34" charset="0"/>
              </a:rPr>
              <a:t>Homeostasis </a:t>
            </a:r>
          </a:p>
        </p:txBody>
      </p:sp>
      <p:sp>
        <p:nvSpPr>
          <p:cNvPr id="4" name="Content Placeholder 3">
            <a:extLst>
              <a:ext uri="{FF2B5EF4-FFF2-40B4-BE49-F238E27FC236}">
                <a16:creationId xmlns:a16="http://schemas.microsoft.com/office/drawing/2014/main" id="{1518BA35-758A-41B8-B8CC-1AA7C2C84B69}"/>
              </a:ext>
            </a:extLst>
          </p:cNvPr>
          <p:cNvSpPr>
            <a:spLocks noGrp="1"/>
          </p:cNvSpPr>
          <p:nvPr>
            <p:ph sz="quarter" idx="16"/>
          </p:nvPr>
        </p:nvSpPr>
        <p:spPr>
          <a:xfrm>
            <a:off x="304800" y="1620625"/>
            <a:ext cx="8534400" cy="4271128"/>
          </a:xfrm>
        </p:spPr>
        <p:txBody>
          <a:bodyPr/>
          <a:lstStyle/>
          <a:p>
            <a:pPr>
              <a:lnSpc>
                <a:spcPct val="100000"/>
              </a:lnSpc>
              <a:spcBef>
                <a:spcPts val="624"/>
              </a:spcBef>
            </a:pPr>
            <a:r>
              <a:rPr lang="en-US" sz="3200" dirty="0">
                <a:latin typeface="Calibri" panose="020F0502020204030204" pitchFamily="34" charset="0"/>
                <a:cs typeface="Calibri" panose="020F0502020204030204" pitchFamily="34" charset="0"/>
              </a:rPr>
              <a:t>Homeostatic imbalances occur because of disruptions from the external or internal environments</a:t>
            </a:r>
          </a:p>
          <a:p>
            <a:pPr>
              <a:lnSpc>
                <a:spcPct val="100000"/>
              </a:lnSpc>
              <a:spcBef>
                <a:spcPts val="624"/>
              </a:spcBef>
            </a:pPr>
            <a:endParaRPr lang="en-US" sz="3200" dirty="0">
              <a:latin typeface="Calibri" panose="020F0502020204030204" pitchFamily="34" charset="0"/>
              <a:cs typeface="Calibri" panose="020F0502020204030204" pitchFamily="34" charset="0"/>
            </a:endParaRPr>
          </a:p>
          <a:p>
            <a:pPr>
              <a:lnSpc>
                <a:spcPct val="100000"/>
              </a:lnSpc>
              <a:spcBef>
                <a:spcPts val="624"/>
              </a:spcBef>
            </a:pPr>
            <a:r>
              <a:rPr lang="en-US" dirty="0">
                <a:solidFill>
                  <a:schemeClr val="accent2"/>
                </a:solidFill>
                <a:latin typeface="Calibri" panose="020F0502020204030204" pitchFamily="34" charset="0"/>
                <a:cs typeface="Calibri" panose="020F0502020204030204" pitchFamily="34" charset="0"/>
              </a:rPr>
              <a:t>Interactions Animation</a:t>
            </a:r>
          </a:p>
          <a:p>
            <a:pPr marL="461963" lvl="2" indent="-461963">
              <a:lnSpc>
                <a:spcPct val="100000"/>
              </a:lnSpc>
              <a:spcBef>
                <a:spcPts val="624"/>
              </a:spcBef>
              <a:buClr>
                <a:schemeClr val="accent2"/>
              </a:buClr>
              <a:buSzPct val="100000"/>
            </a:pPr>
            <a:r>
              <a:rPr lang="en-US" sz="2600" dirty="0">
                <a:latin typeface="Calibri" panose="020F0502020204030204" pitchFamily="34" charset="0"/>
                <a:cs typeface="Calibri" panose="020F0502020204030204" pitchFamily="34" charset="0"/>
                <a:hlinkClick r:id="rId3"/>
              </a:rPr>
              <a:t>Communication, Regulation, and Homeostasis</a:t>
            </a:r>
            <a:endParaRPr lang="en-US" sz="2600" dirty="0">
              <a:latin typeface="Calibri" panose="020F0502020204030204" pitchFamily="34" charset="0"/>
              <a:cs typeface="Calibri" panose="020F0502020204030204" pitchFamily="34" charset="0"/>
            </a:endParaRPr>
          </a:p>
          <a:p>
            <a:pPr marL="461963" lvl="2" indent="-461963">
              <a:lnSpc>
                <a:spcPct val="100000"/>
              </a:lnSpc>
              <a:spcBef>
                <a:spcPts val="624"/>
              </a:spcBef>
              <a:buClr>
                <a:schemeClr val="accent2"/>
              </a:buClr>
              <a:buSzPct val="100000"/>
            </a:pPr>
            <a:r>
              <a:rPr lang="en-US" sz="2600" dirty="0">
                <a:latin typeface="Calibri" panose="020F0502020204030204" pitchFamily="34" charset="0"/>
                <a:cs typeface="Calibri" panose="020F0502020204030204" pitchFamily="34" charset="0"/>
                <a:hlinkClick r:id="rId4"/>
              </a:rPr>
              <a:t>Negative Feedback Control of Temperature Regulation</a:t>
            </a:r>
            <a:endParaRPr lang="en-US"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2232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7187533-3331-4FD4-8886-DE45011A4D60}"/>
              </a:ext>
            </a:extLst>
          </p:cNvPr>
          <p:cNvSpPr>
            <a:spLocks noGrp="1"/>
          </p:cNvSpPr>
          <p:nvPr>
            <p:ph type="title"/>
          </p:nvPr>
        </p:nvSpPr>
        <p:spPr>
          <a:xfrm>
            <a:off x="304800" y="460343"/>
            <a:ext cx="8534400" cy="838199"/>
          </a:xfrm>
        </p:spPr>
        <p:txBody>
          <a:bodyPr/>
          <a:lstStyle/>
          <a:p>
            <a:r>
              <a:rPr lang="en-US" dirty="0">
                <a:latin typeface="Calibri" panose="020F0502020204030204" pitchFamily="34" charset="0"/>
                <a:cs typeface="Calibri" panose="020F0502020204030204" pitchFamily="34" charset="0"/>
              </a:rPr>
              <a:t>Control of Homeostasis</a:t>
            </a:r>
          </a:p>
        </p:txBody>
      </p:sp>
      <p:sp>
        <p:nvSpPr>
          <p:cNvPr id="5" name="Content Placeholder 4">
            <a:extLst>
              <a:ext uri="{FF2B5EF4-FFF2-40B4-BE49-F238E27FC236}">
                <a16:creationId xmlns:a16="http://schemas.microsoft.com/office/drawing/2014/main" id="{A5321CC2-EB59-41D4-9779-59E2A99C1378}"/>
              </a:ext>
            </a:extLst>
          </p:cNvPr>
          <p:cNvSpPr>
            <a:spLocks noGrp="1"/>
          </p:cNvSpPr>
          <p:nvPr>
            <p:ph sz="quarter" idx="16"/>
          </p:nvPr>
        </p:nvSpPr>
        <p:spPr/>
        <p:txBody>
          <a:bodyPr/>
          <a:lstStyle/>
          <a:p>
            <a:r>
              <a:rPr lang="en-US" sz="3200" dirty="0">
                <a:latin typeface="Calibri" panose="020F0502020204030204" pitchFamily="34" charset="0"/>
                <a:cs typeface="Calibri" panose="020F0502020204030204" pitchFamily="34" charset="0"/>
              </a:rPr>
              <a:t>The basic components of a feedback loop</a:t>
            </a:r>
          </a:p>
        </p:txBody>
      </p:sp>
      <p:pic>
        <p:nvPicPr>
          <p:cNvPr id="6" name="Content Placeholder 7" descr="A flowchart illustrates control of homeostasis and is summarized as follows. A stimulus is the starting point, and it disrupts homeostasis by increasing or decreasing a controlled condition that is monitored by receptors. Input at these receptors send nerve impulses or chemical signals to a control center that receives the input and provides an output of nerve impulses or chemical signals to effectors that bring about a change or response that alters the controlled condition. The cycle begins again with a return to homeostasis when the response brings the controlled condition back to normal.">
            <a:extLst>
              <a:ext uri="{FF2B5EF4-FFF2-40B4-BE49-F238E27FC236}">
                <a16:creationId xmlns:a16="http://schemas.microsoft.com/office/drawing/2014/main" id="{79908C22-A240-4132-B937-BD229F165191}"/>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4188941" y="1149178"/>
            <a:ext cx="4769707" cy="5139040"/>
          </a:xfrm>
          <a:prstGeom prst="rect">
            <a:avLst/>
          </a:prstGeom>
        </p:spPr>
      </p:pic>
    </p:spTree>
    <p:extLst>
      <p:ext uri="{BB962C8B-B14F-4D97-AF65-F5344CB8AC3E}">
        <p14:creationId xmlns:p14="http://schemas.microsoft.com/office/powerpoint/2010/main" val="543838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D9BCAE-2448-4654-A3B2-8AED73D72C49}"/>
              </a:ext>
            </a:extLst>
          </p:cNvPr>
          <p:cNvSpPr>
            <a:spLocks noGrp="1"/>
          </p:cNvSpPr>
          <p:nvPr>
            <p:ph type="title"/>
          </p:nvPr>
        </p:nvSpPr>
        <p:spPr/>
        <p:txBody>
          <a:bodyPr>
            <a:noAutofit/>
          </a:bodyPr>
          <a:lstStyle/>
          <a:p>
            <a:r>
              <a:rPr lang="en-US" sz="3600" dirty="0">
                <a:latin typeface="Calibri" panose="020F0502020204030204" pitchFamily="34" charset="0"/>
                <a:cs typeface="Calibri" panose="020F0502020204030204" pitchFamily="34" charset="0"/>
              </a:rPr>
              <a:t>Control of Homeostasis: Negative Feedback</a:t>
            </a:r>
          </a:p>
        </p:txBody>
      </p:sp>
      <p:pic>
        <p:nvPicPr>
          <p:cNvPr id="3" name="Content Placeholder 2">
            <a:extLst>
              <a:ext uri="{FF2B5EF4-FFF2-40B4-BE49-F238E27FC236}">
                <a16:creationId xmlns:a16="http://schemas.microsoft.com/office/drawing/2014/main" id="{4A6AB79E-E706-4CB8-B44A-CC9186A1B588}"/>
              </a:ext>
            </a:extLst>
          </p:cNvPr>
          <p:cNvPicPr>
            <a:picLocks noGrp="1" noChangeAspect="1"/>
          </p:cNvPicPr>
          <p:nvPr>
            <p:ph sz="quarter" idx="17"/>
          </p:nvPr>
        </p:nvPicPr>
        <p:blipFill>
          <a:blip r:embed="rId2"/>
          <a:stretch>
            <a:fillRect/>
          </a:stretch>
        </p:blipFill>
        <p:spPr>
          <a:xfrm>
            <a:off x="4905632" y="1426007"/>
            <a:ext cx="3262184" cy="4669992"/>
          </a:xfrm>
          <a:prstGeom prst="rect">
            <a:avLst/>
          </a:prstGeom>
        </p:spPr>
      </p:pic>
      <p:sp>
        <p:nvSpPr>
          <p:cNvPr id="7" name="Content Placeholder 6">
            <a:extLst>
              <a:ext uri="{FF2B5EF4-FFF2-40B4-BE49-F238E27FC236}">
                <a16:creationId xmlns:a16="http://schemas.microsoft.com/office/drawing/2014/main" id="{B2C4297A-8283-4A94-9B74-55923EF3AE04}"/>
              </a:ext>
            </a:extLst>
          </p:cNvPr>
          <p:cNvSpPr>
            <a:spLocks noGrp="1"/>
          </p:cNvSpPr>
          <p:nvPr>
            <p:ph sz="quarter" idx="16"/>
          </p:nvPr>
        </p:nvSpPr>
        <p:spPr>
          <a:xfrm>
            <a:off x="304799" y="1600200"/>
            <a:ext cx="4378411" cy="4603750"/>
          </a:xfrm>
        </p:spPr>
        <p:txBody>
          <a:bodyPr/>
          <a:lstStyle/>
          <a:p>
            <a:pPr marL="457200" indent="-457200">
              <a:buFont typeface="Arial" panose="020B0604020202020204" pitchFamily="34" charset="0"/>
              <a:buChar char="•"/>
            </a:pPr>
            <a:r>
              <a:rPr lang="en-US" sz="3200" dirty="0"/>
              <a:t>The response reduces or shuts off the original stimulus </a:t>
            </a:r>
          </a:p>
          <a:p>
            <a:endParaRPr lang="en-US" sz="3200" dirty="0"/>
          </a:p>
          <a:p>
            <a:pPr marL="457200" indent="-457200">
              <a:buFont typeface="Arial" panose="020B0604020202020204" pitchFamily="34" charset="0"/>
              <a:buChar char="•"/>
            </a:pPr>
            <a:r>
              <a:rPr lang="en-US" sz="3200" dirty="0"/>
              <a:t>Examples:</a:t>
            </a:r>
          </a:p>
          <a:p>
            <a:pPr marL="1143000" lvl="1" indent="-457200">
              <a:buFont typeface="Arial" panose="020B0604020202020204" pitchFamily="34" charset="0"/>
              <a:buChar char="•"/>
            </a:pPr>
            <a:r>
              <a:rPr lang="en-US" dirty="0"/>
              <a:t>Regulation of body temperature (a nervous mechanism)</a:t>
            </a:r>
          </a:p>
          <a:p>
            <a:pPr marL="1143000" lvl="1" indent="-457200">
              <a:buFont typeface="Arial" panose="020B0604020202020204" pitchFamily="34" charset="0"/>
              <a:buChar char="•"/>
            </a:pPr>
            <a:r>
              <a:rPr lang="en-US" dirty="0"/>
              <a:t>Regulation of blood volume by ADH (an endocrine mechanism)</a:t>
            </a:r>
          </a:p>
        </p:txBody>
      </p:sp>
    </p:spTree>
    <p:extLst>
      <p:ext uri="{BB962C8B-B14F-4D97-AF65-F5344CB8AC3E}">
        <p14:creationId xmlns:p14="http://schemas.microsoft.com/office/powerpoint/2010/main" val="4186362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7187533-3331-4FD4-8886-DE45011A4D60}"/>
              </a:ext>
            </a:extLst>
          </p:cNvPr>
          <p:cNvSpPr>
            <a:spLocks noGrp="1"/>
          </p:cNvSpPr>
          <p:nvPr>
            <p:ph type="title"/>
          </p:nvPr>
        </p:nvSpPr>
        <p:spPr>
          <a:xfrm>
            <a:off x="304800" y="448534"/>
            <a:ext cx="8534400" cy="1014221"/>
          </a:xfrm>
        </p:spPr>
        <p:txBody>
          <a:bodyPr>
            <a:noAutofit/>
          </a:bodyPr>
          <a:lstStyle/>
          <a:p>
            <a:r>
              <a:rPr lang="en-US" dirty="0">
                <a:latin typeface="Calibri" panose="020F0502020204030204" pitchFamily="34" charset="0"/>
                <a:cs typeface="Calibri" panose="020F0502020204030204" pitchFamily="34" charset="0"/>
              </a:rPr>
              <a:t>Control of Homeostasis: Positive Feedback</a:t>
            </a:r>
          </a:p>
        </p:txBody>
      </p:sp>
      <p:sp>
        <p:nvSpPr>
          <p:cNvPr id="5" name="Content Placeholder 4">
            <a:extLst>
              <a:ext uri="{FF2B5EF4-FFF2-40B4-BE49-F238E27FC236}">
                <a16:creationId xmlns:a16="http://schemas.microsoft.com/office/drawing/2014/main" id="{A5321CC2-EB59-41D4-9779-59E2A99C1378}"/>
              </a:ext>
            </a:extLst>
          </p:cNvPr>
          <p:cNvSpPr>
            <a:spLocks noGrp="1"/>
          </p:cNvSpPr>
          <p:nvPr>
            <p:ph sz="quarter" idx="16"/>
          </p:nvPr>
        </p:nvSpPr>
        <p:spPr>
          <a:xfrm>
            <a:off x="304799" y="1752600"/>
            <a:ext cx="5095104" cy="4451350"/>
          </a:xfrm>
        </p:spPr>
        <p:txBody>
          <a:bodyPr/>
          <a:lstStyle/>
          <a:p>
            <a:pPr marL="457200" lvl="1" indent="-457200"/>
            <a:r>
              <a:rPr lang="en-US" sz="3200" dirty="0">
                <a:latin typeface="Calibri" panose="020F0502020204030204" pitchFamily="34" charset="0"/>
                <a:cs typeface="Calibri" panose="020F0502020204030204" pitchFamily="34" charset="0"/>
              </a:rPr>
              <a:t>Response enhances or exaggerates the original stimulus </a:t>
            </a:r>
          </a:p>
          <a:p>
            <a:pPr marL="457200" lvl="1" indent="-457200"/>
            <a:r>
              <a:rPr lang="en-US" sz="3200" dirty="0">
                <a:latin typeface="Calibri" panose="020F0502020204030204" pitchFamily="34" charset="0"/>
                <a:cs typeface="Calibri" panose="020F0502020204030204" pitchFamily="34" charset="0"/>
              </a:rPr>
              <a:t>May exhibit a cascade or amplifying effect </a:t>
            </a:r>
          </a:p>
          <a:p>
            <a:pPr marL="457200" lvl="1" indent="-457200"/>
            <a:r>
              <a:rPr lang="en-US" sz="3200" dirty="0">
                <a:latin typeface="Calibri" panose="020F0502020204030204" pitchFamily="34" charset="0"/>
                <a:cs typeface="Calibri" panose="020F0502020204030204" pitchFamily="34" charset="0"/>
              </a:rPr>
              <a:t>Usually controls infrequent events </a:t>
            </a:r>
          </a:p>
          <a:p>
            <a:pPr marL="914400" lvl="2" indent="-457200"/>
            <a:r>
              <a:rPr lang="en-US" sz="2400" dirty="0">
                <a:latin typeface="Calibri" panose="020F0502020204030204" pitchFamily="34" charset="0"/>
                <a:cs typeface="Calibri" panose="020F0502020204030204" pitchFamily="34" charset="0"/>
              </a:rPr>
              <a:t>Enhancement of labor contractions by oxytocin </a:t>
            </a:r>
          </a:p>
          <a:p>
            <a:pPr marL="914400" lvl="2" indent="-457200"/>
            <a:r>
              <a:rPr lang="en-US" sz="2400" dirty="0">
                <a:latin typeface="Calibri" panose="020F0502020204030204" pitchFamily="34" charset="0"/>
                <a:cs typeface="Calibri" panose="020F0502020204030204" pitchFamily="34" charset="0"/>
              </a:rPr>
              <a:t>Platelet plug formation and blood clotting </a:t>
            </a:r>
          </a:p>
        </p:txBody>
      </p:sp>
      <p:pic>
        <p:nvPicPr>
          <p:cNvPr id="7" name="Content Placeholder 7" descr="A flowchart illustrates control of homeostasis in the reproductive system during birth via positive feedback. Contractions of the wall of the uterus force the baby's head or body into the cervix and stretch the cervix, increasing the controlled condition. Stretch-sensitive nerve cells in the cervix (the receptors) send nerve impulses to the brain (control center). The brain interprets this input by releasing oxytocin, which causes muscles in the wall of the uterus (the effectors) to contract even more forcefully, creating the response. The increased pressure of the baby's body stretches the cervix even more, causing the release of more oxytocin and more stretching of the cervix. Interruption of the cycle: The birth of the baby decreases stretching of the cervix, thus breaking the positive feedback cycle.">
            <a:extLst>
              <a:ext uri="{FF2B5EF4-FFF2-40B4-BE49-F238E27FC236}">
                <a16:creationId xmlns:a16="http://schemas.microsoft.com/office/drawing/2014/main" id="{132ABFAE-E8F6-4EA8-A76D-2B5300E8298B}"/>
              </a:ext>
            </a:extLst>
          </p:cNvPr>
          <p:cNvPicPr>
            <a:picLocks noGrp="1" noChangeAspect="1"/>
          </p:cNvPicPr>
          <p:nvPr>
            <p:ph sz="quarter" idx="17"/>
          </p:nvPr>
        </p:nvPicPr>
        <p:blipFill>
          <a:blip r:embed="rId3" cstate="print">
            <a:extLst>
              <a:ext uri="{28A0092B-C50C-407E-A947-70E740481C1C}">
                <a14:useLocalDpi xmlns:a14="http://schemas.microsoft.com/office/drawing/2010/main" val="0"/>
              </a:ext>
            </a:extLst>
          </a:blip>
          <a:stretch>
            <a:fillRect/>
          </a:stretch>
        </p:blipFill>
        <p:spPr>
          <a:xfrm>
            <a:off x="5644572" y="1161535"/>
            <a:ext cx="3194628" cy="4876989"/>
          </a:xfrm>
          <a:prstGeom prst="rect">
            <a:avLst/>
          </a:prstGeom>
        </p:spPr>
      </p:pic>
    </p:spTree>
    <p:extLst>
      <p:ext uri="{BB962C8B-B14F-4D97-AF65-F5344CB8AC3E}">
        <p14:creationId xmlns:p14="http://schemas.microsoft.com/office/powerpoint/2010/main" val="2984606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7187533-3331-4FD4-8886-DE45011A4D60}"/>
              </a:ext>
            </a:extLst>
          </p:cNvPr>
          <p:cNvSpPr>
            <a:spLocks noGrp="1"/>
          </p:cNvSpPr>
          <p:nvPr>
            <p:ph type="title"/>
          </p:nvPr>
        </p:nvSpPr>
        <p:spPr>
          <a:xfrm>
            <a:off x="304800" y="448534"/>
            <a:ext cx="8534400" cy="1014221"/>
          </a:xfrm>
        </p:spPr>
        <p:txBody>
          <a:bodyPr>
            <a:noAutofit/>
          </a:bodyPr>
          <a:lstStyle/>
          <a:p>
            <a:r>
              <a:rPr lang="en-US" dirty="0">
                <a:latin typeface="Calibri" panose="020F0502020204030204" pitchFamily="34" charset="0"/>
                <a:cs typeface="Calibri" panose="020F0502020204030204" pitchFamily="34" charset="0"/>
              </a:rPr>
              <a:t>Control of Homeostasis: Positive Feedback</a:t>
            </a:r>
          </a:p>
        </p:txBody>
      </p:sp>
      <p:sp>
        <p:nvSpPr>
          <p:cNvPr id="5" name="Content Placeholder 4">
            <a:extLst>
              <a:ext uri="{FF2B5EF4-FFF2-40B4-BE49-F238E27FC236}">
                <a16:creationId xmlns:a16="http://schemas.microsoft.com/office/drawing/2014/main" id="{A5321CC2-EB59-41D4-9779-59E2A99C1378}"/>
              </a:ext>
            </a:extLst>
          </p:cNvPr>
          <p:cNvSpPr>
            <a:spLocks noGrp="1"/>
          </p:cNvSpPr>
          <p:nvPr>
            <p:ph sz="quarter" idx="16"/>
          </p:nvPr>
        </p:nvSpPr>
        <p:spPr/>
        <p:txBody>
          <a:bodyPr/>
          <a:lstStyle/>
          <a:p>
            <a:pPr marL="0" lvl="1" indent="0">
              <a:buNone/>
            </a:pPr>
            <a:r>
              <a:rPr lang="en-US" sz="2800" dirty="0">
                <a:solidFill>
                  <a:schemeClr val="accent2"/>
                </a:solidFill>
                <a:latin typeface="Calibri" panose="020F0502020204030204" pitchFamily="34" charset="0"/>
                <a:cs typeface="Calibri" panose="020F0502020204030204" pitchFamily="34" charset="0"/>
              </a:rPr>
              <a:t>Interactions Animation:</a:t>
            </a:r>
            <a:r>
              <a:rPr lang="en-US" sz="2800" dirty="0">
                <a:latin typeface="Calibri" panose="020F0502020204030204" pitchFamily="34" charset="0"/>
                <a:cs typeface="Calibri" panose="020F0502020204030204" pitchFamily="34" charset="0"/>
              </a:rPr>
              <a:t> </a:t>
            </a:r>
          </a:p>
          <a:p>
            <a:pPr marL="461963" lvl="2" indent="-461963">
              <a:spcBef>
                <a:spcPts val="1000"/>
              </a:spcBef>
              <a:buClr>
                <a:schemeClr val="accent2"/>
              </a:buClr>
              <a:buSzPct val="100000"/>
            </a:pPr>
            <a:r>
              <a:rPr lang="en-US" sz="2800" dirty="0">
                <a:latin typeface="Calibri" panose="020F0502020204030204" pitchFamily="34" charset="0"/>
                <a:cs typeface="Calibri" panose="020F0502020204030204" pitchFamily="34" charset="0"/>
                <a:hlinkClick r:id="rId3"/>
              </a:rPr>
              <a:t>Positive Feedback Control of Labor</a:t>
            </a:r>
            <a:endParaRPr lang="en-US" sz="2800" dirty="0">
              <a:latin typeface="Calibri" panose="020F0502020204030204" pitchFamily="34" charset="0"/>
              <a:cs typeface="Calibri" panose="020F0502020204030204" pitchFamily="34" charset="0"/>
            </a:endParaRPr>
          </a:p>
        </p:txBody>
      </p:sp>
      <p:pic>
        <p:nvPicPr>
          <p:cNvPr id="7" name="Content Placeholder 7" descr="A flowchart illustrates control of homeostasis in the reproductive system during birth via positive feedback. Contractions of the wall of the uterus force the baby's head or body into the cervix and stretch the cervix, increasing the controlled condition. Stretch-sensitive nerve cells in the cervix (the receptors) send nerve impulses to the brain (control center). The brain interprets this input by releasing oxytocin, which causes muscles in the wall of the uterus (the effectors) to contract even more forcefully, creating the response. The increased pressure of the baby's body stretches the cervix even more, causing the release of more oxytocin and more stretching of the cervix. Interruption of the cycle: The birth of the baby decreases stretching of the cervix, thus breaking the positive feedback cycle.">
            <a:extLst>
              <a:ext uri="{FF2B5EF4-FFF2-40B4-BE49-F238E27FC236}">
                <a16:creationId xmlns:a16="http://schemas.microsoft.com/office/drawing/2014/main" id="{132ABFAE-E8F6-4EA8-A76D-2B5300E8298B}"/>
              </a:ext>
            </a:extLst>
          </p:cNvPr>
          <p:cNvPicPr>
            <a:picLocks noGrp="1" noChangeAspect="1"/>
          </p:cNvPicPr>
          <p:nvPr>
            <p:ph sz="quarter" idx="17"/>
          </p:nvPr>
        </p:nvPicPr>
        <p:blipFill>
          <a:blip r:embed="rId4" cstate="print">
            <a:extLst>
              <a:ext uri="{28A0092B-C50C-407E-A947-70E740481C1C}">
                <a14:useLocalDpi xmlns:a14="http://schemas.microsoft.com/office/drawing/2010/main" val="0"/>
              </a:ext>
            </a:extLst>
          </a:blip>
          <a:stretch>
            <a:fillRect/>
          </a:stretch>
        </p:blipFill>
        <p:spPr>
          <a:xfrm>
            <a:off x="4419600" y="1334530"/>
            <a:ext cx="3711146" cy="4703994"/>
          </a:xfrm>
          <a:prstGeom prst="rect">
            <a:avLst/>
          </a:prstGeom>
        </p:spPr>
      </p:pic>
    </p:spTree>
    <p:extLst>
      <p:ext uri="{BB962C8B-B14F-4D97-AF65-F5344CB8AC3E}">
        <p14:creationId xmlns:p14="http://schemas.microsoft.com/office/powerpoint/2010/main" val="3807344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7187533-3331-4FD4-8886-DE45011A4D60}"/>
              </a:ext>
            </a:extLst>
          </p:cNvPr>
          <p:cNvSpPr>
            <a:spLocks noGrp="1"/>
          </p:cNvSpPr>
          <p:nvPr>
            <p:ph type="title"/>
          </p:nvPr>
        </p:nvSpPr>
        <p:spPr>
          <a:xfrm>
            <a:off x="304799" y="469770"/>
            <a:ext cx="8534400" cy="838199"/>
          </a:xfrm>
        </p:spPr>
        <p:txBody>
          <a:bodyPr/>
          <a:lstStyle/>
          <a:p>
            <a:r>
              <a:rPr lang="en-US" dirty="0">
                <a:latin typeface="Calibri" panose="020F0502020204030204" pitchFamily="34" charset="0"/>
                <a:cs typeface="Calibri" panose="020F0502020204030204" pitchFamily="34" charset="0"/>
              </a:rPr>
              <a:t>Homeostatic Imbalances</a:t>
            </a:r>
          </a:p>
        </p:txBody>
      </p:sp>
      <p:sp>
        <p:nvSpPr>
          <p:cNvPr id="5" name="Content Placeholder 4">
            <a:extLst>
              <a:ext uri="{FF2B5EF4-FFF2-40B4-BE49-F238E27FC236}">
                <a16:creationId xmlns:a16="http://schemas.microsoft.com/office/drawing/2014/main" id="{A5321CC2-EB59-41D4-9779-59E2A99C1378}"/>
              </a:ext>
            </a:extLst>
          </p:cNvPr>
          <p:cNvSpPr>
            <a:spLocks noGrp="1"/>
          </p:cNvSpPr>
          <p:nvPr>
            <p:ph sz="quarter" idx="16"/>
          </p:nvPr>
        </p:nvSpPr>
        <p:spPr>
          <a:xfrm>
            <a:off x="304799" y="1639478"/>
            <a:ext cx="8339580" cy="4343399"/>
          </a:xfrm>
        </p:spPr>
        <p:txBody>
          <a:bodyPr/>
          <a:lstStyle/>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When homeostasis is disrupted it may result in disease, disorder, or even death</a:t>
            </a:r>
          </a:p>
          <a:p>
            <a:pPr marL="461963" indent="-461963">
              <a:lnSpc>
                <a:spcPct val="100000"/>
              </a:lnSpc>
              <a:spcBef>
                <a:spcPts val="624"/>
              </a:spcBef>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Factors such as your genetic make-up, the air you breathe, and the food you eat can all affect your health</a:t>
            </a:r>
          </a:p>
        </p:txBody>
      </p:sp>
    </p:spTree>
    <p:extLst>
      <p:ext uri="{BB962C8B-B14F-4D97-AF65-F5344CB8AC3E}">
        <p14:creationId xmlns:p14="http://schemas.microsoft.com/office/powerpoint/2010/main" val="2723823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4DC8CF-FADB-458C-9AE6-B9D9B11CF416}"/>
              </a:ext>
            </a:extLst>
          </p:cNvPr>
          <p:cNvSpPr>
            <a:spLocks noGrp="1"/>
          </p:cNvSpPr>
          <p:nvPr>
            <p:ph type="title"/>
          </p:nvPr>
        </p:nvSpPr>
        <p:spPr>
          <a:xfrm>
            <a:off x="304800" y="2943912"/>
            <a:ext cx="8534400" cy="838199"/>
          </a:xfrm>
        </p:spPr>
        <p:txBody>
          <a:bodyPr/>
          <a:lstStyle/>
          <a:p>
            <a:pPr algn="ctr"/>
            <a:r>
              <a:rPr lang="en-US" dirty="0">
                <a:latin typeface="Calibri" panose="020F0502020204030204" pitchFamily="34" charset="0"/>
                <a:cs typeface="Calibri" panose="020F0502020204030204" pitchFamily="34" charset="0"/>
              </a:rPr>
              <a:t>Basic Anatomical Terminology</a:t>
            </a:r>
          </a:p>
        </p:txBody>
      </p:sp>
    </p:spTree>
    <p:extLst>
      <p:ext uri="{BB962C8B-B14F-4D97-AF65-F5344CB8AC3E}">
        <p14:creationId xmlns:p14="http://schemas.microsoft.com/office/powerpoint/2010/main" val="25965322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A925FA-8C3C-456A-99AA-BA82CCDE5865}"/>
              </a:ext>
            </a:extLst>
          </p:cNvPr>
          <p:cNvSpPr>
            <a:spLocks noGrp="1"/>
          </p:cNvSpPr>
          <p:nvPr>
            <p:ph type="title"/>
          </p:nvPr>
        </p:nvSpPr>
        <p:spPr>
          <a:xfrm>
            <a:off x="457200" y="469770"/>
            <a:ext cx="8534400" cy="838199"/>
          </a:xfrm>
        </p:spPr>
        <p:txBody>
          <a:bodyPr/>
          <a:lstStyle/>
          <a:p>
            <a:r>
              <a:rPr lang="en-US" dirty="0">
                <a:latin typeface="Calibri" panose="020F0502020204030204" pitchFamily="34" charset="0"/>
                <a:cs typeface="Calibri" panose="020F0502020204030204" pitchFamily="34" charset="0"/>
              </a:rPr>
              <a:t>Types of Anatomical Terminology</a:t>
            </a:r>
          </a:p>
        </p:txBody>
      </p:sp>
      <p:sp>
        <p:nvSpPr>
          <p:cNvPr id="4" name="Content Placeholder 3">
            <a:extLst>
              <a:ext uri="{FF2B5EF4-FFF2-40B4-BE49-F238E27FC236}">
                <a16:creationId xmlns:a16="http://schemas.microsoft.com/office/drawing/2014/main" id="{4B4B85AB-01D4-4154-B5BD-867C8F04B7D3}"/>
              </a:ext>
            </a:extLst>
          </p:cNvPr>
          <p:cNvSpPr>
            <a:spLocks noGrp="1"/>
          </p:cNvSpPr>
          <p:nvPr>
            <p:ph sz="quarter" idx="16"/>
          </p:nvPr>
        </p:nvSpPr>
        <p:spPr>
          <a:xfrm>
            <a:off x="304800" y="1307970"/>
            <a:ext cx="8534400" cy="5080260"/>
          </a:xfrm>
        </p:spPr>
        <p:txBody>
          <a:bodyPr/>
          <a:lstStyle/>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Body positions</a:t>
            </a:r>
          </a:p>
          <a:p>
            <a:pPr marL="461963" indent="-461963">
              <a:lnSpc>
                <a:spcPct val="100000"/>
              </a:lnSpc>
              <a:spcBef>
                <a:spcPts val="624"/>
              </a:spcBef>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Regional names</a:t>
            </a:r>
          </a:p>
          <a:p>
            <a:pPr marL="461963" indent="-461963">
              <a:lnSpc>
                <a:spcPct val="100000"/>
              </a:lnSpc>
              <a:spcBef>
                <a:spcPts val="624"/>
              </a:spcBef>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Directional terms</a:t>
            </a:r>
          </a:p>
          <a:p>
            <a:pPr marL="461963" indent="-461963">
              <a:lnSpc>
                <a:spcPct val="100000"/>
              </a:lnSpc>
              <a:spcBef>
                <a:spcPts val="624"/>
              </a:spcBef>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Planes and sections</a:t>
            </a:r>
          </a:p>
          <a:p>
            <a:pPr marL="461963" indent="-461963">
              <a:lnSpc>
                <a:spcPct val="100000"/>
              </a:lnSpc>
              <a:spcBef>
                <a:spcPts val="624"/>
              </a:spcBef>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Body cavities</a:t>
            </a:r>
          </a:p>
        </p:txBody>
      </p:sp>
    </p:spTree>
    <p:extLst>
      <p:ext uri="{BB962C8B-B14F-4D97-AF65-F5344CB8AC3E}">
        <p14:creationId xmlns:p14="http://schemas.microsoft.com/office/powerpoint/2010/main" val="573613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E27D8B-2984-41F5-B951-121349910CAB}"/>
              </a:ext>
            </a:extLst>
          </p:cNvPr>
          <p:cNvSpPr>
            <a:spLocks noGrp="1"/>
          </p:cNvSpPr>
          <p:nvPr>
            <p:ph type="title"/>
          </p:nvPr>
        </p:nvSpPr>
        <p:spPr>
          <a:xfrm>
            <a:off x="304800" y="453598"/>
            <a:ext cx="8534400" cy="1115643"/>
          </a:xfrm>
        </p:spPr>
        <p:txBody>
          <a:bodyPr>
            <a:noAutofit/>
          </a:bodyPr>
          <a:lstStyle/>
          <a:p>
            <a:r>
              <a:rPr lang="en-US" dirty="0">
                <a:latin typeface="Calibri" panose="020F0502020204030204" pitchFamily="34" charset="0"/>
                <a:cs typeface="Calibri" panose="020F0502020204030204" pitchFamily="34" charset="0"/>
              </a:rPr>
              <a:t>Body Positions: The Anatomical Position</a:t>
            </a:r>
          </a:p>
        </p:txBody>
      </p:sp>
      <p:sp>
        <p:nvSpPr>
          <p:cNvPr id="5" name="Content Placeholder 4">
            <a:extLst>
              <a:ext uri="{FF2B5EF4-FFF2-40B4-BE49-F238E27FC236}">
                <a16:creationId xmlns:a16="http://schemas.microsoft.com/office/drawing/2014/main" id="{2B19E429-8D8B-4CA9-8A89-10F5ACD989AA}"/>
              </a:ext>
            </a:extLst>
          </p:cNvPr>
          <p:cNvSpPr>
            <a:spLocks noGrp="1"/>
          </p:cNvSpPr>
          <p:nvPr>
            <p:ph sz="quarter" idx="16"/>
          </p:nvPr>
        </p:nvSpPr>
        <p:spPr>
          <a:xfrm>
            <a:off x="304800" y="1752599"/>
            <a:ext cx="8603530" cy="4421957"/>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Anatomical position is a standardized method of observing or imaging the body that allows precise and consistent anatomical reference</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Person stands erect, facing the observer, the upper extremities are places at the sides, the palms of the hands are turned forward, and the feet are flat on the floor</a:t>
            </a:r>
          </a:p>
        </p:txBody>
      </p:sp>
    </p:spTree>
    <p:extLst>
      <p:ext uri="{BB962C8B-B14F-4D97-AF65-F5344CB8AC3E}">
        <p14:creationId xmlns:p14="http://schemas.microsoft.com/office/powerpoint/2010/main" val="855195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E27D8B-2984-41F5-B951-121349910CAB}"/>
              </a:ext>
            </a:extLst>
          </p:cNvPr>
          <p:cNvSpPr>
            <a:spLocks noGrp="1"/>
          </p:cNvSpPr>
          <p:nvPr>
            <p:ph type="title"/>
          </p:nvPr>
        </p:nvSpPr>
        <p:spPr>
          <a:xfrm>
            <a:off x="304800" y="470161"/>
            <a:ext cx="8534400" cy="761999"/>
          </a:xfrm>
        </p:spPr>
        <p:txBody>
          <a:bodyPr>
            <a:noAutofit/>
          </a:bodyPr>
          <a:lstStyle/>
          <a:p>
            <a:r>
              <a:rPr lang="en-US" dirty="0">
                <a:latin typeface="Calibri" panose="020F0502020204030204" pitchFamily="34" charset="0"/>
                <a:cs typeface="Calibri" panose="020F0502020204030204" pitchFamily="34" charset="0"/>
              </a:rPr>
              <a:t>Body Positions</a:t>
            </a:r>
          </a:p>
        </p:txBody>
      </p:sp>
      <p:sp>
        <p:nvSpPr>
          <p:cNvPr id="5" name="Content Placeholder 4">
            <a:extLst>
              <a:ext uri="{FF2B5EF4-FFF2-40B4-BE49-F238E27FC236}">
                <a16:creationId xmlns:a16="http://schemas.microsoft.com/office/drawing/2014/main" id="{2B19E429-8D8B-4CA9-8A89-10F5ACD989AA}"/>
              </a:ext>
            </a:extLst>
          </p:cNvPr>
          <p:cNvSpPr>
            <a:spLocks noGrp="1"/>
          </p:cNvSpPr>
          <p:nvPr>
            <p:ph sz="quarter" idx="16"/>
          </p:nvPr>
        </p:nvSpPr>
        <p:spPr>
          <a:xfrm>
            <a:off x="304800" y="1232161"/>
            <a:ext cx="8603530" cy="4942396"/>
          </a:xfrm>
        </p:spPr>
        <p:txBody>
          <a:bodyPr/>
          <a:lstStyle/>
          <a:p>
            <a:pPr marL="457200" indent="-457200">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Two major divisions of body:</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Axial</a:t>
            </a:r>
            <a:r>
              <a:rPr lang="en-US" dirty="0">
                <a:latin typeface="Calibri" panose="020F0502020204030204" pitchFamily="34" charset="0"/>
                <a:cs typeface="Calibri" panose="020F0502020204030204" pitchFamily="34" charset="0"/>
              </a:rPr>
              <a:t> </a:t>
            </a:r>
          </a:p>
          <a:p>
            <a:pPr marL="1600200" lvl="2" indent="-457200">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Head, neck, trunk</a:t>
            </a:r>
          </a:p>
          <a:p>
            <a:pPr marL="1143000" lvl="1" indent="-457200">
              <a:lnSpc>
                <a:spcPct val="100000"/>
              </a:lnSpc>
              <a:spcBef>
                <a:spcPts val="624"/>
              </a:spcBef>
              <a:spcAft>
                <a:spcPts val="600"/>
              </a:spcAft>
              <a:buClr>
                <a:schemeClr val="accent2"/>
              </a:buClr>
              <a:buSzPct val="100000"/>
              <a:buFont typeface="Arial" panose="020B0604020202020204" pitchFamily="34" charset="0"/>
              <a:buChar char="•"/>
            </a:pPr>
            <a:r>
              <a:rPr lang="en-US" sz="2800" dirty="0">
                <a:latin typeface="Calibri" panose="020F0502020204030204" pitchFamily="34" charset="0"/>
                <a:cs typeface="Calibri" panose="020F0502020204030204" pitchFamily="34" charset="0"/>
              </a:rPr>
              <a:t>Appendicular</a:t>
            </a:r>
            <a:r>
              <a:rPr lang="en-US" dirty="0">
                <a:latin typeface="Calibri" panose="020F0502020204030204" pitchFamily="34" charset="0"/>
                <a:cs typeface="Calibri" panose="020F0502020204030204" pitchFamily="34" charset="0"/>
              </a:rPr>
              <a:t> </a:t>
            </a:r>
          </a:p>
          <a:p>
            <a:pPr marL="1600200" lvl="2" indent="-457200">
              <a:lnSpc>
                <a:spcPct val="100000"/>
              </a:lnSpc>
              <a:spcBef>
                <a:spcPts val="624"/>
              </a:spcBef>
              <a:spcAft>
                <a:spcPts val="600"/>
              </a:spcAft>
              <a:buClr>
                <a:schemeClr val="accent2"/>
              </a:buClr>
              <a:buSzPct val="100000"/>
              <a:buFont typeface="Arial" panose="020B0604020202020204" pitchFamily="34" charset="0"/>
              <a:buChar char="•"/>
            </a:pPr>
            <a:r>
              <a:rPr lang="en-US" dirty="0">
                <a:latin typeface="Calibri" panose="020F0502020204030204" pitchFamily="34" charset="0"/>
                <a:cs typeface="Calibri" panose="020F0502020204030204" pitchFamily="34" charset="0"/>
              </a:rPr>
              <a:t>Limbs, shoulder girdle, pelvic girdle </a:t>
            </a:r>
          </a:p>
          <a:p>
            <a:pPr marL="457200" indent="-457200">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Anatomical terms to describe the reclining body are prone and supine</a:t>
            </a:r>
          </a:p>
          <a:p>
            <a:pPr marL="919162" lvl="1" indent="-457200">
              <a:lnSpc>
                <a:spcPct val="100000"/>
              </a:lnSpc>
              <a:spcBef>
                <a:spcPts val="624"/>
              </a:spcBef>
              <a:spcAft>
                <a:spcPts val="600"/>
              </a:spcAft>
              <a:buClr>
                <a:schemeClr val="accent2"/>
              </a:buClr>
              <a:buSzPct val="80000"/>
              <a:buFont typeface="Courier New" panose="02070309020205020404" pitchFamily="49" charset="0"/>
              <a:buChar char="o"/>
            </a:pPr>
            <a:r>
              <a:rPr lang="en-US" sz="2600" dirty="0">
                <a:latin typeface="Calibri" panose="020F0502020204030204" pitchFamily="34" charset="0"/>
                <a:cs typeface="Calibri" panose="020F0502020204030204" pitchFamily="34" charset="0"/>
              </a:rPr>
              <a:t>Prone = body lying facedown</a:t>
            </a:r>
          </a:p>
          <a:p>
            <a:pPr marL="919162" lvl="1" indent="-457200">
              <a:lnSpc>
                <a:spcPct val="100000"/>
              </a:lnSpc>
              <a:spcBef>
                <a:spcPts val="624"/>
              </a:spcBef>
              <a:spcAft>
                <a:spcPts val="600"/>
              </a:spcAft>
              <a:buClr>
                <a:schemeClr val="accent2"/>
              </a:buClr>
              <a:buSzPct val="80000"/>
              <a:buFont typeface="Courier New" panose="02070309020205020404" pitchFamily="49" charset="0"/>
              <a:buChar char="o"/>
            </a:pPr>
            <a:r>
              <a:rPr lang="en-US" sz="2600" dirty="0">
                <a:latin typeface="Calibri" panose="020F0502020204030204" pitchFamily="34" charset="0"/>
                <a:cs typeface="Calibri" panose="020F0502020204030204" pitchFamily="34" charset="0"/>
              </a:rPr>
              <a:t>Supine = body lying faceup</a:t>
            </a:r>
          </a:p>
        </p:txBody>
      </p:sp>
    </p:spTree>
    <p:extLst>
      <p:ext uri="{BB962C8B-B14F-4D97-AF65-F5344CB8AC3E}">
        <p14:creationId xmlns:p14="http://schemas.microsoft.com/office/powerpoint/2010/main" val="2240815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a:xfrm>
            <a:off x="304800" y="488625"/>
            <a:ext cx="8534400" cy="586032"/>
          </a:xfrm>
        </p:spPr>
        <p:txBody>
          <a:bodyPr>
            <a:noAutofit/>
          </a:bodyPr>
          <a:lstStyle/>
          <a:p>
            <a:r>
              <a:rPr lang="en-US" dirty="0">
                <a:latin typeface="Calibri" panose="020F0502020204030204" pitchFamily="34" charset="0"/>
                <a:cs typeface="Calibri" panose="020F0502020204030204" pitchFamily="34" charset="0"/>
              </a:rPr>
              <a:t>Regional Names</a:t>
            </a:r>
          </a:p>
        </p:txBody>
      </p:sp>
      <p:sp>
        <p:nvSpPr>
          <p:cNvPr id="7" name="Content Placeholder 6">
            <a:extLst>
              <a:ext uri="{FF2B5EF4-FFF2-40B4-BE49-F238E27FC236}">
                <a16:creationId xmlns:a16="http://schemas.microsoft.com/office/drawing/2014/main" id="{3A47C52F-38BC-4530-8892-4EC0D995CBAF}"/>
              </a:ext>
            </a:extLst>
          </p:cNvPr>
          <p:cNvSpPr>
            <a:spLocks noGrp="1"/>
          </p:cNvSpPr>
          <p:nvPr>
            <p:ph sz="quarter" idx="16"/>
          </p:nvPr>
        </p:nvSpPr>
        <p:spPr>
          <a:xfrm>
            <a:off x="378643" y="1260390"/>
            <a:ext cx="8386713" cy="586032"/>
          </a:xfrm>
        </p:spPr>
        <p:txBody>
          <a:bodyPr/>
          <a:lstStyle/>
          <a:p>
            <a:pPr marL="457200" indent="-457200">
              <a:lnSpc>
                <a:spcPct val="100000"/>
              </a:lnSpc>
              <a:spcBef>
                <a:spcPts val="624"/>
              </a:spcBef>
              <a:buFont typeface="Arial" panose="020B0604020202020204" pitchFamily="34" charset="0"/>
              <a:buChar char="•"/>
            </a:pPr>
            <a:r>
              <a:rPr lang="en-US" sz="2400" dirty="0">
                <a:latin typeface="Calibri" panose="020F0502020204030204" pitchFamily="34" charset="0"/>
                <a:cs typeface="Calibri" panose="020F0502020204030204" pitchFamily="34" charset="0"/>
              </a:rPr>
              <a:t>Names given to specific regions of the body for reference</a:t>
            </a:r>
          </a:p>
        </p:txBody>
      </p:sp>
      <p:pic>
        <p:nvPicPr>
          <p:cNvPr id="8" name="Content Placeholder 14" descr="A diagram (a) illustrates regional names of the anterior body regions with a human female in the anatomical position. The regions are as follows: The cephalic region, or head, is comprised of the cranial region or skull; the facial region or face; the frontal region or forehead; the temporal region or temple; the orbital or ocular region or eye; the auricle or otic region or ear; the buccal region or cheek; the nasal region or nose; the oral region or mouth; and the mental region or chin. The cervical region consists of the neck. The trunk region is comprised of the thoracic region or chest; the abdominal region or abdomen; and the pelvic region or pelvis. The sternal region is the breastbone. The mammary region is the breast. The umbilical region is the navel, the coxal region is the hip, and the inguinal region is the groin. The pubic region is the pubis. The regions of the anterior upper limbs are as follows: The axillary region is the armpit; the brachial region is the arm; the antecubital region is the front of the elbow; the antebrachial region is the forearm; the carpal region is the wrist; the palmar or volar region is the palm; the digital or phalangeal region consists of the fingers; the pollex region is the thumb; and the manual region is the hand. The regions of the lower limb are as follows: the femoral region is the thigh; the patellar region is the anterior surface of the knee; the crural region is the leg; and the pedal region is the foot. The foot is comprised of the following regions: The tarsal region or ankle; the digital or phalangeal region or toes; the dorsum region or top of the foot; and the hallux region or the great toe.">
            <a:extLst>
              <a:ext uri="{FF2B5EF4-FFF2-40B4-BE49-F238E27FC236}">
                <a16:creationId xmlns:a16="http://schemas.microsoft.com/office/drawing/2014/main" id="{B35631F9-DE61-407B-ABB0-679B8B60E0F2}"/>
              </a:ext>
            </a:extLst>
          </p:cNvPr>
          <p:cNvPicPr>
            <a:picLocks noGrp="1" noChangeAspect="1"/>
          </p:cNvPicPr>
          <p:nvPr>
            <p:ph sz="quarter" idx="18"/>
          </p:nvPr>
        </p:nvPicPr>
        <p:blipFill>
          <a:blip r:embed="rId2" cstate="print">
            <a:extLst>
              <a:ext uri="{28A0092B-C50C-407E-A947-70E740481C1C}">
                <a14:useLocalDpi xmlns:a14="http://schemas.microsoft.com/office/drawing/2010/main" val="0"/>
              </a:ext>
            </a:extLst>
          </a:blip>
          <a:stretch>
            <a:fillRect/>
          </a:stretch>
        </p:blipFill>
        <p:spPr>
          <a:xfrm>
            <a:off x="716692" y="1717589"/>
            <a:ext cx="3628998" cy="4547287"/>
          </a:xfrm>
          <a:prstGeom prst="rect">
            <a:avLst/>
          </a:prstGeom>
        </p:spPr>
      </p:pic>
      <p:pic>
        <p:nvPicPr>
          <p:cNvPr id="9" name="Content Placeholder 15" descr="A diagram (b) illustrates regional names of the posterior body regions with a human female in the anatomical position. The regions are as follows: The cephalic region or head, includes the occipital region or the base of the skull. The cervical region is the neck. The scapular region is the shoulder blade, the vertebral region is the spinal column, and the olecranal or cubital region is the back of the elbow. The sacral region is the area between the hips, and the gluteal region is the buttock. The perineal region is comprised of the anus and external genitals. On the posterior upper limb, the dorsum region is the back of the hand. On the posterior lower limb, the popliteal region is the hollow behind the knee, the sural region is the calf, the plantar region is the sole of the foot, and the calcaneal region is the heel.">
            <a:extLst>
              <a:ext uri="{FF2B5EF4-FFF2-40B4-BE49-F238E27FC236}">
                <a16:creationId xmlns:a16="http://schemas.microsoft.com/office/drawing/2014/main" id="{2A1500A6-062A-4DB9-97B2-3BAF4DCB308D}"/>
              </a:ext>
            </a:extLst>
          </p:cNvPr>
          <p:cNvPicPr>
            <a:picLocks noGrp="1" noChangeAspect="1"/>
          </p:cNvPicPr>
          <p:nvPr>
            <p:ph sz="quarter" idx="17"/>
          </p:nvPr>
        </p:nvPicPr>
        <p:blipFill>
          <a:blip r:embed="rId3" cstate="print">
            <a:extLst>
              <a:ext uri="{28A0092B-C50C-407E-A947-70E740481C1C}">
                <a14:useLocalDpi xmlns:a14="http://schemas.microsoft.com/office/drawing/2010/main" val="0"/>
              </a:ext>
            </a:extLst>
          </a:blip>
          <a:stretch>
            <a:fillRect/>
          </a:stretch>
        </p:blipFill>
        <p:spPr>
          <a:xfrm>
            <a:off x="4501748" y="1717589"/>
            <a:ext cx="3628998" cy="4547287"/>
          </a:xfrm>
          <a:prstGeom prst="rect">
            <a:avLst/>
          </a:prstGeom>
        </p:spPr>
      </p:pic>
    </p:spTree>
    <p:extLst>
      <p:ext uri="{BB962C8B-B14F-4D97-AF65-F5344CB8AC3E}">
        <p14:creationId xmlns:p14="http://schemas.microsoft.com/office/powerpoint/2010/main" val="1301664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a:xfrm>
            <a:off x="304800" y="488625"/>
            <a:ext cx="8534400" cy="586032"/>
          </a:xfrm>
        </p:spPr>
        <p:txBody>
          <a:bodyPr>
            <a:normAutofit fontScale="90000"/>
          </a:bodyPr>
          <a:lstStyle/>
          <a:p>
            <a:r>
              <a:rPr lang="en-US" sz="4400" dirty="0">
                <a:latin typeface="Calibri" panose="020F0502020204030204" pitchFamily="34" charset="0"/>
                <a:cs typeface="Calibri" panose="020F0502020204030204" pitchFamily="34" charset="0"/>
              </a:rPr>
              <a:t>Directional Terms </a:t>
            </a:r>
            <a:endParaRPr lang="en-US" sz="22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3A47C52F-38BC-4530-8892-4EC0D995CBAF}"/>
              </a:ext>
            </a:extLst>
          </p:cNvPr>
          <p:cNvSpPr>
            <a:spLocks noGrp="1"/>
          </p:cNvSpPr>
          <p:nvPr>
            <p:ph sz="quarter" idx="16"/>
          </p:nvPr>
        </p:nvSpPr>
        <p:spPr>
          <a:xfrm>
            <a:off x="304800" y="1074657"/>
            <a:ext cx="8386713" cy="1269474"/>
          </a:xfrm>
        </p:spPr>
        <p:txBody>
          <a:bodyPr/>
          <a:lstStyle/>
          <a:p>
            <a:pPr marL="457200" indent="-457200">
              <a:lnSpc>
                <a:spcPct val="100000"/>
              </a:lnSpc>
              <a:spcBef>
                <a:spcPts val="624"/>
              </a:spcBef>
              <a:buFont typeface="Arial" panose="020B0604020202020204" pitchFamily="34" charset="0"/>
              <a:buChar char="•"/>
            </a:pPr>
            <a:r>
              <a:rPr lang="en-US" sz="3200" dirty="0">
                <a:latin typeface="Calibri" panose="020F0502020204030204" pitchFamily="34" charset="0"/>
                <a:cs typeface="Calibri" panose="020F0502020204030204" pitchFamily="34" charset="0"/>
              </a:rPr>
              <a:t>Used to precisely locate one part of the body relative to another</a:t>
            </a:r>
          </a:p>
        </p:txBody>
      </p:sp>
      <p:pic>
        <p:nvPicPr>
          <p:cNvPr id="11" name="Content Placeholder 7" descr="An anterior view of the trunk and right upper limb illustrates directional terms. Medial is toward the midline of the body, while lateral is away from the midline. The esophagus (food tube), trachea (windpipe), and sternum (breastbone) are all located at the midline. Superior is toward the head, and inferior is toward the feet. Body parts with right lateral locations from superior to inferior include the right lung, liver, gallbladder, and ascending colon. Body parts with left lateral locations from superior to inferior include rib, left lung, heart, stomach, transverse colon, small intestine, and descending colon. Distal refers to the end of a limb that is furthest away from the body and proximal refers to the end that is nearest the body (the armpit). The hand bones from proximal to distal include humerus, radius and ulna, carpels, metacarpels, and phalanges.">
            <a:extLst>
              <a:ext uri="{FF2B5EF4-FFF2-40B4-BE49-F238E27FC236}">
                <a16:creationId xmlns:a16="http://schemas.microsoft.com/office/drawing/2014/main" id="{CAE64E45-CC1C-4A03-9DBC-1741B4155CEC}"/>
              </a:ext>
            </a:extLst>
          </p:cNvPr>
          <p:cNvPicPr>
            <a:picLocks noGrp="1" noChangeAspect="1"/>
          </p:cNvPicPr>
          <p:nvPr>
            <p:ph sz="quarter" idx="18"/>
          </p:nvPr>
        </p:nvPicPr>
        <p:blipFill>
          <a:blip r:embed="rId2" cstate="print">
            <a:extLst>
              <a:ext uri="{28A0092B-C50C-407E-A947-70E740481C1C}">
                <a14:useLocalDpi xmlns:a14="http://schemas.microsoft.com/office/drawing/2010/main" val="0"/>
              </a:ext>
            </a:extLst>
          </a:blip>
          <a:stretch>
            <a:fillRect/>
          </a:stretch>
        </p:blipFill>
        <p:spPr>
          <a:xfrm>
            <a:off x="1828801" y="2162433"/>
            <a:ext cx="4908666" cy="4094630"/>
          </a:xfrm>
          <a:prstGeom prst="rect">
            <a:avLst/>
          </a:prstGeom>
        </p:spPr>
      </p:pic>
    </p:spTree>
    <p:extLst>
      <p:ext uri="{BB962C8B-B14F-4D97-AF65-F5344CB8AC3E}">
        <p14:creationId xmlns:p14="http://schemas.microsoft.com/office/powerpoint/2010/main" val="72205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BD55EA-EA44-4FA4-8715-CB6A1F720DE7}"/>
              </a:ext>
            </a:extLst>
          </p:cNvPr>
          <p:cNvSpPr>
            <a:spLocks noGrp="1"/>
          </p:cNvSpPr>
          <p:nvPr>
            <p:ph type="title"/>
          </p:nvPr>
        </p:nvSpPr>
        <p:spPr>
          <a:xfrm>
            <a:off x="304800" y="469770"/>
            <a:ext cx="8534400" cy="838199"/>
          </a:xfrm>
        </p:spPr>
        <p:txBody>
          <a:bodyPr/>
          <a:lstStyle/>
          <a:p>
            <a:r>
              <a:rPr lang="en-US" dirty="0">
                <a:latin typeface="Calibri" panose="020F0502020204030204" pitchFamily="34" charset="0"/>
                <a:cs typeface="Calibri" panose="020F0502020204030204" pitchFamily="34" charset="0"/>
              </a:rPr>
              <a:t>Directional Terms</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4BBF3B45-FE66-4F74-A3D5-142F45608A22}"/>
              </a:ext>
            </a:extLst>
          </p:cNvPr>
          <p:cNvGraphicFramePr>
            <a:graphicFrameLocks noGrp="1"/>
          </p:cNvGraphicFramePr>
          <p:nvPr>
            <p:ph sz="quarter" idx="16"/>
            <p:extLst>
              <p:ext uri="{D42A27DB-BD31-4B8C-83A1-F6EECF244321}">
                <p14:modId xmlns:p14="http://schemas.microsoft.com/office/powerpoint/2010/main" val="1179119047"/>
              </p:ext>
            </p:extLst>
          </p:nvPr>
        </p:nvGraphicFramePr>
        <p:xfrm>
          <a:off x="304800" y="1752600"/>
          <a:ext cx="8534400" cy="3997960"/>
        </p:xfrm>
        <a:graphic>
          <a:graphicData uri="http://schemas.openxmlformats.org/drawingml/2006/table">
            <a:tbl>
              <a:tblPr firstRow="1" bandRow="1">
                <a:tableStyleId>{69012ECD-51FC-41F1-AA8D-1B2483CD663E}</a:tableStyleId>
              </a:tblPr>
              <a:tblGrid>
                <a:gridCol w="2844800">
                  <a:extLst>
                    <a:ext uri="{9D8B030D-6E8A-4147-A177-3AD203B41FA5}">
                      <a16:colId xmlns:a16="http://schemas.microsoft.com/office/drawing/2014/main" val="3140148483"/>
                    </a:ext>
                  </a:extLst>
                </a:gridCol>
                <a:gridCol w="2844800">
                  <a:extLst>
                    <a:ext uri="{9D8B030D-6E8A-4147-A177-3AD203B41FA5}">
                      <a16:colId xmlns:a16="http://schemas.microsoft.com/office/drawing/2014/main" val="1966481379"/>
                    </a:ext>
                  </a:extLst>
                </a:gridCol>
                <a:gridCol w="2844800">
                  <a:extLst>
                    <a:ext uri="{9D8B030D-6E8A-4147-A177-3AD203B41FA5}">
                      <a16:colId xmlns:a16="http://schemas.microsoft.com/office/drawing/2014/main" val="405423781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Directional term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Definition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Example of Use</a:t>
                      </a:r>
                    </a:p>
                  </a:txBody>
                  <a:tcPr/>
                </a:tc>
                <a:extLst>
                  <a:ext uri="{0D108BD9-81ED-4DB2-BD59-A6C34878D82A}">
                    <a16:rowId xmlns:a16="http://schemas.microsoft.com/office/drawing/2014/main" val="17494732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Superior</a:t>
                      </a:r>
                      <a:r>
                        <a:rPr lang="en-US" sz="1600" dirty="0"/>
                        <a:t> (</a:t>
                      </a:r>
                      <a:r>
                        <a:rPr lang="en-US" sz="1600" dirty="0" err="1"/>
                        <a:t>soo</a:t>
                      </a:r>
                      <a:r>
                        <a:rPr lang="en-US" sz="1600" dirty="0"/>
                        <a:t>'-PĒR-ē-or) (</a:t>
                      </a:r>
                      <a:r>
                        <a:rPr lang="en-US" sz="1600" i="1" dirty="0"/>
                        <a:t>cephalic</a:t>
                      </a:r>
                      <a:r>
                        <a:rPr lang="en-US" sz="1600" dirty="0"/>
                        <a:t> or </a:t>
                      </a:r>
                      <a:r>
                        <a:rPr lang="en-US" sz="1600" i="1" dirty="0"/>
                        <a:t>cranial</a:t>
                      </a:r>
                      <a:r>
                        <a:rPr lang="en-US" sz="1600" dirty="0"/>
                        <a:t>)</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Toward the head, or the upper part of a structure.</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heart is superior to the liver.</a:t>
                      </a:r>
                      <a:endParaRPr lang="en-US" sz="1600" b="0" dirty="0"/>
                    </a:p>
                  </a:txBody>
                  <a:tcPr/>
                </a:tc>
                <a:extLst>
                  <a:ext uri="{0D108BD9-81ED-4DB2-BD59-A6C34878D82A}">
                    <a16:rowId xmlns:a16="http://schemas.microsoft.com/office/drawing/2014/main" val="17390461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Inferior</a:t>
                      </a:r>
                      <a:r>
                        <a:rPr lang="en-US" sz="1600" dirty="0"/>
                        <a:t> (in-FĒ-</a:t>
                      </a:r>
                      <a:r>
                        <a:rPr lang="en-US" sz="1600" dirty="0" err="1"/>
                        <a:t>rē</a:t>
                      </a:r>
                      <a:r>
                        <a:rPr lang="en-US" sz="1600" dirty="0"/>
                        <a:t>-or) (</a:t>
                      </a:r>
                      <a:r>
                        <a:rPr lang="en-US" sz="1600" i="1" dirty="0"/>
                        <a:t>caudal</a:t>
                      </a:r>
                      <a:r>
                        <a:rPr lang="en-US" sz="1600" dirty="0"/>
                        <a:t>)</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Away from the head, or the lower part of a structure. </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stomach is inferior to the lungs.</a:t>
                      </a:r>
                      <a:endParaRPr lang="en-US" sz="1600" b="0" dirty="0"/>
                    </a:p>
                  </a:txBody>
                  <a:tcPr/>
                </a:tc>
                <a:extLst>
                  <a:ext uri="{0D108BD9-81ED-4DB2-BD59-A6C34878D82A}">
                    <a16:rowId xmlns:a16="http://schemas.microsoft.com/office/drawing/2014/main" val="39794413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Anterior</a:t>
                      </a:r>
                      <a:r>
                        <a:rPr lang="en-US" sz="1600" dirty="0"/>
                        <a:t> (an-TĒR-ē-or) (</a:t>
                      </a:r>
                      <a:r>
                        <a:rPr lang="en-US" sz="1600" i="1" dirty="0"/>
                        <a:t>ventral</a:t>
                      </a:r>
                      <a:r>
                        <a:rPr lang="en-US" sz="1600" dirty="0"/>
                        <a:t>)</a:t>
                      </a:r>
                      <a:r>
                        <a:rPr lang="en-US" sz="1600" baseline="30000" dirty="0"/>
                        <a:t>*</a:t>
                      </a:r>
                      <a:r>
                        <a:rPr lang="en-US" sz="1600" dirty="0"/>
                        <a:t> </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Nearer to or at the front of the body. </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sternum (breastbone) is anterior to the heart.</a:t>
                      </a:r>
                      <a:endParaRPr lang="en-US" sz="1600" b="0" dirty="0"/>
                    </a:p>
                  </a:txBody>
                  <a:tcPr/>
                </a:tc>
                <a:extLst>
                  <a:ext uri="{0D108BD9-81ED-4DB2-BD59-A6C34878D82A}">
                    <a16:rowId xmlns:a16="http://schemas.microsoft.com/office/drawing/2014/main" val="867446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Posterior</a:t>
                      </a:r>
                      <a:r>
                        <a:rPr lang="en-US" sz="1600" dirty="0"/>
                        <a:t> (pos-TĒR-ē-or) (</a:t>
                      </a:r>
                      <a:r>
                        <a:rPr lang="en-US" sz="1600" i="1" dirty="0"/>
                        <a:t>dorsal</a:t>
                      </a:r>
                      <a:r>
                        <a:rPr lang="en-US" sz="1600" dirty="0"/>
                        <a:t>)</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Nearer to or at the back of the body. </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esophagus (food tube) is posterior to the trachea (windpipe).</a:t>
                      </a:r>
                      <a:endParaRPr lang="en-US" sz="1600" b="0" dirty="0"/>
                    </a:p>
                  </a:txBody>
                  <a:tcPr/>
                </a:tc>
                <a:extLst>
                  <a:ext uri="{0D108BD9-81ED-4DB2-BD59-A6C34878D82A}">
                    <a16:rowId xmlns:a16="http://schemas.microsoft.com/office/drawing/2014/main" val="32389172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Medial</a:t>
                      </a:r>
                      <a:r>
                        <a:rPr lang="en-US" sz="1600" dirty="0"/>
                        <a:t> (MĒ-</a:t>
                      </a:r>
                      <a:r>
                        <a:rPr lang="en-US" sz="1600" dirty="0" err="1"/>
                        <a:t>dē</a:t>
                      </a:r>
                      <a:r>
                        <a:rPr lang="en-US" sz="1600" dirty="0"/>
                        <a:t>-al)</a:t>
                      </a:r>
                      <a:endParaRPr lang="en-US" sz="1600" b="0" dirty="0"/>
                    </a:p>
                  </a:txBody>
                  <a:tcPr/>
                </a:tc>
                <a:tc>
                  <a:txBody>
                    <a:bodyPr/>
                    <a:lstStyle/>
                    <a:p>
                      <a:r>
                        <a:rPr lang="en-US" sz="1600" dirty="0"/>
                        <a:t>Nearer to the midline (an imaginary vertical line that</a:t>
                      </a:r>
                    </a:p>
                    <a:p>
                      <a:r>
                        <a:rPr lang="en-US" sz="1600" dirty="0"/>
                        <a:t>divides the body into equal right and left sides).</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ulna is medial to the radius.</a:t>
                      </a:r>
                      <a:endParaRPr lang="en-US" sz="1600" b="0" dirty="0"/>
                    </a:p>
                  </a:txBody>
                  <a:tcPr/>
                </a:tc>
                <a:extLst>
                  <a:ext uri="{0D108BD9-81ED-4DB2-BD59-A6C34878D82A}">
                    <a16:rowId xmlns:a16="http://schemas.microsoft.com/office/drawing/2014/main" val="2937245934"/>
                  </a:ext>
                </a:extLst>
              </a:tr>
            </a:tbl>
          </a:graphicData>
        </a:graphic>
      </p:graphicFrame>
    </p:spTree>
    <p:extLst>
      <p:ext uri="{BB962C8B-B14F-4D97-AF65-F5344CB8AC3E}">
        <p14:creationId xmlns:p14="http://schemas.microsoft.com/office/powerpoint/2010/main" val="3127953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BD55EA-EA44-4FA4-8715-CB6A1F720DE7}"/>
              </a:ext>
            </a:extLst>
          </p:cNvPr>
          <p:cNvSpPr>
            <a:spLocks noGrp="1"/>
          </p:cNvSpPr>
          <p:nvPr>
            <p:ph type="title"/>
          </p:nvPr>
        </p:nvSpPr>
        <p:spPr>
          <a:xfrm>
            <a:off x="304800" y="469770"/>
            <a:ext cx="8534400" cy="838199"/>
          </a:xfrm>
        </p:spPr>
        <p:txBody>
          <a:bodyPr/>
          <a:lstStyle/>
          <a:p>
            <a:r>
              <a:rPr lang="en-US" dirty="0">
                <a:latin typeface="Calibri" panose="020F0502020204030204" pitchFamily="34" charset="0"/>
                <a:cs typeface="Calibri" panose="020F0502020204030204" pitchFamily="34" charset="0"/>
              </a:rPr>
              <a:t>Directional Terms</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4BBF3B45-FE66-4F74-A3D5-142F45608A22}"/>
              </a:ext>
            </a:extLst>
          </p:cNvPr>
          <p:cNvGraphicFramePr>
            <a:graphicFrameLocks noGrp="1"/>
          </p:cNvGraphicFramePr>
          <p:nvPr>
            <p:ph sz="quarter" idx="16"/>
            <p:extLst>
              <p:ext uri="{D42A27DB-BD31-4B8C-83A1-F6EECF244321}">
                <p14:modId xmlns:p14="http://schemas.microsoft.com/office/powerpoint/2010/main" val="270375834"/>
              </p:ext>
            </p:extLst>
          </p:nvPr>
        </p:nvGraphicFramePr>
        <p:xfrm>
          <a:off x="304800" y="1752600"/>
          <a:ext cx="8534400" cy="3754120"/>
        </p:xfrm>
        <a:graphic>
          <a:graphicData uri="http://schemas.openxmlformats.org/drawingml/2006/table">
            <a:tbl>
              <a:tblPr firstRow="1" bandRow="1">
                <a:tableStyleId>{69012ECD-51FC-41F1-AA8D-1B2483CD663E}</a:tableStyleId>
              </a:tblPr>
              <a:tblGrid>
                <a:gridCol w="2844800">
                  <a:extLst>
                    <a:ext uri="{9D8B030D-6E8A-4147-A177-3AD203B41FA5}">
                      <a16:colId xmlns:a16="http://schemas.microsoft.com/office/drawing/2014/main" val="3140148483"/>
                    </a:ext>
                  </a:extLst>
                </a:gridCol>
                <a:gridCol w="2844800">
                  <a:extLst>
                    <a:ext uri="{9D8B030D-6E8A-4147-A177-3AD203B41FA5}">
                      <a16:colId xmlns:a16="http://schemas.microsoft.com/office/drawing/2014/main" val="1966481379"/>
                    </a:ext>
                  </a:extLst>
                </a:gridCol>
                <a:gridCol w="2844800">
                  <a:extLst>
                    <a:ext uri="{9D8B030D-6E8A-4147-A177-3AD203B41FA5}">
                      <a16:colId xmlns:a16="http://schemas.microsoft.com/office/drawing/2014/main" val="405423781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Directional term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Definition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Example of Use</a:t>
                      </a:r>
                    </a:p>
                  </a:txBody>
                  <a:tcPr/>
                </a:tc>
                <a:extLst>
                  <a:ext uri="{0D108BD9-81ED-4DB2-BD59-A6C34878D82A}">
                    <a16:rowId xmlns:a16="http://schemas.microsoft.com/office/drawing/2014/main" val="1749473239"/>
                  </a:ext>
                </a:extLst>
              </a:tr>
              <a:tr h="370840">
                <a:tc>
                  <a:txBody>
                    <a:bodyPr/>
                    <a:lstStyle/>
                    <a:p>
                      <a:r>
                        <a:rPr lang="en-US" sz="1600" b="1" dirty="0"/>
                        <a:t>Lateral</a:t>
                      </a:r>
                      <a:r>
                        <a:rPr lang="en-US" sz="1600" b="0" dirty="0"/>
                        <a:t> (LAT-</a:t>
                      </a:r>
                      <a:r>
                        <a:rPr lang="en-US" sz="1600" b="0" dirty="0" err="1"/>
                        <a:t>er</a:t>
                      </a:r>
                      <a:r>
                        <a:rPr lang="en-US" sz="1600" b="0" dirty="0"/>
                        <a:t>-al)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Farther from the midline.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The lungs are lateral to the heart.</a:t>
                      </a:r>
                    </a:p>
                  </a:txBody>
                  <a:tcPr/>
                </a:tc>
                <a:extLst>
                  <a:ext uri="{0D108BD9-81ED-4DB2-BD59-A6C34878D82A}">
                    <a16:rowId xmlns:a16="http://schemas.microsoft.com/office/drawing/2014/main" val="17390461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Intermediate</a:t>
                      </a:r>
                      <a:r>
                        <a:rPr lang="en-US" sz="1600" dirty="0"/>
                        <a:t> (in'-</a:t>
                      </a:r>
                      <a:r>
                        <a:rPr lang="en-US" sz="1600" dirty="0" err="1"/>
                        <a:t>ter</a:t>
                      </a:r>
                      <a:r>
                        <a:rPr lang="en-US" sz="1600" dirty="0"/>
                        <a:t>-MĒ-</a:t>
                      </a:r>
                      <a:r>
                        <a:rPr lang="en-US" sz="1600" dirty="0" err="1"/>
                        <a:t>dē</a:t>
                      </a:r>
                      <a:r>
                        <a:rPr lang="en-US" sz="1600" dirty="0"/>
                        <a:t>-at) </a:t>
                      </a:r>
                      <a:endParaRPr lang="en-US"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Between two structures.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transverse colon is intermediate to the ascending and descending colons.</a:t>
                      </a:r>
                    </a:p>
                  </a:txBody>
                  <a:tcPr/>
                </a:tc>
                <a:extLst>
                  <a:ext uri="{0D108BD9-81ED-4DB2-BD59-A6C34878D82A}">
                    <a16:rowId xmlns:a16="http://schemas.microsoft.com/office/drawing/2014/main" val="39794413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Ipsilateral</a:t>
                      </a:r>
                      <a:r>
                        <a:rPr lang="en-US" sz="1600" dirty="0"/>
                        <a:t> (</a:t>
                      </a:r>
                      <a:r>
                        <a:rPr lang="en-US" sz="1600" dirty="0" err="1"/>
                        <a:t>ip</a:t>
                      </a:r>
                      <a:r>
                        <a:rPr lang="en-US" sz="1600" dirty="0"/>
                        <a:t>-</a:t>
                      </a:r>
                      <a:r>
                        <a:rPr lang="en-US" sz="1600" dirty="0" err="1"/>
                        <a:t>si</a:t>
                      </a:r>
                      <a:r>
                        <a:rPr lang="en-US" sz="1600" dirty="0"/>
                        <a:t>-LAT-</a:t>
                      </a:r>
                      <a:r>
                        <a:rPr lang="en-US" sz="1600" dirty="0" err="1"/>
                        <a:t>er</a:t>
                      </a:r>
                      <a:r>
                        <a:rPr lang="en-US" sz="1600" dirty="0"/>
                        <a:t>-al)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On the same side of the body as another structure.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gallbladder and ascending colon are ipsilateral.</a:t>
                      </a:r>
                    </a:p>
                  </a:txBody>
                  <a:tcPr/>
                </a:tc>
                <a:extLst>
                  <a:ext uri="{0D108BD9-81ED-4DB2-BD59-A6C34878D82A}">
                    <a16:rowId xmlns:a16="http://schemas.microsoft.com/office/drawing/2014/main" val="8674465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Contralateral</a:t>
                      </a:r>
                      <a:r>
                        <a:rPr lang="en-US" sz="1600" dirty="0"/>
                        <a:t> (KON-</a:t>
                      </a:r>
                      <a:r>
                        <a:rPr lang="en-US" sz="1600" dirty="0" err="1"/>
                        <a:t>tra</a:t>
                      </a:r>
                      <a:r>
                        <a:rPr lang="en-US" sz="1600" dirty="0"/>
                        <a:t>-</a:t>
                      </a:r>
                      <a:r>
                        <a:rPr lang="en-US" sz="1600" dirty="0" err="1"/>
                        <a:t>lat</a:t>
                      </a:r>
                      <a:r>
                        <a:rPr lang="en-US" sz="1600" dirty="0"/>
                        <a:t>-</a:t>
                      </a:r>
                      <a:r>
                        <a:rPr lang="en-US" sz="1600" dirty="0" err="1"/>
                        <a:t>er</a:t>
                      </a:r>
                      <a:r>
                        <a:rPr lang="en-US" sz="1600" dirty="0"/>
                        <a:t>-al)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On the opposite side of the body from another structure.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ascending and descending colons are contralateral.</a:t>
                      </a:r>
                    </a:p>
                  </a:txBody>
                  <a:tcPr/>
                </a:tc>
                <a:extLst>
                  <a:ext uri="{0D108BD9-81ED-4DB2-BD59-A6C34878D82A}">
                    <a16:rowId xmlns:a16="http://schemas.microsoft.com/office/drawing/2014/main" val="32389172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Proximal</a:t>
                      </a:r>
                      <a:r>
                        <a:rPr lang="en-US" sz="1600" dirty="0"/>
                        <a:t> (PROK-</a:t>
                      </a:r>
                      <a:r>
                        <a:rPr lang="en-US" sz="1600" dirty="0" err="1"/>
                        <a:t>si</a:t>
                      </a:r>
                      <a:r>
                        <a:rPr lang="en-US" sz="1600" dirty="0"/>
                        <a:t>-mal)</a:t>
                      </a:r>
                    </a:p>
                  </a:txBody>
                  <a:tcPr/>
                </a:tc>
                <a:tc>
                  <a:txBody>
                    <a:bodyPr/>
                    <a:lstStyle/>
                    <a:p>
                      <a:r>
                        <a:rPr lang="en-US" sz="1600" dirty="0"/>
                        <a:t>Nearer to the attachment of a limb to the trunk; nearer to the origination of a structure.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 </a:t>
                      </a:r>
                      <a:r>
                        <a:rPr lang="en-US" sz="1600" dirty="0" err="1"/>
                        <a:t>humerus</a:t>
                      </a:r>
                      <a:r>
                        <a:rPr lang="en-US" sz="1600" dirty="0"/>
                        <a:t> (arm bone) is proximal to the radius.</a:t>
                      </a:r>
                    </a:p>
                  </a:txBody>
                  <a:tcPr/>
                </a:tc>
                <a:extLst>
                  <a:ext uri="{0D108BD9-81ED-4DB2-BD59-A6C34878D82A}">
                    <a16:rowId xmlns:a16="http://schemas.microsoft.com/office/drawing/2014/main" val="2937245934"/>
                  </a:ext>
                </a:extLst>
              </a:tr>
            </a:tbl>
          </a:graphicData>
        </a:graphic>
      </p:graphicFrame>
    </p:spTree>
    <p:extLst>
      <p:ext uri="{BB962C8B-B14F-4D97-AF65-F5344CB8AC3E}">
        <p14:creationId xmlns:p14="http://schemas.microsoft.com/office/powerpoint/2010/main" val="3058457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a:xfrm>
            <a:off x="304800" y="479197"/>
            <a:ext cx="8534400" cy="838199"/>
          </a:xfrm>
        </p:spPr>
        <p:txBody>
          <a:bodyPr/>
          <a:lstStyle/>
          <a:p>
            <a:r>
              <a:rPr lang="en-US" dirty="0">
                <a:latin typeface="Calibri" panose="020F0502020204030204" pitchFamily="34" charset="0"/>
                <a:cs typeface="Calibri" panose="020F0502020204030204" pitchFamily="34" charset="0"/>
              </a:rPr>
              <a:t>Directional Terms </a:t>
            </a:r>
            <a:endParaRPr lang="en-US" sz="20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DCE8217F-FF83-43BE-8395-3891319AC5B8}"/>
              </a:ext>
            </a:extLst>
          </p:cNvPr>
          <p:cNvGraphicFramePr>
            <a:graphicFrameLocks noGrp="1"/>
          </p:cNvGraphicFramePr>
          <p:nvPr>
            <p:ph sz="quarter" idx="16"/>
            <p:extLst>
              <p:ext uri="{D42A27DB-BD31-4B8C-83A1-F6EECF244321}">
                <p14:modId xmlns:p14="http://schemas.microsoft.com/office/powerpoint/2010/main" val="3767959157"/>
              </p:ext>
            </p:extLst>
          </p:nvPr>
        </p:nvGraphicFramePr>
        <p:xfrm>
          <a:off x="427928" y="1647570"/>
          <a:ext cx="8288145" cy="2352040"/>
        </p:xfrm>
        <a:graphic>
          <a:graphicData uri="http://schemas.openxmlformats.org/drawingml/2006/table">
            <a:tbl>
              <a:tblPr firstRow="1" bandRow="1">
                <a:tableStyleId>{69012ECD-51FC-41F1-AA8D-1B2483CD663E}</a:tableStyleId>
              </a:tblPr>
              <a:tblGrid>
                <a:gridCol w="2161726">
                  <a:extLst>
                    <a:ext uri="{9D8B030D-6E8A-4147-A177-3AD203B41FA5}">
                      <a16:colId xmlns:a16="http://schemas.microsoft.com/office/drawing/2014/main" val="3172013286"/>
                    </a:ext>
                  </a:extLst>
                </a:gridCol>
                <a:gridCol w="3044415">
                  <a:extLst>
                    <a:ext uri="{9D8B030D-6E8A-4147-A177-3AD203B41FA5}">
                      <a16:colId xmlns:a16="http://schemas.microsoft.com/office/drawing/2014/main" val="1248631920"/>
                    </a:ext>
                  </a:extLst>
                </a:gridCol>
                <a:gridCol w="3082004">
                  <a:extLst>
                    <a:ext uri="{9D8B030D-6E8A-4147-A177-3AD203B41FA5}">
                      <a16:colId xmlns:a16="http://schemas.microsoft.com/office/drawing/2014/main" val="702425350"/>
                    </a:ext>
                  </a:extLst>
                </a:gridCol>
              </a:tblGrid>
              <a:tr h="370840">
                <a:tc>
                  <a:txBody>
                    <a:bodyPr/>
                    <a:lstStyle/>
                    <a:p>
                      <a:r>
                        <a:rPr lang="en-US" sz="1600" b="1" dirty="0"/>
                        <a:t>Directional term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Definition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Example of Use</a:t>
                      </a:r>
                    </a:p>
                  </a:txBody>
                  <a:tcPr/>
                </a:tc>
                <a:extLst>
                  <a:ext uri="{0D108BD9-81ED-4DB2-BD59-A6C34878D82A}">
                    <a16:rowId xmlns:a16="http://schemas.microsoft.com/office/drawing/2014/main" val="2895035406"/>
                  </a:ext>
                </a:extLst>
              </a:tr>
              <a:tr h="2764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Distal</a:t>
                      </a:r>
                      <a:r>
                        <a:rPr lang="en-US" sz="1600" b="0" dirty="0"/>
                        <a:t> (</a:t>
                      </a:r>
                      <a:r>
                        <a:rPr lang="en-US" sz="1600" b="0" dirty="0" err="1"/>
                        <a:t>DlS-tal</a:t>
                      </a:r>
                      <a:r>
                        <a:rPr lang="en-US" sz="1600" b="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Farther from the attachment of a limb to the trunk; farther from the origination of a structure.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The phalanges (finger bones) are distal to the carpals (wrist bones).</a:t>
                      </a:r>
                    </a:p>
                  </a:txBody>
                  <a:tcPr/>
                </a:tc>
                <a:extLst>
                  <a:ext uri="{0D108BD9-81ED-4DB2-BD59-A6C34878D82A}">
                    <a16:rowId xmlns:a16="http://schemas.microsoft.com/office/drawing/2014/main" val="2904184368"/>
                  </a:ext>
                </a:extLst>
              </a:tr>
              <a:tr h="343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Superficial</a:t>
                      </a:r>
                      <a:r>
                        <a:rPr lang="en-US" sz="1600" b="0" dirty="0"/>
                        <a:t> (</a:t>
                      </a:r>
                      <a:r>
                        <a:rPr lang="en-US" sz="1600" b="0" dirty="0" err="1"/>
                        <a:t>soo</a:t>
                      </a:r>
                      <a:r>
                        <a:rPr lang="en-US" sz="1600" b="0" dirty="0"/>
                        <a:t>'-per-FISH-al) (</a:t>
                      </a:r>
                      <a:r>
                        <a:rPr lang="en-US" sz="1600" b="0" i="1" dirty="0"/>
                        <a:t>external</a:t>
                      </a:r>
                      <a:r>
                        <a:rPr lang="en-US" sz="1600" b="0" dirty="0"/>
                        <a:t>)</a:t>
                      </a:r>
                    </a:p>
                  </a:txBody>
                  <a:tcPr/>
                </a:tc>
                <a:tc>
                  <a:txBody>
                    <a:bodyPr/>
                    <a:lstStyle/>
                    <a:p>
                      <a:r>
                        <a:rPr lang="en-US" sz="1600" b="0" dirty="0"/>
                        <a:t>Toward or on the surface of the body.</a:t>
                      </a:r>
                      <a:endParaRPr lang="en-US" sz="1600" dirty="0"/>
                    </a:p>
                  </a:txBody>
                  <a:tcPr/>
                </a:tc>
                <a:tc>
                  <a:txBody>
                    <a:bodyPr/>
                    <a:lstStyle/>
                    <a:p>
                      <a:r>
                        <a:rPr lang="en-US" sz="1600" b="0" dirty="0"/>
                        <a:t>The ribs are superficial to the lungs.</a:t>
                      </a:r>
                      <a:endParaRPr lang="en-US" sz="1600" dirty="0"/>
                    </a:p>
                  </a:txBody>
                  <a:tcPr/>
                </a:tc>
                <a:extLst>
                  <a:ext uri="{0D108BD9-81ED-4DB2-BD59-A6C34878D82A}">
                    <a16:rowId xmlns:a16="http://schemas.microsoft.com/office/drawing/2014/main" val="3586518169"/>
                  </a:ext>
                </a:extLst>
              </a:tr>
              <a:tr h="370840">
                <a:tc>
                  <a:txBody>
                    <a:bodyPr/>
                    <a:lstStyle/>
                    <a:p>
                      <a:r>
                        <a:rPr lang="en-US" sz="1600" b="1" dirty="0"/>
                        <a:t>Deep</a:t>
                      </a:r>
                      <a:r>
                        <a:rPr lang="en-US" sz="1600" b="0" dirty="0"/>
                        <a:t> (</a:t>
                      </a:r>
                      <a:r>
                        <a:rPr lang="en-US" sz="1600" b="0" i="1" dirty="0"/>
                        <a:t>Internal</a:t>
                      </a:r>
                      <a:r>
                        <a:rPr lang="en-US" sz="1600" b="0" dirty="0"/>
                        <a:t>) </a:t>
                      </a:r>
                      <a:endParaRPr lang="en-US" sz="1600" dirty="0"/>
                    </a:p>
                  </a:txBody>
                  <a:tcPr/>
                </a:tc>
                <a:tc>
                  <a:txBody>
                    <a:bodyPr/>
                    <a:lstStyle/>
                    <a:p>
                      <a:r>
                        <a:rPr lang="en-US" sz="1600" b="0" dirty="0"/>
                        <a:t>Away from the surface of the body.</a:t>
                      </a:r>
                      <a:endParaRPr lang="en-US" sz="1600" dirty="0"/>
                    </a:p>
                  </a:txBody>
                  <a:tcPr/>
                </a:tc>
                <a:tc>
                  <a:txBody>
                    <a:bodyPr/>
                    <a:lstStyle/>
                    <a:p>
                      <a:r>
                        <a:rPr lang="en-US" sz="1600" b="0" dirty="0"/>
                        <a:t>The ribs are deep to the skin of the chest and back.</a:t>
                      </a:r>
                      <a:endParaRPr lang="en-US" sz="1600" dirty="0"/>
                    </a:p>
                  </a:txBody>
                  <a:tcPr/>
                </a:tc>
                <a:extLst>
                  <a:ext uri="{0D108BD9-81ED-4DB2-BD59-A6C34878D82A}">
                    <a16:rowId xmlns:a16="http://schemas.microsoft.com/office/drawing/2014/main" val="1899596728"/>
                  </a:ext>
                </a:extLst>
              </a:tr>
            </a:tbl>
          </a:graphicData>
        </a:graphic>
      </p:graphicFrame>
      <p:sp>
        <p:nvSpPr>
          <p:cNvPr id="5" name="Content Placeholder 4">
            <a:extLst>
              <a:ext uri="{FF2B5EF4-FFF2-40B4-BE49-F238E27FC236}">
                <a16:creationId xmlns:a16="http://schemas.microsoft.com/office/drawing/2014/main" id="{34119A96-57DF-4457-8758-C8545E9EF89C}"/>
              </a:ext>
            </a:extLst>
          </p:cNvPr>
          <p:cNvSpPr>
            <a:spLocks noGrp="1"/>
          </p:cNvSpPr>
          <p:nvPr>
            <p:ph sz="quarter" idx="17"/>
          </p:nvPr>
        </p:nvSpPr>
        <p:spPr>
          <a:xfrm>
            <a:off x="498212" y="4709921"/>
            <a:ext cx="8235885" cy="1211223"/>
          </a:xfrm>
        </p:spPr>
        <p:txBody>
          <a:bodyPr/>
          <a:lstStyle/>
          <a:p>
            <a:pPr>
              <a:lnSpc>
                <a:spcPct val="100000"/>
              </a:lnSpc>
            </a:pPr>
            <a:r>
              <a:rPr lang="en-US" sz="1800" dirty="0">
                <a:solidFill>
                  <a:srgbClr val="000000"/>
                </a:solidFill>
                <a:latin typeface="Calibri" panose="020F0502020204030204" pitchFamily="34" charset="0"/>
                <a:cs typeface="Calibri" panose="020F0502020204030204" pitchFamily="34" charset="0"/>
              </a:rPr>
              <a:t>*Note that the terms </a:t>
            </a:r>
            <a:r>
              <a:rPr lang="en-US" sz="1800" i="1" dirty="0">
                <a:solidFill>
                  <a:srgbClr val="000000"/>
                </a:solidFill>
                <a:latin typeface="Calibri" panose="020F0502020204030204" pitchFamily="34" charset="0"/>
                <a:cs typeface="Calibri" panose="020F0502020204030204" pitchFamily="34" charset="0"/>
              </a:rPr>
              <a:t>anterior</a:t>
            </a:r>
            <a:r>
              <a:rPr lang="en-US" sz="1800" dirty="0">
                <a:solidFill>
                  <a:srgbClr val="000000"/>
                </a:solidFill>
                <a:latin typeface="Calibri" panose="020F0502020204030204" pitchFamily="34" charset="0"/>
                <a:cs typeface="Calibri" panose="020F0502020204030204" pitchFamily="34" charset="0"/>
              </a:rPr>
              <a:t> and </a:t>
            </a:r>
            <a:r>
              <a:rPr lang="en-US" sz="1800" i="1" dirty="0">
                <a:solidFill>
                  <a:srgbClr val="000000"/>
                </a:solidFill>
                <a:latin typeface="Calibri" panose="020F0502020204030204" pitchFamily="34" charset="0"/>
                <a:cs typeface="Calibri" panose="020F0502020204030204" pitchFamily="34" charset="0"/>
              </a:rPr>
              <a:t>ventral</a:t>
            </a:r>
            <a:r>
              <a:rPr lang="en-US" sz="1800" dirty="0">
                <a:solidFill>
                  <a:srgbClr val="000000"/>
                </a:solidFill>
                <a:latin typeface="Calibri" panose="020F0502020204030204" pitchFamily="34" charset="0"/>
                <a:cs typeface="Calibri" panose="020F0502020204030204" pitchFamily="34" charset="0"/>
              </a:rPr>
              <a:t> mean the same thing in humans. However, in four-legged animals ventral refers to the belly side and is therefore </a:t>
            </a:r>
            <a:r>
              <a:rPr lang="en-US" sz="1800" i="1" dirty="0">
                <a:solidFill>
                  <a:srgbClr val="000000"/>
                </a:solidFill>
                <a:latin typeface="Calibri" panose="020F0502020204030204" pitchFamily="34" charset="0"/>
                <a:cs typeface="Calibri" panose="020F0502020204030204" pitchFamily="34" charset="0"/>
              </a:rPr>
              <a:t>inferior</a:t>
            </a:r>
            <a:r>
              <a:rPr lang="en-US" sz="1800" dirty="0">
                <a:solidFill>
                  <a:srgbClr val="000000"/>
                </a:solidFill>
                <a:latin typeface="Calibri" panose="020F0502020204030204" pitchFamily="34" charset="0"/>
                <a:cs typeface="Calibri" panose="020F0502020204030204" pitchFamily="34" charset="0"/>
              </a:rPr>
              <a:t>. Similarly, the terms </a:t>
            </a:r>
            <a:r>
              <a:rPr lang="en-US" sz="1800" i="1" dirty="0">
                <a:solidFill>
                  <a:srgbClr val="000000"/>
                </a:solidFill>
                <a:latin typeface="Calibri" panose="020F0502020204030204" pitchFamily="34" charset="0"/>
                <a:cs typeface="Calibri" panose="020F0502020204030204" pitchFamily="34" charset="0"/>
              </a:rPr>
              <a:t>posterior</a:t>
            </a:r>
            <a:r>
              <a:rPr lang="en-US" sz="1800" dirty="0">
                <a:solidFill>
                  <a:srgbClr val="000000"/>
                </a:solidFill>
                <a:latin typeface="Calibri" panose="020F0502020204030204" pitchFamily="34" charset="0"/>
                <a:cs typeface="Calibri" panose="020F0502020204030204" pitchFamily="34" charset="0"/>
              </a:rPr>
              <a:t> and </a:t>
            </a:r>
            <a:r>
              <a:rPr lang="en-US" sz="1800" i="1" dirty="0">
                <a:solidFill>
                  <a:srgbClr val="000000"/>
                </a:solidFill>
                <a:latin typeface="Calibri" panose="020F0502020204030204" pitchFamily="34" charset="0"/>
                <a:cs typeface="Calibri" panose="020F0502020204030204" pitchFamily="34" charset="0"/>
              </a:rPr>
              <a:t>dorsal</a:t>
            </a:r>
            <a:r>
              <a:rPr lang="en-US" sz="1800" dirty="0">
                <a:solidFill>
                  <a:srgbClr val="000000"/>
                </a:solidFill>
                <a:latin typeface="Calibri" panose="020F0502020204030204" pitchFamily="34" charset="0"/>
                <a:cs typeface="Calibri" panose="020F0502020204030204" pitchFamily="34" charset="0"/>
              </a:rPr>
              <a:t> mean the same thing in humans, but in four-legged animals </a:t>
            </a:r>
            <a:r>
              <a:rPr lang="en-US" sz="1800" i="1" dirty="0">
                <a:solidFill>
                  <a:srgbClr val="000000"/>
                </a:solidFill>
                <a:latin typeface="Calibri" panose="020F0502020204030204" pitchFamily="34" charset="0"/>
                <a:cs typeface="Calibri" panose="020F0502020204030204" pitchFamily="34" charset="0"/>
              </a:rPr>
              <a:t>dorsal</a:t>
            </a:r>
            <a:r>
              <a:rPr lang="en-US" sz="1800" dirty="0">
                <a:solidFill>
                  <a:srgbClr val="000000"/>
                </a:solidFill>
                <a:latin typeface="Calibri" panose="020F0502020204030204" pitchFamily="34" charset="0"/>
                <a:cs typeface="Calibri" panose="020F0502020204030204" pitchFamily="34" charset="0"/>
              </a:rPr>
              <a:t> refers to the back side and is therefore </a:t>
            </a:r>
            <a:r>
              <a:rPr lang="en-US" sz="1800" i="1" dirty="0">
                <a:solidFill>
                  <a:srgbClr val="000000"/>
                </a:solidFill>
                <a:latin typeface="Calibri" panose="020F0502020204030204" pitchFamily="34" charset="0"/>
                <a:cs typeface="Calibri" panose="020F0502020204030204" pitchFamily="34" charset="0"/>
              </a:rPr>
              <a:t>superior</a:t>
            </a:r>
            <a:r>
              <a:rPr lang="en-US" sz="1800" dirty="0">
                <a:solidFill>
                  <a:srgbClr val="000000"/>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2725430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Planes and Sections</a:t>
            </a:r>
          </a:p>
        </p:txBody>
      </p:sp>
      <p:sp>
        <p:nvSpPr>
          <p:cNvPr id="7" name="Content Placeholder 6">
            <a:extLst>
              <a:ext uri="{FF2B5EF4-FFF2-40B4-BE49-F238E27FC236}">
                <a16:creationId xmlns:a16="http://schemas.microsoft.com/office/drawing/2014/main" id="{3A47C52F-38BC-4530-8892-4EC0D995CBAF}"/>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Flat surface along which body structure is cut for anatomical study </a:t>
            </a:r>
          </a:p>
          <a:p>
            <a:pPr marL="457200" indent="-4572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Sagittal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Divides body vertically into left and right sides </a:t>
            </a:r>
          </a:p>
          <a:p>
            <a:pPr marL="1600200" lvl="2"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Midsagittal/median</a:t>
            </a:r>
          </a:p>
          <a:p>
            <a:pPr marL="2057400" lvl="3" indent="-457200">
              <a:buFont typeface="Arial" panose="020B0604020202020204" pitchFamily="34" charset="0"/>
              <a:buChar char="•"/>
            </a:pPr>
            <a:r>
              <a:rPr lang="en-US" sz="2000" dirty="0">
                <a:latin typeface="Calibri" panose="020F0502020204030204" pitchFamily="34" charset="0"/>
                <a:cs typeface="Calibri" panose="020F0502020204030204" pitchFamily="34" charset="0"/>
              </a:rPr>
              <a:t>Lies on midline; equal left and right sides  </a:t>
            </a:r>
          </a:p>
          <a:p>
            <a:pPr marL="1600200" lvl="2"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Parasagittal/paramedian </a:t>
            </a:r>
          </a:p>
          <a:p>
            <a:pPr marL="2057400" lvl="3" indent="-457200">
              <a:buFont typeface="Arial" panose="020B0604020202020204" pitchFamily="34" charset="0"/>
              <a:buChar char="•"/>
            </a:pPr>
            <a:r>
              <a:rPr lang="en-US" sz="2000" dirty="0">
                <a:latin typeface="Calibri" panose="020F0502020204030204" pitchFamily="34" charset="0"/>
                <a:cs typeface="Calibri" panose="020F0502020204030204" pitchFamily="34" charset="0"/>
              </a:rPr>
              <a:t>Not on midline; unequal left and right sides </a:t>
            </a:r>
          </a:p>
          <a:p>
            <a:pPr marL="457200" indent="-4572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3592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Planes and Sections</a:t>
            </a:r>
          </a:p>
        </p:txBody>
      </p:sp>
      <p:sp>
        <p:nvSpPr>
          <p:cNvPr id="7" name="Content Placeholder 6">
            <a:extLst>
              <a:ext uri="{FF2B5EF4-FFF2-40B4-BE49-F238E27FC236}">
                <a16:creationId xmlns:a16="http://schemas.microsoft.com/office/drawing/2014/main" id="{3A47C52F-38BC-4530-8892-4EC0D995CBAF}"/>
              </a:ext>
            </a:extLst>
          </p:cNvPr>
          <p:cNvSpPr>
            <a:spLocks noGrp="1"/>
          </p:cNvSpPr>
          <p:nvPr>
            <p:ph sz="quarter" idx="16"/>
          </p:nvPr>
        </p:nvSpPr>
        <p:spPr>
          <a:xfrm>
            <a:off x="304800" y="1600200"/>
            <a:ext cx="8715632" cy="4495798"/>
          </a:xfrm>
        </p:spPr>
        <p:txBody>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Frontal/coronal</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Divides body vertically into anterior and posterior sections</a:t>
            </a:r>
            <a:r>
              <a:rPr lang="en-US" dirty="0">
                <a:latin typeface="Calibri" panose="020F0502020204030204" pitchFamily="34" charset="0"/>
                <a:cs typeface="Calibri" panose="020F0502020204030204" pitchFamily="34" charset="0"/>
              </a:rPr>
              <a:t>  </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Transverse/horizontal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Divides body horizontally into superior and inferior sections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Produces a cross section </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Oblique</a:t>
            </a:r>
            <a:r>
              <a:rPr lang="en-US" dirty="0">
                <a:latin typeface="Calibri" panose="020F0502020204030204" pitchFamily="34" charset="0"/>
                <a:cs typeface="Calibri" panose="020F0502020204030204" pitchFamily="34" charset="0"/>
              </a:rPr>
              <a:t> </a:t>
            </a:r>
          </a:p>
          <a:p>
            <a:pPr marL="1143000" lvl="1" indent="-457200">
              <a:buFont typeface="Arial" panose="020B0604020202020204" pitchFamily="34" charset="0"/>
              <a:buChar char="•"/>
            </a:pPr>
            <a:r>
              <a:rPr lang="en-US" sz="2800" dirty="0">
                <a:latin typeface="Calibri" panose="020F0502020204030204" pitchFamily="34" charset="0"/>
                <a:cs typeface="Calibri" panose="020F0502020204030204" pitchFamily="34" charset="0"/>
              </a:rPr>
              <a:t>Cuts made diagonally </a:t>
            </a:r>
          </a:p>
          <a:p>
            <a:pPr marL="457200" indent="-4572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44379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Planes and Sections</a:t>
            </a:r>
          </a:p>
        </p:txBody>
      </p:sp>
      <p:pic>
        <p:nvPicPr>
          <p:cNvPr id="6" name="Content Placeholder 7" descr="A diagram shows a female body in anterolateral view to illustrate the planes used to divide the body into sections. The transverse plane divides the body from the middle into the upper body which consists of the chest, arms, and head; and the lower body which consists of the abdomen and the legs. The coronal plane divides the body into anterior and posterior portions. The paramedian plane, that does not pass through the midline, divides the body into two unequal right and left sides. The median plane divides the body at the midline into two equal right and left sides. An oblique plane divides the body at any angle other than 90 degrees.">
            <a:extLst>
              <a:ext uri="{FF2B5EF4-FFF2-40B4-BE49-F238E27FC236}">
                <a16:creationId xmlns:a16="http://schemas.microsoft.com/office/drawing/2014/main" id="{07C0C169-0F33-4440-9384-FB9F09674BB7}"/>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304800" y="1396314"/>
            <a:ext cx="4044778" cy="4807636"/>
          </a:xfrm>
          <a:prstGeom prst="rect">
            <a:avLst/>
          </a:prstGeom>
        </p:spPr>
      </p:pic>
      <p:pic>
        <p:nvPicPr>
          <p:cNvPr id="3" name="Content Placeholder 2">
            <a:extLst>
              <a:ext uri="{FF2B5EF4-FFF2-40B4-BE49-F238E27FC236}">
                <a16:creationId xmlns:a16="http://schemas.microsoft.com/office/drawing/2014/main" id="{CFE88400-9192-4521-983A-8F23E0BC18C7}"/>
              </a:ext>
            </a:extLst>
          </p:cNvPr>
          <p:cNvPicPr>
            <a:picLocks noGrp="1" noChangeAspect="1"/>
          </p:cNvPicPr>
          <p:nvPr>
            <p:ph sz="quarter" idx="17"/>
          </p:nvPr>
        </p:nvPicPr>
        <p:blipFill>
          <a:blip r:embed="rId3"/>
          <a:stretch>
            <a:fillRect/>
          </a:stretch>
        </p:blipFill>
        <p:spPr>
          <a:xfrm>
            <a:off x="4794424" y="1396314"/>
            <a:ext cx="4044776" cy="4807636"/>
          </a:xfrm>
          <a:prstGeom prst="rect">
            <a:avLst/>
          </a:prstGeom>
        </p:spPr>
      </p:pic>
    </p:spTree>
    <p:extLst>
      <p:ext uri="{BB962C8B-B14F-4D97-AF65-F5344CB8AC3E}">
        <p14:creationId xmlns:p14="http://schemas.microsoft.com/office/powerpoint/2010/main" val="3129340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Body Cavities</a:t>
            </a:r>
          </a:p>
        </p:txBody>
      </p:sp>
      <p:sp>
        <p:nvSpPr>
          <p:cNvPr id="4" name="Content Placeholder 3">
            <a:extLst>
              <a:ext uri="{FF2B5EF4-FFF2-40B4-BE49-F238E27FC236}">
                <a16:creationId xmlns:a16="http://schemas.microsoft.com/office/drawing/2014/main" id="{3EA59D8D-030F-4B00-9B3A-5C678AC1442C}"/>
              </a:ext>
            </a:extLst>
          </p:cNvPr>
          <p:cNvSpPr>
            <a:spLocks noGrp="1"/>
          </p:cNvSpPr>
          <p:nvPr>
            <p:ph sz="quarter" idx="16"/>
          </p:nvPr>
        </p:nvSpPr>
        <p:spPr/>
        <p:txBody>
          <a:bodyPr/>
          <a:lstStyle/>
          <a:p>
            <a:pPr marL="457200" indent="-457200">
              <a:buFont typeface="Arial" panose="020B0604020202020204" pitchFamily="34" charset="0"/>
              <a:buChar char="•"/>
            </a:pPr>
            <a:r>
              <a:rPr lang="en-US" sz="3200" dirty="0"/>
              <a:t>Dorsal cavity </a:t>
            </a:r>
          </a:p>
          <a:p>
            <a:pPr marL="1143000" lvl="1" indent="-457200">
              <a:buFont typeface="Arial" panose="020B0604020202020204" pitchFamily="34" charset="0"/>
              <a:buChar char="•"/>
            </a:pPr>
            <a:r>
              <a:rPr lang="en-US" sz="2800" dirty="0"/>
              <a:t>Protects nervous system </a:t>
            </a:r>
          </a:p>
          <a:p>
            <a:pPr marL="1143000" lvl="1" indent="-457200">
              <a:buFont typeface="Arial" panose="020B0604020202020204" pitchFamily="34" charset="0"/>
              <a:buChar char="•"/>
            </a:pPr>
            <a:endParaRPr lang="en-US" sz="2800" dirty="0"/>
          </a:p>
          <a:p>
            <a:pPr marL="1143000" lvl="1" indent="-457200">
              <a:buFont typeface="Arial" panose="020B0604020202020204" pitchFamily="34" charset="0"/>
              <a:buChar char="•"/>
            </a:pPr>
            <a:r>
              <a:rPr lang="en-US" sz="2800" dirty="0"/>
              <a:t>Two subdivisions:</a:t>
            </a:r>
          </a:p>
          <a:p>
            <a:pPr marL="1600200" lvl="2" indent="-457200">
              <a:buFont typeface="Arial" panose="020B0604020202020204" pitchFamily="34" charset="0"/>
              <a:buChar char="•"/>
            </a:pPr>
            <a:r>
              <a:rPr lang="en-US" sz="2400" dirty="0"/>
              <a:t>Cranial cavity </a:t>
            </a:r>
          </a:p>
          <a:p>
            <a:pPr marL="2057400" lvl="3" indent="-457200">
              <a:buFont typeface="Arial" panose="020B0604020202020204" pitchFamily="34" charset="0"/>
              <a:buChar char="•"/>
            </a:pPr>
            <a:r>
              <a:rPr lang="en-US" sz="2400" dirty="0"/>
              <a:t>Encases brain </a:t>
            </a:r>
          </a:p>
          <a:p>
            <a:pPr marL="1600200" lvl="2" indent="-457200">
              <a:buFont typeface="Arial" panose="020B0604020202020204" pitchFamily="34" charset="0"/>
              <a:buChar char="•"/>
            </a:pPr>
            <a:r>
              <a:rPr lang="en-US" sz="2400" dirty="0"/>
              <a:t>Vertebral cavity </a:t>
            </a:r>
          </a:p>
          <a:p>
            <a:pPr marL="2057400" lvl="3" indent="-457200">
              <a:buFont typeface="Arial" panose="020B0604020202020204" pitchFamily="34" charset="0"/>
              <a:buChar char="•"/>
            </a:pPr>
            <a:r>
              <a:rPr lang="en-US" sz="2400" dirty="0"/>
              <a:t>Encases spinal cord </a:t>
            </a:r>
          </a:p>
        </p:txBody>
      </p:sp>
      <p:sp>
        <p:nvSpPr>
          <p:cNvPr id="6" name="Content Placeholder 5">
            <a:extLst>
              <a:ext uri="{FF2B5EF4-FFF2-40B4-BE49-F238E27FC236}">
                <a16:creationId xmlns:a16="http://schemas.microsoft.com/office/drawing/2014/main" id="{E31C0678-A0AF-4A44-8583-6F0B41F8809B}"/>
              </a:ext>
            </a:extLst>
          </p:cNvPr>
          <p:cNvSpPr>
            <a:spLocks noGrp="1"/>
          </p:cNvSpPr>
          <p:nvPr>
            <p:ph sz="quarter" idx="17"/>
          </p:nvPr>
        </p:nvSpPr>
        <p:spPr/>
        <p:txBody>
          <a:bodyPr/>
          <a:lstStyle/>
          <a:p>
            <a:pPr marL="457200" indent="-457200">
              <a:buFont typeface="Arial" panose="020B0604020202020204" pitchFamily="34" charset="0"/>
              <a:buChar char="•"/>
            </a:pPr>
            <a:r>
              <a:rPr lang="en-US" sz="3200" dirty="0"/>
              <a:t>Ventral cavity </a:t>
            </a:r>
          </a:p>
          <a:p>
            <a:pPr marL="1143000" lvl="1" indent="-457200">
              <a:buFont typeface="Arial" panose="020B0604020202020204" pitchFamily="34" charset="0"/>
              <a:buChar char="•"/>
            </a:pPr>
            <a:r>
              <a:rPr lang="en-US" sz="2800" dirty="0"/>
              <a:t>Houses internal organs (viscera)</a:t>
            </a:r>
          </a:p>
          <a:p>
            <a:pPr marL="1143000" lvl="1" indent="-457200">
              <a:buFont typeface="Arial" panose="020B0604020202020204" pitchFamily="34" charset="0"/>
              <a:buChar char="•"/>
            </a:pPr>
            <a:endParaRPr lang="en-US" sz="2800" dirty="0"/>
          </a:p>
          <a:p>
            <a:pPr marL="1143000" lvl="1" indent="-457200">
              <a:buFont typeface="Arial" panose="020B0604020202020204" pitchFamily="34" charset="0"/>
              <a:buChar char="•"/>
            </a:pPr>
            <a:r>
              <a:rPr lang="en-US" sz="2800" dirty="0"/>
              <a:t>Two subdivisions (separated by diaphragm)</a:t>
            </a:r>
          </a:p>
          <a:p>
            <a:pPr marL="1600200" lvl="2" indent="-457200">
              <a:buFont typeface="Arial" panose="020B0604020202020204" pitchFamily="34" charset="0"/>
              <a:buChar char="•"/>
            </a:pPr>
            <a:r>
              <a:rPr lang="en-US" sz="2400" dirty="0"/>
              <a:t>Thoracic cavity </a:t>
            </a:r>
          </a:p>
          <a:p>
            <a:pPr marL="1600200" lvl="2" indent="-457200">
              <a:buFont typeface="Arial" panose="020B0604020202020204" pitchFamily="34" charset="0"/>
              <a:buChar char="•"/>
            </a:pPr>
            <a:r>
              <a:rPr lang="en-US" sz="2400" dirty="0"/>
              <a:t>Abdominopelvic cavity </a:t>
            </a:r>
          </a:p>
        </p:txBody>
      </p:sp>
    </p:spTree>
    <p:extLst>
      <p:ext uri="{BB962C8B-B14F-4D97-AF65-F5344CB8AC3E}">
        <p14:creationId xmlns:p14="http://schemas.microsoft.com/office/powerpoint/2010/main" val="2441482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a:xfrm>
            <a:off x="304800" y="481915"/>
            <a:ext cx="8534400" cy="580766"/>
          </a:xfrm>
        </p:spPr>
        <p:txBody>
          <a:bodyPr>
            <a:normAutofit fontScale="90000"/>
          </a:bodyPr>
          <a:lstStyle/>
          <a:p>
            <a:r>
              <a:rPr lang="en-US" dirty="0">
                <a:latin typeface="Calibri" panose="020F0502020204030204" pitchFamily="34" charset="0"/>
                <a:cs typeface="Calibri" panose="020F0502020204030204" pitchFamily="34" charset="0"/>
              </a:rPr>
              <a:t>Ventral Cavities</a:t>
            </a:r>
          </a:p>
        </p:txBody>
      </p:sp>
      <p:sp>
        <p:nvSpPr>
          <p:cNvPr id="4" name="Content Placeholder 3">
            <a:extLst>
              <a:ext uri="{FF2B5EF4-FFF2-40B4-BE49-F238E27FC236}">
                <a16:creationId xmlns:a16="http://schemas.microsoft.com/office/drawing/2014/main" id="{3EA59D8D-030F-4B00-9B3A-5C678AC1442C}"/>
              </a:ext>
            </a:extLst>
          </p:cNvPr>
          <p:cNvSpPr>
            <a:spLocks noGrp="1"/>
          </p:cNvSpPr>
          <p:nvPr>
            <p:ph sz="quarter" idx="16"/>
          </p:nvPr>
        </p:nvSpPr>
        <p:spPr>
          <a:xfrm>
            <a:off x="304800" y="1334530"/>
            <a:ext cx="4114800" cy="4869420"/>
          </a:xfrm>
        </p:spPr>
        <p:txBody>
          <a:bodyPr/>
          <a:lstStyle/>
          <a:p>
            <a:pPr marL="457200" indent="-457200">
              <a:buFont typeface="Arial" panose="020B0604020202020204" pitchFamily="34" charset="0"/>
              <a:buChar char="•"/>
            </a:pPr>
            <a:r>
              <a:rPr lang="en-US" sz="3200" dirty="0"/>
              <a:t>Thoracic cavity subdivisions:</a:t>
            </a:r>
          </a:p>
          <a:p>
            <a:pPr marL="1143000" lvl="1" indent="-457200">
              <a:buFont typeface="Arial" panose="020B0604020202020204" pitchFamily="34" charset="0"/>
              <a:buChar char="•"/>
            </a:pPr>
            <a:r>
              <a:rPr lang="en-US" dirty="0"/>
              <a:t>Two pleural cavities</a:t>
            </a:r>
          </a:p>
          <a:p>
            <a:pPr marL="1600200" lvl="2" indent="-457200">
              <a:buFont typeface="Arial" panose="020B0604020202020204" pitchFamily="34" charset="0"/>
              <a:buChar char="•"/>
            </a:pPr>
            <a:r>
              <a:rPr lang="en-US" dirty="0"/>
              <a:t>Each houses a lung  </a:t>
            </a:r>
          </a:p>
          <a:p>
            <a:pPr marL="1143000" lvl="1" indent="-457200">
              <a:buFont typeface="Arial" panose="020B0604020202020204" pitchFamily="34" charset="0"/>
              <a:buChar char="•"/>
            </a:pPr>
            <a:endParaRPr lang="en-US" dirty="0"/>
          </a:p>
          <a:p>
            <a:pPr marL="1143000" lvl="1" indent="-457200">
              <a:buFont typeface="Arial" panose="020B0604020202020204" pitchFamily="34" charset="0"/>
              <a:buChar char="•"/>
            </a:pPr>
            <a:r>
              <a:rPr lang="en-US" dirty="0"/>
              <a:t>Mediastinum </a:t>
            </a:r>
          </a:p>
          <a:p>
            <a:pPr marL="1600200" lvl="2" indent="-457200">
              <a:buFont typeface="Arial" panose="020B0604020202020204" pitchFamily="34" charset="0"/>
              <a:buChar char="•"/>
            </a:pPr>
            <a:r>
              <a:rPr lang="en-US" dirty="0"/>
              <a:t>Pericardial cavity</a:t>
            </a:r>
          </a:p>
          <a:p>
            <a:pPr marL="2057400" lvl="3" indent="-457200">
              <a:buFont typeface="Arial" panose="020B0604020202020204" pitchFamily="34" charset="0"/>
              <a:buChar char="•"/>
            </a:pPr>
            <a:r>
              <a:rPr lang="en-US" dirty="0"/>
              <a:t>Encloses heart </a:t>
            </a:r>
          </a:p>
          <a:p>
            <a:pPr marL="1600200" lvl="2" indent="-457200">
              <a:buFont typeface="Arial" panose="020B0604020202020204" pitchFamily="34" charset="0"/>
              <a:buChar char="•"/>
            </a:pPr>
            <a:r>
              <a:rPr lang="en-US" dirty="0"/>
              <a:t>Surrounds thoracic organs</a:t>
            </a:r>
          </a:p>
          <a:p>
            <a:pPr marL="2057400" lvl="3" indent="-457200">
              <a:buFont typeface="Arial" panose="020B0604020202020204" pitchFamily="34" charset="0"/>
              <a:buChar char="•"/>
            </a:pPr>
            <a:r>
              <a:rPr lang="en-US" dirty="0"/>
              <a:t>Trachea, thyroid gland   </a:t>
            </a:r>
          </a:p>
        </p:txBody>
      </p:sp>
      <p:sp>
        <p:nvSpPr>
          <p:cNvPr id="6" name="Content Placeholder 5">
            <a:extLst>
              <a:ext uri="{FF2B5EF4-FFF2-40B4-BE49-F238E27FC236}">
                <a16:creationId xmlns:a16="http://schemas.microsoft.com/office/drawing/2014/main" id="{E31C0678-A0AF-4A44-8583-6F0B41F8809B}"/>
              </a:ext>
            </a:extLst>
          </p:cNvPr>
          <p:cNvSpPr>
            <a:spLocks noGrp="1"/>
          </p:cNvSpPr>
          <p:nvPr>
            <p:ph sz="quarter" idx="17"/>
          </p:nvPr>
        </p:nvSpPr>
        <p:spPr>
          <a:xfrm>
            <a:off x="4724400" y="1334530"/>
            <a:ext cx="4114800" cy="4869420"/>
          </a:xfrm>
        </p:spPr>
        <p:txBody>
          <a:bodyPr/>
          <a:lstStyle/>
          <a:p>
            <a:pPr marL="457200" indent="-457200">
              <a:buFont typeface="Arial" panose="020B0604020202020204" pitchFamily="34" charset="0"/>
              <a:buChar char="•"/>
            </a:pPr>
            <a:r>
              <a:rPr lang="en-US" sz="3200" dirty="0"/>
              <a:t>Abdominopelvic cavity subdivisions:</a:t>
            </a:r>
          </a:p>
          <a:p>
            <a:pPr marL="1143000" lvl="1" indent="-457200">
              <a:buFont typeface="Arial" panose="020B0604020202020204" pitchFamily="34" charset="0"/>
              <a:buChar char="•"/>
            </a:pPr>
            <a:r>
              <a:rPr lang="en-US" dirty="0"/>
              <a:t>Abdominal cavity</a:t>
            </a:r>
          </a:p>
          <a:p>
            <a:pPr marL="1600200" lvl="2" indent="-457200">
              <a:buFont typeface="Arial" panose="020B0604020202020204" pitchFamily="34" charset="0"/>
              <a:buChar char="•"/>
            </a:pPr>
            <a:r>
              <a:rPr lang="en-US" dirty="0"/>
              <a:t>Contains stomach, intestines, spleen, pancreas, liver  </a:t>
            </a:r>
          </a:p>
          <a:p>
            <a:pPr marL="1600200" lvl="2" indent="-457200">
              <a:buFont typeface="Arial" panose="020B0604020202020204" pitchFamily="34" charset="0"/>
              <a:buChar char="•"/>
            </a:pPr>
            <a:r>
              <a:rPr lang="en-US" dirty="0"/>
              <a:t>Most vulnerable to damage since it’s not surrounded by bone </a:t>
            </a:r>
          </a:p>
          <a:p>
            <a:pPr marL="1143000" lvl="1" indent="-457200">
              <a:buFont typeface="Arial" panose="020B0604020202020204" pitchFamily="34" charset="0"/>
              <a:buChar char="•"/>
            </a:pPr>
            <a:endParaRPr lang="en-US" dirty="0"/>
          </a:p>
          <a:p>
            <a:pPr marL="1143000" lvl="1" indent="-457200">
              <a:buFont typeface="Arial" panose="020B0604020202020204" pitchFamily="34" charset="0"/>
              <a:buChar char="•"/>
            </a:pPr>
            <a:r>
              <a:rPr lang="en-US" dirty="0"/>
              <a:t>Pelvic cavity </a:t>
            </a:r>
          </a:p>
          <a:p>
            <a:pPr marL="1600200" lvl="2" indent="-457200">
              <a:buFont typeface="Arial" panose="020B0604020202020204" pitchFamily="34" charset="0"/>
              <a:buChar char="•"/>
            </a:pPr>
            <a:r>
              <a:rPr lang="en-US" dirty="0"/>
              <a:t>Contains urinary bladder, reproductive organs, rectum </a:t>
            </a:r>
          </a:p>
        </p:txBody>
      </p:sp>
    </p:spTree>
    <p:extLst>
      <p:ext uri="{BB962C8B-B14F-4D97-AF65-F5344CB8AC3E}">
        <p14:creationId xmlns:p14="http://schemas.microsoft.com/office/powerpoint/2010/main" val="23588321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Body Cavities</a:t>
            </a:r>
          </a:p>
        </p:txBody>
      </p:sp>
      <p:pic>
        <p:nvPicPr>
          <p:cNvPr id="8" name="Content Placeholder 7" descr="Diagrams (a) and (b) illustrate the major body cavities in right later and anterior views, respectively. The cranial cavity is formed by cranial bones and contains brain. The vertebral canal is formed by the vertebral column and contains the spinal cord and the beginnings of spinal nerves. The thoracic cavity, or chest cavity, contains pleural and pericardial cavities and the mediastinum. The pleural cavity is a potential space between the layers of the pleura that surrounds a lung. The pericardial cavity is a potential space between the layers of the pericardium that surround the heart. The mediastinum, a central portion of the thoracic cavity between the lungs that extends from the sternum to the vertebral column and from the first rib to the diaphragm, contains the heart, thymus, esophagus, trachea, and several large blood vessels. The abdominopelvic cavity is subdivided into the abdominal cavity and pelvic cavity. The abdominal cavity contains the stomach, spleen, liver, gallbladder, small intestine, and most of the large intestine; the serous membrane of the abdominal cavity is the peritoneum. The pelvic cavity contains the urinary bladder, portions of the large intestine, and the internal organs of reproduction.">
            <a:extLst>
              <a:ext uri="{FF2B5EF4-FFF2-40B4-BE49-F238E27FC236}">
                <a16:creationId xmlns:a16="http://schemas.microsoft.com/office/drawing/2014/main" id="{A9DECF21-4C0E-4F7D-A932-A48E0E91408C}"/>
              </a:ext>
            </a:extLst>
          </p:cNvPr>
          <p:cNvPicPr>
            <a:picLocks noGrp="1" noChangeAspect="1"/>
          </p:cNvPicPr>
          <p:nvPr>
            <p:ph sz="quarter" idx="16"/>
          </p:nvPr>
        </p:nvPicPr>
        <p:blipFill>
          <a:blip r:embed="rId2" cstate="print">
            <a:extLst>
              <a:ext uri="{28A0092B-C50C-407E-A947-70E740481C1C}">
                <a14:useLocalDpi xmlns:a14="http://schemas.microsoft.com/office/drawing/2010/main" val="0"/>
              </a:ext>
            </a:extLst>
          </a:blip>
          <a:stretch>
            <a:fillRect/>
          </a:stretch>
        </p:blipFill>
        <p:spPr>
          <a:xfrm>
            <a:off x="1087395" y="1421027"/>
            <a:ext cx="7092777" cy="4769708"/>
          </a:xfrm>
          <a:prstGeom prst="rect">
            <a:avLst/>
          </a:prstGeom>
        </p:spPr>
      </p:pic>
    </p:spTree>
    <p:extLst>
      <p:ext uri="{BB962C8B-B14F-4D97-AF65-F5344CB8AC3E}">
        <p14:creationId xmlns:p14="http://schemas.microsoft.com/office/powerpoint/2010/main" val="17551771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a:xfrm>
            <a:off x="304800" y="474941"/>
            <a:ext cx="8534400" cy="838199"/>
          </a:xfrm>
        </p:spPr>
        <p:txBody>
          <a:bodyPr/>
          <a:lstStyle/>
          <a:p>
            <a:r>
              <a:rPr lang="en-US" dirty="0">
                <a:latin typeface="Calibri" panose="020F0502020204030204" pitchFamily="34" charset="0"/>
                <a:cs typeface="Calibri" panose="020F0502020204030204" pitchFamily="34" charset="0"/>
              </a:rPr>
              <a:t>Serous Membranes</a:t>
            </a:r>
          </a:p>
        </p:txBody>
      </p:sp>
      <p:sp>
        <p:nvSpPr>
          <p:cNvPr id="7" name="Content Placeholder 6">
            <a:extLst>
              <a:ext uri="{FF2B5EF4-FFF2-40B4-BE49-F238E27FC236}">
                <a16:creationId xmlns:a16="http://schemas.microsoft.com/office/drawing/2014/main" id="{3A47C52F-38BC-4530-8892-4EC0D995CBAF}"/>
              </a:ext>
            </a:extLst>
          </p:cNvPr>
          <p:cNvSpPr>
            <a:spLocks noGrp="1"/>
          </p:cNvSpPr>
          <p:nvPr>
            <p:ph sz="quarter" idx="16"/>
          </p:nvPr>
        </p:nvSpPr>
        <p:spPr>
          <a:xfrm>
            <a:off x="304799" y="1639477"/>
            <a:ext cx="8264165" cy="4582213"/>
          </a:xfrm>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Serous membranes are thin, double-layered membranes that cover the viscera within the thoracic and abdominal cavities and also line the walls of the thorax and abdomen</a:t>
            </a:r>
          </a:p>
          <a:p>
            <a:pPr marL="919162" lvl="1" indent="-457200">
              <a:lnSpc>
                <a:spcPct val="100000"/>
              </a:lnSpc>
              <a:spcBef>
                <a:spcPts val="624"/>
              </a:spcBef>
              <a:spcAft>
                <a:spcPts val="600"/>
              </a:spcAft>
              <a:buClr>
                <a:schemeClr val="accent2"/>
              </a:buClr>
              <a:buSzPct val="80000"/>
              <a:buFont typeface="Courier New" panose="02070309020205020404" pitchFamily="49" charset="0"/>
              <a:buChar char="o"/>
            </a:pPr>
            <a:r>
              <a:rPr lang="en-US" sz="2600" dirty="0">
                <a:latin typeface="Calibri" panose="020F0502020204030204" pitchFamily="34" charset="0"/>
                <a:cs typeface="Calibri" panose="020F0502020204030204" pitchFamily="34" charset="0"/>
              </a:rPr>
              <a:t>Visceral layer covers the internal organs </a:t>
            </a:r>
          </a:p>
          <a:p>
            <a:pPr marL="919162" lvl="1" indent="-457200">
              <a:lnSpc>
                <a:spcPct val="100000"/>
              </a:lnSpc>
              <a:spcBef>
                <a:spcPts val="624"/>
              </a:spcBef>
              <a:spcAft>
                <a:spcPts val="600"/>
              </a:spcAft>
              <a:buClr>
                <a:schemeClr val="accent2"/>
              </a:buClr>
              <a:buSzPct val="80000"/>
              <a:buFont typeface="Courier New" panose="02070309020205020404" pitchFamily="49" charset="0"/>
              <a:buChar char="o"/>
            </a:pPr>
            <a:r>
              <a:rPr lang="en-US" sz="2600" dirty="0">
                <a:latin typeface="Calibri" panose="020F0502020204030204" pitchFamily="34" charset="0"/>
                <a:cs typeface="Calibri" panose="020F0502020204030204" pitchFamily="34" charset="0"/>
              </a:rPr>
              <a:t>Parietal layer lines internal body walls </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Serous membranes reduce friction</a:t>
            </a:r>
          </a:p>
        </p:txBody>
      </p:sp>
    </p:spTree>
    <p:extLst>
      <p:ext uri="{BB962C8B-B14F-4D97-AF65-F5344CB8AC3E}">
        <p14:creationId xmlns:p14="http://schemas.microsoft.com/office/powerpoint/2010/main" val="24169426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34D9C1-BF7F-4F88-B9D2-EEBEAC54742C}"/>
              </a:ext>
            </a:extLst>
          </p:cNvPr>
          <p:cNvSpPr>
            <a:spLocks noGrp="1"/>
          </p:cNvSpPr>
          <p:nvPr>
            <p:ph type="title"/>
          </p:nvPr>
        </p:nvSpPr>
        <p:spPr/>
        <p:txBody>
          <a:bodyPr>
            <a:normAutofit fontScale="90000"/>
          </a:bodyPr>
          <a:lstStyle/>
          <a:p>
            <a:r>
              <a:rPr lang="en-US" sz="4400" dirty="0">
                <a:latin typeface="Calibri" panose="020F0502020204030204" pitchFamily="34" charset="0"/>
                <a:cs typeface="Calibri" panose="020F0502020204030204" pitchFamily="34" charset="0"/>
              </a:rPr>
              <a:t>Serous Membranes in the Abdominal Cavity</a:t>
            </a:r>
            <a:endParaRPr lang="en-US" sz="2200" b="0"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A5B530F9-8976-4990-8A1A-B5B8A00479B0}"/>
              </a:ext>
            </a:extLst>
          </p:cNvPr>
          <p:cNvSpPr>
            <a:spLocks noGrp="1"/>
          </p:cNvSpPr>
          <p:nvPr>
            <p:ph sz="quarter" idx="16"/>
          </p:nvPr>
        </p:nvSpPr>
        <p:spPr>
          <a:xfrm>
            <a:off x="304800" y="1977080"/>
            <a:ext cx="4114800" cy="4226869"/>
          </a:xfrm>
        </p:spPr>
        <p:txBody>
          <a:bodyPr/>
          <a:lstStyle/>
          <a:p>
            <a:r>
              <a:rPr lang="en-US" sz="3200" dirty="0"/>
              <a:t>Thoracic cavity </a:t>
            </a:r>
          </a:p>
          <a:p>
            <a:pPr marL="457200" indent="-457200">
              <a:buFont typeface="Arial" panose="020B0604020202020204" pitchFamily="34" charset="0"/>
              <a:buChar char="•"/>
            </a:pPr>
            <a:r>
              <a:rPr lang="en-US" dirty="0"/>
              <a:t>Pericardium </a:t>
            </a:r>
          </a:p>
          <a:p>
            <a:pPr marL="1143000" lvl="1" indent="-457200">
              <a:buFont typeface="Arial" panose="020B0604020202020204" pitchFamily="34" charset="0"/>
              <a:buChar char="•"/>
            </a:pPr>
            <a:r>
              <a:rPr lang="en-US" dirty="0"/>
              <a:t>Covers heart </a:t>
            </a:r>
          </a:p>
          <a:p>
            <a:pPr marL="457200" indent="-457200">
              <a:buFont typeface="Arial" panose="020B0604020202020204" pitchFamily="34" charset="0"/>
              <a:buChar char="•"/>
            </a:pPr>
            <a:r>
              <a:rPr lang="en-US" dirty="0"/>
              <a:t>Pleura </a:t>
            </a:r>
          </a:p>
          <a:p>
            <a:pPr marL="1143000" lvl="1" indent="-457200">
              <a:buFont typeface="Arial" panose="020B0604020202020204" pitchFamily="34" charset="0"/>
              <a:buChar char="•"/>
            </a:pPr>
            <a:r>
              <a:rPr lang="en-US" dirty="0"/>
              <a:t>Covers lungs </a:t>
            </a:r>
          </a:p>
        </p:txBody>
      </p:sp>
      <p:sp>
        <p:nvSpPr>
          <p:cNvPr id="6" name="Content Placeholder 5">
            <a:extLst>
              <a:ext uri="{FF2B5EF4-FFF2-40B4-BE49-F238E27FC236}">
                <a16:creationId xmlns:a16="http://schemas.microsoft.com/office/drawing/2014/main" id="{598BDCE0-F362-4971-9CCA-85DC423A707B}"/>
              </a:ext>
            </a:extLst>
          </p:cNvPr>
          <p:cNvSpPr>
            <a:spLocks noGrp="1"/>
          </p:cNvSpPr>
          <p:nvPr>
            <p:ph sz="quarter" idx="17"/>
          </p:nvPr>
        </p:nvSpPr>
        <p:spPr>
          <a:xfrm>
            <a:off x="4724400" y="1977080"/>
            <a:ext cx="4114800" cy="4226870"/>
          </a:xfrm>
        </p:spPr>
        <p:txBody>
          <a:bodyPr/>
          <a:lstStyle/>
          <a:p>
            <a:r>
              <a:rPr lang="en-US" sz="3200" dirty="0"/>
              <a:t>Abdominal cavity </a:t>
            </a:r>
          </a:p>
          <a:p>
            <a:pPr marL="457200" indent="-457200">
              <a:buFont typeface="Arial" panose="020B0604020202020204" pitchFamily="34" charset="0"/>
              <a:buChar char="•"/>
            </a:pPr>
            <a:r>
              <a:rPr lang="en-US" dirty="0"/>
              <a:t>Peritoneum </a:t>
            </a:r>
          </a:p>
          <a:p>
            <a:pPr marL="1143000" lvl="1" indent="-457200">
              <a:buFont typeface="Arial" panose="020B0604020202020204" pitchFamily="34" charset="0"/>
              <a:buChar char="•"/>
            </a:pPr>
            <a:r>
              <a:rPr lang="en-US" dirty="0"/>
              <a:t>Covers many abdominal organs </a:t>
            </a:r>
          </a:p>
          <a:p>
            <a:pPr marL="457200" indent="-457200">
              <a:buFont typeface="Arial" panose="020B0604020202020204" pitchFamily="34" charset="0"/>
              <a:buChar char="•"/>
            </a:pPr>
            <a:r>
              <a:rPr lang="en-US" dirty="0"/>
              <a:t>Retroperitoneal </a:t>
            </a:r>
          </a:p>
          <a:p>
            <a:pPr marL="1143000" lvl="1" indent="-457200">
              <a:buFont typeface="Arial" panose="020B0604020202020204" pitchFamily="34" charset="0"/>
              <a:buChar char="•"/>
            </a:pPr>
            <a:r>
              <a:rPr lang="en-US" dirty="0"/>
              <a:t>Classification given to some organs because they are not surrounded by peritoneum, rather, they are posterior to it </a:t>
            </a:r>
          </a:p>
        </p:txBody>
      </p:sp>
    </p:spTree>
    <p:extLst>
      <p:ext uri="{BB962C8B-B14F-4D97-AF65-F5344CB8AC3E}">
        <p14:creationId xmlns:p14="http://schemas.microsoft.com/office/powerpoint/2010/main" val="136064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C77430F-6BA5-48EC-9623-105F515CC892}"/>
              </a:ext>
            </a:extLst>
          </p:cNvPr>
          <p:cNvSpPr>
            <a:spLocks noGrp="1"/>
          </p:cNvSpPr>
          <p:nvPr>
            <p:ph type="title"/>
          </p:nvPr>
        </p:nvSpPr>
        <p:spPr>
          <a:xfrm>
            <a:off x="304800" y="444954"/>
            <a:ext cx="8534400" cy="1115643"/>
          </a:xfrm>
        </p:spPr>
        <p:txBody>
          <a:bodyPr>
            <a:normAutofit fontScale="90000"/>
          </a:bodyPr>
          <a:lstStyle/>
          <a:p>
            <a:r>
              <a:rPr lang="en-US" sz="4400" dirty="0">
                <a:latin typeface="Calibri" panose="020F0502020204030204" pitchFamily="34" charset="0"/>
                <a:cs typeface="Calibri" panose="020F0502020204030204" pitchFamily="34" charset="0"/>
              </a:rPr>
              <a:t>Serous Membranes in the Thoracic Cavity</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3A47C52F-38BC-4530-8892-4EC0D995CBAF}"/>
              </a:ext>
            </a:extLst>
          </p:cNvPr>
          <p:cNvSpPr>
            <a:spLocks noGrp="1"/>
          </p:cNvSpPr>
          <p:nvPr>
            <p:ph sz="quarter" idx="16"/>
          </p:nvPr>
        </p:nvSpPr>
        <p:spPr>
          <a:xfrm>
            <a:off x="399068" y="1783069"/>
            <a:ext cx="8534400" cy="838199"/>
          </a:xfrm>
        </p:spPr>
        <p:txBody>
          <a:bodyPr/>
          <a:lstStyle/>
          <a:p>
            <a:r>
              <a:rPr lang="en-US" sz="3200" dirty="0">
                <a:latin typeface="Calibri" panose="020F0502020204030204" pitchFamily="34" charset="0"/>
                <a:cs typeface="Calibri" panose="020F0502020204030204" pitchFamily="34" charset="0"/>
              </a:rPr>
              <a:t>The pericardium and pleura cover the heart and lungs, respectively</a:t>
            </a:r>
          </a:p>
        </p:txBody>
      </p:sp>
      <p:pic>
        <p:nvPicPr>
          <p:cNvPr id="9" name="Content Placeholder 7" descr="A diagram (a) shows the anterior view of thoracic cavity highlighting the serous membranes of the pleura and pericardium. The pleura includes the pleural cavity and the visceral and parietal pleura. The parietal pleura lines the chest wall and covers the superior surface of the diaphragm and the fibrous pericardium of the heart. The visceral pleura is the interior layer that clings to the lungs. The pericardium consists of the pericardial cavity and the parietal and visceral pericardia. The mediastinum is the area between the pleurae that surrounds the pericardium.">
            <a:extLst>
              <a:ext uri="{FF2B5EF4-FFF2-40B4-BE49-F238E27FC236}">
                <a16:creationId xmlns:a16="http://schemas.microsoft.com/office/drawing/2014/main" id="{8DC280E1-DE56-4E7E-B759-123ADEA379D6}"/>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683301" y="2860706"/>
            <a:ext cx="7758545" cy="3097876"/>
          </a:xfrm>
          <a:prstGeom prst="rect">
            <a:avLst/>
          </a:prstGeom>
        </p:spPr>
      </p:pic>
    </p:spTree>
    <p:extLst>
      <p:ext uri="{BB962C8B-B14F-4D97-AF65-F5344CB8AC3E}">
        <p14:creationId xmlns:p14="http://schemas.microsoft.com/office/powerpoint/2010/main" val="430989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34D9C1-BF7F-4F88-B9D2-EEBEAC54742C}"/>
              </a:ext>
            </a:extLst>
          </p:cNvPr>
          <p:cNvSpPr>
            <a:spLocks noGrp="1"/>
          </p:cNvSpPr>
          <p:nvPr>
            <p:ph type="title"/>
          </p:nvPr>
        </p:nvSpPr>
        <p:spPr>
          <a:xfrm>
            <a:off x="304800" y="450795"/>
            <a:ext cx="8534400" cy="1115643"/>
          </a:xfrm>
        </p:spPr>
        <p:txBody>
          <a:bodyPr>
            <a:normAutofit fontScale="90000"/>
          </a:bodyPr>
          <a:lstStyle/>
          <a:p>
            <a:r>
              <a:rPr lang="en-US" sz="4400" dirty="0">
                <a:latin typeface="Calibri" panose="020F0502020204030204" pitchFamily="34" charset="0"/>
                <a:cs typeface="Calibri" panose="020F0502020204030204" pitchFamily="34" charset="0"/>
              </a:rPr>
              <a:t>Serous Membranes in the Thoracic Cavity</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pic>
        <p:nvPicPr>
          <p:cNvPr id="4" name="Content Placeholder 7" descr="A diagram (b) of an inferior view of transverse section of thoracic cavity shows deep to the skeletal muscle of the trunk is the heart, which is located between the lungs. The aorta is dorsal to the left inferior pulmonary vein. The left and right pleural cavities, which are covered by the ribs, surround the lungs. The sternum, or breastbone, is superficial to the heart, and the thymus lies between the sternum and the heart. The aorta is dorsal to the esophagus (or food tube) and ventral to the vertebral column, or backbone.">
            <a:extLst>
              <a:ext uri="{FF2B5EF4-FFF2-40B4-BE49-F238E27FC236}">
                <a16:creationId xmlns:a16="http://schemas.microsoft.com/office/drawing/2014/main" id="{7668FF20-0C47-4ACC-9E95-E60D5FE47507}"/>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337709" y="1739531"/>
            <a:ext cx="6412021" cy="4227354"/>
          </a:xfrm>
          <a:prstGeom prst="rect">
            <a:avLst/>
          </a:prstGeom>
        </p:spPr>
      </p:pic>
    </p:spTree>
    <p:extLst>
      <p:ext uri="{BB962C8B-B14F-4D97-AF65-F5344CB8AC3E}">
        <p14:creationId xmlns:p14="http://schemas.microsoft.com/office/powerpoint/2010/main" val="28557064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399A9E-AF3C-4CE4-8633-B90A90A40754}"/>
              </a:ext>
            </a:extLst>
          </p:cNvPr>
          <p:cNvSpPr>
            <a:spLocks noGrp="1"/>
          </p:cNvSpPr>
          <p:nvPr>
            <p:ph type="title"/>
          </p:nvPr>
        </p:nvSpPr>
        <p:spPr>
          <a:xfrm>
            <a:off x="304800" y="466237"/>
            <a:ext cx="8534400" cy="838199"/>
          </a:xfrm>
        </p:spPr>
        <p:txBody>
          <a:bodyPr/>
          <a:lstStyle/>
          <a:p>
            <a:r>
              <a:rPr lang="en-US" dirty="0">
                <a:latin typeface="Calibri" panose="020F0502020204030204" pitchFamily="34" charset="0"/>
                <a:cs typeface="Calibri" panose="020F0502020204030204" pitchFamily="34" charset="0"/>
              </a:rPr>
              <a:t>Abdominopelvic Regions &amp; Quadrants</a:t>
            </a:r>
          </a:p>
        </p:txBody>
      </p:sp>
      <p:sp>
        <p:nvSpPr>
          <p:cNvPr id="4" name="Content Placeholder 3">
            <a:extLst>
              <a:ext uri="{FF2B5EF4-FFF2-40B4-BE49-F238E27FC236}">
                <a16:creationId xmlns:a16="http://schemas.microsoft.com/office/drawing/2014/main" id="{08DC06A9-EC2C-4C0D-BDF6-EF9AB9D37DDA}"/>
              </a:ext>
            </a:extLst>
          </p:cNvPr>
          <p:cNvSpPr>
            <a:spLocks noGrp="1"/>
          </p:cNvSpPr>
          <p:nvPr>
            <p:ph sz="quarter" idx="16"/>
          </p:nvPr>
        </p:nvSpPr>
        <p:spPr>
          <a:xfrm>
            <a:off x="304799" y="1198605"/>
            <a:ext cx="8666205" cy="1493507"/>
          </a:xfrm>
        </p:spPr>
        <p:txBody>
          <a:bodyPr/>
          <a:lstStyle/>
          <a:p>
            <a:pPr marL="457200" indent="-457200">
              <a:lnSpc>
                <a:spcPct val="100000"/>
              </a:lnSpc>
              <a:spcBef>
                <a:spcPts val="624"/>
              </a:spcBef>
              <a:buFont typeface="Arial" panose="020B0604020202020204" pitchFamily="34" charset="0"/>
              <a:buChar char="•"/>
            </a:pPr>
            <a:r>
              <a:rPr lang="en-US" dirty="0">
                <a:latin typeface="Calibri" panose="020F0502020204030204" pitchFamily="34" charset="0"/>
                <a:cs typeface="Calibri" panose="020F0502020204030204" pitchFamily="34" charset="0"/>
              </a:rPr>
              <a:t>The abdominal cavity can be divided into regions or quadrants to easily describe the location of organs</a:t>
            </a:r>
          </a:p>
          <a:p>
            <a:pPr marL="1143000" lvl="1" indent="-457200">
              <a:lnSpc>
                <a:spcPct val="100000"/>
              </a:lnSpc>
              <a:spcBef>
                <a:spcPts val="624"/>
              </a:spcBef>
              <a:buFont typeface="Arial" panose="020B0604020202020204" pitchFamily="34" charset="0"/>
              <a:buChar char="•"/>
            </a:pPr>
            <a:r>
              <a:rPr lang="en-US" dirty="0">
                <a:latin typeface="Calibri" panose="020F0502020204030204" pitchFamily="34" charset="0"/>
                <a:cs typeface="Calibri" panose="020F0502020204030204" pitchFamily="34" charset="0"/>
              </a:rPr>
              <a:t>“lateral” is often referred to as “lumbar”; “inguinal” is often referred to as “iliac”</a:t>
            </a:r>
          </a:p>
        </p:txBody>
      </p:sp>
      <p:pic>
        <p:nvPicPr>
          <p:cNvPr id="7" name="Content Placeholder 11" descr="A diagram (a) shows the location of abdominopelvic regions superimposed on an anterior view of the human trunk. The midclavicular planes extend from the center of each clavicle and divide the body into 3 vertical sections. Two horizontal lines, the subcostal plane and the transtubercular plane, cross the midclavicular planes and create a total of six regions. The regions above the subcostal plane are the right hypochondriac region, the epigastric region in the center, and the left hypochondriac region. The regions between the subcostal plane and the transtubercular plane are the right lateral region, the umbilical region in the center, and the left lateral region. The regions below the transtubercular plane are the right inguinal region, the hypogastric region in the center, and the left inguinal region.">
            <a:extLst>
              <a:ext uri="{FF2B5EF4-FFF2-40B4-BE49-F238E27FC236}">
                <a16:creationId xmlns:a16="http://schemas.microsoft.com/office/drawing/2014/main" id="{59A4698A-1604-4837-A6A0-0EFE3173F0B3}"/>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1141578" y="3101546"/>
            <a:ext cx="2750757" cy="3200400"/>
          </a:xfrm>
          <a:prstGeom prst="rect">
            <a:avLst/>
          </a:prstGeom>
        </p:spPr>
      </p:pic>
      <p:pic>
        <p:nvPicPr>
          <p:cNvPr id="9" name="Content Placeholder 12" descr="A diagram (b) shows the location of abdominopelvic quadrants superimposed on an anterior view of the human trunk. The median plane is an imaginary line that divides the abdominal cavity vertically. The horizontal transumbilical plane crosses the median plane and divides the cavity into four quadrants. The quadrants located above the transumbilical plane are the right upper quadrant or R U Q and the left upper quadrant or L U Q. The quadrants below the transumbilical plane are the right lower quadrant or R L Q and the left lower quadrant or L L Q.">
            <a:extLst>
              <a:ext uri="{FF2B5EF4-FFF2-40B4-BE49-F238E27FC236}">
                <a16:creationId xmlns:a16="http://schemas.microsoft.com/office/drawing/2014/main" id="{B691CB93-C4A9-4867-85B7-B8835B8FA941}"/>
              </a:ext>
            </a:extLst>
          </p:cNvPr>
          <p:cNvPicPr>
            <a:picLocks noGrp="1" noChangeAspect="1"/>
          </p:cNvPicPr>
          <p:nvPr>
            <p:ph sz="quarter" idx="18"/>
          </p:nvPr>
        </p:nvPicPr>
        <p:blipFill>
          <a:blip r:embed="rId3" cstate="print">
            <a:extLst>
              <a:ext uri="{28A0092B-C50C-407E-A947-70E740481C1C}">
                <a14:useLocalDpi xmlns:a14="http://schemas.microsoft.com/office/drawing/2010/main" val="0"/>
              </a:ext>
            </a:extLst>
          </a:blip>
          <a:stretch>
            <a:fillRect/>
          </a:stretch>
        </p:blipFill>
        <p:spPr>
          <a:xfrm>
            <a:off x="4580298" y="3101546"/>
            <a:ext cx="3056816" cy="3290216"/>
          </a:xfrm>
          <a:prstGeom prst="rect">
            <a:avLst/>
          </a:prstGeom>
        </p:spPr>
      </p:pic>
    </p:spTree>
    <p:extLst>
      <p:ext uri="{BB962C8B-B14F-4D97-AF65-F5344CB8AC3E}">
        <p14:creationId xmlns:p14="http://schemas.microsoft.com/office/powerpoint/2010/main" val="11980982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4876E0D-BBB5-4D9F-A06F-ED3FA1C0E6C2}"/>
              </a:ext>
            </a:extLst>
          </p:cNvPr>
          <p:cNvSpPr>
            <a:spLocks noGrp="1"/>
          </p:cNvSpPr>
          <p:nvPr>
            <p:ph type="title"/>
          </p:nvPr>
        </p:nvSpPr>
        <p:spPr>
          <a:xfrm>
            <a:off x="304800" y="469770"/>
            <a:ext cx="8534400" cy="838199"/>
          </a:xfrm>
        </p:spPr>
        <p:txBody>
          <a:bodyPr/>
          <a:lstStyle/>
          <a:p>
            <a:r>
              <a:rPr lang="en-US" dirty="0">
                <a:latin typeface="Calibri" panose="020F0502020204030204" pitchFamily="34" charset="0"/>
                <a:cs typeface="Calibri" panose="020F0502020204030204" pitchFamily="34" charset="0"/>
              </a:rPr>
              <a:t>Aging and Homeostasis </a:t>
            </a:r>
            <a:endParaRPr lang="en-US" sz="20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E85792F7-B926-4D32-A951-CEE3E5E196C9}"/>
              </a:ext>
            </a:extLst>
          </p:cNvPr>
          <p:cNvSpPr>
            <a:spLocks noGrp="1"/>
          </p:cNvSpPr>
          <p:nvPr>
            <p:ph sz="quarter" idx="16"/>
          </p:nvPr>
        </p:nvSpPr>
        <p:spPr/>
        <p:txBody>
          <a:bodyPr/>
          <a:lstStyle/>
          <a:p>
            <a:pPr marL="457200" indent="-457200">
              <a:lnSpc>
                <a:spcPct val="100000"/>
              </a:lnSpc>
              <a:spcBef>
                <a:spcPts val="624"/>
              </a:spcBef>
              <a:buClr>
                <a:schemeClr val="accent2"/>
              </a:buClr>
              <a:buFont typeface="Arial" panose="020B0604020202020204" pitchFamily="34" charset="0"/>
              <a:buChar char="•"/>
            </a:pPr>
            <a:r>
              <a:rPr lang="en-US" sz="3200" b="1" dirty="0">
                <a:latin typeface="Calibri" panose="020F0502020204030204" pitchFamily="34" charset="0"/>
                <a:cs typeface="Calibri" panose="020F0502020204030204" pitchFamily="34" charset="0"/>
              </a:rPr>
              <a:t>Aging </a:t>
            </a:r>
            <a:r>
              <a:rPr lang="en-US" sz="3200" dirty="0">
                <a:latin typeface="Calibri" panose="020F0502020204030204" pitchFamily="34" charset="0"/>
                <a:cs typeface="Calibri" panose="020F0502020204030204" pitchFamily="34" charset="0"/>
              </a:rPr>
              <a:t>is a normal process characterized by a progressive decline in the body’s ability to restore homeostasis</a:t>
            </a:r>
          </a:p>
          <a:p>
            <a:pPr marL="919162" lvl="1" indent="-457200">
              <a:lnSpc>
                <a:spcPct val="100000"/>
              </a:lnSpc>
              <a:spcBef>
                <a:spcPts val="624"/>
              </a:spcBef>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Impacts all body systems</a:t>
            </a:r>
          </a:p>
          <a:p>
            <a:pPr marL="919162" lvl="1" indent="-457200">
              <a:lnSpc>
                <a:spcPct val="100000"/>
              </a:lnSpc>
              <a:spcBef>
                <a:spcPts val="624"/>
              </a:spcBef>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Produces structural and functional changes</a:t>
            </a:r>
          </a:p>
          <a:p>
            <a:pPr marL="919162" lvl="1" indent="-457200">
              <a:lnSpc>
                <a:spcPct val="100000"/>
              </a:lnSpc>
              <a:spcBef>
                <a:spcPts val="624"/>
              </a:spcBef>
              <a:buClr>
                <a:schemeClr val="accent2"/>
              </a:buClr>
              <a:buSzPct val="80000"/>
              <a:buFont typeface="Courier New" panose="02070309020205020404" pitchFamily="49" charset="0"/>
              <a:buChar char="o"/>
            </a:pPr>
            <a:r>
              <a:rPr lang="en-US" sz="2800" dirty="0">
                <a:latin typeface="Calibri" panose="020F0502020204030204" pitchFamily="34" charset="0"/>
                <a:cs typeface="Calibri" panose="020F0502020204030204" pitchFamily="34" charset="0"/>
              </a:rPr>
              <a:t>Increases vulnerability to stress and disease</a:t>
            </a:r>
          </a:p>
        </p:txBody>
      </p:sp>
    </p:spTree>
    <p:extLst>
      <p:ext uri="{BB962C8B-B14F-4D97-AF65-F5344CB8AC3E}">
        <p14:creationId xmlns:p14="http://schemas.microsoft.com/office/powerpoint/2010/main" val="34915076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513845-A212-4F4B-A677-A9AC43903C77}"/>
              </a:ext>
            </a:extLst>
          </p:cNvPr>
          <p:cNvSpPr>
            <a:spLocks noGrp="1"/>
          </p:cNvSpPr>
          <p:nvPr>
            <p:ph type="title"/>
          </p:nvPr>
        </p:nvSpPr>
        <p:spPr>
          <a:xfrm>
            <a:off x="304800" y="469770"/>
            <a:ext cx="8534400" cy="838199"/>
          </a:xfrm>
        </p:spPr>
        <p:txBody>
          <a:bodyPr/>
          <a:lstStyle/>
          <a:p>
            <a:r>
              <a:rPr lang="en-US" dirty="0">
                <a:latin typeface="Calibri" panose="020F0502020204030204" pitchFamily="34" charset="0"/>
                <a:cs typeface="Calibri" panose="020F0502020204030204" pitchFamily="34" charset="0"/>
              </a:rPr>
              <a:t>Medical Imaging</a:t>
            </a:r>
          </a:p>
        </p:txBody>
      </p:sp>
      <p:sp>
        <p:nvSpPr>
          <p:cNvPr id="5" name="Content Placeholder 4">
            <a:extLst>
              <a:ext uri="{FF2B5EF4-FFF2-40B4-BE49-F238E27FC236}">
                <a16:creationId xmlns:a16="http://schemas.microsoft.com/office/drawing/2014/main" id="{C98DDB00-2F9A-4196-88B2-B2ECF9E258F9}"/>
              </a:ext>
            </a:extLst>
          </p:cNvPr>
          <p:cNvSpPr>
            <a:spLocks noGrp="1"/>
          </p:cNvSpPr>
          <p:nvPr>
            <p:ph sz="quarter" idx="16"/>
          </p:nvPr>
        </p:nvSpPr>
        <p:spPr/>
        <p:txBody>
          <a:bodyPr/>
          <a:lstStyle/>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Medical imaging involves techniques that allow physicians to view images of the human body</a:t>
            </a:r>
          </a:p>
          <a:p>
            <a:pPr marL="461963" indent="-461963">
              <a:lnSpc>
                <a:spcPct val="100000"/>
              </a:lnSpc>
              <a:spcBef>
                <a:spcPts val="624"/>
              </a:spcBef>
              <a:spcAft>
                <a:spcPts val="600"/>
              </a:spcAft>
              <a:buClr>
                <a:schemeClr val="accent2"/>
              </a:buClr>
              <a:buSzPct val="100000"/>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a:p>
            <a:pPr marL="461963" indent="-461963">
              <a:lnSpc>
                <a:spcPct val="100000"/>
              </a:lnSpc>
              <a:spcBef>
                <a:spcPts val="624"/>
              </a:spcBef>
              <a:spcAft>
                <a:spcPts val="600"/>
              </a:spcAft>
              <a:buClr>
                <a:schemeClr val="accent2"/>
              </a:buClr>
              <a:buSzPct val="100000"/>
              <a:buFont typeface="Arial" panose="020B0604020202020204" pitchFamily="34" charset="0"/>
              <a:buChar char="•"/>
            </a:pPr>
            <a:r>
              <a:rPr lang="en-US" sz="3200" dirty="0">
                <a:latin typeface="Calibri" panose="020F0502020204030204" pitchFamily="34" charset="0"/>
                <a:cs typeface="Calibri" panose="020F0502020204030204" pitchFamily="34" charset="0"/>
              </a:rPr>
              <a:t>This allows physicians to diagnose anatomical and physiological abnormalities</a:t>
            </a:r>
          </a:p>
        </p:txBody>
      </p:sp>
    </p:spTree>
    <p:extLst>
      <p:ext uri="{BB962C8B-B14F-4D97-AF65-F5344CB8AC3E}">
        <p14:creationId xmlns:p14="http://schemas.microsoft.com/office/powerpoint/2010/main" val="3009680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399A9E-AF3C-4CE4-8633-B90A90A40754}"/>
              </a:ext>
            </a:extLst>
          </p:cNvPr>
          <p:cNvSpPr>
            <a:spLocks noGrp="1"/>
          </p:cNvSpPr>
          <p:nvPr>
            <p:ph type="title"/>
          </p:nvPr>
        </p:nvSpPr>
        <p:spPr>
          <a:xfrm>
            <a:off x="304800" y="422118"/>
            <a:ext cx="8534400" cy="1635814"/>
          </a:xfrm>
        </p:spPr>
        <p:txBody>
          <a:bodyPr>
            <a:normAutofit fontScale="90000"/>
          </a:bodyPr>
          <a:lstStyle/>
          <a:p>
            <a:r>
              <a:rPr lang="en-US" dirty="0">
                <a:latin typeface="Calibri" panose="020F0502020204030204" pitchFamily="34" charset="0"/>
                <a:cs typeface="Calibri" panose="020F0502020204030204" pitchFamily="34" charset="0"/>
              </a:rPr>
              <a:t>Medical Imaging Procedures: Radiography is only one of a number of imaging procedures </a:t>
            </a:r>
            <a:endParaRPr lang="en-US" sz="2200" b="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08DC06A9-EC2C-4C0D-BDF6-EF9AB9D37DDA}"/>
              </a:ext>
            </a:extLst>
          </p:cNvPr>
          <p:cNvSpPr>
            <a:spLocks noGrp="1"/>
          </p:cNvSpPr>
          <p:nvPr>
            <p:ph sz="quarter" idx="16"/>
          </p:nvPr>
        </p:nvSpPr>
        <p:spPr>
          <a:xfrm>
            <a:off x="304800" y="2072041"/>
            <a:ext cx="8132190" cy="454344"/>
          </a:xfrm>
        </p:spPr>
        <p:txBody>
          <a:bodyPr/>
          <a:lstStyle/>
          <a:p>
            <a:pPr>
              <a:lnSpc>
                <a:spcPct val="100000"/>
              </a:lnSpc>
              <a:spcBef>
                <a:spcPts val="624"/>
              </a:spcBef>
            </a:pPr>
            <a:r>
              <a:rPr lang="en-US" dirty="0">
                <a:latin typeface="Calibri" panose="020F0502020204030204" pitchFamily="34" charset="0"/>
                <a:cs typeface="Calibri" panose="020F0502020204030204" pitchFamily="34" charset="0"/>
              </a:rPr>
              <a:t>Table 1.3 Common Medical Imaging Procedures</a:t>
            </a:r>
          </a:p>
        </p:txBody>
      </p:sp>
      <p:graphicFrame>
        <p:nvGraphicFramePr>
          <p:cNvPr id="8" name="Table 10">
            <a:extLst>
              <a:ext uri="{FF2B5EF4-FFF2-40B4-BE49-F238E27FC236}">
                <a16:creationId xmlns:a16="http://schemas.microsoft.com/office/drawing/2014/main" id="{D2673B44-1035-40E6-954B-68076FF07FB6}"/>
              </a:ext>
            </a:extLst>
          </p:cNvPr>
          <p:cNvGraphicFramePr>
            <a:graphicFrameLocks noGrp="1"/>
          </p:cNvGraphicFramePr>
          <p:nvPr>
            <p:ph sz="quarter" idx="17"/>
            <p:extLst>
              <p:ext uri="{D42A27DB-BD31-4B8C-83A1-F6EECF244321}">
                <p14:modId xmlns:p14="http://schemas.microsoft.com/office/powerpoint/2010/main" val="2394303999"/>
              </p:ext>
            </p:extLst>
          </p:nvPr>
        </p:nvGraphicFramePr>
        <p:xfrm>
          <a:off x="832866" y="2659418"/>
          <a:ext cx="7478268" cy="3525520"/>
        </p:xfrm>
        <a:graphic>
          <a:graphicData uri="http://schemas.openxmlformats.org/drawingml/2006/table">
            <a:tbl>
              <a:tblPr firstRow="1" bandRow="1">
                <a:tableStyleId>{69012ECD-51FC-41F1-AA8D-1B2483CD663E}</a:tableStyleId>
              </a:tblPr>
              <a:tblGrid>
                <a:gridCol w="7478268">
                  <a:extLst>
                    <a:ext uri="{9D8B030D-6E8A-4147-A177-3AD203B41FA5}">
                      <a16:colId xmlns:a16="http://schemas.microsoft.com/office/drawing/2014/main" val="238543850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Radiography</a:t>
                      </a:r>
                    </a:p>
                  </a:txBody>
                  <a:tcPr marL="133877" marR="133877"/>
                </a:tc>
                <a:extLst>
                  <a:ext uri="{0D108BD9-81ED-4DB2-BD59-A6C34878D82A}">
                    <a16:rowId xmlns:a16="http://schemas.microsoft.com/office/drawing/2014/main" val="2751128375"/>
                  </a:ext>
                </a:extLst>
              </a:tr>
              <a:tr h="370840">
                <a:tc>
                  <a:txBody>
                    <a:bodyPr/>
                    <a:lstStyle/>
                    <a:p>
                      <a:pPr>
                        <a:spcAft>
                          <a:spcPts val="600"/>
                        </a:spcAft>
                      </a:pPr>
                      <a:r>
                        <a:rPr lang="en-US" sz="1400" b="1" i="1" dirty="0"/>
                        <a:t>Procedure</a:t>
                      </a:r>
                      <a:r>
                        <a:rPr lang="en-US" sz="1400" b="1" dirty="0"/>
                        <a:t>: </a:t>
                      </a:r>
                      <a:r>
                        <a:rPr lang="en-US" sz="1400" dirty="0"/>
                        <a:t>A single barrage of x-rays passes through the body, producing an image of interior structures on x-ray-sensitive film. The resulting two- dimensional image is a radiograph (RA-</a:t>
                      </a:r>
                      <a:r>
                        <a:rPr lang="en-US" sz="1400" dirty="0" err="1"/>
                        <a:t>dē</a:t>
                      </a:r>
                      <a:r>
                        <a:rPr lang="en-US" sz="1400" dirty="0"/>
                        <a:t>-ō-</a:t>
                      </a:r>
                      <a:r>
                        <a:rPr lang="en-US" sz="1400" dirty="0" err="1"/>
                        <a:t>graf</a:t>
                      </a:r>
                      <a:r>
                        <a:rPr lang="en-US" sz="1400" dirty="0"/>
                        <a:t>’), commonly called an x-ray.</a:t>
                      </a:r>
                    </a:p>
                    <a:p>
                      <a:pPr>
                        <a:spcAft>
                          <a:spcPts val="600"/>
                        </a:spcAft>
                      </a:pPr>
                      <a:r>
                        <a:rPr lang="en-US" sz="1400" b="1" i="1" dirty="0"/>
                        <a:t>Comments</a:t>
                      </a:r>
                      <a:r>
                        <a:rPr lang="en-US" sz="1400" dirty="0"/>
                        <a:t>: Relatively inexpensive, quick, and simple to perform; usually provides sufficient information for diagnosis. X-rays do not easily pass through dense structures, so bones appear white. Hollow structures, such as the lungs, appear black. Structures of intermediate density, such as skin, fat, and muscle, appear as varying shades of gray. At low doses, x-rays are useful for examining soft tissues such as the breast (</a:t>
                      </a:r>
                      <a:r>
                        <a:rPr lang="en-US" sz="1400" b="1" dirty="0"/>
                        <a:t>mammography</a:t>
                      </a:r>
                      <a:r>
                        <a:rPr lang="en-US" sz="1400" dirty="0"/>
                        <a:t>) and for determining bone density (</a:t>
                      </a:r>
                      <a:r>
                        <a:rPr lang="en-US" sz="1400" b="1" dirty="0"/>
                        <a:t>bone densitometry or DEXA scan</a:t>
                      </a:r>
                      <a:r>
                        <a:rPr lang="en-US" sz="1400" dirty="0"/>
                        <a:t>). It is necessary to use a substance called a contrast medium to make hollow or fluid-filled structures visible (appear white) in radiographs. X-rays make structures that contain contrast media appear white. </a:t>
                      </a:r>
                      <a:r>
                        <a:rPr lang="en-US" sz="1400" kern="1200" dirty="0">
                          <a:solidFill>
                            <a:schemeClr val="dk1"/>
                          </a:solidFill>
                          <a:effectLst/>
                        </a:rPr>
                        <a:t>The medium may be introduced by injection, orally</a:t>
                      </a:r>
                      <a:r>
                        <a:rPr lang="en-US" sz="1400" dirty="0"/>
                        <a:t>, or rectally, depending on the structure to be imaged. Contrast x-rays are used to image blood vessels (</a:t>
                      </a:r>
                      <a:r>
                        <a:rPr lang="en-US" sz="1400" b="1" dirty="0"/>
                        <a:t>angiography</a:t>
                      </a:r>
                      <a:r>
                        <a:rPr lang="en-US" sz="1400" dirty="0"/>
                        <a:t>), the urinary system (</a:t>
                      </a:r>
                      <a:r>
                        <a:rPr lang="en-US" sz="1400" b="1" dirty="0"/>
                        <a:t>intravenous urography</a:t>
                      </a:r>
                      <a:r>
                        <a:rPr lang="en-US" sz="1400" dirty="0"/>
                        <a:t>), and the gastrointestinal tract (</a:t>
                      </a:r>
                      <a:r>
                        <a:rPr lang="en-US" sz="1400" b="1" dirty="0"/>
                        <a:t>barium contrast x-ray</a:t>
                      </a:r>
                      <a:r>
                        <a:rPr lang="en-US" sz="1400" dirty="0"/>
                        <a:t>). </a:t>
                      </a:r>
                      <a:endParaRPr lang="en-US" sz="1400" i="0" dirty="0"/>
                    </a:p>
                  </a:txBody>
                  <a:tcPr marL="133877" marR="133877"/>
                </a:tc>
                <a:extLst>
                  <a:ext uri="{0D108BD9-81ED-4DB2-BD59-A6C34878D82A}">
                    <a16:rowId xmlns:a16="http://schemas.microsoft.com/office/drawing/2014/main" val="1605067635"/>
                  </a:ext>
                </a:extLst>
              </a:tr>
            </a:tbl>
          </a:graphicData>
        </a:graphic>
      </p:graphicFrame>
    </p:spTree>
    <p:extLst>
      <p:ext uri="{BB962C8B-B14F-4D97-AF65-F5344CB8AC3E}">
        <p14:creationId xmlns:p14="http://schemas.microsoft.com/office/powerpoint/2010/main" val="29999721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1AC8-8ABD-415D-A08E-39C62B7472E1}"/>
              </a:ext>
            </a:extLst>
          </p:cNvPr>
          <p:cNvSpPr>
            <a:spLocks noGrp="1"/>
          </p:cNvSpPr>
          <p:nvPr>
            <p:ph type="title"/>
          </p:nvPr>
        </p:nvSpPr>
        <p:spPr>
          <a:xfrm>
            <a:off x="304800" y="762001"/>
            <a:ext cx="8439807" cy="838199"/>
          </a:xfrm>
        </p:spPr>
        <p:txBody>
          <a:bodyPr>
            <a:normAutofit fontScale="90000"/>
          </a:bodyPr>
          <a:lstStyle/>
          <a:p>
            <a:r>
              <a:rPr lang="en-US" dirty="0">
                <a:latin typeface="Calibri" panose="020F0502020204030204" pitchFamily="34" charset="0"/>
                <a:cs typeface="Calibri" panose="020F0502020204030204" pitchFamily="34" charset="0"/>
              </a:rPr>
              <a:t>Medical Imaging Procedures: Radiography </a:t>
            </a:r>
          </a:p>
        </p:txBody>
      </p:sp>
      <p:pic>
        <p:nvPicPr>
          <p:cNvPr id="13" name="Content Placeholder 12" descr="A radiograph of the thorax in anterior view shows the vertebral column, the left clavicle, a left rib, the left lung, the heart, and the diaphragm. A mammogram of the female breast shows a cancerous tumor as a white mass with an uneven border. A bone densitometry scan shows the lumbar spine in anterior view. An angiogram shows a blockage of a coronary artery in an adult human heart. An intravenous urogram shows a kidney stone as a darker mass in the right kidney. A barium contrast X-ray shows cancer of the ascending colon as a contrasting dark mass.">
            <a:extLst>
              <a:ext uri="{FF2B5EF4-FFF2-40B4-BE49-F238E27FC236}">
                <a16:creationId xmlns:a16="http://schemas.microsoft.com/office/drawing/2014/main" id="{0F7E8B78-710A-41C4-9C7A-8B9B8666122A}"/>
              </a:ext>
            </a:extLst>
          </p:cNvPr>
          <p:cNvPicPr>
            <a:picLocks noGrp="1" noChangeAspect="1"/>
          </p:cNvPicPr>
          <p:nvPr>
            <p:ph sz="quarter" idx="16"/>
          </p:nvPr>
        </p:nvPicPr>
        <p:blipFill>
          <a:blip r:embed="rId2"/>
          <a:stretch>
            <a:fillRect/>
          </a:stretch>
        </p:blipFill>
        <p:spPr>
          <a:xfrm>
            <a:off x="672993" y="1396314"/>
            <a:ext cx="7798014" cy="4831491"/>
          </a:xfrm>
          <a:prstGeom prst="rect">
            <a:avLst/>
          </a:prstGeom>
        </p:spPr>
      </p:pic>
    </p:spTree>
    <p:extLst>
      <p:ext uri="{BB962C8B-B14F-4D97-AF65-F5344CB8AC3E}">
        <p14:creationId xmlns:p14="http://schemas.microsoft.com/office/powerpoint/2010/main" val="27156156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20E5536-5922-4C17-A540-0BF1DFD3336C}"/>
              </a:ext>
            </a:extLst>
          </p:cNvPr>
          <p:cNvSpPr>
            <a:spLocks noGrp="1"/>
          </p:cNvSpPr>
          <p:nvPr>
            <p:ph type="title"/>
          </p:nvPr>
        </p:nvSpPr>
        <p:spPr>
          <a:xfrm>
            <a:off x="219958" y="447075"/>
            <a:ext cx="8534400" cy="1014221"/>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MRI and CT</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54F744CE-6DDC-4206-AFE2-BD27AEC24B61}"/>
              </a:ext>
            </a:extLst>
          </p:cNvPr>
          <p:cNvGraphicFramePr>
            <a:graphicFrameLocks noGrp="1"/>
          </p:cNvGraphicFramePr>
          <p:nvPr>
            <p:ph sz="quarter" idx="16"/>
            <p:extLst>
              <p:ext uri="{D42A27DB-BD31-4B8C-83A1-F6EECF244321}">
                <p14:modId xmlns:p14="http://schemas.microsoft.com/office/powerpoint/2010/main" val="1673102022"/>
              </p:ext>
            </p:extLst>
          </p:nvPr>
        </p:nvGraphicFramePr>
        <p:xfrm>
          <a:off x="656463" y="2121077"/>
          <a:ext cx="7831074" cy="3092336"/>
        </p:xfrm>
        <a:graphic>
          <a:graphicData uri="http://schemas.openxmlformats.org/drawingml/2006/table">
            <a:tbl>
              <a:tblPr firstRow="1" bandRow="1">
                <a:tableStyleId>{69012ECD-51FC-41F1-AA8D-1B2483CD663E}</a:tableStyleId>
              </a:tblPr>
              <a:tblGrid>
                <a:gridCol w="3711018">
                  <a:extLst>
                    <a:ext uri="{9D8B030D-6E8A-4147-A177-3AD203B41FA5}">
                      <a16:colId xmlns:a16="http://schemas.microsoft.com/office/drawing/2014/main" val="1902622396"/>
                    </a:ext>
                  </a:extLst>
                </a:gridCol>
                <a:gridCol w="4120056">
                  <a:extLst>
                    <a:ext uri="{9D8B030D-6E8A-4147-A177-3AD203B41FA5}">
                      <a16:colId xmlns:a16="http://schemas.microsoft.com/office/drawing/2014/main" val="3142926679"/>
                    </a:ext>
                  </a:extLst>
                </a:gridCol>
              </a:tblGrid>
              <a:tr h="0">
                <a:tc>
                  <a:txBody>
                    <a:bodyPr/>
                    <a:lstStyle/>
                    <a:p>
                      <a:r>
                        <a:rPr lang="en-US" sz="1600" b="1" dirty="0"/>
                        <a:t>Magnetic Resonance Imaging (MRI)</a:t>
                      </a:r>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Computed Tomography (CT)</a:t>
                      </a:r>
                    </a:p>
                  </a:txBody>
                  <a:tcPr marT="41564" marB="41564"/>
                </a:tc>
                <a:extLst>
                  <a:ext uri="{0D108BD9-81ED-4DB2-BD59-A6C34878D82A}">
                    <a16:rowId xmlns:a16="http://schemas.microsoft.com/office/drawing/2014/main" val="3514285083"/>
                  </a:ext>
                </a:extLst>
              </a:tr>
              <a:tr h="20293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Procedure</a:t>
                      </a:r>
                      <a:r>
                        <a:rPr lang="en-US" sz="1600" b="1" dirty="0"/>
                        <a:t>: </a:t>
                      </a:r>
                      <a:r>
                        <a:rPr lang="en-US" sz="1600" dirty="0"/>
                        <a:t>The body is exposed to a high-energy magnetic field, which causes protons (small positive particles within atoms, such as hydrogen) in body fluids and tissues to arrange themselves in relation to the field. Then a pulse of radio waves "reads" these ion patterns, and a color-coded image is assembled on a video monitor. The result is a two- or three- dimensional blueprint of cellular chemistry.</a:t>
                      </a:r>
                      <a:endParaRPr lang="en-US" sz="1600" b="0" dirty="0"/>
                    </a:p>
                  </a:txBody>
                  <a:tcPr marT="41564" marB="41564"/>
                </a:tc>
                <a:tc>
                  <a:txBody>
                    <a:bodyPr/>
                    <a:lstStyle/>
                    <a:p>
                      <a:pPr>
                        <a:spcAft>
                          <a:spcPts val="600"/>
                        </a:spcAft>
                      </a:pPr>
                      <a:r>
                        <a:rPr lang="en-US" sz="1600" dirty="0"/>
                        <a:t>[formerly called computerized axial tomography (C</a:t>
                      </a:r>
                      <a:r>
                        <a:rPr lang="en-US" sz="100" dirty="0"/>
                        <a:t> </a:t>
                      </a:r>
                      <a:r>
                        <a:rPr lang="en-US" sz="1600" dirty="0"/>
                        <a:t>A</a:t>
                      </a:r>
                      <a:r>
                        <a:rPr lang="en-US" sz="100" dirty="0"/>
                        <a:t> </a:t>
                      </a:r>
                      <a:r>
                        <a:rPr lang="en-US" sz="1600" dirty="0"/>
                        <a:t>T) scanning)</a:t>
                      </a:r>
                    </a:p>
                    <a:p>
                      <a:pPr>
                        <a:spcAft>
                          <a:spcPts val="600"/>
                        </a:spcAft>
                      </a:pPr>
                      <a:r>
                        <a:rPr lang="en-US" sz="1600" b="1" i="1" dirty="0"/>
                        <a:t>Procedure</a:t>
                      </a:r>
                      <a:r>
                        <a:rPr lang="en-US" sz="1600" b="1" dirty="0"/>
                        <a:t>: </a:t>
                      </a:r>
                      <a:r>
                        <a:rPr lang="en-US" sz="1600" dirty="0"/>
                        <a:t>In this form of computer-assisted radiography, an x-ray beam traces an arc at multiple angles around a section of the body. The resulting transverse section of the body, called a CT scan, is shown on a video monitor.</a:t>
                      </a:r>
                      <a:endParaRPr lang="en-US" sz="1600" b="0" dirty="0"/>
                    </a:p>
                  </a:txBody>
                  <a:tcPr marT="41564" marB="41564"/>
                </a:tc>
                <a:extLst>
                  <a:ext uri="{0D108BD9-81ED-4DB2-BD59-A6C34878D82A}">
                    <a16:rowId xmlns:a16="http://schemas.microsoft.com/office/drawing/2014/main" val="785471283"/>
                  </a:ext>
                </a:extLst>
              </a:tr>
            </a:tbl>
          </a:graphicData>
        </a:graphic>
      </p:graphicFrame>
    </p:spTree>
    <p:extLst>
      <p:ext uri="{BB962C8B-B14F-4D97-AF65-F5344CB8AC3E}">
        <p14:creationId xmlns:p14="http://schemas.microsoft.com/office/powerpoint/2010/main" val="14377987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20E5536-5922-4C17-A540-0BF1DFD3336C}"/>
              </a:ext>
            </a:extLst>
          </p:cNvPr>
          <p:cNvSpPr>
            <a:spLocks noGrp="1"/>
          </p:cNvSpPr>
          <p:nvPr>
            <p:ph type="title"/>
          </p:nvPr>
        </p:nvSpPr>
        <p:spPr>
          <a:xfrm>
            <a:off x="219958" y="450793"/>
            <a:ext cx="8534400" cy="1115643"/>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MRI and CT</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54F744CE-6DDC-4206-AFE2-BD27AEC24B61}"/>
              </a:ext>
            </a:extLst>
          </p:cNvPr>
          <p:cNvGraphicFramePr>
            <a:graphicFrameLocks noGrp="1"/>
          </p:cNvGraphicFramePr>
          <p:nvPr>
            <p:ph sz="quarter" idx="16"/>
            <p:extLst>
              <p:ext uri="{D42A27DB-BD31-4B8C-83A1-F6EECF244321}">
                <p14:modId xmlns:p14="http://schemas.microsoft.com/office/powerpoint/2010/main" val="2665312572"/>
              </p:ext>
            </p:extLst>
          </p:nvPr>
        </p:nvGraphicFramePr>
        <p:xfrm>
          <a:off x="619677" y="1963428"/>
          <a:ext cx="7904646" cy="3474720"/>
        </p:xfrm>
        <a:graphic>
          <a:graphicData uri="http://schemas.openxmlformats.org/drawingml/2006/table">
            <a:tbl>
              <a:tblPr firstRow="1" bandRow="1">
                <a:tableStyleId>{69012ECD-51FC-41F1-AA8D-1B2483CD663E}</a:tableStyleId>
              </a:tblPr>
              <a:tblGrid>
                <a:gridCol w="3805611">
                  <a:extLst>
                    <a:ext uri="{9D8B030D-6E8A-4147-A177-3AD203B41FA5}">
                      <a16:colId xmlns:a16="http://schemas.microsoft.com/office/drawing/2014/main" val="1902622396"/>
                    </a:ext>
                  </a:extLst>
                </a:gridCol>
                <a:gridCol w="4099035">
                  <a:extLst>
                    <a:ext uri="{9D8B030D-6E8A-4147-A177-3AD203B41FA5}">
                      <a16:colId xmlns:a16="http://schemas.microsoft.com/office/drawing/2014/main" val="3142926679"/>
                    </a:ext>
                  </a:extLst>
                </a:gridCol>
              </a:tblGrid>
              <a:tr h="0">
                <a:tc>
                  <a:txBody>
                    <a:bodyPr/>
                    <a:lstStyle/>
                    <a:p>
                      <a:r>
                        <a:rPr lang="en-US" sz="1800" b="1" dirty="0"/>
                        <a:t>Magnetic Resonance Imaging (MRI)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Computed Tomography (CT)</a:t>
                      </a:r>
                    </a:p>
                  </a:txBody>
                  <a:tcPr/>
                </a:tc>
                <a:extLst>
                  <a:ext uri="{0D108BD9-81ED-4DB2-BD59-A6C34878D82A}">
                    <a16:rowId xmlns:a16="http://schemas.microsoft.com/office/drawing/2014/main" val="3514285083"/>
                  </a:ext>
                </a:extLst>
              </a:tr>
              <a:tr h="2208032">
                <a:tc>
                  <a:txBody>
                    <a:bodyPr/>
                    <a:lstStyle/>
                    <a:p>
                      <a:r>
                        <a:rPr lang="en-US" sz="1800" b="1" i="1" dirty="0"/>
                        <a:t>Comments</a:t>
                      </a:r>
                      <a:r>
                        <a:rPr lang="en-US" sz="1800" b="0" dirty="0"/>
                        <a:t>: Relatively safe but cannot be used on patients with metal in their bodies. Shows fine details for soft tissues but not for bones. Most useful for differentiating between normal and abnormal tissues. Used to detect tumors and artery-clogging fatty plaques; reveal brain abnormalities; measure blood flow; and detect a variety of musculoskeletal, liver, and kidney disorders. </a:t>
                      </a:r>
                    </a:p>
                  </a:txBody>
                  <a:tcPr/>
                </a:tc>
                <a:tc>
                  <a:txBody>
                    <a:bodyPr/>
                    <a:lstStyle/>
                    <a:p>
                      <a:pPr>
                        <a:spcAft>
                          <a:spcPts val="600"/>
                        </a:spcAft>
                      </a:pPr>
                      <a:r>
                        <a:rPr lang="en-US" sz="1800" b="1" dirty="0"/>
                        <a:t>Comments: </a:t>
                      </a:r>
                      <a:r>
                        <a:rPr lang="en-US" sz="1800" dirty="0"/>
                        <a:t>Visualizes soft tissues and organs with much more detail than conventional radiographs. Differing tissue densities show up as various shades of gray. Multiple scans can be assembled to build three"−"dimensional views of structures (described next). Whole-body CT scanning typically targets the torso and appears to provide the most benefit in screening for lung cancers, coronary artery disease, and kidney cancers.</a:t>
                      </a:r>
                    </a:p>
                  </a:txBody>
                  <a:tcPr/>
                </a:tc>
                <a:extLst>
                  <a:ext uri="{0D108BD9-81ED-4DB2-BD59-A6C34878D82A}">
                    <a16:rowId xmlns:a16="http://schemas.microsoft.com/office/drawing/2014/main" val="785471283"/>
                  </a:ext>
                </a:extLst>
              </a:tr>
            </a:tbl>
          </a:graphicData>
        </a:graphic>
      </p:graphicFrame>
    </p:spTree>
    <p:extLst>
      <p:ext uri="{BB962C8B-B14F-4D97-AF65-F5344CB8AC3E}">
        <p14:creationId xmlns:p14="http://schemas.microsoft.com/office/powerpoint/2010/main" val="29767026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2FF737-1328-4BDF-B181-21D51CBAA18E}"/>
              </a:ext>
            </a:extLst>
          </p:cNvPr>
          <p:cNvSpPr>
            <a:spLocks noGrp="1"/>
          </p:cNvSpPr>
          <p:nvPr>
            <p:ph type="title"/>
          </p:nvPr>
        </p:nvSpPr>
        <p:spPr>
          <a:xfrm>
            <a:off x="304800" y="434068"/>
            <a:ext cx="8534400" cy="1115643"/>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MRI and CT</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pic>
        <p:nvPicPr>
          <p:cNvPr id="2" name="Content Placeholder 1" descr="A magnetic resonance image, or M R I, shows a brain in sagittal section and a computed tomography scan, or C T scan, of the thorax in inferior view shows the heart, aorta, vertebra, and a left rib from superior to inferior.">
            <a:extLst>
              <a:ext uri="{FF2B5EF4-FFF2-40B4-BE49-F238E27FC236}">
                <a16:creationId xmlns:a16="http://schemas.microsoft.com/office/drawing/2014/main" id="{D974C4C8-786B-4D4A-BAC0-E846635D3B5C}"/>
              </a:ext>
            </a:extLst>
          </p:cNvPr>
          <p:cNvPicPr>
            <a:picLocks noGrp="1" noChangeAspect="1"/>
          </p:cNvPicPr>
          <p:nvPr>
            <p:ph sz="quarter" idx="16"/>
          </p:nvPr>
        </p:nvPicPr>
        <p:blipFill>
          <a:blip r:embed="rId2"/>
          <a:stretch>
            <a:fillRect/>
          </a:stretch>
        </p:blipFill>
        <p:spPr>
          <a:xfrm>
            <a:off x="675409" y="2112142"/>
            <a:ext cx="7793182" cy="3595255"/>
          </a:xfrm>
          <a:prstGeom prst="rect">
            <a:avLst/>
          </a:prstGeom>
        </p:spPr>
      </p:pic>
    </p:spTree>
    <p:extLst>
      <p:ext uri="{BB962C8B-B14F-4D97-AF65-F5344CB8AC3E}">
        <p14:creationId xmlns:p14="http://schemas.microsoft.com/office/powerpoint/2010/main" val="30850380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C1472-D6EB-4C3D-8F5B-0EC0435AC575}"/>
              </a:ext>
            </a:extLst>
          </p:cNvPr>
          <p:cNvSpPr>
            <a:spLocks noGrp="1"/>
          </p:cNvSpPr>
          <p:nvPr>
            <p:ph type="title"/>
          </p:nvPr>
        </p:nvSpPr>
        <p:spPr/>
        <p:txBody>
          <a:bodyPr>
            <a:normAutofit fontScale="90000"/>
          </a:bodyPr>
          <a:lstStyle/>
          <a:p>
            <a:r>
              <a:rPr lang="en-US" sz="4000" dirty="0">
                <a:latin typeface="Calibri" panose="020F0502020204030204" pitchFamily="34" charset="0"/>
                <a:cs typeface="Calibri" panose="020F0502020204030204" pitchFamily="34" charset="0"/>
              </a:rPr>
              <a:t>Medical Imaging Procedures: Ultrasound Scanning</a:t>
            </a:r>
            <a:endParaRPr lang="en-US" dirty="0">
              <a:latin typeface="Calibri" panose="020F0502020204030204" pitchFamily="34" charset="0"/>
              <a:cs typeface="Calibri" panose="020F0502020204030204" pitchFamily="34" charset="0"/>
            </a:endParaRPr>
          </a:p>
        </p:txBody>
      </p:sp>
      <p:graphicFrame>
        <p:nvGraphicFramePr>
          <p:cNvPr id="15" name="Table 15">
            <a:extLst>
              <a:ext uri="{FF2B5EF4-FFF2-40B4-BE49-F238E27FC236}">
                <a16:creationId xmlns:a16="http://schemas.microsoft.com/office/drawing/2014/main" id="{C09EA5BC-D223-4B71-903A-89D67ED905CD}"/>
              </a:ext>
            </a:extLst>
          </p:cNvPr>
          <p:cNvGraphicFramePr>
            <a:graphicFrameLocks noGrp="1"/>
          </p:cNvGraphicFramePr>
          <p:nvPr>
            <p:ph type="tbl" sz="quarter" idx="20"/>
            <p:extLst>
              <p:ext uri="{D42A27DB-BD31-4B8C-83A1-F6EECF244321}">
                <p14:modId xmlns:p14="http://schemas.microsoft.com/office/powerpoint/2010/main" val="1304256850"/>
              </p:ext>
            </p:extLst>
          </p:nvPr>
        </p:nvGraphicFramePr>
        <p:xfrm>
          <a:off x="489880" y="1987594"/>
          <a:ext cx="8170644" cy="2108200"/>
        </p:xfrm>
        <a:graphic>
          <a:graphicData uri="http://schemas.openxmlformats.org/drawingml/2006/table">
            <a:tbl>
              <a:tblPr firstRow="1" bandRow="1">
                <a:tableStyleId>{69012ECD-51FC-41F1-AA8D-1B2483CD663E}</a:tableStyleId>
              </a:tblPr>
              <a:tblGrid>
                <a:gridCol w="8170644">
                  <a:extLst>
                    <a:ext uri="{9D8B030D-6E8A-4147-A177-3AD203B41FA5}">
                      <a16:colId xmlns:a16="http://schemas.microsoft.com/office/drawing/2014/main" val="1907721915"/>
                    </a:ext>
                  </a:extLst>
                </a:gridCol>
              </a:tblGrid>
              <a:tr h="370840">
                <a:tc>
                  <a:txBody>
                    <a:bodyPr/>
                    <a:lstStyle/>
                    <a:p>
                      <a:r>
                        <a:rPr lang="en-US" dirty="0"/>
                        <a:t>Ultrasound Scanning</a:t>
                      </a:r>
                    </a:p>
                  </a:txBody>
                  <a:tcPr/>
                </a:tc>
                <a:extLst>
                  <a:ext uri="{0D108BD9-81ED-4DB2-BD59-A6C34878D82A}">
                    <a16:rowId xmlns:a16="http://schemas.microsoft.com/office/drawing/2014/main" val="1063533701"/>
                  </a:ext>
                </a:extLst>
              </a:tr>
              <a:tr h="370840">
                <a:tc>
                  <a:txBody>
                    <a:bodyPr/>
                    <a:lstStyle/>
                    <a:p>
                      <a:r>
                        <a:rPr lang="en-US" b="1" i="1" dirty="0"/>
                        <a:t>Procedure</a:t>
                      </a:r>
                      <a:r>
                        <a:rPr lang="en-US" b="0" dirty="0"/>
                        <a:t>: High</a:t>
                      </a:r>
                      <a:r>
                        <a:rPr lang="en-US" sz="1800" kern="1200" dirty="0">
                          <a:solidFill>
                            <a:schemeClr val="dk1"/>
                          </a:solidFill>
                          <a:effectLst/>
                        </a:rPr>
                        <a:t>‐</a:t>
                      </a:r>
                      <a:r>
                        <a:rPr lang="en-US" b="0" dirty="0"/>
                        <a:t>frequency sound waves produced by a handheld wand reflect off body tissues and are detected by the same instrument. The image, which may be still or moving, is called a sonogram (SON-</a:t>
                      </a:r>
                      <a:r>
                        <a:rPr lang="en-US" b="0" dirty="0" err="1"/>
                        <a:t>ō</a:t>
                      </a:r>
                      <a:r>
                        <a:rPr lang="en-US" b="0" dirty="0"/>
                        <a:t>-gram) and is shown on a video monitor. </a:t>
                      </a:r>
                    </a:p>
                    <a:p>
                      <a:pPr>
                        <a:spcAft>
                          <a:spcPts val="600"/>
                        </a:spcAft>
                      </a:pPr>
                      <a:r>
                        <a:rPr lang="en-US" b="1" i="1" dirty="0"/>
                        <a:t>Comments</a:t>
                      </a:r>
                      <a:r>
                        <a:rPr lang="en-US" b="0" dirty="0"/>
                        <a:t>: Safe, noninvasive, painless, and uses no dyes. Most commonly used to visualize the fetus during pregnancy. Also used to observe the size, location, and actions of organs and blood flow through blood vessels </a:t>
                      </a:r>
                      <a:r>
                        <a:rPr lang="en-US" b="1" dirty="0"/>
                        <a:t>(Doppler ultrasound).</a:t>
                      </a:r>
                    </a:p>
                  </a:txBody>
                  <a:tcPr/>
                </a:tc>
                <a:extLst>
                  <a:ext uri="{0D108BD9-81ED-4DB2-BD59-A6C34878D82A}">
                    <a16:rowId xmlns:a16="http://schemas.microsoft.com/office/drawing/2014/main" val="2370716775"/>
                  </a:ext>
                </a:extLst>
              </a:tr>
            </a:tbl>
          </a:graphicData>
        </a:graphic>
      </p:graphicFrame>
      <p:pic>
        <p:nvPicPr>
          <p:cNvPr id="19" name="Content Placeholder 9" descr="A sonogram of a fetus shows a frontal view of the forehead, eye, and hand.">
            <a:extLst>
              <a:ext uri="{FF2B5EF4-FFF2-40B4-BE49-F238E27FC236}">
                <a16:creationId xmlns:a16="http://schemas.microsoft.com/office/drawing/2014/main" id="{47C6C011-EAC1-44C6-9BD6-127391840E70}"/>
              </a:ext>
            </a:extLst>
          </p:cNvPr>
          <p:cNvPicPr>
            <a:picLocks noGrp="1" noChangeAspect="1"/>
          </p:cNvPicPr>
          <p:nvPr>
            <p:ph type="pic" sz="quarter" idx="19"/>
          </p:nvPr>
        </p:nvPicPr>
        <p:blipFill>
          <a:blip r:embed="rId2" cstate="print">
            <a:extLst>
              <a:ext uri="{28A0092B-C50C-407E-A947-70E740481C1C}">
                <a14:useLocalDpi xmlns:a14="http://schemas.microsoft.com/office/drawing/2010/main" val="0"/>
              </a:ext>
            </a:extLst>
          </a:blip>
          <a:stretch>
            <a:fillRect/>
          </a:stretch>
        </p:blipFill>
        <p:spPr>
          <a:xfrm>
            <a:off x="3476987" y="4152275"/>
            <a:ext cx="2190026" cy="2136611"/>
          </a:xfrm>
          <a:prstGeom prst="rect">
            <a:avLst/>
          </a:prstGeom>
        </p:spPr>
      </p:pic>
    </p:spTree>
    <p:extLst>
      <p:ext uri="{BB962C8B-B14F-4D97-AF65-F5344CB8AC3E}">
        <p14:creationId xmlns:p14="http://schemas.microsoft.com/office/powerpoint/2010/main" val="2996493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08A70E0-5F35-4A9A-AFBA-CEB764502B64}"/>
              </a:ext>
            </a:extLst>
          </p:cNvPr>
          <p:cNvSpPr>
            <a:spLocks noGrp="1"/>
          </p:cNvSpPr>
          <p:nvPr>
            <p:ph type="title"/>
          </p:nvPr>
        </p:nvSpPr>
        <p:spPr>
          <a:xfrm>
            <a:off x="304800" y="421723"/>
            <a:ext cx="8534400" cy="1115643"/>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C</a:t>
            </a:r>
            <a:r>
              <a:rPr lang="en-US" sz="100" dirty="0">
                <a:latin typeface="Calibri" panose="020F0502020204030204" pitchFamily="34" charset="0"/>
                <a:cs typeface="Calibri" panose="020F0502020204030204" pitchFamily="34" charset="0"/>
              </a:rPr>
              <a:t> </a:t>
            </a:r>
            <a:r>
              <a:rPr lang="en-US" sz="4400" dirty="0" err="1">
                <a:latin typeface="Calibri" panose="020F0502020204030204" pitchFamily="34" charset="0"/>
                <a:cs typeface="Calibri" panose="020F0502020204030204" pitchFamily="34" charset="0"/>
              </a:rPr>
              <a:t>C</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T</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A and P</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E</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T scan</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F76407A6-EE3E-4F8B-8FAB-E1B6BDD20B1C}"/>
              </a:ext>
            </a:extLst>
          </p:cNvPr>
          <p:cNvGraphicFramePr>
            <a:graphicFrameLocks noGrp="1"/>
          </p:cNvGraphicFramePr>
          <p:nvPr>
            <p:ph sz="quarter" idx="16"/>
            <p:extLst>
              <p:ext uri="{D42A27DB-BD31-4B8C-83A1-F6EECF244321}">
                <p14:modId xmlns:p14="http://schemas.microsoft.com/office/powerpoint/2010/main" val="700203951"/>
              </p:ext>
            </p:extLst>
          </p:nvPr>
        </p:nvGraphicFramePr>
        <p:xfrm>
          <a:off x="304800" y="1752600"/>
          <a:ext cx="8534400" cy="4328160"/>
        </p:xfrm>
        <a:graphic>
          <a:graphicData uri="http://schemas.openxmlformats.org/drawingml/2006/table">
            <a:tbl>
              <a:tblPr firstRow="1" bandRow="1">
                <a:tableStyleId>{69012ECD-51FC-41F1-AA8D-1B2483CD663E}</a:tableStyleId>
              </a:tblPr>
              <a:tblGrid>
                <a:gridCol w="4267200">
                  <a:extLst>
                    <a:ext uri="{9D8B030D-6E8A-4147-A177-3AD203B41FA5}">
                      <a16:colId xmlns:a16="http://schemas.microsoft.com/office/drawing/2014/main" val="2621271978"/>
                    </a:ext>
                  </a:extLst>
                </a:gridCol>
                <a:gridCol w="4267200">
                  <a:extLst>
                    <a:ext uri="{9D8B030D-6E8A-4147-A177-3AD203B41FA5}">
                      <a16:colId xmlns:a16="http://schemas.microsoft.com/office/drawing/2014/main" val="779135792"/>
                    </a:ext>
                  </a:extLst>
                </a:gridCol>
              </a:tblGrid>
              <a:tr h="370840">
                <a:tc>
                  <a:txBody>
                    <a:bodyPr/>
                    <a:lstStyle/>
                    <a:p>
                      <a:r>
                        <a:rPr lang="en-US" sz="1600" b="1" dirty="0"/>
                        <a:t>Coronary (CARDIAC) Computed Tomography Angiography (C</a:t>
                      </a:r>
                      <a:r>
                        <a:rPr lang="en-US" sz="100" b="1" dirty="0"/>
                        <a:t> </a:t>
                      </a:r>
                      <a:r>
                        <a:rPr lang="en-US" sz="1600" b="1" dirty="0" err="1"/>
                        <a:t>C</a:t>
                      </a:r>
                      <a:r>
                        <a:rPr lang="en-US" sz="100" b="1" dirty="0"/>
                        <a:t> </a:t>
                      </a:r>
                      <a:r>
                        <a:rPr lang="en-US" sz="1600" b="1" dirty="0"/>
                        <a:t>T</a:t>
                      </a:r>
                      <a:r>
                        <a:rPr lang="en-US" sz="100" b="1" dirty="0"/>
                        <a:t> </a:t>
                      </a:r>
                      <a:r>
                        <a:rPr lang="en-US" sz="1600" b="1" dirty="0"/>
                        <a:t>A) SCAN</a:t>
                      </a:r>
                    </a:p>
                  </a:txBody>
                  <a:tcPr/>
                </a:tc>
                <a:tc>
                  <a:txBody>
                    <a:bodyPr/>
                    <a:lstStyle/>
                    <a:p>
                      <a:r>
                        <a:rPr lang="en-US" sz="1600" b="1" dirty="0"/>
                        <a:t>Positron Emission Tomography (P</a:t>
                      </a:r>
                      <a:r>
                        <a:rPr lang="en-US" sz="100" b="1" dirty="0"/>
                        <a:t> </a:t>
                      </a:r>
                      <a:r>
                        <a:rPr lang="en-US" sz="1600" b="1" dirty="0"/>
                        <a:t>E</a:t>
                      </a:r>
                      <a:r>
                        <a:rPr lang="en-US" sz="100" b="1" dirty="0"/>
                        <a:t> </a:t>
                      </a:r>
                      <a:r>
                        <a:rPr lang="en-US" sz="1600" b="1" dirty="0"/>
                        <a:t>T)</a:t>
                      </a:r>
                    </a:p>
                  </a:txBody>
                  <a:tcPr/>
                </a:tc>
                <a:extLst>
                  <a:ext uri="{0D108BD9-81ED-4DB2-BD59-A6C34878D82A}">
                    <a16:rowId xmlns:a16="http://schemas.microsoft.com/office/drawing/2014/main" val="40776178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Procedure</a:t>
                      </a:r>
                      <a:r>
                        <a:rPr lang="en-US" sz="1600" b="1" dirty="0"/>
                        <a:t>: </a:t>
                      </a:r>
                      <a:r>
                        <a:rPr lang="en-US" sz="1600" dirty="0"/>
                        <a:t>In this form of computer-assisted radiography, an iodine-containing contrast medium is injected into a vein and a beta blocker is given to decrease heart rate. Then, numerous x-ray beams trace an arc around the heart and a scanner detects the x-ray beams and transmits them to a computer, which transforms the information into a three-dimensional image of the coronary blood vessels on a monitor. The image produced is called a</a:t>
                      </a:r>
                      <a:r>
                        <a:rPr lang="en-US" sz="1600" baseline="0" dirty="0"/>
                        <a:t> </a:t>
                      </a:r>
                      <a:r>
                        <a:rPr lang="en-US" sz="1600" i="1" dirty="0"/>
                        <a:t>CCT</a:t>
                      </a:r>
                      <a:r>
                        <a:rPr lang="en-US" sz="100" i="1" dirty="0"/>
                        <a:t> </a:t>
                      </a:r>
                      <a:r>
                        <a:rPr lang="en-US" sz="1600" i="1" dirty="0"/>
                        <a:t>A scan </a:t>
                      </a:r>
                      <a:r>
                        <a:rPr lang="en-US" sz="1600" dirty="0"/>
                        <a:t>and can be generated in less than 20 seconds.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1" dirty="0"/>
                        <a:t>Procedure</a:t>
                      </a:r>
                      <a:r>
                        <a:rPr lang="en-US" sz="1600" b="1" dirty="0"/>
                        <a:t>: </a:t>
                      </a:r>
                      <a:r>
                        <a:rPr lang="en-US" sz="1600" dirty="0"/>
                        <a:t>A substance that emits positrons (positively charged particles) is injected into the body, where it is taken up by tissues. The collision of positrons with negatively charged electrons in body tissues produces gamma rays (similar to x-rays) that are detected by gamma cameras positioned around the subject. A computer receives signals from the gamma cameras and constructs a </a:t>
                      </a:r>
                      <a:r>
                        <a:rPr lang="en-US" sz="1600" i="1" dirty="0"/>
                        <a:t>P</a:t>
                      </a:r>
                      <a:r>
                        <a:rPr lang="en-US" sz="100" i="1" dirty="0"/>
                        <a:t> </a:t>
                      </a:r>
                      <a:r>
                        <a:rPr lang="en-US" sz="1600" i="1" dirty="0"/>
                        <a:t>E</a:t>
                      </a:r>
                      <a:r>
                        <a:rPr lang="en-US" sz="100" i="1" dirty="0"/>
                        <a:t> </a:t>
                      </a:r>
                      <a:r>
                        <a:rPr lang="en-US" sz="1600" i="1" dirty="0"/>
                        <a:t>T </a:t>
                      </a:r>
                      <a:r>
                        <a:rPr lang="en-US" sz="1600" dirty="0"/>
                        <a:t>scan image, displayed in color on a video monitor. The P</a:t>
                      </a:r>
                      <a:r>
                        <a:rPr lang="en-US" sz="100" dirty="0"/>
                        <a:t> </a:t>
                      </a:r>
                      <a:r>
                        <a:rPr lang="en-US" sz="1600" dirty="0"/>
                        <a:t>E</a:t>
                      </a:r>
                      <a:r>
                        <a:rPr lang="en-US" sz="100" dirty="0"/>
                        <a:t> </a:t>
                      </a:r>
                      <a:r>
                        <a:rPr lang="en-US" sz="1600" dirty="0"/>
                        <a:t>T scan shows where the injected substance is being used in the body. In the P</a:t>
                      </a:r>
                      <a:r>
                        <a:rPr lang="en-US" sz="100" dirty="0"/>
                        <a:t> </a:t>
                      </a:r>
                      <a:r>
                        <a:rPr lang="en-US" sz="1600" dirty="0"/>
                        <a:t>E</a:t>
                      </a:r>
                      <a:r>
                        <a:rPr lang="en-US" sz="100" dirty="0"/>
                        <a:t> </a:t>
                      </a:r>
                      <a:r>
                        <a:rPr lang="en-US" sz="1600" dirty="0"/>
                        <a:t>T scan image shown here, the black and blue colors indicate minimal activity; the red, orange, yellow, and white colors indicate areas of increasingly greater activity.</a:t>
                      </a:r>
                      <a:endParaRPr lang="en-US" sz="1600" b="0" dirty="0"/>
                    </a:p>
                  </a:txBody>
                  <a:tcPr/>
                </a:tc>
                <a:extLst>
                  <a:ext uri="{0D108BD9-81ED-4DB2-BD59-A6C34878D82A}">
                    <a16:rowId xmlns:a16="http://schemas.microsoft.com/office/drawing/2014/main" val="3408724734"/>
                  </a:ext>
                </a:extLst>
              </a:tr>
            </a:tbl>
          </a:graphicData>
        </a:graphic>
      </p:graphicFrame>
    </p:spTree>
    <p:extLst>
      <p:ext uri="{BB962C8B-B14F-4D97-AF65-F5344CB8AC3E}">
        <p14:creationId xmlns:p14="http://schemas.microsoft.com/office/powerpoint/2010/main" val="23296010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56759B-FBF8-4349-9961-F48B38DC411B}"/>
              </a:ext>
            </a:extLst>
          </p:cNvPr>
          <p:cNvSpPr>
            <a:spLocks noGrp="1"/>
          </p:cNvSpPr>
          <p:nvPr>
            <p:ph type="title"/>
          </p:nvPr>
        </p:nvSpPr>
        <p:spPr>
          <a:xfrm>
            <a:off x="304800" y="476023"/>
            <a:ext cx="8534400" cy="1014221"/>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C</a:t>
            </a:r>
            <a:r>
              <a:rPr lang="en-US" sz="100" dirty="0">
                <a:latin typeface="Calibri" panose="020F0502020204030204" pitchFamily="34" charset="0"/>
                <a:cs typeface="Calibri" panose="020F0502020204030204" pitchFamily="34" charset="0"/>
              </a:rPr>
              <a:t> </a:t>
            </a:r>
            <a:r>
              <a:rPr lang="en-US" sz="4400" dirty="0" err="1">
                <a:latin typeface="Calibri" panose="020F0502020204030204" pitchFamily="34" charset="0"/>
                <a:cs typeface="Calibri" panose="020F0502020204030204" pitchFamily="34" charset="0"/>
              </a:rPr>
              <a:t>C</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T</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A and P</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E</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T scan</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A974497C-1588-4C6D-894D-37133F391624}"/>
              </a:ext>
            </a:extLst>
          </p:cNvPr>
          <p:cNvGraphicFramePr>
            <a:graphicFrameLocks noGrp="1"/>
          </p:cNvGraphicFramePr>
          <p:nvPr>
            <p:ph sz="quarter" idx="16"/>
            <p:extLst>
              <p:ext uri="{D42A27DB-BD31-4B8C-83A1-F6EECF244321}">
                <p14:modId xmlns:p14="http://schemas.microsoft.com/office/powerpoint/2010/main" val="4149676964"/>
              </p:ext>
            </p:extLst>
          </p:nvPr>
        </p:nvGraphicFramePr>
        <p:xfrm>
          <a:off x="304800" y="2082381"/>
          <a:ext cx="8534400" cy="3749040"/>
        </p:xfrm>
        <a:graphic>
          <a:graphicData uri="http://schemas.openxmlformats.org/drawingml/2006/table">
            <a:tbl>
              <a:tblPr firstRow="1" bandRow="1">
                <a:tableStyleId>{69012ECD-51FC-41F1-AA8D-1B2483CD663E}</a:tableStyleId>
              </a:tblPr>
              <a:tblGrid>
                <a:gridCol w="4267200">
                  <a:extLst>
                    <a:ext uri="{9D8B030D-6E8A-4147-A177-3AD203B41FA5}">
                      <a16:colId xmlns:a16="http://schemas.microsoft.com/office/drawing/2014/main" val="1712381515"/>
                    </a:ext>
                  </a:extLst>
                </a:gridCol>
                <a:gridCol w="4267200">
                  <a:extLst>
                    <a:ext uri="{9D8B030D-6E8A-4147-A177-3AD203B41FA5}">
                      <a16:colId xmlns:a16="http://schemas.microsoft.com/office/drawing/2014/main" val="652399088"/>
                    </a:ext>
                  </a:extLst>
                </a:gridCol>
              </a:tblGrid>
              <a:tr h="370840">
                <a:tc>
                  <a:txBody>
                    <a:bodyPr/>
                    <a:lstStyle/>
                    <a:p>
                      <a:r>
                        <a:rPr lang="en-US" b="1" dirty="0"/>
                        <a:t>Coronary (CARDIAC) Computed Tomography Angiography (C</a:t>
                      </a:r>
                      <a:r>
                        <a:rPr lang="en-US" sz="100" b="1" dirty="0"/>
                        <a:t> </a:t>
                      </a:r>
                      <a:r>
                        <a:rPr lang="en-US" b="1" dirty="0" err="1"/>
                        <a:t>C</a:t>
                      </a:r>
                      <a:r>
                        <a:rPr lang="en-US" sz="100" b="1" dirty="0"/>
                        <a:t> </a:t>
                      </a:r>
                      <a:r>
                        <a:rPr lang="en-US" b="1" dirty="0"/>
                        <a:t>T</a:t>
                      </a:r>
                      <a:r>
                        <a:rPr lang="en-US" sz="100" b="1" dirty="0"/>
                        <a:t> </a:t>
                      </a:r>
                      <a:r>
                        <a:rPr lang="en-US" b="1" dirty="0"/>
                        <a:t>A) SCAN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Positron Emission Tomography (P</a:t>
                      </a:r>
                      <a:r>
                        <a:rPr lang="en-US" sz="200" b="1" dirty="0"/>
                        <a:t> </a:t>
                      </a:r>
                      <a:r>
                        <a:rPr lang="en-US" sz="1800" b="1" dirty="0"/>
                        <a:t>E</a:t>
                      </a:r>
                      <a:r>
                        <a:rPr lang="en-US" sz="200" b="1" dirty="0"/>
                        <a:t> </a:t>
                      </a:r>
                      <a:r>
                        <a:rPr lang="en-US" sz="1800" b="1" dirty="0"/>
                        <a:t>T)</a:t>
                      </a:r>
                    </a:p>
                  </a:txBody>
                  <a:tcPr/>
                </a:tc>
                <a:extLst>
                  <a:ext uri="{0D108BD9-81ED-4DB2-BD59-A6C34878D82A}">
                    <a16:rowId xmlns:a16="http://schemas.microsoft.com/office/drawing/2014/main" val="7670607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Comments</a:t>
                      </a:r>
                      <a:r>
                        <a:rPr lang="en-US" sz="1800" b="1" dirty="0"/>
                        <a:t>: </a:t>
                      </a:r>
                      <a:r>
                        <a:rPr lang="en-US" sz="1800" dirty="0"/>
                        <a:t>Used primarily to determine if there are any coronary artery blockages (for example, atherosclerotic plaque or calcium) that may require an intervention such as angioplasty or stent. The C</a:t>
                      </a:r>
                      <a:r>
                        <a:rPr lang="en-US" sz="200" dirty="0"/>
                        <a:t> </a:t>
                      </a:r>
                      <a:r>
                        <a:rPr lang="en-US" sz="1800" dirty="0" err="1"/>
                        <a:t>C</a:t>
                      </a:r>
                      <a:r>
                        <a:rPr lang="en-US" sz="200" dirty="0"/>
                        <a:t> </a:t>
                      </a:r>
                      <a:r>
                        <a:rPr lang="en-US" sz="1800" dirty="0"/>
                        <a:t>T</a:t>
                      </a:r>
                      <a:r>
                        <a:rPr lang="en-US" sz="200" dirty="0"/>
                        <a:t> </a:t>
                      </a:r>
                      <a:r>
                        <a:rPr lang="en-US" sz="1800" dirty="0"/>
                        <a:t>A scan can be rotated, enlarged, and moved at any angle. The procedure can take thousands of images of the heart within the time of a single heartbeat, so it provides a great amount of detail about the heart's structure and function.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t>Comments</a:t>
                      </a:r>
                      <a:r>
                        <a:rPr lang="en-US" sz="1800" b="1" dirty="0"/>
                        <a:t>: </a:t>
                      </a:r>
                      <a:r>
                        <a:rPr lang="en-US" sz="1800" dirty="0"/>
                        <a:t>Used to study the physiology of body structures, such as metabolism in the brain or heart.</a:t>
                      </a:r>
                      <a:endParaRPr lang="en-US" sz="1800" b="0" dirty="0"/>
                    </a:p>
                  </a:txBody>
                  <a:tcPr/>
                </a:tc>
                <a:extLst>
                  <a:ext uri="{0D108BD9-81ED-4DB2-BD59-A6C34878D82A}">
                    <a16:rowId xmlns:a16="http://schemas.microsoft.com/office/drawing/2014/main" val="2377186116"/>
                  </a:ext>
                </a:extLst>
              </a:tr>
            </a:tbl>
          </a:graphicData>
        </a:graphic>
      </p:graphicFrame>
    </p:spTree>
    <p:extLst>
      <p:ext uri="{BB962C8B-B14F-4D97-AF65-F5344CB8AC3E}">
        <p14:creationId xmlns:p14="http://schemas.microsoft.com/office/powerpoint/2010/main" val="216210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724C3D-536D-4892-869D-CB1EEE7F9F1F}"/>
              </a:ext>
            </a:extLst>
          </p:cNvPr>
          <p:cNvSpPr>
            <a:spLocks noGrp="1"/>
          </p:cNvSpPr>
          <p:nvPr>
            <p:ph type="title"/>
          </p:nvPr>
        </p:nvSpPr>
        <p:spPr>
          <a:xfrm>
            <a:off x="304800" y="439777"/>
            <a:ext cx="8534400" cy="1014221"/>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C</a:t>
            </a:r>
            <a:r>
              <a:rPr lang="en-US" sz="100" dirty="0">
                <a:latin typeface="Calibri" panose="020F0502020204030204" pitchFamily="34" charset="0"/>
                <a:cs typeface="Calibri" panose="020F0502020204030204" pitchFamily="34" charset="0"/>
              </a:rPr>
              <a:t> </a:t>
            </a:r>
            <a:r>
              <a:rPr lang="en-US" sz="4400" dirty="0" err="1">
                <a:latin typeface="Calibri" panose="020F0502020204030204" pitchFamily="34" charset="0"/>
                <a:cs typeface="Calibri" panose="020F0502020204030204" pitchFamily="34" charset="0"/>
              </a:rPr>
              <a:t>C</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T</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A and P</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E</a:t>
            </a:r>
            <a:r>
              <a:rPr lang="en-US" sz="1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T scan</a:t>
            </a:r>
            <a:r>
              <a:rPr lang="en-US" dirty="0">
                <a:latin typeface="Calibri" panose="020F0502020204030204" pitchFamily="34" charset="0"/>
                <a:cs typeface="Calibri" panose="020F0502020204030204" pitchFamily="34" charset="0"/>
              </a:rPr>
              <a:t> </a:t>
            </a:r>
            <a:endParaRPr lang="en-US" sz="2200" b="0" dirty="0">
              <a:latin typeface="Calibri" panose="020F0502020204030204" pitchFamily="34" charset="0"/>
              <a:cs typeface="Calibri" panose="020F0502020204030204" pitchFamily="34" charset="0"/>
            </a:endParaRPr>
          </a:p>
        </p:txBody>
      </p:sp>
      <p:pic>
        <p:nvPicPr>
          <p:cNvPr id="2" name="Content Placeholder 1" descr="A coronary computed tomography angiography scan, also called a cardiac computed tomography angiography scan or C C T A, shows a normal left coronary artery and a blocked right coronary artery; and a positron emission tomography scan, or P E T scan, shows a transverse section of the brain. A circled area at upper left indicates where a stroke occurred.">
            <a:extLst>
              <a:ext uri="{FF2B5EF4-FFF2-40B4-BE49-F238E27FC236}">
                <a16:creationId xmlns:a16="http://schemas.microsoft.com/office/drawing/2014/main" id="{6B3C958A-0EBB-4330-826E-A902E7BA2D7B}"/>
              </a:ext>
            </a:extLst>
          </p:cNvPr>
          <p:cNvPicPr>
            <a:picLocks noGrp="1" noChangeAspect="1"/>
          </p:cNvPicPr>
          <p:nvPr>
            <p:ph sz="quarter" idx="16"/>
          </p:nvPr>
        </p:nvPicPr>
        <p:blipFill>
          <a:blip r:embed="rId2"/>
          <a:stretch>
            <a:fillRect/>
          </a:stretch>
        </p:blipFill>
        <p:spPr>
          <a:xfrm>
            <a:off x="285750" y="1724833"/>
            <a:ext cx="8572500" cy="4351020"/>
          </a:xfrm>
          <a:prstGeom prst="rect">
            <a:avLst/>
          </a:prstGeom>
        </p:spPr>
      </p:pic>
    </p:spTree>
    <p:extLst>
      <p:ext uri="{BB962C8B-B14F-4D97-AF65-F5344CB8AC3E}">
        <p14:creationId xmlns:p14="http://schemas.microsoft.com/office/powerpoint/2010/main" val="2571842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144D50-AEBB-4D03-AB98-56BABB7763F7}"/>
              </a:ext>
            </a:extLst>
          </p:cNvPr>
          <p:cNvSpPr>
            <a:spLocks noGrp="1"/>
          </p:cNvSpPr>
          <p:nvPr>
            <p:ph type="title"/>
          </p:nvPr>
        </p:nvSpPr>
        <p:spPr/>
        <p:txBody>
          <a:bodyPr>
            <a:noAutofit/>
          </a:bodyPr>
          <a:lstStyle/>
          <a:p>
            <a:r>
              <a:rPr lang="en-US" dirty="0">
                <a:latin typeface="Calibri" panose="020F0502020204030204" pitchFamily="34" charset="0"/>
                <a:cs typeface="Calibri" panose="020F0502020204030204" pitchFamily="34" charset="0"/>
              </a:rPr>
              <a:t>Medical Imaging Procedures: Endoscopy</a:t>
            </a:r>
          </a:p>
        </p:txBody>
      </p:sp>
      <p:graphicFrame>
        <p:nvGraphicFramePr>
          <p:cNvPr id="9" name="Table 9">
            <a:extLst>
              <a:ext uri="{FF2B5EF4-FFF2-40B4-BE49-F238E27FC236}">
                <a16:creationId xmlns:a16="http://schemas.microsoft.com/office/drawing/2014/main" id="{29C9572B-F938-4AE9-A622-EC2123C7BB34}"/>
              </a:ext>
            </a:extLst>
          </p:cNvPr>
          <p:cNvGraphicFramePr>
            <a:graphicFrameLocks noGrp="1"/>
          </p:cNvGraphicFramePr>
          <p:nvPr>
            <p:ph sz="quarter" idx="16"/>
            <p:extLst>
              <p:ext uri="{D42A27DB-BD31-4B8C-83A1-F6EECF244321}">
                <p14:modId xmlns:p14="http://schemas.microsoft.com/office/powerpoint/2010/main" val="3036546800"/>
              </p:ext>
            </p:extLst>
          </p:nvPr>
        </p:nvGraphicFramePr>
        <p:xfrm>
          <a:off x="441435" y="1983828"/>
          <a:ext cx="8261131" cy="1889760"/>
        </p:xfrm>
        <a:graphic>
          <a:graphicData uri="http://schemas.openxmlformats.org/drawingml/2006/table">
            <a:tbl>
              <a:tblPr firstRow="1" bandRow="1">
                <a:tableStyleId>{69012ECD-51FC-41F1-AA8D-1B2483CD663E}</a:tableStyleId>
              </a:tblPr>
              <a:tblGrid>
                <a:gridCol w="8261131">
                  <a:extLst>
                    <a:ext uri="{9D8B030D-6E8A-4147-A177-3AD203B41FA5}">
                      <a16:colId xmlns:a16="http://schemas.microsoft.com/office/drawing/2014/main" val="2197605988"/>
                    </a:ext>
                  </a:extLst>
                </a:gridCol>
              </a:tblGrid>
              <a:tr h="150904">
                <a:tc>
                  <a:txBody>
                    <a:bodyPr/>
                    <a:lstStyle/>
                    <a:p>
                      <a:r>
                        <a:rPr lang="en-US" sz="1600" b="1" dirty="0"/>
                        <a:t>Endoscopy</a:t>
                      </a:r>
                    </a:p>
                  </a:txBody>
                  <a:tcPr/>
                </a:tc>
                <a:extLst>
                  <a:ext uri="{0D108BD9-81ED-4DB2-BD59-A6C34878D82A}">
                    <a16:rowId xmlns:a16="http://schemas.microsoft.com/office/drawing/2014/main" val="2004495894"/>
                  </a:ext>
                </a:extLst>
              </a:tr>
              <a:tr h="1378595">
                <a:tc>
                  <a:txBody>
                    <a:bodyPr/>
                    <a:lstStyle/>
                    <a:p>
                      <a:r>
                        <a:rPr lang="en-US" sz="1600" b="1" i="1" dirty="0"/>
                        <a:t>Procedure</a:t>
                      </a:r>
                      <a:r>
                        <a:rPr lang="en-US" sz="1600" b="1" dirty="0"/>
                        <a:t>: </a:t>
                      </a:r>
                      <a:r>
                        <a:rPr lang="en-US" sz="1600" dirty="0"/>
                        <a:t>Endoscopy involves the visual examination of the inside of body organs or cavities using a lighted instrument with lenses called an </a:t>
                      </a:r>
                      <a:r>
                        <a:rPr lang="en-US" sz="1600" i="1" dirty="0"/>
                        <a:t>endoscope</a:t>
                      </a:r>
                      <a:r>
                        <a:rPr lang="en-US" sz="1600" dirty="0"/>
                        <a:t>. The image is viewed through an eyepiece on the endoscope or projected onto a monitor.</a:t>
                      </a:r>
                    </a:p>
                    <a:p>
                      <a:r>
                        <a:rPr lang="en-US" sz="1600" b="1" i="1" dirty="0"/>
                        <a:t>Comments</a:t>
                      </a:r>
                      <a:r>
                        <a:rPr lang="en-US" sz="1600" b="1" dirty="0"/>
                        <a:t>: </a:t>
                      </a:r>
                      <a:r>
                        <a:rPr lang="en-US" sz="1600" dirty="0"/>
                        <a:t>Examples include </a:t>
                      </a:r>
                      <a:r>
                        <a:rPr lang="en-US" sz="1600" i="1" dirty="0"/>
                        <a:t>colonoscopy</a:t>
                      </a:r>
                      <a:r>
                        <a:rPr lang="en-US" sz="1600" dirty="0"/>
                        <a:t> (used to examine the interior of the colon, which is part of the large intestine), </a:t>
                      </a:r>
                      <a:r>
                        <a:rPr lang="en-US" sz="1600" i="1" dirty="0"/>
                        <a:t>laparoscopy</a:t>
                      </a:r>
                      <a:r>
                        <a:rPr lang="en-US" sz="1600" dirty="0"/>
                        <a:t> (used to examine the organs within the abdominopelvic cavity), and </a:t>
                      </a:r>
                      <a:r>
                        <a:rPr lang="en-US" sz="1600" i="1" dirty="0"/>
                        <a:t>arthroscopy</a:t>
                      </a:r>
                      <a:r>
                        <a:rPr lang="en-US" sz="1600" dirty="0"/>
                        <a:t> (used to examine the interior of a joint, usually the knee).</a:t>
                      </a:r>
                    </a:p>
                  </a:txBody>
                  <a:tcPr/>
                </a:tc>
                <a:extLst>
                  <a:ext uri="{0D108BD9-81ED-4DB2-BD59-A6C34878D82A}">
                    <a16:rowId xmlns:a16="http://schemas.microsoft.com/office/drawing/2014/main" val="3927319283"/>
                  </a:ext>
                </a:extLst>
              </a:tr>
            </a:tbl>
          </a:graphicData>
        </a:graphic>
      </p:graphicFrame>
      <p:pic>
        <p:nvPicPr>
          <p:cNvPr id="11" name="Content Placeholder 15" descr="The colonoscopy shows the interior view of the colon.">
            <a:extLst>
              <a:ext uri="{FF2B5EF4-FFF2-40B4-BE49-F238E27FC236}">
                <a16:creationId xmlns:a16="http://schemas.microsoft.com/office/drawing/2014/main" id="{722FFF4B-D35C-49E5-BA7E-659319850EDE}"/>
              </a:ext>
            </a:extLst>
          </p:cNvPr>
          <p:cNvPicPr>
            <a:picLocks noGrp="1" noChangeAspect="1"/>
          </p:cNvPicPr>
          <p:nvPr>
            <p:ph sz="quarter" idx="17"/>
          </p:nvPr>
        </p:nvPicPr>
        <p:blipFill>
          <a:blip r:embed="rId2" cstate="print">
            <a:extLst>
              <a:ext uri="{28A0092B-C50C-407E-A947-70E740481C1C}">
                <a14:useLocalDpi xmlns:a14="http://schemas.microsoft.com/office/drawing/2010/main" val="0"/>
              </a:ext>
            </a:extLst>
          </a:blip>
          <a:stretch>
            <a:fillRect/>
          </a:stretch>
        </p:blipFill>
        <p:spPr>
          <a:xfrm>
            <a:off x="3572584" y="3918475"/>
            <a:ext cx="1998833" cy="2369127"/>
          </a:xfrm>
          <a:prstGeom prst="rect">
            <a:avLst/>
          </a:prstGeom>
        </p:spPr>
      </p:pic>
    </p:spTree>
    <p:extLst>
      <p:ext uri="{BB962C8B-B14F-4D97-AF65-F5344CB8AC3E}">
        <p14:creationId xmlns:p14="http://schemas.microsoft.com/office/powerpoint/2010/main" val="3219354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A4EA1F-096A-44A5-B3A1-90AC1E8DE950}"/>
              </a:ext>
            </a:extLst>
          </p:cNvPr>
          <p:cNvSpPr>
            <a:spLocks noGrp="1"/>
          </p:cNvSpPr>
          <p:nvPr>
            <p:ph type="title"/>
          </p:nvPr>
        </p:nvSpPr>
        <p:spPr>
          <a:xfrm>
            <a:off x="304800" y="466596"/>
            <a:ext cx="8534400" cy="1014221"/>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Radionuclide Scanning </a:t>
            </a:r>
            <a:endParaRPr lang="en-US" sz="2200" b="0" dirty="0">
              <a:latin typeface="Calibri" panose="020F0502020204030204" pitchFamily="34" charset="0"/>
              <a:cs typeface="Calibri" panose="020F0502020204030204" pitchFamily="34" charset="0"/>
            </a:endParaRPr>
          </a:p>
        </p:txBody>
      </p:sp>
      <p:graphicFrame>
        <p:nvGraphicFramePr>
          <p:cNvPr id="2" name="Table 2">
            <a:extLst>
              <a:ext uri="{FF2B5EF4-FFF2-40B4-BE49-F238E27FC236}">
                <a16:creationId xmlns:a16="http://schemas.microsoft.com/office/drawing/2014/main" id="{20995F7A-1CFC-48A0-AAFE-224E3DA77F7D}"/>
              </a:ext>
            </a:extLst>
          </p:cNvPr>
          <p:cNvGraphicFramePr>
            <a:graphicFrameLocks noGrp="1"/>
          </p:cNvGraphicFramePr>
          <p:nvPr>
            <p:ph sz="quarter" idx="16"/>
            <p:extLst>
              <p:ext uri="{D42A27DB-BD31-4B8C-83A1-F6EECF244321}">
                <p14:modId xmlns:p14="http://schemas.microsoft.com/office/powerpoint/2010/main" val="2605760598"/>
              </p:ext>
            </p:extLst>
          </p:nvPr>
        </p:nvGraphicFramePr>
        <p:xfrm>
          <a:off x="449818" y="1933511"/>
          <a:ext cx="8210706" cy="3550920"/>
        </p:xfrm>
        <a:graphic>
          <a:graphicData uri="http://schemas.openxmlformats.org/drawingml/2006/table">
            <a:tbl>
              <a:tblPr firstRow="1" bandRow="1">
                <a:tableStyleId>{69012ECD-51FC-41F1-AA8D-1B2483CD663E}</a:tableStyleId>
              </a:tblPr>
              <a:tblGrid>
                <a:gridCol w="8210706">
                  <a:extLst>
                    <a:ext uri="{9D8B030D-6E8A-4147-A177-3AD203B41FA5}">
                      <a16:colId xmlns:a16="http://schemas.microsoft.com/office/drawing/2014/main" val="2839244421"/>
                    </a:ext>
                  </a:extLst>
                </a:gridCol>
              </a:tblGrid>
              <a:tr h="2390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Radionuclide Scanning</a:t>
                      </a:r>
                    </a:p>
                  </a:txBody>
                  <a:tcPr/>
                </a:tc>
                <a:extLst>
                  <a:ext uri="{0D108BD9-81ED-4DB2-BD59-A6C34878D82A}">
                    <a16:rowId xmlns:a16="http://schemas.microsoft.com/office/drawing/2014/main" val="2471092415"/>
                  </a:ext>
                </a:extLst>
              </a:tr>
              <a:tr h="2408922">
                <a:tc>
                  <a:txBody>
                    <a:bodyPr/>
                    <a:lstStyle/>
                    <a:p>
                      <a:pPr>
                        <a:spcAft>
                          <a:spcPts val="600"/>
                        </a:spcAft>
                      </a:pPr>
                      <a:r>
                        <a:rPr lang="en-US" sz="1800" b="1" i="1" dirty="0"/>
                        <a:t>Procedure</a:t>
                      </a:r>
                      <a:r>
                        <a:rPr lang="en-US" sz="1800" b="1" dirty="0"/>
                        <a:t>: </a:t>
                      </a:r>
                      <a:r>
                        <a:rPr lang="en-US" sz="1800" dirty="0"/>
                        <a:t>A </a:t>
                      </a:r>
                      <a:r>
                        <a:rPr lang="en-US" sz="1800" i="1" dirty="0"/>
                        <a:t>radionuclide</a:t>
                      </a:r>
                      <a:r>
                        <a:rPr lang="en-US" sz="1800" dirty="0"/>
                        <a:t> (radioactive substance) is introduced intravenously into the body and carried by the blood to the tissue to be imaged. Gamma rays emitted by the radionuclide are detected by a gamma camera outside the subject, and the data are fed into a computer. The computer constructs a </a:t>
                      </a:r>
                      <a:r>
                        <a:rPr lang="en-US" sz="1800" i="1" dirty="0"/>
                        <a:t>radionuclide image </a:t>
                      </a:r>
                      <a:r>
                        <a:rPr lang="en-US" sz="1800" dirty="0"/>
                        <a:t>and displays it in color on a video monitor. Areas of intense color take up a lot of the radionuclide and represent high tissue activity; areas of less intense color take up smaller amounts of the radionuclide and represent low tissue activity. </a:t>
                      </a:r>
                      <a:r>
                        <a:rPr lang="en-US" sz="1800" b="1" dirty="0"/>
                        <a:t>Single-photon-emission computed tomography (SPECT) scanning </a:t>
                      </a:r>
                      <a:r>
                        <a:rPr lang="en-US" sz="1800" dirty="0"/>
                        <a:t>is a specialized type of radionuclide scanning that is especially useful for studying the brain, heart, lungs, and liver.</a:t>
                      </a:r>
                    </a:p>
                    <a:p>
                      <a:pPr>
                        <a:spcAft>
                          <a:spcPts val="600"/>
                        </a:spcAft>
                      </a:pPr>
                      <a:r>
                        <a:rPr lang="en-US" sz="1800" b="1" i="1" dirty="0"/>
                        <a:t>Comments</a:t>
                      </a:r>
                      <a:r>
                        <a:rPr lang="en-US" sz="1800" b="1" dirty="0"/>
                        <a:t>: </a:t>
                      </a:r>
                      <a:r>
                        <a:rPr lang="en-US" sz="1800" dirty="0"/>
                        <a:t>Used to study activity</a:t>
                      </a:r>
                      <a:r>
                        <a:rPr lang="en-US" sz="1800" baseline="0" dirty="0"/>
                        <a:t> of </a:t>
                      </a:r>
                      <a:r>
                        <a:rPr lang="en-US" sz="1800" dirty="0"/>
                        <a:t>a tissue or organ, such as searching for malignant tumors in body tissue or scars that may interfere with heart muscle activity.</a:t>
                      </a:r>
                      <a:endParaRPr lang="en-US" sz="1800" b="0" dirty="0"/>
                    </a:p>
                  </a:txBody>
                  <a:tcPr/>
                </a:tc>
                <a:extLst>
                  <a:ext uri="{0D108BD9-81ED-4DB2-BD59-A6C34878D82A}">
                    <a16:rowId xmlns:a16="http://schemas.microsoft.com/office/drawing/2014/main" val="3351858416"/>
                  </a:ext>
                </a:extLst>
              </a:tr>
            </a:tbl>
          </a:graphicData>
        </a:graphic>
      </p:graphicFrame>
    </p:spTree>
    <p:extLst>
      <p:ext uri="{BB962C8B-B14F-4D97-AF65-F5344CB8AC3E}">
        <p14:creationId xmlns:p14="http://schemas.microsoft.com/office/powerpoint/2010/main" val="27615176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5AE639-C1CC-4B6C-9D0C-14E7A05D96BA}"/>
              </a:ext>
            </a:extLst>
          </p:cNvPr>
          <p:cNvSpPr>
            <a:spLocks noGrp="1"/>
          </p:cNvSpPr>
          <p:nvPr>
            <p:ph type="title"/>
          </p:nvPr>
        </p:nvSpPr>
        <p:spPr>
          <a:xfrm>
            <a:off x="304800" y="446713"/>
            <a:ext cx="8534400" cy="922019"/>
          </a:xfrm>
        </p:spPr>
        <p:txBody>
          <a:bodyPr>
            <a:normAutofit fontScale="90000"/>
          </a:bodyPr>
          <a:lstStyle/>
          <a:p>
            <a:r>
              <a:rPr lang="en-US" sz="4400" dirty="0">
                <a:latin typeface="Calibri" panose="020F0502020204030204" pitchFamily="34" charset="0"/>
                <a:cs typeface="Calibri" panose="020F0502020204030204" pitchFamily="34" charset="0"/>
              </a:rPr>
              <a:t>Medical Imaging Procedures: Radionuclide Scanning </a:t>
            </a:r>
            <a:endParaRPr lang="en-US" sz="2200" b="0" dirty="0">
              <a:latin typeface="Calibri" panose="020F0502020204030204" pitchFamily="34" charset="0"/>
              <a:cs typeface="Calibri" panose="020F0502020204030204" pitchFamily="34" charset="0"/>
            </a:endParaRPr>
          </a:p>
        </p:txBody>
      </p:sp>
      <p:pic>
        <p:nvPicPr>
          <p:cNvPr id="2" name="Content Placeholder 1" descr="A radionuclide scan, or nuclear scan, shows an oblong shaped normal human liver with bands of pink, red, orange, yellow, green, light blue, dark blue, and purple extending outward from a white center. A single photon emission computed tomography scan, or S P E C T scan, shows a transverse section of the brain. Areas of the brain appear white, red, yellow, green, and blue. An almost all green area at lower left indicates a migraine attack.">
            <a:extLst>
              <a:ext uri="{FF2B5EF4-FFF2-40B4-BE49-F238E27FC236}">
                <a16:creationId xmlns:a16="http://schemas.microsoft.com/office/drawing/2014/main" id="{7A683953-1C00-45BB-B923-2F943901C302}"/>
              </a:ext>
            </a:extLst>
          </p:cNvPr>
          <p:cNvPicPr>
            <a:picLocks noGrp="1" noChangeAspect="1"/>
          </p:cNvPicPr>
          <p:nvPr>
            <p:ph sz="quarter" idx="16"/>
          </p:nvPr>
        </p:nvPicPr>
        <p:blipFill>
          <a:blip r:embed="rId2"/>
          <a:stretch>
            <a:fillRect/>
          </a:stretch>
        </p:blipFill>
        <p:spPr>
          <a:xfrm>
            <a:off x="675409" y="2056723"/>
            <a:ext cx="7793182" cy="3706091"/>
          </a:xfrm>
          <a:prstGeom prst="rect">
            <a:avLst/>
          </a:prstGeom>
        </p:spPr>
      </p:pic>
    </p:spTree>
    <p:extLst>
      <p:ext uri="{BB962C8B-B14F-4D97-AF65-F5344CB8AC3E}">
        <p14:creationId xmlns:p14="http://schemas.microsoft.com/office/powerpoint/2010/main" val="37564061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cs typeface="Calibri" panose="020F0502020204030204" pitchFamily="34" charset="0"/>
              </a:rPr>
              <a:t>Copyright</a:t>
            </a:r>
          </a:p>
        </p:txBody>
      </p:sp>
      <p:sp>
        <p:nvSpPr>
          <p:cNvPr id="3" name="Content Placeholder 2"/>
          <p:cNvSpPr>
            <a:spLocks noGrp="1"/>
          </p:cNvSpPr>
          <p:nvPr>
            <p:ph sz="quarter" idx="16"/>
          </p:nvPr>
        </p:nvSpPr>
        <p:spPr>
          <a:xfrm>
            <a:off x="304800" y="1752600"/>
            <a:ext cx="8534400" cy="3429000"/>
          </a:xfrm>
        </p:spPr>
        <p:txBody>
          <a:bodyPr/>
          <a:lstStyle/>
          <a:p>
            <a:r>
              <a:rPr lang="en-US" sz="2400" b="1" dirty="0">
                <a:latin typeface="Calibri" panose="020F0502020204030204" pitchFamily="34" charset="0"/>
                <a:cs typeface="Calibri" panose="020F0502020204030204" pitchFamily="34" charset="0"/>
              </a:rPr>
              <a:t>Copyright © 2021 John Wiley &amp; Sons, Inc.</a:t>
            </a:r>
          </a:p>
          <a:p>
            <a:pPr>
              <a:lnSpc>
                <a:spcPct val="150000"/>
              </a:lnSpc>
            </a:pPr>
            <a:r>
              <a:rPr lang="en-US" sz="1800" dirty="0">
                <a:latin typeface="Calibri" panose="020F0502020204030204" pitchFamily="34" charset="0"/>
                <a:cs typeface="Calibri" panose="020F0502020204030204" pitchFamily="34" charset="0"/>
              </a:rPr>
              <a:t>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Tree>
    <p:extLst>
      <p:ext uri="{BB962C8B-B14F-4D97-AF65-F5344CB8AC3E}">
        <p14:creationId xmlns:p14="http://schemas.microsoft.com/office/powerpoint/2010/main" val="1385624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4bb1a6f6a37846e759f335af07b6f9d3376d58a"/>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E01F302C440524FA31D7DCD25615BF1" ma:contentTypeVersion="7" ma:contentTypeDescription="Create a new document." ma:contentTypeScope="" ma:versionID="70c2503ec15103d2cca162ccd324bd4f">
  <xsd:schema xmlns:xsd="http://www.w3.org/2001/XMLSchema" xmlns:xs="http://www.w3.org/2001/XMLSchema" xmlns:p="http://schemas.microsoft.com/office/2006/metadata/properties" xmlns:ns2="e88296c4-2d3a-4b5e-b7cc-73362ec365d5" targetNamespace="http://schemas.microsoft.com/office/2006/metadata/properties" ma:root="true" ma:fieldsID="1ee8fd890c3ab4027bd76155cf630935" ns2:_="">
    <xsd:import namespace="e88296c4-2d3a-4b5e-b7cc-73362ec365d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8296c4-2d3a-4b5e-b7cc-73362ec365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2.xml><?xml version="1.0" encoding="utf-8"?>
<ds:datastoreItem xmlns:ds="http://schemas.openxmlformats.org/officeDocument/2006/customXml" ds:itemID="{EF1C71EB-81EB-430C-AADD-7391148CA65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e88296c4-2d3a-4b5e-b7cc-73362ec365d5"/>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325D17F-9DFD-440D-9215-D51B2E9A0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8296c4-2d3a-4b5e-b7cc-73362ec365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24035</TotalTime>
  <Words>4289</Words>
  <Application>Microsoft Office PowerPoint</Application>
  <PresentationFormat>On-screen Show (4:3)</PresentationFormat>
  <Paragraphs>419</Paragraphs>
  <Slides>70</Slides>
  <Notes>14</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70</vt:i4>
      </vt:variant>
    </vt:vector>
  </HeadingPairs>
  <TitlesOfParts>
    <vt:vector size="84" baseType="lpstr">
      <vt:lpstr>Arial</vt:lpstr>
      <vt:lpstr>Calibri</vt:lpstr>
      <vt:lpstr>Calibri </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Principles of Anatomy and Physiology</vt:lpstr>
      <vt:lpstr>Introduction</vt:lpstr>
      <vt:lpstr>Anatomy &amp; Physiology Defined</vt:lpstr>
      <vt:lpstr>Anatomy vs. Physiology </vt:lpstr>
      <vt:lpstr>Anatomy vs. Physiology </vt:lpstr>
      <vt:lpstr>Anatomy vs. Physiology</vt:lpstr>
      <vt:lpstr>Anatomy vs. Physiology</vt:lpstr>
      <vt:lpstr>Anatomy vs. Physiology</vt:lpstr>
      <vt:lpstr>Levels of Structural Organization and Body Systems</vt:lpstr>
      <vt:lpstr>Levels of Structural Organization </vt:lpstr>
      <vt:lpstr>Levels of Structural Organization</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 </vt:lpstr>
      <vt:lpstr>Systems of the Human Body</vt:lpstr>
      <vt:lpstr>Characteristics of the Living Human Organism</vt:lpstr>
      <vt:lpstr>Basic Life Processes</vt:lpstr>
      <vt:lpstr>Homeostasis  </vt:lpstr>
      <vt:lpstr>Body Fluids &amp; Homeostasis</vt:lpstr>
      <vt:lpstr>Control of Homeostasis </vt:lpstr>
      <vt:lpstr>Homeostasis </vt:lpstr>
      <vt:lpstr>Control of Homeostasis</vt:lpstr>
      <vt:lpstr>Control of Homeostasis: Negative Feedback</vt:lpstr>
      <vt:lpstr>Control of Homeostasis: Positive Feedback</vt:lpstr>
      <vt:lpstr>Control of Homeostasis: Positive Feedback</vt:lpstr>
      <vt:lpstr>Homeostatic Imbalances</vt:lpstr>
      <vt:lpstr>Basic Anatomical Terminology</vt:lpstr>
      <vt:lpstr>Types of Anatomical Terminology</vt:lpstr>
      <vt:lpstr>Body Positions: The Anatomical Position</vt:lpstr>
      <vt:lpstr>Body Positions</vt:lpstr>
      <vt:lpstr>Regional Names</vt:lpstr>
      <vt:lpstr>Directional Terms </vt:lpstr>
      <vt:lpstr>Directional Terms</vt:lpstr>
      <vt:lpstr>Directional Terms</vt:lpstr>
      <vt:lpstr>Directional Terms </vt:lpstr>
      <vt:lpstr>Planes and Sections</vt:lpstr>
      <vt:lpstr>Planes and Sections</vt:lpstr>
      <vt:lpstr>Planes and Sections</vt:lpstr>
      <vt:lpstr>Body Cavities</vt:lpstr>
      <vt:lpstr>Ventral Cavities</vt:lpstr>
      <vt:lpstr>Body Cavities</vt:lpstr>
      <vt:lpstr>Serous Membranes</vt:lpstr>
      <vt:lpstr>Serous Membranes in the Abdominal Cavity</vt:lpstr>
      <vt:lpstr>Serous Membranes in the Thoracic Cavity </vt:lpstr>
      <vt:lpstr>Serous Membranes in the Thoracic Cavity </vt:lpstr>
      <vt:lpstr>Abdominopelvic Regions &amp; Quadrants</vt:lpstr>
      <vt:lpstr>Aging and Homeostasis </vt:lpstr>
      <vt:lpstr>Medical Imaging</vt:lpstr>
      <vt:lpstr>Medical Imaging Procedures: Radiography is only one of a number of imaging procedures </vt:lpstr>
      <vt:lpstr>Medical Imaging Procedures: Radiography </vt:lpstr>
      <vt:lpstr>Medical Imaging Procedures: MRI and CT </vt:lpstr>
      <vt:lpstr>Medical Imaging Procedures: MRI and CT </vt:lpstr>
      <vt:lpstr>Medical Imaging Procedures: MRI and CT </vt:lpstr>
      <vt:lpstr>Medical Imaging Procedures: Ultrasound Scanning</vt:lpstr>
      <vt:lpstr>Medical Imaging Procedures: C C T A and P E T scan </vt:lpstr>
      <vt:lpstr>Medical Imaging Procedures: C C T A and P E T scan </vt:lpstr>
      <vt:lpstr>Medical Imaging Procedures: C C T A and P E T scan </vt:lpstr>
      <vt:lpstr>Medical Imaging Procedures: Endoscopy</vt:lpstr>
      <vt:lpstr>Medical Imaging Procedures: Radionuclide Scanning </vt:lpstr>
      <vt:lpstr>Medical Imaging Procedures: Radionuclide Scanning </vt:lpstr>
      <vt:lpstr>Copyright</vt:lpstr>
    </vt:vector>
  </TitlesOfParts>
  <Manager/>
  <Company>John Wiley &amp; Sons,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Anatomy and Physiology</dc:title>
  <dc:subject/>
  <dc:creator>Gerard Tortora/Bryan Derrickson</dc:creator>
  <cp:keywords/>
  <dc:description/>
  <cp:lastModifiedBy>Jill</cp:lastModifiedBy>
  <cp:revision>1555</cp:revision>
  <cp:lastPrinted>2017-04-26T13:25:47Z</cp:lastPrinted>
  <dcterms:created xsi:type="dcterms:W3CDTF">2017-04-21T14:49:46Z</dcterms:created>
  <dcterms:modified xsi:type="dcterms:W3CDTF">2021-05-24T01:51:01Z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0x0101000E01F302C440524FA31D7DCD25615BF1</vt:lpwstr>
  </property>
</Properties>
</file>