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5.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3976" r:id="rId10"/>
  </p:sldMasterIdLst>
  <p:notesMasterIdLst>
    <p:notesMasterId r:id="rId61"/>
  </p:notesMasterIdLst>
  <p:sldIdLst>
    <p:sldId id="496" r:id="rId11"/>
    <p:sldId id="520" r:id="rId12"/>
    <p:sldId id="305" r:id="rId13"/>
    <p:sldId id="258" r:id="rId14"/>
    <p:sldId id="497" r:id="rId15"/>
    <p:sldId id="498" r:id="rId16"/>
    <p:sldId id="259" r:id="rId17"/>
    <p:sldId id="261" r:id="rId18"/>
    <p:sldId id="263" r:id="rId19"/>
    <p:sldId id="326" r:id="rId20"/>
    <p:sldId id="499" r:id="rId21"/>
    <p:sldId id="264" r:id="rId22"/>
    <p:sldId id="266" r:id="rId23"/>
    <p:sldId id="265" r:id="rId24"/>
    <p:sldId id="267" r:id="rId25"/>
    <p:sldId id="500" r:id="rId26"/>
    <p:sldId id="268" r:id="rId27"/>
    <p:sldId id="501" r:id="rId28"/>
    <p:sldId id="269" r:id="rId29"/>
    <p:sldId id="270" r:id="rId30"/>
    <p:sldId id="502" r:id="rId31"/>
    <p:sldId id="503" r:id="rId32"/>
    <p:sldId id="504" r:id="rId33"/>
    <p:sldId id="505" r:id="rId34"/>
    <p:sldId id="506" r:id="rId35"/>
    <p:sldId id="507" r:id="rId36"/>
    <p:sldId id="271" r:id="rId37"/>
    <p:sldId id="272" r:id="rId38"/>
    <p:sldId id="508" r:id="rId39"/>
    <p:sldId id="273" r:id="rId40"/>
    <p:sldId id="274" r:id="rId41"/>
    <p:sldId id="509" r:id="rId42"/>
    <p:sldId id="510" r:id="rId43"/>
    <p:sldId id="511" r:id="rId44"/>
    <p:sldId id="512" r:id="rId45"/>
    <p:sldId id="275" r:id="rId46"/>
    <p:sldId id="513" r:id="rId47"/>
    <p:sldId id="276" r:id="rId48"/>
    <p:sldId id="277" r:id="rId49"/>
    <p:sldId id="327" r:id="rId50"/>
    <p:sldId id="514" r:id="rId51"/>
    <p:sldId id="515" r:id="rId52"/>
    <p:sldId id="278" r:id="rId53"/>
    <p:sldId id="516" r:id="rId54"/>
    <p:sldId id="517" r:id="rId55"/>
    <p:sldId id="518" r:id="rId56"/>
    <p:sldId id="519" r:id="rId57"/>
    <p:sldId id="279" r:id="rId58"/>
    <p:sldId id="280" r:id="rId59"/>
    <p:sldId id="323" r:id="rId60"/>
  </p:sldIdLst>
  <p:sldSz cx="9144000" cy="6858000" type="screen4x3"/>
  <p:notesSz cx="7315200" cy="9601200"/>
  <p:custDataLst>
    <p:tags r:id="rId6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pos="2880">
          <p15:clr>
            <a:srgbClr val="A4A3A4"/>
          </p15:clr>
        </p15:guide>
        <p15:guide id="3" pos="5664" userDrawn="1">
          <p15:clr>
            <a:srgbClr val="A4A3A4"/>
          </p15:clr>
        </p15:guide>
        <p15:guide id="4" pos="192" userDrawn="1">
          <p15:clr>
            <a:srgbClr val="A4A3A4"/>
          </p15:clr>
        </p15:guide>
        <p15:guide id="5" pos="4464" userDrawn="1">
          <p15:clr>
            <a:srgbClr val="A4A3A4"/>
          </p15:clr>
        </p15:guide>
        <p15:guide id="6" pos="163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 id="4" name="CD" initials="CD" lastIdx="3" clrIdx="4">
    <p:extLst>
      <p:ext uri="{19B8F6BF-5375-455C-9EA6-DF929625EA0E}">
        <p15:presenceInfo xmlns:p15="http://schemas.microsoft.com/office/powerpoint/2012/main" userId="C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D5D6"/>
    <a:srgbClr val="E4E5E3"/>
    <a:srgbClr val="EAEAE9"/>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60" autoAdjust="0"/>
    <p:restoredTop sz="82704" autoAdjust="0"/>
  </p:normalViewPr>
  <p:slideViewPr>
    <p:cSldViewPr snapToGrid="0">
      <p:cViewPr varScale="1">
        <p:scale>
          <a:sx n="75" d="100"/>
          <a:sy n="75" d="100"/>
        </p:scale>
        <p:origin x="1386" y="54"/>
      </p:cViewPr>
      <p:guideLst>
        <p:guide orient="horz" pos="1200"/>
        <p:guide pos="2880"/>
        <p:guide pos="5664"/>
        <p:guide pos="192"/>
        <p:guide pos="4464"/>
        <p:guide pos="1632"/>
      </p:guideLst>
    </p:cSldViewPr>
  </p:slideViewPr>
  <p:outlineViewPr>
    <p:cViewPr>
      <p:scale>
        <a:sx n="33" d="100"/>
        <a:sy n="33" d="100"/>
      </p:scale>
      <p:origin x="0" y="-16926"/>
    </p:cViewPr>
  </p:outlineViewPr>
  <p:notesTextViewPr>
    <p:cViewPr>
      <p:scale>
        <a:sx n="66" d="100"/>
        <a:sy n="66" d="100"/>
      </p:scale>
      <p:origin x="0" y="0"/>
    </p:cViewPr>
  </p:notesTextViewPr>
  <p:sorterViewPr>
    <p:cViewPr varScale="1">
      <p:scale>
        <a:sx n="1" d="1"/>
        <a:sy n="1" d="1"/>
      </p:scale>
      <p:origin x="0" y="-6378"/>
    </p:cViewPr>
  </p:sorterViewPr>
  <p:notesViewPr>
    <p:cSldViewPr snapToGrid="0">
      <p:cViewPr varScale="1">
        <p:scale>
          <a:sx n="134" d="100"/>
          <a:sy n="134" d="100"/>
        </p:scale>
        <p:origin x="3184" y="20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slide" Target="slides/slide45.xml"/><Relationship Id="rId63"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61" Type="http://schemas.openxmlformats.org/officeDocument/2006/relationships/notesMaster" Target="notesMasters/notesMaster1.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1.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tableStyles" Target="tableStyles.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94C1A8-DC4B-4329-AF88-FD913597DE85}" type="datetimeFigureOut">
              <a:rPr lang="en-US" smtClean="0"/>
              <a:t>5/28/2021</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8073E54-D085-4E2E-B9A5-A53D7E51940E}" type="slidenum">
              <a:rPr lang="en-US" smtClean="0"/>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1</a:t>
            </a:fld>
            <a:endParaRPr lang="en-US" dirty="0"/>
          </a:p>
        </p:txBody>
      </p:sp>
    </p:spTree>
    <p:extLst>
      <p:ext uri="{BB962C8B-B14F-4D97-AF65-F5344CB8AC3E}">
        <p14:creationId xmlns:p14="http://schemas.microsoft.com/office/powerpoint/2010/main" val="3579695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You must be connected to the Internet and in Slideshow Mode to run this animation.</a:t>
            </a:r>
          </a:p>
          <a:p>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14</a:t>
            </a:fld>
            <a:endParaRPr lang="en-US" dirty="0"/>
          </a:p>
        </p:txBody>
      </p:sp>
    </p:spTree>
    <p:extLst>
      <p:ext uri="{BB962C8B-B14F-4D97-AF65-F5344CB8AC3E}">
        <p14:creationId xmlns:p14="http://schemas.microsoft.com/office/powerpoint/2010/main" val="3899089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You must be connected to the Internet and in Slideshow Mode to run this animation.</a:t>
            </a:r>
          </a:p>
          <a:p>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27</a:t>
            </a:fld>
            <a:endParaRPr lang="en-US" dirty="0"/>
          </a:p>
        </p:txBody>
      </p:sp>
    </p:spTree>
    <p:extLst>
      <p:ext uri="{BB962C8B-B14F-4D97-AF65-F5344CB8AC3E}">
        <p14:creationId xmlns:p14="http://schemas.microsoft.com/office/powerpoint/2010/main" val="2968327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Calibri "/>
            </a:endParaRPr>
          </a:p>
        </p:txBody>
      </p:sp>
      <p:sp>
        <p:nvSpPr>
          <p:cNvPr id="4" name="Slide Number Placeholder 3"/>
          <p:cNvSpPr>
            <a:spLocks noGrp="1"/>
          </p:cNvSpPr>
          <p:nvPr>
            <p:ph type="sldNum" sz="quarter" idx="10"/>
          </p:nvPr>
        </p:nvSpPr>
        <p:spPr/>
        <p:txBody>
          <a:bodyPr/>
          <a:lstStyle/>
          <a:p>
            <a:fld id="{A8073E54-D085-4E2E-B9A5-A53D7E51940E}" type="slidenum">
              <a:rPr lang="en-US" smtClean="0"/>
              <a:t>36</a:t>
            </a:fld>
            <a:endParaRPr lang="en-US" dirty="0"/>
          </a:p>
        </p:txBody>
      </p:sp>
    </p:spTree>
    <p:extLst>
      <p:ext uri="{BB962C8B-B14F-4D97-AF65-F5344CB8AC3E}">
        <p14:creationId xmlns:p14="http://schemas.microsoft.com/office/powerpoint/2010/main" val="3806366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You must be connected to the Internet and in Slideshow Mode to run this animation.</a:t>
            </a:r>
          </a:p>
          <a:p>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39</a:t>
            </a:fld>
            <a:endParaRPr lang="en-US" dirty="0"/>
          </a:p>
        </p:txBody>
      </p:sp>
    </p:spTree>
    <p:extLst>
      <p:ext uri="{BB962C8B-B14F-4D97-AF65-F5344CB8AC3E}">
        <p14:creationId xmlns:p14="http://schemas.microsoft.com/office/powerpoint/2010/main" val="386523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You must be connected to the Internet and in Slideshow Mode to run this animation.</a:t>
            </a:r>
          </a:p>
          <a:p>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41</a:t>
            </a:fld>
            <a:endParaRPr lang="en-US" dirty="0"/>
          </a:p>
        </p:txBody>
      </p:sp>
    </p:spTree>
    <p:extLst>
      <p:ext uri="{BB962C8B-B14F-4D97-AF65-F5344CB8AC3E}">
        <p14:creationId xmlns:p14="http://schemas.microsoft.com/office/powerpoint/2010/main" val="3629002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50</a:t>
            </a:fld>
            <a:endParaRPr lang="en-US" dirty="0"/>
          </a:p>
        </p:txBody>
      </p:sp>
    </p:spTree>
    <p:extLst>
      <p:ext uri="{BB962C8B-B14F-4D97-AF65-F5344CB8AC3E}">
        <p14:creationId xmlns:p14="http://schemas.microsoft.com/office/powerpoint/2010/main" val="952343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25" name="Edition"/>
          <p:cNvSpPr>
            <a:spLocks noGrp="1"/>
          </p:cNvSpPr>
          <p:nvPr>
            <p:ph sz="quarter" idx="17" hasCustomPrompt="1"/>
          </p:nvPr>
        </p:nvSpPr>
        <p:spPr>
          <a:xfrm>
            <a:off x="152400" y="1828800"/>
            <a:ext cx="8839200" cy="4572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27" name="Author"/>
          <p:cNvSpPr>
            <a:spLocks noGrp="1"/>
          </p:cNvSpPr>
          <p:nvPr>
            <p:ph sz="quarter" idx="18" hasCustomPrompt="1"/>
          </p:nvPr>
        </p:nvSpPr>
        <p:spPr>
          <a:xfrm>
            <a:off x="152400" y="2362200"/>
            <a:ext cx="8839200" cy="6858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31" name="CT"/>
          <p:cNvSpPr>
            <a:spLocks noGrp="1"/>
          </p:cNvSpPr>
          <p:nvPr>
            <p:ph sz="quarter" idx="20" hasCustomPrompt="1"/>
          </p:nvPr>
        </p:nvSpPr>
        <p:spPr>
          <a:xfrm>
            <a:off x="152400" y="4343400"/>
            <a:ext cx="8839200" cy="23622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152400" y="2286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14" name="CT"/>
          <p:cNvSpPr>
            <a:spLocks noGrp="1"/>
          </p:cNvSpPr>
          <p:nvPr>
            <p:ph sz="quarter" idx="20" hasCustomPrompt="1"/>
          </p:nvPr>
        </p:nvSpPr>
        <p:spPr>
          <a:xfrm>
            <a:off x="152400" y="838200"/>
            <a:ext cx="8839200" cy="2189672"/>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152400" y="3505200"/>
            <a:ext cx="8839200" cy="1524000"/>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15" name="Edition"/>
          <p:cNvSpPr>
            <a:spLocks noGrp="1"/>
          </p:cNvSpPr>
          <p:nvPr>
            <p:ph sz="quarter" idx="17" hasCustomPrompt="1"/>
          </p:nvPr>
        </p:nvSpPr>
        <p:spPr>
          <a:xfrm>
            <a:off x="152400" y="5105400"/>
            <a:ext cx="8839200" cy="6858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16" name="Author"/>
          <p:cNvSpPr>
            <a:spLocks noGrp="1"/>
          </p:cNvSpPr>
          <p:nvPr>
            <p:ph sz="quarter" idx="18" hasCustomPrompt="1"/>
          </p:nvPr>
        </p:nvSpPr>
        <p:spPr>
          <a:xfrm>
            <a:off x="152400" y="6096000"/>
            <a:ext cx="8839200" cy="5334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995965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152400" y="1755648"/>
            <a:ext cx="8839200" cy="6096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152400" y="2363724"/>
            <a:ext cx="88392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rgbClr val="007787"/>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152400" y="4267200"/>
            <a:ext cx="8839200" cy="24384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4" name="Content Placeholder 3"/>
          <p:cNvSpPr>
            <a:spLocks noGrp="1"/>
          </p:cNvSpPr>
          <p:nvPr>
            <p:ph sz="quarter" idx="23" hasCustomPrompt="1"/>
          </p:nvPr>
        </p:nvSpPr>
        <p:spPr>
          <a:xfrm>
            <a:off x="1568918" y="6248400"/>
            <a:ext cx="6584482" cy="457200"/>
          </a:xfrm>
          <a:prstGeom prst="rect">
            <a:avLst/>
          </a:prstGeom>
        </p:spPr>
        <p:txBody>
          <a:bodyPr/>
          <a:lstStyle>
            <a:lvl1pPr marL="0" indent="0">
              <a:buNone/>
              <a:defRPr/>
            </a:lvl1pPr>
          </a:lstStyle>
          <a:p>
            <a:pPr lvl="0"/>
            <a:r>
              <a:rPr lang="en-US" dirty="0"/>
              <a:t>Copyright ©2019 John Wiley &amp; Sons, Inc.</a:t>
            </a:r>
          </a:p>
        </p:txBody>
      </p:sp>
      <p:sp>
        <p:nvSpPr>
          <p:cNvPr id="6" name="Content Placeholder 5"/>
          <p:cNvSpPr>
            <a:spLocks noGrp="1"/>
          </p:cNvSpPr>
          <p:nvPr>
            <p:ph sz="quarter" idx="24"/>
          </p:nvPr>
        </p:nvSpPr>
        <p:spPr>
          <a:xfrm>
            <a:off x="152400" y="6092825"/>
            <a:ext cx="8839200" cy="27305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1535784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5274" y="777241"/>
            <a:ext cx="8543926"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3" name="COBBL"/>
          <p:cNvSpPr>
            <a:spLocks noGrp="1"/>
          </p:cNvSpPr>
          <p:nvPr>
            <p:ph sz="quarter" idx="10" hasCustomPrompt="1"/>
          </p:nvPr>
        </p:nvSpPr>
        <p:spPr>
          <a:xfrm>
            <a:off x="304800" y="1752600"/>
            <a:ext cx="8534400" cy="4495800"/>
          </a:xfrm>
          <a:prstGeom prst="rect">
            <a:avLst/>
          </a:prstGeom>
        </p:spPr>
        <p:txBody>
          <a:bodyPr/>
          <a:lstStyle>
            <a:lvl1pPr marL="295275" indent="-295275">
              <a:buClr>
                <a:schemeClr val="accent2"/>
              </a:buCl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86693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BL 2-col"/>
          <p:cNvSpPr>
            <a:spLocks noGrp="1"/>
          </p:cNvSpPr>
          <p:nvPr>
            <p:ph sz="quarter" idx="12" hasCustomPrompt="1"/>
          </p:nvPr>
        </p:nvSpPr>
        <p:spPr>
          <a:xfrm>
            <a:off x="304800" y="1752600"/>
            <a:ext cx="8534400" cy="460375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lvl="0"/>
            <a:endParaRPr lang="en-US" dirty="0"/>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993600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9" name="TextBox 8">
            <a:extLst>
              <a:ext uri="{FF2B5EF4-FFF2-40B4-BE49-F238E27FC236}">
                <a16:creationId xmlns:a16="http://schemas.microsoft.com/office/drawing/2014/main" id="{FF5D095A-BE6A-47A1-8722-8C6BB720CC13}"/>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10" name="Slide Number Placeholder 5">
            <a:extLst>
              <a:ext uri="{FF2B5EF4-FFF2-40B4-BE49-F238E27FC236}">
                <a16:creationId xmlns:a16="http://schemas.microsoft.com/office/drawing/2014/main" id="{DEFECBCA-CFAF-4829-AEAC-1A3EFCAE9F2B}"/>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1786427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0" name="COBNL"/>
          <p:cNvSpPr>
            <a:spLocks noGrp="1"/>
          </p:cNvSpPr>
          <p:nvPr>
            <p:ph sz="quarter" idx="14" hasCustomPrompt="1"/>
          </p:nvPr>
        </p:nvSpPr>
        <p:spPr>
          <a:xfrm>
            <a:off x="304800" y="1752600"/>
            <a:ext cx="8534400" cy="4114800"/>
          </a:xfrm>
          <a:prstGeom prst="rect">
            <a:avLst/>
          </a:prstGeom>
        </p:spPr>
        <p:txBody>
          <a:bodyPr/>
          <a:lstStyle>
            <a:lvl1pPr marL="803275" indent="-803275">
              <a:buNone/>
              <a:tabLst/>
              <a:defRPr sz="2800" b="0" i="0" baseline="0">
                <a:latin typeface="Calibri" charset="0"/>
                <a:ea typeface="Calibri" charset="0"/>
                <a:cs typeface="Calibri"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123572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304800" y="1752600"/>
            <a:ext cx="8534400" cy="4495800"/>
          </a:xfrm>
          <a:prstGeom prst="rect">
            <a:avLst/>
          </a:prstGeom>
        </p:spPr>
        <p:txBody>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37909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a:lstStyle>
            <a:lvl1pPr marL="465138" indent="-465138">
              <a:buClr>
                <a:schemeClr val="accent2"/>
              </a:buClr>
              <a:buFont typeface="+mj-lt"/>
              <a:buAutoNum type="arabicPeriod"/>
              <a:tabLst/>
              <a:defRPr sz="2800" b="0" i="0" baseline="0">
                <a:latin typeface="Calibri" charset="0"/>
                <a:ea typeface="Calibri" charset="0"/>
                <a:cs typeface="Calibri" charset="0"/>
              </a:defRPr>
            </a:lvl1pPr>
            <a:lvl2pPr marL="803275" indent="-282575">
              <a:buClr>
                <a:schemeClr val="accent2"/>
              </a:buClr>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263432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343400"/>
          </a:xfrm>
          <a:prstGeom prst="rect">
            <a:avLst/>
          </a:prstGeom>
        </p:spPr>
        <p:txBody>
          <a:bodyPr/>
          <a:lstStyle>
            <a:lvl1pPr marL="803275" indent="-803275">
              <a:buNone/>
              <a:tabLst/>
              <a:defRPr sz="2800" b="0" i="0" baseline="0">
                <a:latin typeface="Calibri" charset="0"/>
                <a:ea typeface="Calibri" charset="0"/>
                <a:cs typeface="Calibri" charset="0"/>
              </a:defRPr>
            </a:lvl1pPr>
            <a:lvl2pPr marL="1143000" indent="-292608">
              <a:buClr>
                <a:schemeClr val="accent2"/>
              </a:buClr>
              <a:defRPr sz="2400" b="0" i="0" baseline="0">
                <a:latin typeface="Calibri" charset="0"/>
                <a:ea typeface="Calibri" charset="0"/>
                <a:cs typeface="Calibri"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042655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Calibri" charset="0"/>
                <a:ea typeface="Calibri" charset="0"/>
                <a:cs typeface="Calibri" charset="0"/>
              </a:defRPr>
            </a:lvl1pPr>
            <a:lvl2pPr marL="803275" indent="-282575">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3403783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20518789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Outline: Version F2 (2 text boxe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NL1"/>
          <p:cNvSpPr>
            <a:spLocks noGrp="1"/>
          </p:cNvSpPr>
          <p:nvPr>
            <p:ph sz="quarter" idx="14" hasCustomPrompt="1"/>
          </p:nvPr>
        </p:nvSpPr>
        <p:spPr>
          <a:xfrm>
            <a:off x="304800"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(2 Boxes) and Double-numbered</a:t>
            </a:r>
          </a:p>
          <a:p>
            <a:pPr lvl="0"/>
            <a:r>
              <a:rPr lang="en-US" dirty="0"/>
              <a:t>1.2	It is Two-column </a:t>
            </a:r>
          </a:p>
          <a:p>
            <a:pPr lvl="0"/>
            <a:r>
              <a:rPr lang="en-US" dirty="0"/>
              <a:t>1.3	This Outline Has No Sub-lists</a:t>
            </a:r>
          </a:p>
          <a:p>
            <a:pPr lvl="0"/>
            <a:r>
              <a:rPr lang="en-US" dirty="0"/>
              <a:t>1.4	This List Is Double-numbered</a:t>
            </a:r>
          </a:p>
        </p:txBody>
      </p:sp>
      <p:sp>
        <p:nvSpPr>
          <p:cNvPr id="7" name="COBNL2"/>
          <p:cNvSpPr>
            <a:spLocks noGrp="1"/>
          </p:cNvSpPr>
          <p:nvPr>
            <p:ph sz="quarter" idx="15" hasCustomPrompt="1"/>
          </p:nvPr>
        </p:nvSpPr>
        <p:spPr>
          <a:xfrm>
            <a:off x="4767262"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1.9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410060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5" name="Content Placeholder 4"/>
          <p:cNvSpPr>
            <a:spLocks noGrp="1"/>
          </p:cNvSpPr>
          <p:nvPr>
            <p:ph sz="quarter" idx="15" hasCustomPrompt="1"/>
          </p:nvPr>
        </p:nvSpPr>
        <p:spPr>
          <a:xfrm>
            <a:off x="304800" y="1752600"/>
            <a:ext cx="8534400" cy="4419600"/>
          </a:xfrm>
          <a:prstGeom prst="rect">
            <a:avLst/>
          </a:prstGeom>
        </p:spPr>
        <p:txBody>
          <a:bodyPr/>
          <a:lstStyle>
            <a:lvl1pPr marL="0" indent="0">
              <a:buNone/>
              <a:defRPr sz="2800" baseline="0"/>
            </a:lvl1pPr>
            <a:lvl2pPr marL="457200" indent="-446088">
              <a:spcBef>
                <a:spcPts val="2000"/>
              </a:spcBef>
              <a:buFont typeface="+mj-lt"/>
              <a:buNone/>
              <a:tabLst/>
              <a:defRPr sz="2800">
                <a:solidFill>
                  <a:schemeClr val="accent2"/>
                </a:solidFill>
              </a:defRPr>
            </a:lvl2pPr>
            <a:lvl3pPr marL="688975" indent="-400050">
              <a:spcBef>
                <a:spcPts val="1000"/>
              </a:spcBef>
              <a:buClr>
                <a:schemeClr val="accent2"/>
              </a:buClr>
              <a:buFont typeface="+mj-lt"/>
              <a:buAutoNum type="arabicPeriod"/>
              <a:tabLst/>
              <a:defRPr sz="2800"/>
            </a:lvl3pPr>
            <a:lvl4pPr marL="1371600" indent="0">
              <a:buNone/>
              <a:defRPr sz="2800"/>
            </a:lvl4pPr>
            <a:lvl5pPr marL="1828800" indent="0">
              <a:buNone/>
              <a:defRPr sz="2800"/>
            </a:lvl5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956338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44513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752600"/>
            <a:ext cx="4114800" cy="44513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8" name="TextBox 7">
            <a:extLst>
              <a:ext uri="{FF2B5EF4-FFF2-40B4-BE49-F238E27FC236}">
                <a16:creationId xmlns:a16="http://schemas.microsoft.com/office/drawing/2014/main" id="{A1108085-6D8E-4689-991B-902943EB6D3D}"/>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9" name="Slide Number Placeholder 5">
            <a:extLst>
              <a:ext uri="{FF2B5EF4-FFF2-40B4-BE49-F238E27FC236}">
                <a16:creationId xmlns:a16="http://schemas.microsoft.com/office/drawing/2014/main" id="{D16373F4-B83A-400A-A60C-3FCC3DFC45A1}"/>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5372471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04800" y="743712"/>
            <a:ext cx="8534400" cy="856488"/>
          </a:xfrm>
          <a:prstGeom prst="rect">
            <a:avLst/>
          </a:prstGeom>
        </p:spPr>
        <p:txBody>
          <a:bodyPr/>
          <a:lstStyle>
            <a:lvl1pPr>
              <a:defRPr sz="4000" b="1" i="0">
                <a:solidFill>
                  <a:schemeClr val="accent2"/>
                </a:solidFill>
                <a:latin typeface="Calibri" charset="0"/>
                <a:ea typeface="Calibri" charset="0"/>
                <a:cs typeface="Calibri" charset="0"/>
              </a:defRPr>
            </a:lvl1pPr>
          </a:lstStyle>
          <a:p>
            <a:r>
              <a:rPr lang="en-US" dirty="0"/>
              <a:t>Learning Objectives</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lvl1pPr>
              <a:defRPr b="0" i="0">
                <a:latin typeface="Calibri" charset="0"/>
                <a:ea typeface="Calibri" charset="0"/>
                <a:cs typeface="Calibri" charset="0"/>
              </a:defRPr>
            </a:lvl1pPr>
          </a:lstStyle>
          <a:p>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8823214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6" name="Title"/>
          <p:cNvSpPr>
            <a:spLocks noGrp="1"/>
          </p:cNvSpPr>
          <p:nvPr>
            <p:ph type="title" hasCustomPrompt="1"/>
          </p:nvPr>
        </p:nvSpPr>
        <p:spPr>
          <a:xfrm>
            <a:off x="304800" y="743712"/>
            <a:ext cx="8534400" cy="856488"/>
          </a:xfrm>
          <a:prstGeom prst="rect">
            <a:avLst/>
          </a:prstGeom>
        </p:spPr>
        <p:txBody>
          <a:bodyPr/>
          <a:lstStyle>
            <a:lvl1pPr>
              <a:defRPr sz="4000" b="1" i="0">
                <a:solidFill>
                  <a:schemeClr val="accent2"/>
                </a:solidFill>
                <a:latin typeface="Calibri" charset="0"/>
                <a:ea typeface="Calibri" charset="0"/>
                <a:cs typeface="Calibri" charset="0"/>
              </a:defRPr>
            </a:lvl1pPr>
          </a:lstStyle>
          <a:p>
            <a:r>
              <a:rPr lang="en-US" dirty="0"/>
              <a:t>Learning Objectives</a:t>
            </a:r>
          </a:p>
        </p:txBody>
      </p:sp>
      <p:sp>
        <p:nvSpPr>
          <p:cNvPr id="7" name="LOBL"/>
          <p:cNvSpPr>
            <a:spLocks noGrp="1"/>
          </p:cNvSpPr>
          <p:nvPr>
            <p:ph sz="quarter" idx="16" hasCustomPrompt="1"/>
          </p:nvPr>
        </p:nvSpPr>
        <p:spPr>
          <a:xfrm>
            <a:off x="304800" y="1752600"/>
            <a:ext cx="8534400" cy="4495800"/>
          </a:xfrm>
          <a:prstGeom prst="rect">
            <a:avLst/>
          </a:prstGeom>
        </p:spPr>
        <p:txBody>
          <a:bodyPr/>
          <a:lstStyle>
            <a:lvl1pPr marL="292608" indent="-292608">
              <a:buClr>
                <a:schemeClr val="accent2"/>
              </a:buClr>
              <a:buFont typeface="Arial" charset="0"/>
              <a:buChar char="•"/>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177182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pPr lvl="0"/>
            <a:r>
              <a:rPr lang="en-US" dirty="0"/>
              <a:t>1.1 Periodicity Assumption</a:t>
            </a:r>
          </a:p>
        </p:txBody>
      </p:sp>
      <p:sp>
        <p:nvSpPr>
          <p:cNvPr id="5" name="Content Placeholder 4"/>
          <p:cNvSpPr>
            <a:spLocks noGrp="1"/>
          </p:cNvSpPr>
          <p:nvPr>
            <p:ph sz="quarter" idx="16" hasCustomPrompt="1"/>
          </p:nvPr>
        </p:nvSpPr>
        <p:spPr>
          <a:xfrm>
            <a:off x="304800" y="1752600"/>
            <a:ext cx="8534400" cy="4419600"/>
          </a:xfrm>
          <a:prstGeom prst="rect">
            <a:avLst/>
          </a:prstGeom>
        </p:spPr>
        <p:txBody>
          <a:bodyPr/>
          <a:lstStyle>
            <a:lvl1pPr marL="0" indent="0">
              <a:spcBef>
                <a:spcPts val="1000"/>
              </a:spcBef>
              <a:buNone/>
              <a:defRPr sz="2800" baseline="0"/>
            </a:lvl1pPr>
            <a:lvl2pPr marL="809625" indent="-460375">
              <a:spcBef>
                <a:spcPts val="1000"/>
              </a:spcBef>
              <a:buClr>
                <a:schemeClr val="accent2"/>
              </a:buClr>
              <a:buFont typeface="+mj-lt"/>
              <a:buAutoNum type="alphaLcPeriod"/>
              <a:tabLst/>
              <a:defRPr sz="2800"/>
            </a:lvl2pPr>
            <a:lvl3pPr marL="914400" indent="0">
              <a:buNone/>
              <a:defRPr sz="2800"/>
            </a:lvl3pPr>
            <a:lvl4pPr marL="1371600" indent="0">
              <a:buNone/>
              <a:defRPr sz="2800"/>
            </a:lvl4pPr>
            <a:lvl5pPr marL="1828800" indent="0">
              <a:buNone/>
              <a:defRPr sz="2800"/>
            </a:lvl5pPr>
          </a:lstStyle>
          <a:p>
            <a:pPr lvl="0"/>
            <a:r>
              <a:rPr lang="en-US" dirty="0"/>
              <a:t>Which one of these statements about the accrual basis of accounting is false?</a:t>
            </a:r>
          </a:p>
          <a:p>
            <a:pPr lvl="1"/>
            <a:r>
              <a:rPr lang="en-US" dirty="0"/>
              <a:t>Companies record events that change their financial statements in the period in which events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a:p>
            <a:pPr lvl="1"/>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124381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8704" y="762002"/>
            <a:ext cx="8540496" cy="838198"/>
          </a:xfrm>
        </p:spPr>
        <p:txBody>
          <a:bodyPr/>
          <a:lstStyle/>
          <a:p>
            <a:r>
              <a:rPr lang="en-US" dirty="0"/>
              <a:t>1.1 Periodicity Assumption</a:t>
            </a:r>
          </a:p>
        </p:txBody>
      </p:sp>
      <p:sp>
        <p:nvSpPr>
          <p:cNvPr id="12" name="Question"/>
          <p:cNvSpPr>
            <a:spLocks noGrp="1"/>
          </p:cNvSpPr>
          <p:nvPr>
            <p:ph sz="quarter" idx="15" hasCustomPrompt="1"/>
          </p:nvPr>
        </p:nvSpPr>
        <p:spPr>
          <a:xfrm>
            <a:off x="304800" y="1752600"/>
            <a:ext cx="8534400" cy="4419600"/>
          </a:xfrm>
          <a:prstGeom prst="rect">
            <a:avLst/>
          </a:prstGeom>
        </p:spPr>
        <p:txBody>
          <a:bodyPr/>
          <a:lstStyle>
            <a:lvl1pPr marL="12700" indent="0">
              <a:spcBef>
                <a:spcPts val="1000"/>
              </a:spcBef>
              <a:buNone/>
              <a:tabLst/>
              <a:defRPr sz="2800" b="0" i="0" baseline="0">
                <a:solidFill>
                  <a:schemeClr val="tx1"/>
                </a:solidFill>
                <a:latin typeface="Calibri" charset="0"/>
                <a:ea typeface="Calibri" charset="0"/>
                <a:cs typeface="Calibri" charset="0"/>
              </a:defRPr>
            </a:lvl1pPr>
            <a:lvl2pPr marL="803275" indent="-450850">
              <a:spcBef>
                <a:spcPts val="1000"/>
              </a:spcBef>
              <a:buFont typeface="+mj-lt"/>
              <a:buNone/>
              <a:tabLst/>
              <a:defRPr sz="2800" b="0" i="0" baseline="0">
                <a:solidFill>
                  <a:schemeClr val="tx1"/>
                </a:solidFill>
                <a:latin typeface="Calibri" charset="0"/>
                <a:ea typeface="Calibri" charset="0"/>
                <a:cs typeface="Calibri" charset="0"/>
              </a:defRPr>
            </a:lvl2pPr>
            <a:lvl3pPr marL="803275" indent="-790575">
              <a:buNone/>
              <a:tabLst/>
              <a:defRPr sz="2800" b="0" i="0">
                <a:latin typeface="Calibri" charset="0"/>
                <a:ea typeface="Calibri" charset="0"/>
                <a:cs typeface="Calibri"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events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523935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8351"/>
            <a:ext cx="8534400" cy="831850"/>
          </a:xfrm>
        </p:spPr>
        <p:txBody>
          <a:bodyPr/>
          <a:lstStyle/>
          <a:p>
            <a:r>
              <a:rPr lang="en-US"/>
              <a:t>Language</a:t>
            </a:r>
            <a:endParaRPr lang="en-US" dirty="0"/>
          </a:p>
        </p:txBody>
      </p:sp>
      <p:sp>
        <p:nvSpPr>
          <p:cNvPr id="7" name="Definition of Key Term"/>
          <p:cNvSpPr>
            <a:spLocks noGrp="1"/>
          </p:cNvSpPr>
          <p:nvPr>
            <p:ph sz="quarter" idx="15" hasCustomPrompt="1"/>
          </p:nvPr>
        </p:nvSpPr>
        <p:spPr>
          <a:xfrm>
            <a:off x="304800" y="1752600"/>
            <a:ext cx="8534400" cy="4114800"/>
          </a:xfrm>
          <a:prstGeom prst="rect">
            <a:avLst/>
          </a:prstGeom>
        </p:spPr>
        <p:txBody>
          <a:bodyPr/>
          <a:lstStyle>
            <a:lvl1pPr marL="292608" indent="-292608">
              <a:spcBef>
                <a:spcPts val="1000"/>
              </a:spcBef>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Calibri" charset="0"/>
                <a:ea typeface="Calibri" charset="0"/>
                <a:cs typeface="Calibri"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7006093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914401"/>
            <a:ext cx="8534400" cy="685799"/>
          </a:xfrm>
        </p:spPr>
        <p:txBody>
          <a:bodyPr/>
          <a:lstStyle>
            <a:lvl1pPr>
              <a:defRPr baseline="0"/>
            </a:lvl1pPr>
          </a:lstStyle>
          <a:p>
            <a:r>
              <a:rPr lang="en-US" dirty="0"/>
              <a:t>Anatomy and Physiology Defined</a:t>
            </a:r>
          </a:p>
        </p:txBody>
      </p:sp>
      <p:sp>
        <p:nvSpPr>
          <p:cNvPr id="7" name="Definition of Key Term"/>
          <p:cNvSpPr>
            <a:spLocks noGrp="1"/>
          </p:cNvSpPr>
          <p:nvPr>
            <p:ph sz="quarter" idx="15" hasCustomPrompt="1"/>
          </p:nvPr>
        </p:nvSpPr>
        <p:spPr>
          <a:xfrm>
            <a:off x="304800" y="1905000"/>
            <a:ext cx="8534400" cy="39624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6622711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9" name="TextBox 8">
            <a:extLst>
              <a:ext uri="{FF2B5EF4-FFF2-40B4-BE49-F238E27FC236}">
                <a16:creationId xmlns:a16="http://schemas.microsoft.com/office/drawing/2014/main" id="{FB501DE6-FC1F-4C0F-B099-C234E3326591}"/>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10" name="Slide Number Placeholder 5">
            <a:extLst>
              <a:ext uri="{FF2B5EF4-FFF2-40B4-BE49-F238E27FC236}">
                <a16:creationId xmlns:a16="http://schemas.microsoft.com/office/drawing/2014/main" id="{4E5A6272-279A-4E71-B650-7305815A41A9}"/>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9771030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752599"/>
            <a:ext cx="8534400" cy="4343399"/>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TextBox 6">
            <a:extLst>
              <a:ext uri="{FF2B5EF4-FFF2-40B4-BE49-F238E27FC236}">
                <a16:creationId xmlns:a16="http://schemas.microsoft.com/office/drawing/2014/main" id="{49F3BC24-D00F-46ED-9B77-96B82B16530C}"/>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8" name="Slide Number Placeholder 5">
            <a:extLst>
              <a:ext uri="{FF2B5EF4-FFF2-40B4-BE49-F238E27FC236}">
                <a16:creationId xmlns:a16="http://schemas.microsoft.com/office/drawing/2014/main" id="{F6CBFB03-72E3-4638-BD49-DEAC24330D52}"/>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2539791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22098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7" name="Content Placeholder 6">
            <a:extLst>
              <a:ext uri="{FF2B5EF4-FFF2-40B4-BE49-F238E27FC236}">
                <a16:creationId xmlns:a16="http://schemas.microsoft.com/office/drawing/2014/main" id="{52B1A8B2-2771-405C-ADB7-8F62B695734A}"/>
              </a:ext>
            </a:extLst>
          </p:cNvPr>
          <p:cNvSpPr>
            <a:spLocks noGrp="1"/>
          </p:cNvSpPr>
          <p:nvPr>
            <p:ph sz="quarter" idx="17"/>
          </p:nvPr>
        </p:nvSpPr>
        <p:spPr>
          <a:xfrm>
            <a:off x="304800" y="4191000"/>
            <a:ext cx="8458200" cy="1752600"/>
          </a:xfrm>
          <a:prstGeom prst="rect">
            <a:avLst/>
          </a:prstGeom>
        </p:spPr>
        <p:txBody>
          <a:bodyPr/>
          <a:lstStyle>
            <a:lvl1pPr marL="0" indent="0">
              <a:buNone/>
              <a:defRPr/>
            </a:lvl1pPr>
          </a:lstStyle>
          <a:p>
            <a:pPr lvl="0"/>
            <a:endParaRPr lang="en-US" dirty="0"/>
          </a:p>
        </p:txBody>
      </p:sp>
      <p:sp>
        <p:nvSpPr>
          <p:cNvPr id="8" name="TextBox 7">
            <a:extLst>
              <a:ext uri="{FF2B5EF4-FFF2-40B4-BE49-F238E27FC236}">
                <a16:creationId xmlns:a16="http://schemas.microsoft.com/office/drawing/2014/main" id="{726C990E-8B83-4B60-916E-6CE28C3F6DCA}"/>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9" name="Slide Number Placeholder 5">
            <a:extLst>
              <a:ext uri="{FF2B5EF4-FFF2-40B4-BE49-F238E27FC236}">
                <a16:creationId xmlns:a16="http://schemas.microsoft.com/office/drawing/2014/main" id="{00CD5B1C-2CB6-469B-B41C-DBEBB2CEFA2C}"/>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18953155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44513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752600"/>
            <a:ext cx="4114800" cy="44513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8" name="TextBox 7">
            <a:extLst>
              <a:ext uri="{FF2B5EF4-FFF2-40B4-BE49-F238E27FC236}">
                <a16:creationId xmlns:a16="http://schemas.microsoft.com/office/drawing/2014/main" id="{A1108085-6D8E-4689-991B-902943EB6D3D}"/>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9" name="Slide Number Placeholder 5">
            <a:extLst>
              <a:ext uri="{FF2B5EF4-FFF2-40B4-BE49-F238E27FC236}">
                <a16:creationId xmlns:a16="http://schemas.microsoft.com/office/drawing/2014/main" id="{D16373F4-B83A-400A-A60C-3FCC3DFC45A1}"/>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12647604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752600"/>
            <a:ext cx="41148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8" name="TextBox 7">
            <a:extLst>
              <a:ext uri="{FF2B5EF4-FFF2-40B4-BE49-F238E27FC236}">
                <a16:creationId xmlns:a16="http://schemas.microsoft.com/office/drawing/2014/main" id="{F5E6360E-5B6F-4AAB-86ED-9632394E8A31}"/>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10" name="Slide Number Placeholder 5">
            <a:extLst>
              <a:ext uri="{FF2B5EF4-FFF2-40B4-BE49-F238E27FC236}">
                <a16:creationId xmlns:a16="http://schemas.microsoft.com/office/drawing/2014/main" id="{77BBB985-21A2-4C48-B021-545D1D7D91E5}"/>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6132984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838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
        <p:nvSpPr>
          <p:cNvPr id="7" name="Content Placeholder"/>
          <p:cNvSpPr>
            <a:spLocks noGrp="1"/>
          </p:cNvSpPr>
          <p:nvPr>
            <p:ph sz="quarter" idx="17"/>
          </p:nvPr>
        </p:nvSpPr>
        <p:spPr>
          <a:xfrm>
            <a:off x="313265" y="2980267"/>
            <a:ext cx="8534400" cy="838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TextBox 7">
            <a:extLst>
              <a:ext uri="{FF2B5EF4-FFF2-40B4-BE49-F238E27FC236}">
                <a16:creationId xmlns:a16="http://schemas.microsoft.com/office/drawing/2014/main" id="{D6301D86-595C-4C8C-8A69-C187BE494230}"/>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9" name="Slide Number Placeholder 5">
            <a:extLst>
              <a:ext uri="{FF2B5EF4-FFF2-40B4-BE49-F238E27FC236}">
                <a16:creationId xmlns:a16="http://schemas.microsoft.com/office/drawing/2014/main" id="{3969569B-6835-4753-9259-94CFABF9200F}"/>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27128524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9" name="TextBox 8">
            <a:extLst>
              <a:ext uri="{FF2B5EF4-FFF2-40B4-BE49-F238E27FC236}">
                <a16:creationId xmlns:a16="http://schemas.microsoft.com/office/drawing/2014/main" id="{FF5D095A-BE6A-47A1-8722-8C6BB720CC13}"/>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10" name="Slide Number Placeholder 5">
            <a:extLst>
              <a:ext uri="{FF2B5EF4-FFF2-40B4-BE49-F238E27FC236}">
                <a16:creationId xmlns:a16="http://schemas.microsoft.com/office/drawing/2014/main" id="{DEFECBCA-CFAF-4829-AEAC-1A3EFCAE9F2B}"/>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29303525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5350050"/>
            <a:ext cx="8534400" cy="309975"/>
          </a:xfrm>
          <a:prstGeom prst="rect">
            <a:avLst/>
          </a:prstGeom>
        </p:spPr>
        <p:txBody>
          <a:bodyPr/>
          <a:lstStyle>
            <a:lvl1pPr>
              <a:defRPr sz="2000" b="0" i="0">
                <a:latin typeface="Calibri" charset="0"/>
                <a:ea typeface="Calibri" charset="0"/>
                <a:cs typeface="Calibri" charset="0"/>
              </a:defRPr>
            </a:lvl1pPr>
          </a:lstStyle>
          <a:p>
            <a:pPr lvl="0"/>
            <a:r>
              <a:rPr lang="en-US" sz="2000" dirty="0"/>
              <a:t>Figure Title</a:t>
            </a:r>
          </a:p>
        </p:txBody>
      </p:sp>
      <p:sp>
        <p:nvSpPr>
          <p:cNvPr id="3" name="Content Placeholder 2"/>
          <p:cNvSpPr>
            <a:spLocks noGrp="1"/>
          </p:cNvSpPr>
          <p:nvPr>
            <p:ph idx="1"/>
          </p:nvPr>
        </p:nvSpPr>
        <p:spPr>
          <a:xfrm>
            <a:off x="304800" y="820738"/>
            <a:ext cx="8534400" cy="4452937"/>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8" name="Content Placeholder 7"/>
          <p:cNvSpPr>
            <a:spLocks noGrp="1"/>
          </p:cNvSpPr>
          <p:nvPr>
            <p:ph sz="quarter" idx="13" hasCustomPrompt="1"/>
          </p:nvPr>
        </p:nvSpPr>
        <p:spPr>
          <a:xfrm>
            <a:off x="304800" y="5780675"/>
            <a:ext cx="8534400" cy="467725"/>
          </a:xfrm>
          <a:prstGeom prst="rect">
            <a:avLst/>
          </a:prstGeom>
        </p:spPr>
        <p:txBody>
          <a:bodyPr/>
          <a:lstStyle>
            <a:lvl1pPr marL="0" indent="0">
              <a:buNone/>
              <a:defRPr sz="2000" b="0" i="0">
                <a:latin typeface="Calibri" charset="0"/>
                <a:ea typeface="Calibri" charset="0"/>
                <a:cs typeface="Calibri" charset="0"/>
              </a:defRPr>
            </a:lvl1pPr>
          </a:lstStyle>
          <a:p>
            <a:pPr lvl="0"/>
            <a:r>
              <a:rPr lang="en-US" sz="2000" dirty="0"/>
              <a:t>Figure 4.5 Figure title placeholder</a:t>
            </a:r>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2667376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Slide: Version B">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304800" y="5920581"/>
            <a:ext cx="8534400" cy="435770"/>
          </a:xfrm>
          <a:prstGeom prst="rect">
            <a:avLst/>
          </a:prstGeom>
        </p:spPr>
        <p:txBody>
          <a:bodyPr/>
          <a:lstStyle>
            <a:lvl1pPr algn="ctr">
              <a:defRPr b="0" i="0">
                <a:latin typeface="Calibri" charset="0"/>
                <a:ea typeface="Calibri" charset="0"/>
                <a:cs typeface="Calibri" charset="0"/>
              </a:defRPr>
            </a:lvl1pPr>
          </a:lstStyle>
          <a:p>
            <a:r>
              <a:rPr lang="en-US" dirty="0"/>
              <a:t>Image Title</a:t>
            </a:r>
          </a:p>
        </p:txBody>
      </p:sp>
      <p:sp>
        <p:nvSpPr>
          <p:cNvPr id="3" name="Content Placeholder 2"/>
          <p:cNvSpPr>
            <a:spLocks noGrp="1"/>
          </p:cNvSpPr>
          <p:nvPr>
            <p:ph idx="1"/>
          </p:nvPr>
        </p:nvSpPr>
        <p:spPr>
          <a:xfrm>
            <a:off x="304800" y="820738"/>
            <a:ext cx="8534400" cy="4970462"/>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 id="2147483983" r:id="rId3"/>
    <p:sldLayoutId id="2147483984" r:id="rId4"/>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295274" y="777242"/>
            <a:ext cx="8543926" cy="975360"/>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Connector 16"/>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 id="2147483986" r:id="rId1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43713"/>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b="1" kern="1200">
          <a:solidFill>
            <a:schemeClr val="accent2"/>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704" y="762002"/>
            <a:ext cx="8540496" cy="9906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Lst>
  <p:hf hdr="0" dt="0"/>
  <p:txStyles>
    <p:titleStyle>
      <a:lvl1pPr algn="l" defTabSz="914400" rtl="0" eaLnBrk="1" latinLnBrk="0" hangingPunct="1">
        <a:lnSpc>
          <a:spcPct val="90000"/>
        </a:lnSpc>
        <a:spcBef>
          <a:spcPct val="0"/>
        </a:spcBef>
        <a:buNone/>
        <a:defRPr sz="4000" b="1"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3970" r:id="rId2"/>
  </p:sldLayoutIdLst>
  <p:hf hdr="0" dt="0"/>
  <p:txStyles>
    <p:titleStyle>
      <a:lvl1pPr algn="l" defTabSz="914400" rtl="0" eaLnBrk="1" latinLnBrk="0" hangingPunct="1">
        <a:lnSpc>
          <a:spcPct val="90000"/>
        </a:lnSpc>
        <a:spcBef>
          <a:spcPct val="0"/>
        </a:spcBef>
        <a:buNone/>
        <a:defRPr sz="4000" b="1"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6512"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81" r:id="rId3"/>
    <p:sldLayoutId id="2147483974" r:id="rId4"/>
    <p:sldLayoutId id="2147483975" r:id="rId5"/>
    <p:sldLayoutId id="2147483982" r:id="rId6"/>
    <p:sldLayoutId id="2147483985" r:id="rId7"/>
  </p:sldLayoutIdLst>
  <p:hf hdr="0" dt="0"/>
  <p:txStyles>
    <p:titleStyle>
      <a:lvl1pPr algn="l" defTabSz="914400" rtl="0" eaLnBrk="1" latinLnBrk="0" hangingPunct="1">
        <a:lnSpc>
          <a:spcPct val="90000"/>
        </a:lnSpc>
        <a:spcBef>
          <a:spcPct val="0"/>
        </a:spcBef>
        <a:buNone/>
        <a:defRPr sz="4000" b="1"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028950" y="6400800"/>
            <a:ext cx="3086100" cy="365125"/>
          </a:xfrm>
          <a:prstGeom prst="rect">
            <a:avLst/>
          </a:prstGeom>
        </p:spPr>
        <p:txBody>
          <a:bodyPr vert="horz" lIns="91440" tIns="45720" rIns="91440" bIns="45720" rtlCol="0" anchor="ctr"/>
          <a:lstStyle>
            <a:lvl1pPr algn="ctr">
              <a:defRPr sz="1200">
                <a:solidFill>
                  <a:schemeClr val="tx1"/>
                </a:solidFill>
              </a:defRPr>
            </a:lvl1pPr>
          </a:lstStyle>
          <a:p>
            <a:r>
              <a:rPr lang="en-US"/>
              <a:t>Copyright ©2017 John Wiley &amp; Sons, Inc. </a:t>
            </a:r>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solidFill>
              </a:defRPr>
            </a:lvl1pPr>
          </a:lstStyle>
          <a:p>
            <a:fld id="{42181430-7FCB-BA4C-90CE-EB7ACCC9EC50}" type="slidenum">
              <a:rPr lang="en-US" smtClean="0"/>
              <a:pPr/>
              <a:t>‹#›</a:t>
            </a:fld>
            <a:endParaRPr lang="en-US" dirty="0"/>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216900"/>
      </p:ext>
    </p:extLst>
  </p:cSld>
  <p:clrMap bg1="lt1" tx1="dk1" bg2="lt2" tx2="dk2" accent1="accent1" accent2="accent2" accent3="accent3" accent4="accent4" accent5="accent5" accent6="accent6" hlink="hlink" folHlink="folHlink"/>
  <p:sldLayoutIdLst>
    <p:sldLayoutId id="2147483978" r:id="rId1"/>
    <p:sldLayoutId id="2147483979"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3" Type="http://schemas.openxmlformats.org/officeDocument/2006/relationships/hyperlink" Target="https://education.wiley.com/wpng/api/v1/content/resource/3f86a42b-7df2-4daa-b4f3-cca2294d7a22" TargetMode="External"/><Relationship Id="rId2" Type="http://schemas.openxmlformats.org/officeDocument/2006/relationships/notesSlide" Target="../notesSlides/notesSlide2.xml"/><Relationship Id="rId1" Type="http://schemas.openxmlformats.org/officeDocument/2006/relationships/slideLayout" Target="../slideLayouts/slideLayout26.xml"/><Relationship Id="rId4" Type="http://schemas.openxmlformats.org/officeDocument/2006/relationships/hyperlink" Target="https://education.wiley.com/wpng/api/v1/content/resource/f72adae4-e296-412e-bdb7-f8391b74afe4"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3" Type="http://schemas.openxmlformats.org/officeDocument/2006/relationships/hyperlink" Target="https://education.wiley.com/wpng/api/v1/content/resource/2f583179-e270-4576-b894-d96fd09f58df" TargetMode="External"/><Relationship Id="rId2" Type="http://schemas.openxmlformats.org/officeDocument/2006/relationships/notesSlide" Target="../notesSlides/notesSlide3.xml"/><Relationship Id="rId1" Type="http://schemas.openxmlformats.org/officeDocument/2006/relationships/slideLayout" Target="../slideLayouts/slideLayout24.xml"/><Relationship Id="rId4" Type="http://schemas.openxmlformats.org/officeDocument/2006/relationships/hyperlink" Target="https://education.wiley.com/wpng/api/v1/content/resource/bb0d8a5e-e723-447f-83c7-54e8e2910f2a/"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3" Type="http://schemas.openxmlformats.org/officeDocument/2006/relationships/hyperlink" Target="https://education.wiley.com/wpng/api/v1/content/resource/62747166-775a-4318-a5a4-c6109d88f5bf" TargetMode="External"/><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3" Type="http://schemas.openxmlformats.org/officeDocument/2006/relationships/hyperlink" Target="https://education.wiley.com/wpng/api/v1/content/resource/2f583179-e270-4576-b894-d96fd09f58df" TargetMode="External"/><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chor="ctr"/>
          <a:lstStyle/>
          <a:p>
            <a:r>
              <a:rPr lang="en-US" sz="4800" b="1" dirty="0">
                <a:latin typeface="Calibri" panose="020F0502020204030204" pitchFamily="34" charset="0"/>
                <a:cs typeface="Calibri" panose="020F0502020204030204" pitchFamily="34" charset="0"/>
              </a:rPr>
              <a:t>Principles of Anatomy and Physiology</a:t>
            </a:r>
          </a:p>
        </p:txBody>
      </p:sp>
      <p:sp>
        <p:nvSpPr>
          <p:cNvPr id="4" name="Author"/>
          <p:cNvSpPr>
            <a:spLocks noGrp="1"/>
          </p:cNvSpPr>
          <p:nvPr>
            <p:ph sz="quarter" idx="21"/>
          </p:nvPr>
        </p:nvSpPr>
        <p:spPr>
          <a:prstGeom prst="rect">
            <a:avLst/>
          </a:prstGeom>
        </p:spPr>
        <p:txBody>
          <a:bodyPr/>
          <a:lstStyle/>
          <a:p>
            <a:r>
              <a:rPr lang="sv-SE" dirty="0">
                <a:latin typeface="Calibri" panose="020F0502020204030204" pitchFamily="34" charset="0"/>
                <a:cs typeface="Calibri" panose="020F0502020204030204" pitchFamily="34" charset="0"/>
              </a:rPr>
              <a:t>Gerard Tortora and Bryan Derrickson</a:t>
            </a:r>
          </a:p>
        </p:txBody>
      </p:sp>
      <p:sp>
        <p:nvSpPr>
          <p:cNvPr id="3" name="Edition"/>
          <p:cNvSpPr>
            <a:spLocks noGrp="1"/>
          </p:cNvSpPr>
          <p:nvPr>
            <p:ph sz="quarter" idx="22"/>
          </p:nvPr>
        </p:nvSpPr>
        <p:spPr>
          <a:prstGeom prst="rect">
            <a:avLst/>
          </a:prstGeom>
        </p:spPr>
        <p:txBody>
          <a:bodyPr/>
          <a:lstStyle/>
          <a:p>
            <a:r>
              <a:rPr lang="en-US" dirty="0">
                <a:latin typeface="Calibri" panose="020F0502020204030204" pitchFamily="34" charset="0"/>
                <a:cs typeface="Calibri" panose="020F0502020204030204" pitchFamily="34" charset="0"/>
              </a:rPr>
              <a:t>Sixteenth Edition</a:t>
            </a:r>
          </a:p>
        </p:txBody>
      </p:sp>
      <p:sp>
        <p:nvSpPr>
          <p:cNvPr id="5" name="CN"/>
          <p:cNvSpPr>
            <a:spLocks noGrp="1"/>
          </p:cNvSpPr>
          <p:nvPr>
            <p:ph sz="quarter" idx="19"/>
          </p:nvPr>
        </p:nvSpPr>
        <p:spPr>
          <a:xfrm>
            <a:off x="152400" y="3628572"/>
            <a:ext cx="8839200" cy="533400"/>
          </a:xfrm>
        </p:spPr>
        <p:txBody>
          <a:bodyPr anchor="ctr"/>
          <a:lstStyle/>
          <a:p>
            <a:r>
              <a:rPr lang="en-US">
                <a:latin typeface="Calibri" panose="020F0502020204030204" pitchFamily="34" charset="0"/>
                <a:cs typeface="Calibri" panose="020F0502020204030204" pitchFamily="34" charset="0"/>
              </a:rPr>
              <a:t>Chapter 6</a:t>
            </a:r>
            <a:endParaRPr lang="en-US" dirty="0">
              <a:latin typeface="Calibri" panose="020F0502020204030204" pitchFamily="34" charset="0"/>
              <a:cs typeface="Calibri" panose="020F0502020204030204" pitchFamily="34" charset="0"/>
            </a:endParaRPr>
          </a:p>
        </p:txBody>
      </p:sp>
      <p:sp>
        <p:nvSpPr>
          <p:cNvPr id="6" name="CT"/>
          <p:cNvSpPr>
            <a:spLocks noGrp="1"/>
          </p:cNvSpPr>
          <p:nvPr>
            <p:ph sz="quarter" idx="20"/>
          </p:nvPr>
        </p:nvSpPr>
        <p:spPr>
          <a:xfrm>
            <a:off x="152400" y="4366920"/>
            <a:ext cx="8839200" cy="833000"/>
          </a:xfrm>
        </p:spPr>
        <p:txBody>
          <a:bodyPr/>
          <a:lstStyle/>
          <a:p>
            <a:r>
              <a:rPr lang="en-US" altLang="en-US" sz="3600" dirty="0">
                <a:latin typeface="Calibri" panose="020F0502020204030204" pitchFamily="34" charset="0"/>
                <a:cs typeface="Calibri" panose="020F0502020204030204" pitchFamily="34" charset="0"/>
              </a:rPr>
              <a:t>The Skeletal System: Bone Tissue</a:t>
            </a:r>
          </a:p>
        </p:txBody>
      </p:sp>
      <p:sp>
        <p:nvSpPr>
          <p:cNvPr id="14" name="Content Placeholder 13"/>
          <p:cNvSpPr>
            <a:spLocks noGrp="1"/>
          </p:cNvSpPr>
          <p:nvPr>
            <p:ph sz="quarter" idx="24"/>
          </p:nvPr>
        </p:nvSpPr>
        <p:spPr>
          <a:xfrm>
            <a:off x="152400" y="6003472"/>
            <a:ext cx="8839200" cy="273050"/>
          </a:xfrm>
        </p:spPr>
        <p:txBody>
          <a:bodyPr/>
          <a:lstStyle/>
          <a:p>
            <a:r>
              <a:rPr lang="en-IN" sz="1200" dirty="0">
                <a:solidFill>
                  <a:schemeClr val="bg1"/>
                </a:solidFill>
                <a:latin typeface="Calibri" panose="020F0502020204030204" pitchFamily="34" charset="0"/>
                <a:cs typeface="Calibri" panose="020F0502020204030204" pitchFamily="34" charset="0"/>
              </a:rPr>
              <a:t>This slide deck contains animations. Please disable animations if they cause issues with your device.</a:t>
            </a:r>
          </a:p>
        </p:txBody>
      </p:sp>
      <p:sp>
        <p:nvSpPr>
          <p:cNvPr id="10" name="Content Placeholder 9"/>
          <p:cNvSpPr>
            <a:spLocks noGrp="1"/>
          </p:cNvSpPr>
          <p:nvPr>
            <p:ph sz="quarter" idx="23"/>
          </p:nvPr>
        </p:nvSpPr>
        <p:spPr>
          <a:xfrm>
            <a:off x="1286978" y="6339840"/>
            <a:ext cx="6584482" cy="457200"/>
          </a:xfrm>
          <a:prstGeom prst="rect">
            <a:avLst/>
          </a:prstGeom>
        </p:spPr>
        <p:txBody>
          <a:bodyPr anchor="ctr"/>
          <a:lstStyle/>
          <a:p>
            <a:pPr algn="ctr"/>
            <a:r>
              <a:rPr lang="en-US" sz="1200" dirty="0">
                <a:solidFill>
                  <a:schemeClr val="tx1">
                    <a:tint val="75000"/>
                  </a:schemeClr>
                </a:solidFill>
                <a:latin typeface="Calibri" panose="020F0502020204030204" pitchFamily="34" charset="0"/>
                <a:ea typeface="Times New Roman" charset="0"/>
                <a:cs typeface="Calibri" panose="020F0502020204030204" pitchFamily="34" charset="0"/>
              </a:rPr>
              <a:t>Copyright ©2021 John Wiley &amp; Sons, Inc.</a:t>
            </a:r>
          </a:p>
        </p:txBody>
      </p:sp>
    </p:spTree>
    <p:extLst>
      <p:ext uri="{BB962C8B-B14F-4D97-AF65-F5344CB8AC3E}">
        <p14:creationId xmlns:p14="http://schemas.microsoft.com/office/powerpoint/2010/main" val="3999527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99A5B-D869-48A9-B71A-043D711C5BE5}"/>
              </a:ext>
            </a:extLst>
          </p:cNvPr>
          <p:cNvSpPr>
            <a:spLocks noGrp="1"/>
          </p:cNvSpPr>
          <p:nvPr>
            <p:ph type="title"/>
          </p:nvPr>
        </p:nvSpPr>
        <p:spPr>
          <a:xfrm>
            <a:off x="304800" y="404569"/>
            <a:ext cx="8534400" cy="838199"/>
          </a:xfrm>
        </p:spPr>
        <p:txBody>
          <a:bodyPr>
            <a:normAutofit/>
          </a:bodyPr>
          <a:lstStyle/>
          <a:p>
            <a:r>
              <a:rPr lang="en-US" sz="4400" dirty="0">
                <a:latin typeface="Calibri" panose="020F0502020204030204" pitchFamily="34" charset="0"/>
                <a:cs typeface="Calibri" panose="020F0502020204030204" pitchFamily="34" charset="0"/>
              </a:rPr>
              <a:t>Introduction </a:t>
            </a:r>
          </a:p>
        </p:txBody>
      </p:sp>
      <p:sp>
        <p:nvSpPr>
          <p:cNvPr id="14" name="Content Placeholder 13">
            <a:extLst>
              <a:ext uri="{FF2B5EF4-FFF2-40B4-BE49-F238E27FC236}">
                <a16:creationId xmlns:a16="http://schemas.microsoft.com/office/drawing/2014/main" id="{B4B8CE6C-8DFF-4081-9F6C-6FB6D7B1F71F}"/>
              </a:ext>
            </a:extLst>
          </p:cNvPr>
          <p:cNvSpPr>
            <a:spLocks noGrp="1"/>
          </p:cNvSpPr>
          <p:nvPr>
            <p:ph sz="quarter" idx="16"/>
          </p:nvPr>
        </p:nvSpPr>
        <p:spPr>
          <a:xfrm>
            <a:off x="304799" y="1097281"/>
            <a:ext cx="8656321" cy="5039114"/>
          </a:xfrm>
        </p:spPr>
        <p:txBody>
          <a:bodyPr/>
          <a:lstStyle/>
          <a:p>
            <a:pPr marL="457200" indent="-457200">
              <a:lnSpc>
                <a:spcPct val="100000"/>
              </a:lnSpc>
              <a:spcBef>
                <a:spcPts val="624"/>
              </a:spcBef>
              <a:spcAft>
                <a:spcPts val="600"/>
              </a:spcAft>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The purpose of the chapter is to:</a:t>
            </a:r>
          </a:p>
          <a:p>
            <a:pPr marL="1143000" lvl="1" indent="-457200">
              <a:lnSpc>
                <a:spcPct val="100000"/>
              </a:lnSpc>
              <a:spcBef>
                <a:spcPts val="624"/>
              </a:spcBef>
              <a:spcAft>
                <a:spcPts val="600"/>
              </a:spcAft>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Describe the functions of the skeletal system </a:t>
            </a:r>
          </a:p>
          <a:p>
            <a:pPr marL="1143000" lvl="1" indent="-457200">
              <a:lnSpc>
                <a:spcPct val="100000"/>
              </a:lnSpc>
              <a:spcBef>
                <a:spcPts val="624"/>
              </a:spcBef>
              <a:spcAft>
                <a:spcPts val="600"/>
              </a:spcAft>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Describe the structure of long bones </a:t>
            </a:r>
          </a:p>
          <a:p>
            <a:pPr marL="1143000" lvl="1" indent="-457200">
              <a:lnSpc>
                <a:spcPct val="100000"/>
              </a:lnSpc>
              <a:spcBef>
                <a:spcPts val="624"/>
              </a:spcBef>
              <a:spcAft>
                <a:spcPts val="600"/>
              </a:spcAft>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Compare and contrast endochondral and intramembranous ossification </a:t>
            </a:r>
          </a:p>
          <a:p>
            <a:pPr marL="1143000" lvl="1" indent="-457200">
              <a:lnSpc>
                <a:spcPct val="100000"/>
              </a:lnSpc>
              <a:spcBef>
                <a:spcPts val="624"/>
              </a:spcBef>
              <a:spcAft>
                <a:spcPts val="600"/>
              </a:spcAft>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Identify histology of compact and spongy bone tissue </a:t>
            </a:r>
          </a:p>
          <a:p>
            <a:pPr marL="1143000" lvl="1" indent="-457200">
              <a:lnSpc>
                <a:spcPct val="100000"/>
              </a:lnSpc>
              <a:spcBef>
                <a:spcPts val="624"/>
              </a:spcBef>
              <a:spcAft>
                <a:spcPts val="600"/>
              </a:spcAft>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Outline the roles of hormones in bone tissue and calcium homeostasis </a:t>
            </a:r>
          </a:p>
          <a:p>
            <a:pPr marL="1143000" lvl="1" indent="-457200">
              <a:lnSpc>
                <a:spcPct val="100000"/>
              </a:lnSpc>
              <a:spcBef>
                <a:spcPts val="624"/>
              </a:spcBef>
              <a:spcAft>
                <a:spcPts val="600"/>
              </a:spcAft>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Identify common types of fractures </a:t>
            </a:r>
          </a:p>
        </p:txBody>
      </p:sp>
    </p:spTree>
    <p:extLst>
      <p:ext uri="{BB962C8B-B14F-4D97-AF65-F5344CB8AC3E}">
        <p14:creationId xmlns:p14="http://schemas.microsoft.com/office/powerpoint/2010/main" val="3249366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2BE2B-477F-4712-B090-A30BC7976F52}"/>
              </a:ext>
            </a:extLst>
          </p:cNvPr>
          <p:cNvSpPr>
            <a:spLocks noGrp="1"/>
          </p:cNvSpPr>
          <p:nvPr>
            <p:ph type="title"/>
          </p:nvPr>
        </p:nvSpPr>
        <p:spPr>
          <a:xfrm>
            <a:off x="304800" y="2931110"/>
            <a:ext cx="8534400" cy="995781"/>
          </a:xfrm>
        </p:spPr>
        <p:txBody>
          <a:bodyPr>
            <a:noAutofit/>
          </a:bodyPr>
          <a:lstStyle/>
          <a:p>
            <a:pPr algn="ctr"/>
            <a:r>
              <a:rPr lang="en-US" b="1" dirty="0">
                <a:latin typeface="Calibri" panose="020F0502020204030204" pitchFamily="34" charset="0"/>
                <a:cs typeface="Calibri" panose="020F0502020204030204" pitchFamily="34" charset="0"/>
              </a:rPr>
              <a:t>Functions of Bone and the Skeletal System</a:t>
            </a:r>
          </a:p>
        </p:txBody>
      </p:sp>
    </p:spTree>
    <p:extLst>
      <p:ext uri="{BB962C8B-B14F-4D97-AF65-F5344CB8AC3E}">
        <p14:creationId xmlns:p14="http://schemas.microsoft.com/office/powerpoint/2010/main" val="231924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99A5B-D869-48A9-B71A-043D711C5BE5}"/>
              </a:ext>
            </a:extLst>
          </p:cNvPr>
          <p:cNvSpPr>
            <a:spLocks noGrp="1"/>
          </p:cNvSpPr>
          <p:nvPr>
            <p:ph type="title"/>
          </p:nvPr>
        </p:nvSpPr>
        <p:spPr>
          <a:xfrm>
            <a:off x="304800" y="404569"/>
            <a:ext cx="8534400" cy="838199"/>
          </a:xfrm>
        </p:spPr>
        <p:txBody>
          <a:bodyPr/>
          <a:lstStyle/>
          <a:p>
            <a:r>
              <a:rPr lang="en-US" dirty="0">
                <a:latin typeface="Calibri" panose="020F0502020204030204" pitchFamily="34" charset="0"/>
                <a:cs typeface="Calibri" panose="020F0502020204030204" pitchFamily="34" charset="0"/>
              </a:rPr>
              <a:t>Bone</a:t>
            </a:r>
            <a:endParaRPr lang="en-US" sz="2000" b="0" dirty="0">
              <a:latin typeface="Calibri" panose="020F0502020204030204" pitchFamily="34" charset="0"/>
              <a:cs typeface="Calibri" panose="020F0502020204030204" pitchFamily="34" charset="0"/>
            </a:endParaRPr>
          </a:p>
        </p:txBody>
      </p:sp>
      <p:sp>
        <p:nvSpPr>
          <p:cNvPr id="14" name="Content Placeholder 13">
            <a:extLst>
              <a:ext uri="{FF2B5EF4-FFF2-40B4-BE49-F238E27FC236}">
                <a16:creationId xmlns:a16="http://schemas.microsoft.com/office/drawing/2014/main" id="{B4B8CE6C-8DFF-4081-9F6C-6FB6D7B1F71F}"/>
              </a:ext>
            </a:extLst>
          </p:cNvPr>
          <p:cNvSpPr>
            <a:spLocks noGrp="1"/>
          </p:cNvSpPr>
          <p:nvPr>
            <p:ph sz="quarter" idx="16"/>
          </p:nvPr>
        </p:nvSpPr>
        <p:spPr>
          <a:xfrm>
            <a:off x="304799" y="1598363"/>
            <a:ext cx="8299373" cy="4538031"/>
          </a:xfrm>
        </p:spPr>
        <p:txBody>
          <a:bodyPr/>
          <a:lstStyle/>
          <a:p>
            <a:pPr marL="457200" indent="-457200">
              <a:lnSpc>
                <a:spcPct val="100000"/>
              </a:lnSpc>
              <a:spcBef>
                <a:spcPts val="624"/>
              </a:spcBef>
              <a:spcAft>
                <a:spcPts val="600"/>
              </a:spcAft>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Bone is an organ made up of several different tissues (bone, cartilage, dense connective tissue, adipose, and nervous tissue) working together </a:t>
            </a:r>
          </a:p>
          <a:p>
            <a:pPr marL="457200" indent="-457200">
              <a:lnSpc>
                <a:spcPct val="100000"/>
              </a:lnSpc>
              <a:spcBef>
                <a:spcPts val="624"/>
              </a:spcBef>
              <a:spcAft>
                <a:spcPts val="600"/>
              </a:spcAft>
              <a:buClr>
                <a:schemeClr val="accent2"/>
              </a:buClr>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lnSpc>
                <a:spcPct val="100000"/>
              </a:lnSpc>
              <a:spcBef>
                <a:spcPts val="624"/>
              </a:spcBef>
              <a:spcAft>
                <a:spcPts val="600"/>
              </a:spcAft>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The entire framework of bones and their cartilages constitute the skeletal system</a:t>
            </a:r>
          </a:p>
        </p:txBody>
      </p:sp>
    </p:spTree>
    <p:extLst>
      <p:ext uri="{BB962C8B-B14F-4D97-AF65-F5344CB8AC3E}">
        <p14:creationId xmlns:p14="http://schemas.microsoft.com/office/powerpoint/2010/main" val="82646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99A5B-D869-48A9-B71A-043D711C5BE5}"/>
              </a:ext>
            </a:extLst>
          </p:cNvPr>
          <p:cNvSpPr>
            <a:spLocks noGrp="1"/>
          </p:cNvSpPr>
          <p:nvPr>
            <p:ph type="title"/>
          </p:nvPr>
        </p:nvSpPr>
        <p:spPr>
          <a:xfrm>
            <a:off x="304800" y="404569"/>
            <a:ext cx="8534400" cy="838199"/>
          </a:xfrm>
        </p:spPr>
        <p:txBody>
          <a:bodyPr/>
          <a:lstStyle/>
          <a:p>
            <a:r>
              <a:rPr lang="en-US" dirty="0">
                <a:latin typeface="Calibri" panose="020F0502020204030204" pitchFamily="34" charset="0"/>
                <a:cs typeface="Calibri" panose="020F0502020204030204" pitchFamily="34" charset="0"/>
              </a:rPr>
              <a:t>Functions of the Skeletal System</a:t>
            </a:r>
            <a:endParaRPr lang="en-US" sz="2000" b="0" dirty="0">
              <a:latin typeface="Calibri" panose="020F0502020204030204" pitchFamily="34" charset="0"/>
              <a:cs typeface="Calibri" panose="020F0502020204030204" pitchFamily="34" charset="0"/>
            </a:endParaRPr>
          </a:p>
        </p:txBody>
      </p:sp>
      <p:sp>
        <p:nvSpPr>
          <p:cNvPr id="14" name="Content Placeholder 13">
            <a:extLst>
              <a:ext uri="{FF2B5EF4-FFF2-40B4-BE49-F238E27FC236}">
                <a16:creationId xmlns:a16="http://schemas.microsoft.com/office/drawing/2014/main" id="{B4B8CE6C-8DFF-4081-9F6C-6FB6D7B1F71F}"/>
              </a:ext>
            </a:extLst>
          </p:cNvPr>
          <p:cNvSpPr>
            <a:spLocks noGrp="1"/>
          </p:cNvSpPr>
          <p:nvPr>
            <p:ph sz="quarter" idx="16"/>
          </p:nvPr>
        </p:nvSpPr>
        <p:spPr>
          <a:xfrm>
            <a:off x="304799" y="1047405"/>
            <a:ext cx="8534400" cy="5088990"/>
          </a:xfrm>
        </p:spPr>
        <p:txBody>
          <a:bodyPr/>
          <a:lstStyle/>
          <a:p>
            <a:pPr marL="514350" indent="-514350">
              <a:lnSpc>
                <a:spcPct val="100000"/>
              </a:lnSpc>
              <a:spcBef>
                <a:spcPts val="624"/>
              </a:spcBef>
              <a:spcAft>
                <a:spcPts val="600"/>
              </a:spcAft>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Provides support </a:t>
            </a:r>
          </a:p>
          <a:p>
            <a:pPr marL="514350" indent="-514350">
              <a:lnSpc>
                <a:spcPct val="100000"/>
              </a:lnSpc>
              <a:spcBef>
                <a:spcPts val="624"/>
              </a:spcBef>
              <a:spcAft>
                <a:spcPts val="600"/>
              </a:spcAft>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Protects the internal organs (brain, heart, etc.)</a:t>
            </a:r>
          </a:p>
          <a:p>
            <a:pPr marL="514350" indent="-514350">
              <a:lnSpc>
                <a:spcPct val="100000"/>
              </a:lnSpc>
              <a:spcBef>
                <a:spcPts val="624"/>
              </a:spcBef>
              <a:spcAft>
                <a:spcPts val="600"/>
              </a:spcAft>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Assists body movements (in conjunction with muscles)</a:t>
            </a:r>
          </a:p>
          <a:p>
            <a:pPr marL="514350" indent="-514350">
              <a:lnSpc>
                <a:spcPct val="100000"/>
              </a:lnSpc>
              <a:spcBef>
                <a:spcPts val="624"/>
              </a:spcBef>
              <a:spcAft>
                <a:spcPts val="600"/>
              </a:spcAft>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Mineral homeostasis - stores and releases calcium and phosphorus</a:t>
            </a:r>
          </a:p>
          <a:p>
            <a:pPr marL="514350" indent="-514350">
              <a:lnSpc>
                <a:spcPct val="100000"/>
              </a:lnSpc>
              <a:spcBef>
                <a:spcPts val="624"/>
              </a:spcBef>
              <a:spcAft>
                <a:spcPts val="600"/>
              </a:spcAft>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Participates in blood cell production (hemopoiesis or </a:t>
            </a:r>
            <a:r>
              <a:rPr lang="en-US" sz="3200" dirty="0" err="1">
                <a:latin typeface="Calibri" panose="020F0502020204030204" pitchFamily="34" charset="0"/>
                <a:cs typeface="Calibri" panose="020F0502020204030204" pitchFamily="34" charset="0"/>
              </a:rPr>
              <a:t>hematopoeisis</a:t>
            </a:r>
            <a:r>
              <a:rPr lang="en-US" sz="3200" dirty="0">
                <a:latin typeface="Calibri" panose="020F0502020204030204" pitchFamily="34" charset="0"/>
                <a:cs typeface="Calibri" panose="020F0502020204030204" pitchFamily="34" charset="0"/>
              </a:rPr>
              <a:t>)</a:t>
            </a:r>
          </a:p>
          <a:p>
            <a:pPr marL="514350" indent="-514350">
              <a:lnSpc>
                <a:spcPct val="100000"/>
              </a:lnSpc>
              <a:spcBef>
                <a:spcPts val="624"/>
              </a:spcBef>
              <a:spcAft>
                <a:spcPts val="600"/>
              </a:spcAft>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Stores triglycerides in adipose cells of yellow marrow</a:t>
            </a:r>
          </a:p>
        </p:txBody>
      </p:sp>
    </p:spTree>
    <p:extLst>
      <p:ext uri="{BB962C8B-B14F-4D97-AF65-F5344CB8AC3E}">
        <p14:creationId xmlns:p14="http://schemas.microsoft.com/office/powerpoint/2010/main" val="897926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2BE2B-477F-4712-B090-A30BC7976F52}"/>
              </a:ext>
            </a:extLst>
          </p:cNvPr>
          <p:cNvSpPr>
            <a:spLocks noGrp="1"/>
          </p:cNvSpPr>
          <p:nvPr>
            <p:ph type="title"/>
          </p:nvPr>
        </p:nvSpPr>
        <p:spPr>
          <a:xfrm>
            <a:off x="304800" y="2931110"/>
            <a:ext cx="8534400" cy="715473"/>
          </a:xfrm>
        </p:spPr>
        <p:txBody>
          <a:bodyPr>
            <a:noAutofit/>
          </a:bodyPr>
          <a:lstStyle/>
          <a:p>
            <a:pPr algn="ctr"/>
            <a:r>
              <a:rPr lang="en-US" b="1" dirty="0">
                <a:latin typeface="Calibri" panose="020F0502020204030204" pitchFamily="34" charset="0"/>
                <a:cs typeface="Calibri" panose="020F0502020204030204" pitchFamily="34" charset="0"/>
              </a:rPr>
              <a:t>Structure of Bone </a:t>
            </a:r>
          </a:p>
        </p:txBody>
      </p:sp>
    </p:spTree>
    <p:extLst>
      <p:ext uri="{BB962C8B-B14F-4D97-AF65-F5344CB8AC3E}">
        <p14:creationId xmlns:p14="http://schemas.microsoft.com/office/powerpoint/2010/main" val="2698483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BDFA2-1D67-4F21-96B8-423C53E76F2B}"/>
              </a:ext>
            </a:extLst>
          </p:cNvPr>
          <p:cNvSpPr>
            <a:spLocks noGrp="1"/>
          </p:cNvSpPr>
          <p:nvPr>
            <p:ph type="title"/>
          </p:nvPr>
        </p:nvSpPr>
        <p:spPr>
          <a:xfrm>
            <a:off x="304800" y="486579"/>
            <a:ext cx="8534400" cy="838199"/>
          </a:xfrm>
        </p:spPr>
        <p:txBody>
          <a:bodyPr/>
          <a:lstStyle/>
          <a:p>
            <a:r>
              <a:rPr lang="en-US" dirty="0">
                <a:latin typeface="Calibri" panose="020F0502020204030204" pitchFamily="34" charset="0"/>
                <a:cs typeface="Calibri" panose="020F0502020204030204" pitchFamily="34" charset="0"/>
              </a:rPr>
              <a:t>Structure of Bone </a:t>
            </a:r>
            <a:endParaRPr lang="en-US" sz="2000" b="0" dirty="0">
              <a:latin typeface="Calibri" panose="020F0502020204030204" pitchFamily="34" charset="0"/>
              <a:cs typeface="Calibri" panose="020F0502020204030204" pitchFamily="34" charset="0"/>
            </a:endParaRPr>
          </a:p>
        </p:txBody>
      </p:sp>
      <p:sp>
        <p:nvSpPr>
          <p:cNvPr id="7" name="Content Placeholder 6">
            <a:extLst>
              <a:ext uri="{FF2B5EF4-FFF2-40B4-BE49-F238E27FC236}">
                <a16:creationId xmlns:a16="http://schemas.microsoft.com/office/drawing/2014/main" id="{AED275FC-C193-4179-BC9A-ED3FE71770F1}"/>
              </a:ext>
            </a:extLst>
          </p:cNvPr>
          <p:cNvSpPr>
            <a:spLocks noGrp="1"/>
          </p:cNvSpPr>
          <p:nvPr>
            <p:ph sz="quarter" idx="16"/>
          </p:nvPr>
        </p:nvSpPr>
        <p:spPr>
          <a:xfrm>
            <a:off x="304800" y="1597445"/>
            <a:ext cx="8706998" cy="4692493"/>
          </a:xfrm>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A </a:t>
            </a:r>
            <a:r>
              <a:rPr lang="en-US" sz="3200" b="1" dirty="0">
                <a:latin typeface="Calibri" panose="020F0502020204030204" pitchFamily="34" charset="0"/>
                <a:cs typeface="Calibri" panose="020F0502020204030204" pitchFamily="34" charset="0"/>
              </a:rPr>
              <a:t>long bone </a:t>
            </a:r>
            <a:r>
              <a:rPr lang="en-US" sz="3200" dirty="0">
                <a:latin typeface="Calibri" panose="020F0502020204030204" pitchFamily="34" charset="0"/>
                <a:cs typeface="Calibri" panose="020F0502020204030204" pitchFamily="34" charset="0"/>
              </a:rPr>
              <a:t>consists of several parts:</a:t>
            </a:r>
          </a:p>
          <a:p>
            <a:pPr marL="1143000" lvl="1" indent="-457200">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Diaphysis (bone shaft)</a:t>
            </a:r>
          </a:p>
          <a:p>
            <a:pPr marL="1143000" lvl="1" indent="-457200">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2 epiphyses (both ends of the bone at the joints)</a:t>
            </a:r>
          </a:p>
          <a:p>
            <a:pPr marL="1143000" lvl="1" indent="-457200">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2 </a:t>
            </a:r>
            <a:r>
              <a:rPr lang="en-US" sz="2800" dirty="0" err="1">
                <a:latin typeface="Calibri" panose="020F0502020204030204" pitchFamily="34" charset="0"/>
                <a:cs typeface="Calibri" panose="020F0502020204030204" pitchFamily="34" charset="0"/>
              </a:rPr>
              <a:t>metaphyses</a:t>
            </a:r>
            <a:r>
              <a:rPr lang="en-US" sz="2800" dirty="0">
                <a:latin typeface="Calibri" panose="020F0502020204030204" pitchFamily="34" charset="0"/>
                <a:cs typeface="Calibri" panose="020F0502020204030204" pitchFamily="34" charset="0"/>
              </a:rPr>
              <a:t> (region between diaphysis and epiphysis)</a:t>
            </a:r>
          </a:p>
          <a:p>
            <a:pPr marL="1143000" lvl="1" indent="-457200">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Articular cartilage covering both epiphyses</a:t>
            </a:r>
          </a:p>
          <a:p>
            <a:pPr marL="1143000" lvl="1" indent="-457200">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Periosteum (connective tissue surrounding the diaphysis)</a:t>
            </a:r>
          </a:p>
          <a:p>
            <a:pPr marL="1143000" lvl="1" indent="-457200">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Medullary cavity (hollow space within diaphysis)</a:t>
            </a:r>
          </a:p>
          <a:p>
            <a:pPr marL="1143000" lvl="1" indent="-457200">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Endosteum (thin membrane lining the medullary cavity)</a:t>
            </a:r>
          </a:p>
        </p:txBody>
      </p:sp>
    </p:spTree>
    <p:extLst>
      <p:ext uri="{BB962C8B-B14F-4D97-AF65-F5344CB8AC3E}">
        <p14:creationId xmlns:p14="http://schemas.microsoft.com/office/powerpoint/2010/main" val="2474439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1D53-3FE2-4DCB-BC6F-D2BC082BDF2F}"/>
              </a:ext>
            </a:extLst>
          </p:cNvPr>
          <p:cNvSpPr>
            <a:spLocks noGrp="1"/>
          </p:cNvSpPr>
          <p:nvPr>
            <p:ph type="title"/>
          </p:nvPr>
        </p:nvSpPr>
        <p:spPr>
          <a:xfrm>
            <a:off x="304800" y="495300"/>
            <a:ext cx="8534400" cy="838199"/>
          </a:xfrm>
        </p:spPr>
        <p:txBody>
          <a:bodyPr/>
          <a:lstStyle/>
          <a:p>
            <a:r>
              <a:rPr lang="en-US" dirty="0">
                <a:latin typeface="Calibri" panose="020F0502020204030204" pitchFamily="34" charset="0"/>
                <a:cs typeface="Calibri" panose="020F0502020204030204" pitchFamily="34" charset="0"/>
              </a:rPr>
              <a:t>Structure of Bone </a:t>
            </a:r>
            <a:endParaRPr lang="en-US" sz="2000" b="0" dirty="0">
              <a:latin typeface="Calibri" panose="020F0502020204030204" pitchFamily="34" charset="0"/>
              <a:cs typeface="Calibri" panose="020F0502020204030204" pitchFamily="34" charset="0"/>
            </a:endParaRPr>
          </a:p>
        </p:txBody>
      </p:sp>
      <p:pic>
        <p:nvPicPr>
          <p:cNvPr id="9" name="Content Placeholder 7" descr="An illustration of the human skeleton highlights the humerus bone in the upper arm. Diagram (a) shows a partially sectioned humerus. The proximal end of a humerus is labeled, proximal epiphysis, and the metaphysis is the tapering portion of the proximal end of the bone. The diaphysis is the long center of the bone, and it tapers into the metaphysis at the distal end, which meets the distal epiphysis. The articular cartilage at the proximal end of the bone encases spongy bone, which is interspersed with red bone marrow. The epiphyseal line separates the epiphysis from the metaphysis. The diaphysis is comprised of compact bone, which makes up the exterior, the endosteum, which lines the medullary cavity, the medullary cavity, which contains yellow bone barrow in adults, and the periosteum. The nutrient artery runs through the medullary cavity.">
            <a:extLst>
              <a:ext uri="{FF2B5EF4-FFF2-40B4-BE49-F238E27FC236}">
                <a16:creationId xmlns:a16="http://schemas.microsoft.com/office/drawing/2014/main" id="{59F0DF7D-2522-4BE5-B920-128F5B4D1B75}"/>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2926080" y="1080656"/>
            <a:ext cx="3258589" cy="5282044"/>
          </a:xfrm>
        </p:spPr>
      </p:pic>
    </p:spTree>
    <p:extLst>
      <p:ext uri="{BB962C8B-B14F-4D97-AF65-F5344CB8AC3E}">
        <p14:creationId xmlns:p14="http://schemas.microsoft.com/office/powerpoint/2010/main" val="2519120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2EC8F-43DE-4375-AD4B-2E4D003EA309}"/>
              </a:ext>
            </a:extLst>
          </p:cNvPr>
          <p:cNvSpPr>
            <a:spLocks noGrp="1"/>
          </p:cNvSpPr>
          <p:nvPr>
            <p:ph type="title"/>
          </p:nvPr>
        </p:nvSpPr>
        <p:spPr>
          <a:xfrm>
            <a:off x="304800" y="3009901"/>
            <a:ext cx="8534400" cy="838199"/>
          </a:xfrm>
        </p:spPr>
        <p:txBody>
          <a:bodyPr/>
          <a:lstStyle/>
          <a:p>
            <a:pPr algn="ctr"/>
            <a:r>
              <a:rPr lang="en-US" dirty="0">
                <a:latin typeface="Calibri" panose="020F0502020204030204" pitchFamily="34" charset="0"/>
                <a:cs typeface="Calibri" panose="020F0502020204030204" pitchFamily="34" charset="0"/>
              </a:rPr>
              <a:t>Histology of Bone </a:t>
            </a:r>
          </a:p>
        </p:txBody>
      </p:sp>
    </p:spTree>
    <p:extLst>
      <p:ext uri="{BB962C8B-B14F-4D97-AF65-F5344CB8AC3E}">
        <p14:creationId xmlns:p14="http://schemas.microsoft.com/office/powerpoint/2010/main" val="3796894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9F4C-8F25-4920-8D67-B5C4450D4C7A}"/>
              </a:ext>
            </a:extLst>
          </p:cNvPr>
          <p:cNvSpPr>
            <a:spLocks noGrp="1"/>
          </p:cNvSpPr>
          <p:nvPr>
            <p:ph type="title"/>
          </p:nvPr>
        </p:nvSpPr>
        <p:spPr>
          <a:xfrm>
            <a:off x="304799" y="475563"/>
            <a:ext cx="8534400" cy="838199"/>
          </a:xfrm>
        </p:spPr>
        <p:txBody>
          <a:bodyPr/>
          <a:lstStyle/>
          <a:p>
            <a:r>
              <a:rPr lang="en-US" dirty="0">
                <a:latin typeface="Calibri" panose="020F0502020204030204" pitchFamily="34" charset="0"/>
                <a:cs typeface="Calibri" panose="020F0502020204030204" pitchFamily="34" charset="0"/>
              </a:rPr>
              <a:t>Histology of Bone </a:t>
            </a:r>
            <a:endParaRPr lang="en-US" sz="2000" b="0" dirty="0">
              <a:latin typeface="Calibri" panose="020F0502020204030204" pitchFamily="34" charset="0"/>
              <a:cs typeface="Calibri" panose="020F0502020204030204" pitchFamily="34" charset="0"/>
            </a:endParaRPr>
          </a:p>
        </p:txBody>
      </p:sp>
      <p:sp>
        <p:nvSpPr>
          <p:cNvPr id="7" name="Content Placeholder 6">
            <a:extLst>
              <a:ext uri="{FF2B5EF4-FFF2-40B4-BE49-F238E27FC236}">
                <a16:creationId xmlns:a16="http://schemas.microsoft.com/office/drawing/2014/main" id="{54C3EA3C-4DAB-4E95-B457-8220804099B2}"/>
              </a:ext>
            </a:extLst>
          </p:cNvPr>
          <p:cNvSpPr>
            <a:spLocks noGrp="1"/>
          </p:cNvSpPr>
          <p:nvPr>
            <p:ph sz="quarter" idx="16"/>
          </p:nvPr>
        </p:nvSpPr>
        <p:spPr>
          <a:xfrm>
            <a:off x="304799" y="1543280"/>
            <a:ext cx="8321407" cy="4427863"/>
          </a:xfrm>
        </p:spPr>
        <p:txBody>
          <a:bodyPr/>
          <a:lstStyle/>
          <a:p>
            <a:pPr marL="457200" indent="-457200">
              <a:lnSpc>
                <a:spcPct val="100000"/>
              </a:lnSpc>
              <a:spcBef>
                <a:spcPts val="624"/>
              </a:spcBef>
              <a:spcAft>
                <a:spcPts val="600"/>
              </a:spcAft>
              <a:buFont typeface="Arial" panose="020B0604020202020204" pitchFamily="34" charset="0"/>
              <a:buChar char="•"/>
            </a:pPr>
            <a:r>
              <a:rPr lang="en-US" sz="3200" dirty="0">
                <a:latin typeface="Calibri" panose="020F0502020204030204" pitchFamily="34" charset="0"/>
                <a:cs typeface="Calibri" panose="020F0502020204030204" pitchFamily="34" charset="0"/>
              </a:rPr>
              <a:t>Bone contains an abundant extracellular matrix that surrounds widely separated cells</a:t>
            </a:r>
          </a:p>
          <a:p>
            <a:pPr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cs typeface="Calibri" panose="020F0502020204030204" pitchFamily="34" charset="0"/>
              </a:rPr>
              <a:t>The extracellular matrix is about 15% water, 30% collagen, and 55% crystalized mineral salts</a:t>
            </a:r>
          </a:p>
          <a:p>
            <a:pPr lvl="1" indent="-457200">
              <a:lnSpc>
                <a:spcPct val="100000"/>
              </a:lnSpc>
              <a:spcBef>
                <a:spcPts val="624"/>
              </a:spcBef>
              <a:spcAft>
                <a:spcPts val="600"/>
              </a:spcAft>
              <a:buClr>
                <a:schemeClr val="accent2"/>
              </a:buClr>
              <a:buSzPct val="100000"/>
              <a:buFont typeface="Arial" panose="020B0604020202020204" pitchFamily="34" charset="0"/>
              <a:buChar char="•"/>
            </a:pPr>
            <a:endParaRPr lang="en-US" sz="2800" dirty="0">
              <a:latin typeface="Calibri" panose="020F0502020204030204" pitchFamily="34" charset="0"/>
              <a:cs typeface="Calibri" panose="020F0502020204030204" pitchFamily="34" charset="0"/>
            </a:endParaRPr>
          </a:p>
          <a:p>
            <a:pPr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cs typeface="Calibri" panose="020F0502020204030204" pitchFamily="34" charset="0"/>
              </a:rPr>
              <a:t>Mineral salts calcium phosphate and calcium hydroxide combine to form crystals called hydroxyapatite</a:t>
            </a:r>
          </a:p>
        </p:txBody>
      </p:sp>
    </p:spTree>
    <p:extLst>
      <p:ext uri="{BB962C8B-B14F-4D97-AF65-F5344CB8AC3E}">
        <p14:creationId xmlns:p14="http://schemas.microsoft.com/office/powerpoint/2010/main" val="1151333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9F4C-8F25-4920-8D67-B5C4450D4C7A}"/>
              </a:ext>
            </a:extLst>
          </p:cNvPr>
          <p:cNvSpPr>
            <a:spLocks noGrp="1"/>
          </p:cNvSpPr>
          <p:nvPr>
            <p:ph type="title"/>
          </p:nvPr>
        </p:nvSpPr>
        <p:spPr>
          <a:xfrm>
            <a:off x="304799" y="475563"/>
            <a:ext cx="8534400" cy="838199"/>
          </a:xfrm>
        </p:spPr>
        <p:txBody>
          <a:bodyPr/>
          <a:lstStyle/>
          <a:p>
            <a:r>
              <a:rPr lang="en-US" dirty="0">
                <a:latin typeface="Calibri" panose="020F0502020204030204" pitchFamily="34" charset="0"/>
                <a:cs typeface="Calibri" panose="020F0502020204030204" pitchFamily="34" charset="0"/>
              </a:rPr>
              <a:t>Histology of Bone </a:t>
            </a:r>
            <a:endParaRPr lang="en-US" sz="2000" b="0" dirty="0">
              <a:latin typeface="Calibri" panose="020F0502020204030204" pitchFamily="34" charset="0"/>
              <a:cs typeface="Calibri" panose="020F0502020204030204" pitchFamily="34" charset="0"/>
            </a:endParaRPr>
          </a:p>
        </p:txBody>
      </p:sp>
      <p:sp>
        <p:nvSpPr>
          <p:cNvPr id="7" name="Content Placeholder 6">
            <a:extLst>
              <a:ext uri="{FF2B5EF4-FFF2-40B4-BE49-F238E27FC236}">
                <a16:creationId xmlns:a16="http://schemas.microsoft.com/office/drawing/2014/main" id="{54C3EA3C-4DAB-4E95-B457-8220804099B2}"/>
              </a:ext>
            </a:extLst>
          </p:cNvPr>
          <p:cNvSpPr>
            <a:spLocks noGrp="1"/>
          </p:cNvSpPr>
          <p:nvPr>
            <p:ph sz="quarter" idx="16"/>
          </p:nvPr>
        </p:nvSpPr>
        <p:spPr>
          <a:xfrm>
            <a:off x="304799" y="1543280"/>
            <a:ext cx="8321407" cy="4427863"/>
          </a:xfrm>
        </p:spPr>
        <p:txBody>
          <a:bodyPr/>
          <a:lstStyle/>
          <a:p>
            <a:pPr marL="457200" indent="-457200">
              <a:lnSpc>
                <a:spcPct val="100000"/>
              </a:lnSpc>
              <a:spcBef>
                <a:spcPts val="624"/>
              </a:spcBef>
              <a:spcAft>
                <a:spcPts val="600"/>
              </a:spcAft>
              <a:buFont typeface="Arial" panose="020B0604020202020204" pitchFamily="34" charset="0"/>
              <a:buChar char="•"/>
            </a:pPr>
            <a:r>
              <a:rPr lang="en-US" sz="3200" dirty="0">
                <a:latin typeface="Calibri" panose="020F0502020204030204" pitchFamily="34" charset="0"/>
                <a:cs typeface="Calibri" panose="020F0502020204030204" pitchFamily="34" charset="0"/>
              </a:rPr>
              <a:t>Bone contains 4 types of cells:</a:t>
            </a:r>
          </a:p>
          <a:p>
            <a:pPr marL="1143000" lvl="1" indent="-457200">
              <a:lnSpc>
                <a:spcPct val="100000"/>
              </a:lnSpc>
              <a:spcBef>
                <a:spcPts val="624"/>
              </a:spcBef>
              <a:spcAft>
                <a:spcPts val="600"/>
              </a:spcAft>
              <a:buClr>
                <a:schemeClr val="accent2"/>
              </a:buClr>
              <a:buFont typeface="Arial" panose="020B0604020202020204" pitchFamily="34" charset="0"/>
              <a:buChar char="•"/>
            </a:pPr>
            <a:r>
              <a:rPr lang="en-US" sz="2800" b="1" dirty="0">
                <a:latin typeface="Calibri" panose="020F0502020204030204" pitchFamily="34" charset="0"/>
                <a:cs typeface="Calibri" panose="020F0502020204030204" pitchFamily="34" charset="0"/>
              </a:rPr>
              <a:t>Osteoprogenitor cells </a:t>
            </a:r>
            <a:r>
              <a:rPr lang="en-US" sz="2800" dirty="0">
                <a:latin typeface="Calibri" panose="020F0502020204030204" pitchFamily="34" charset="0"/>
                <a:cs typeface="Calibri" panose="020F0502020204030204" pitchFamily="34" charset="0"/>
              </a:rPr>
              <a:t>(bone stem cells able to differentiate into the other types of cells)</a:t>
            </a:r>
          </a:p>
          <a:p>
            <a:pPr marL="1143000" lvl="1" indent="-457200">
              <a:lnSpc>
                <a:spcPct val="100000"/>
              </a:lnSpc>
              <a:spcBef>
                <a:spcPts val="624"/>
              </a:spcBef>
              <a:spcAft>
                <a:spcPts val="600"/>
              </a:spcAft>
              <a:buClr>
                <a:schemeClr val="accent2"/>
              </a:buClr>
              <a:buFont typeface="Arial" panose="020B0604020202020204" pitchFamily="34" charset="0"/>
              <a:buChar char="•"/>
            </a:pPr>
            <a:r>
              <a:rPr lang="en-US" sz="2800" b="1" dirty="0">
                <a:latin typeface="Calibri" panose="020F0502020204030204" pitchFamily="34" charset="0"/>
                <a:cs typeface="Calibri" panose="020F0502020204030204" pitchFamily="34" charset="0"/>
              </a:rPr>
              <a:t>Osteoblasts</a:t>
            </a:r>
            <a:r>
              <a:rPr lang="en-US" sz="2800" dirty="0">
                <a:latin typeface="Calibri" panose="020F0502020204030204" pitchFamily="34" charset="0"/>
                <a:cs typeface="Calibri" panose="020F0502020204030204" pitchFamily="34" charset="0"/>
              </a:rPr>
              <a:t> (bone-building cells that secrete matrix; initiate calcification)</a:t>
            </a:r>
          </a:p>
          <a:p>
            <a:pPr marL="1143000" lvl="1" indent="-457200">
              <a:lnSpc>
                <a:spcPct val="100000"/>
              </a:lnSpc>
              <a:spcBef>
                <a:spcPts val="624"/>
              </a:spcBef>
              <a:spcAft>
                <a:spcPts val="600"/>
              </a:spcAft>
              <a:buClr>
                <a:schemeClr val="accent2"/>
              </a:buClr>
              <a:buFont typeface="Arial" panose="020B0604020202020204" pitchFamily="34" charset="0"/>
              <a:buChar char="•"/>
            </a:pPr>
            <a:r>
              <a:rPr lang="en-US" sz="2800" b="1" dirty="0">
                <a:latin typeface="Calibri" panose="020F0502020204030204" pitchFamily="34" charset="0"/>
                <a:cs typeface="Calibri" panose="020F0502020204030204" pitchFamily="34" charset="0"/>
              </a:rPr>
              <a:t>Osteocytes </a:t>
            </a:r>
            <a:r>
              <a:rPr lang="en-US" sz="2800" dirty="0">
                <a:latin typeface="Calibri" panose="020F0502020204030204" pitchFamily="34" charset="0"/>
                <a:cs typeface="Calibri" panose="020F0502020204030204" pitchFamily="34" charset="0"/>
              </a:rPr>
              <a:t>(mature bone cells)</a:t>
            </a:r>
          </a:p>
          <a:p>
            <a:pPr marL="1143000" lvl="1" indent="-457200">
              <a:lnSpc>
                <a:spcPct val="100000"/>
              </a:lnSpc>
              <a:spcBef>
                <a:spcPts val="624"/>
              </a:spcBef>
              <a:spcAft>
                <a:spcPts val="600"/>
              </a:spcAft>
              <a:buClr>
                <a:schemeClr val="accent2"/>
              </a:buClr>
              <a:buFont typeface="Arial" panose="020B0604020202020204" pitchFamily="34" charset="0"/>
              <a:buChar char="•"/>
            </a:pPr>
            <a:r>
              <a:rPr lang="en-US" sz="2800" b="1" dirty="0">
                <a:latin typeface="Calibri" panose="020F0502020204030204" pitchFamily="34" charset="0"/>
                <a:cs typeface="Calibri" panose="020F0502020204030204" pitchFamily="34" charset="0"/>
              </a:rPr>
              <a:t>Osteoclasts</a:t>
            </a:r>
            <a:r>
              <a:rPr lang="en-US" sz="2800" dirty="0">
                <a:latin typeface="Calibri" panose="020F0502020204030204" pitchFamily="34" charset="0"/>
                <a:cs typeface="Calibri" panose="020F0502020204030204" pitchFamily="34" charset="0"/>
              </a:rPr>
              <a:t> (remodel bones and cause them to release calcium; bone resorption)</a:t>
            </a:r>
          </a:p>
        </p:txBody>
      </p:sp>
    </p:spTree>
    <p:extLst>
      <p:ext uri="{BB962C8B-B14F-4D97-AF65-F5344CB8AC3E}">
        <p14:creationId xmlns:p14="http://schemas.microsoft.com/office/powerpoint/2010/main" val="1280757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E1F56-84EA-4C57-A2DE-0BF59D509D70}"/>
              </a:ext>
            </a:extLst>
          </p:cNvPr>
          <p:cNvSpPr>
            <a:spLocks noGrp="1"/>
          </p:cNvSpPr>
          <p:nvPr>
            <p:ph type="title"/>
          </p:nvPr>
        </p:nvSpPr>
        <p:spPr>
          <a:xfrm>
            <a:off x="304800" y="475367"/>
            <a:ext cx="8534400" cy="838199"/>
          </a:xfrm>
        </p:spPr>
        <p:txBody>
          <a:bodyPr/>
          <a:lstStyle/>
          <a:p>
            <a:r>
              <a:rPr lang="en-US" dirty="0">
                <a:latin typeface="Calibri" panose="020F0502020204030204" pitchFamily="34" charset="0"/>
                <a:cs typeface="Calibri" panose="020F0502020204030204" pitchFamily="34" charset="0"/>
              </a:rPr>
              <a:t>Histology of Bone </a:t>
            </a:r>
            <a:endParaRPr lang="en-US" sz="2000" b="0" dirty="0">
              <a:latin typeface="Calibri" panose="020F0502020204030204" pitchFamily="34" charset="0"/>
              <a:cs typeface="Calibri" panose="020F0502020204030204" pitchFamily="34" charset="0"/>
            </a:endParaRPr>
          </a:p>
        </p:txBody>
      </p:sp>
      <p:pic>
        <p:nvPicPr>
          <p:cNvPr id="13" name="Content Placeholder 7" descr="An illustration shows the histology of bone. Two types of bone cells originate from the same bone cell lineage. An osteoprogenitor cell develops into an osteoblast, functions in bone deposition, the buildup of bone extracellular matrix. A diagram shows an osteoprogenitor cell, which is rounded in shape with projections of various lengths. A diagram and an S E M micrograph at 8000 times magnification show an osteoblast, which is oval in shape with projections of various lengths. A diagram and an S E M micrograph at 4000 times magnification show an osteocyte, which is elongated in shape and has many branching projections. An additional bone cell type originates from white blood cell lineage. This osteoclast functions in resorption, the breakdown of bone extracellular matrix. A diagram and an S E M micrograph at 2700 times magnification show an osteoclast, which is rounded in shape with a ruffled border.">
            <a:extLst>
              <a:ext uri="{FF2B5EF4-FFF2-40B4-BE49-F238E27FC236}">
                <a16:creationId xmlns:a16="http://schemas.microsoft.com/office/drawing/2014/main" id="{B6BABD38-493A-4FE0-BF35-EB22ABF8EB22}"/>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692728" y="1630919"/>
            <a:ext cx="7758545" cy="4433455"/>
          </a:xfrm>
          <a:prstGeom prst="rect">
            <a:avLst/>
          </a:prstGeom>
        </p:spPr>
      </p:pic>
    </p:spTree>
    <p:extLst>
      <p:ext uri="{BB962C8B-B14F-4D97-AF65-F5344CB8AC3E}">
        <p14:creationId xmlns:p14="http://schemas.microsoft.com/office/powerpoint/2010/main" val="2994501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50E28-6BAB-4B68-83EB-9DB6BD16B735}"/>
              </a:ext>
            </a:extLst>
          </p:cNvPr>
          <p:cNvSpPr>
            <a:spLocks noGrp="1"/>
          </p:cNvSpPr>
          <p:nvPr>
            <p:ph type="title"/>
          </p:nvPr>
        </p:nvSpPr>
        <p:spPr>
          <a:xfrm>
            <a:off x="304800" y="464028"/>
            <a:ext cx="8534400" cy="838199"/>
          </a:xfrm>
        </p:spPr>
        <p:txBody>
          <a:bodyPr/>
          <a:lstStyle/>
          <a:p>
            <a:r>
              <a:rPr lang="en-US" dirty="0">
                <a:latin typeface="Calibri" panose="020F0502020204030204" pitchFamily="34" charset="0"/>
                <a:cs typeface="Calibri" panose="020F0502020204030204" pitchFamily="34" charset="0"/>
              </a:rPr>
              <a:t>Histology of Bone </a:t>
            </a:r>
            <a:endParaRPr lang="en-US" sz="2000" b="0" dirty="0">
              <a:latin typeface="Calibri" panose="020F0502020204030204" pitchFamily="34" charset="0"/>
              <a:cs typeface="Calibri" panose="020F0502020204030204" pitchFamily="34" charset="0"/>
            </a:endParaRPr>
          </a:p>
        </p:txBody>
      </p:sp>
      <p:sp>
        <p:nvSpPr>
          <p:cNvPr id="7" name="Content Placeholder 6">
            <a:extLst>
              <a:ext uri="{FF2B5EF4-FFF2-40B4-BE49-F238E27FC236}">
                <a16:creationId xmlns:a16="http://schemas.microsoft.com/office/drawing/2014/main" id="{93164424-8904-4CA5-9100-C4FFDE5E8FA1}"/>
              </a:ext>
            </a:extLst>
          </p:cNvPr>
          <p:cNvSpPr>
            <a:spLocks noGrp="1"/>
          </p:cNvSpPr>
          <p:nvPr>
            <p:ph sz="quarter" idx="16"/>
          </p:nvPr>
        </p:nvSpPr>
        <p:spPr>
          <a:xfrm>
            <a:off x="304800" y="1215068"/>
            <a:ext cx="4377369" cy="4427863"/>
          </a:xfrm>
        </p:spPr>
        <p:txBody>
          <a:bodyPr/>
          <a:lstStyle/>
          <a:p>
            <a:pPr marL="457200" indent="-457200">
              <a:buClr>
                <a:schemeClr val="accent2"/>
              </a:buClr>
              <a:buFont typeface="Arial" panose="020B0604020202020204" pitchFamily="34" charset="0"/>
              <a:buChar char="•"/>
            </a:pPr>
            <a:r>
              <a:rPr lang="en-US" sz="3200" b="1" dirty="0">
                <a:latin typeface="Calibri" panose="020F0502020204030204" pitchFamily="34" charset="0"/>
                <a:cs typeface="Calibri" panose="020F0502020204030204" pitchFamily="34" charset="0"/>
              </a:rPr>
              <a:t>Compact bone </a:t>
            </a:r>
            <a:r>
              <a:rPr lang="en-US" sz="3200" dirty="0">
                <a:latin typeface="Calibri" panose="020F0502020204030204" pitchFamily="34" charset="0"/>
                <a:cs typeface="Calibri" panose="020F0502020204030204" pitchFamily="34" charset="0"/>
              </a:rPr>
              <a:t>is good at providing protection and support; strongest</a:t>
            </a:r>
          </a:p>
          <a:p>
            <a:pPr marL="457200" indent="-457200">
              <a:buClr>
                <a:schemeClr val="accent2"/>
              </a:buClr>
              <a:buFont typeface="Arial" panose="020B0604020202020204" pitchFamily="34" charset="0"/>
              <a:buChar char="•"/>
            </a:pPr>
            <a:endParaRPr lang="en-US" sz="3200" b="1" dirty="0">
              <a:latin typeface="Calibri" panose="020F0502020204030204" pitchFamily="34" charset="0"/>
              <a:cs typeface="Calibri" panose="020F0502020204030204" pitchFamily="34" charset="0"/>
            </a:endParaRPr>
          </a:p>
          <a:p>
            <a:pPr marL="457200" indent="-457200">
              <a:buClr>
                <a:schemeClr val="accent2"/>
              </a:buClr>
              <a:buFont typeface="Arial" panose="020B0604020202020204" pitchFamily="34" charset="0"/>
              <a:buChar char="•"/>
            </a:pPr>
            <a:r>
              <a:rPr lang="en-US" sz="3200" b="1" dirty="0">
                <a:latin typeface="Calibri" panose="020F0502020204030204" pitchFamily="34" charset="0"/>
                <a:cs typeface="Calibri" panose="020F0502020204030204" pitchFamily="34" charset="0"/>
              </a:rPr>
              <a:t>Spongy bone </a:t>
            </a:r>
            <a:r>
              <a:rPr lang="en-US" sz="3200" dirty="0">
                <a:latin typeface="Calibri" panose="020F0502020204030204" pitchFamily="34" charset="0"/>
                <a:cs typeface="Calibri" panose="020F0502020204030204" pitchFamily="34" charset="0"/>
              </a:rPr>
              <a:t>is lightweight and provides tissue support; also called trabecular or cancellous bone </a:t>
            </a:r>
          </a:p>
        </p:txBody>
      </p:sp>
      <p:pic>
        <p:nvPicPr>
          <p:cNvPr id="12" name="Content Placeholder 7" descr="Diagram (b) shows an expanded view of a partially sectioned humerus. The spongy bone, the proximal epiphysis, the epiphyseal line, and the metaphysis are at the proximal end of the bone. It also shows compact bone, the exterior, and the medullary cavity in diaphysis.">
            <a:extLst>
              <a:ext uri="{FF2B5EF4-FFF2-40B4-BE49-F238E27FC236}">
                <a16:creationId xmlns:a16="http://schemas.microsoft.com/office/drawing/2014/main" id="{4888B84F-7D10-4D0C-B67E-C8002E77967C}"/>
              </a:ext>
            </a:extLst>
          </p:cNvPr>
          <p:cNvPicPr>
            <a:picLocks noGrp="1" noChangeAspect="1"/>
          </p:cNvPicPr>
          <p:nvPr>
            <p:ph sz="quarter" idx="18"/>
          </p:nvPr>
        </p:nvPicPr>
        <p:blipFill>
          <a:blip r:embed="rId2" cstate="print">
            <a:extLst>
              <a:ext uri="{28A0092B-C50C-407E-A947-70E740481C1C}">
                <a14:useLocalDpi xmlns:a14="http://schemas.microsoft.com/office/drawing/2010/main" val="0"/>
              </a:ext>
            </a:extLst>
          </a:blip>
          <a:stretch>
            <a:fillRect/>
          </a:stretch>
        </p:blipFill>
        <p:spPr>
          <a:xfrm>
            <a:off x="4571999" y="997527"/>
            <a:ext cx="4377369" cy="4788131"/>
          </a:xfrm>
          <a:prstGeom prst="rect">
            <a:avLst/>
          </a:prstGeom>
        </p:spPr>
      </p:pic>
    </p:spTree>
    <p:extLst>
      <p:ext uri="{BB962C8B-B14F-4D97-AF65-F5344CB8AC3E}">
        <p14:creationId xmlns:p14="http://schemas.microsoft.com/office/powerpoint/2010/main" val="1889723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80642-A2D3-4D55-A4F7-C5A05B82CC38}"/>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Histology of Bone </a:t>
            </a:r>
            <a:endParaRPr lang="en-US" sz="2000" b="0"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A22CD30D-1306-4528-8D0A-57BD64DA473F}"/>
              </a:ext>
            </a:extLst>
          </p:cNvPr>
          <p:cNvSpPr>
            <a:spLocks noGrp="1"/>
          </p:cNvSpPr>
          <p:nvPr>
            <p:ph sz="quarter" idx="17"/>
          </p:nvPr>
        </p:nvSpPr>
        <p:spPr>
          <a:xfrm>
            <a:off x="304800" y="1623152"/>
            <a:ext cx="8387508" cy="1086997"/>
          </a:xfrm>
        </p:spPr>
        <p:txBody>
          <a:bodyPr/>
          <a:lstStyle/>
          <a:p>
            <a:pPr marL="514350" indent="-514350"/>
            <a:r>
              <a:rPr lang="en-US" altLang="en-US" dirty="0">
                <a:latin typeface="Calibri" panose="020F0502020204030204" pitchFamily="34" charset="0"/>
                <a:cs typeface="Calibri" panose="020F0502020204030204" pitchFamily="34" charset="0"/>
                <a:hlinkClick r:id="rId3"/>
              </a:rPr>
              <a:t>Compact Bone</a:t>
            </a:r>
            <a:endParaRPr lang="en-US" altLang="en-US" dirty="0">
              <a:latin typeface="Calibri" panose="020F0502020204030204" pitchFamily="34" charset="0"/>
              <a:cs typeface="Calibri" panose="020F0502020204030204" pitchFamily="34" charset="0"/>
            </a:endParaRPr>
          </a:p>
          <a:p>
            <a:pPr marL="514350" indent="-514350"/>
            <a:r>
              <a:rPr lang="en-US" altLang="en-US" dirty="0">
                <a:latin typeface="Calibri" panose="020F0502020204030204" pitchFamily="34" charset="0"/>
                <a:cs typeface="Calibri" panose="020F0502020204030204" pitchFamily="34" charset="0"/>
                <a:hlinkClick r:id="rId4"/>
              </a:rPr>
              <a:t>Spongy (Cancellous) Bone</a:t>
            </a:r>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06100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377E1-7EFD-41CE-8CB1-068C549363C4}"/>
              </a:ext>
            </a:extLst>
          </p:cNvPr>
          <p:cNvSpPr>
            <a:spLocks noGrp="1"/>
          </p:cNvSpPr>
          <p:nvPr>
            <p:ph type="title"/>
          </p:nvPr>
        </p:nvSpPr>
        <p:spPr>
          <a:xfrm>
            <a:off x="304800" y="475563"/>
            <a:ext cx="8534400" cy="838199"/>
          </a:xfrm>
        </p:spPr>
        <p:txBody>
          <a:bodyPr/>
          <a:lstStyle/>
          <a:p>
            <a:r>
              <a:rPr lang="en-US" dirty="0">
                <a:latin typeface="Calibri" panose="020F0502020204030204" pitchFamily="34" charset="0"/>
                <a:cs typeface="Calibri" panose="020F0502020204030204" pitchFamily="34" charset="0"/>
              </a:rPr>
              <a:t>Histology of Bone</a:t>
            </a:r>
            <a:r>
              <a:rPr lang="en-US" sz="2000" b="0" dirty="0">
                <a:latin typeface="Calibri" panose="020F0502020204030204" pitchFamily="34" charset="0"/>
                <a:cs typeface="Calibri" panose="020F0502020204030204" pitchFamily="34" charset="0"/>
              </a:rPr>
              <a:t> </a:t>
            </a:r>
          </a:p>
        </p:txBody>
      </p:sp>
      <p:pic>
        <p:nvPicPr>
          <p:cNvPr id="9" name="Content Placeholder 7" descr="Diagram (a) is a set of diagrams that shows osteons, or haversian systems, in compact bone and trabeculae in spongy bone. An orientation diagram showing the medullary cavity surrounded by spongy bone and compact bone and in turn surrounded by periosteum, points to an expanded view. This view shows a section of compact bone, which is comprised of internal circumferential bone lamellae and interstitial bone lamellae between the osteons, and is flanked by spongy bone, spongy bone trabeculae, and the medullary cavity. The outer edge of the compact bone shows the periosteum, comprised of an outer fibrous layer and an inner osteogenic layer, and perforating fibers between the periosteum and the compact bone. External circumferential bone lamellae appear between the periosteum and the osteons. The periosteal vein and artery cross the periosteum through the osteonic canal and the perforating canal. A cutaway section shows the osteon, which is composed of rings of concentric bone lamellae that surround central blood vessels. An expanded view of the external circumferential bone lamellae shows an osteocyte, the small spaces of the bone lacuna, and branched bone canaliculi.">
            <a:extLst>
              <a:ext uri="{FF2B5EF4-FFF2-40B4-BE49-F238E27FC236}">
                <a16:creationId xmlns:a16="http://schemas.microsoft.com/office/drawing/2014/main" id="{E8A2D14E-159C-40E4-8CF4-51460F209C90}"/>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635000" y="1104900"/>
            <a:ext cx="7785100" cy="5130799"/>
          </a:xfrm>
          <a:prstGeom prst="rect">
            <a:avLst/>
          </a:prstGeom>
        </p:spPr>
      </p:pic>
    </p:spTree>
    <p:extLst>
      <p:ext uri="{BB962C8B-B14F-4D97-AF65-F5344CB8AC3E}">
        <p14:creationId xmlns:p14="http://schemas.microsoft.com/office/powerpoint/2010/main" val="1132347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377E1-7EFD-41CE-8CB1-068C549363C4}"/>
              </a:ext>
            </a:extLst>
          </p:cNvPr>
          <p:cNvSpPr>
            <a:spLocks noGrp="1"/>
          </p:cNvSpPr>
          <p:nvPr>
            <p:ph type="title"/>
          </p:nvPr>
        </p:nvSpPr>
        <p:spPr>
          <a:xfrm>
            <a:off x="304800" y="475563"/>
            <a:ext cx="8534400" cy="838199"/>
          </a:xfrm>
        </p:spPr>
        <p:txBody>
          <a:bodyPr/>
          <a:lstStyle/>
          <a:p>
            <a:r>
              <a:rPr lang="en-US" dirty="0">
                <a:latin typeface="Calibri" panose="020F0502020204030204" pitchFamily="34" charset="0"/>
                <a:cs typeface="Calibri" panose="020F0502020204030204" pitchFamily="34" charset="0"/>
              </a:rPr>
              <a:t>Histology of Bone</a:t>
            </a:r>
            <a:r>
              <a:rPr lang="en-US" sz="2000" b="0" dirty="0">
                <a:latin typeface="Calibri" panose="020F0502020204030204" pitchFamily="34" charset="0"/>
                <a:cs typeface="Calibri" panose="020F0502020204030204" pitchFamily="34" charset="0"/>
              </a:rPr>
              <a:t> </a:t>
            </a:r>
          </a:p>
        </p:txBody>
      </p:sp>
      <p:pic>
        <p:nvPicPr>
          <p:cNvPr id="6" name="Content Placeholder 11" descr="Two diagrams show histology of spongy bone tubercula. Diagram (b) shows an enlarged aspect of spongy bone trabeculae. It shows space between the trabeculae for red bone marrow. Diagram (c) shows details of section of a trabecula, which is comprised of concentric bone lamellae surrounded by osteoblasts that are aligned along the trabeculae of new bone. An osteoclast is present among the osteoblasts. Bone canaliculi are radiating from the bone lamellae, and osteocyte occur in the bone lacuna or spaces between bone lamellae.">
            <a:extLst>
              <a:ext uri="{FF2B5EF4-FFF2-40B4-BE49-F238E27FC236}">
                <a16:creationId xmlns:a16="http://schemas.microsoft.com/office/drawing/2014/main" id="{EE9BAC02-AD41-457C-A93E-C0565B801C8B}"/>
              </a:ext>
            </a:extLst>
          </p:cNvPr>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304800" y="1206500"/>
            <a:ext cx="8534400" cy="4889500"/>
          </a:xfrm>
        </p:spPr>
      </p:pic>
    </p:spTree>
    <p:extLst>
      <p:ext uri="{BB962C8B-B14F-4D97-AF65-F5344CB8AC3E}">
        <p14:creationId xmlns:p14="http://schemas.microsoft.com/office/powerpoint/2010/main" val="4073156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A56EC-9107-4B3E-B1FE-710E170F6078}"/>
              </a:ext>
            </a:extLst>
          </p:cNvPr>
          <p:cNvSpPr>
            <a:spLocks noGrp="1"/>
          </p:cNvSpPr>
          <p:nvPr>
            <p:ph type="title"/>
          </p:nvPr>
        </p:nvSpPr>
        <p:spPr>
          <a:xfrm>
            <a:off x="304800" y="455687"/>
            <a:ext cx="8534400" cy="922019"/>
          </a:xfrm>
        </p:spPr>
        <p:txBody>
          <a:bodyPr>
            <a:noAutofit/>
          </a:bodyPr>
          <a:lstStyle/>
          <a:p>
            <a:r>
              <a:rPr lang="en-US" dirty="0">
                <a:latin typeface="Calibri" panose="020F0502020204030204" pitchFamily="34" charset="0"/>
                <a:cs typeface="Calibri" panose="020F0502020204030204" pitchFamily="34" charset="0"/>
              </a:rPr>
              <a:t>Blood and Nerve Supply of Bone </a:t>
            </a:r>
            <a:endParaRPr lang="en-US" sz="2000" b="0" dirty="0">
              <a:latin typeface="Calibri" panose="020F0502020204030204" pitchFamily="34" charset="0"/>
              <a:cs typeface="Calibri" panose="020F0502020204030204" pitchFamily="34" charset="0"/>
            </a:endParaRPr>
          </a:p>
        </p:txBody>
      </p:sp>
      <p:sp>
        <p:nvSpPr>
          <p:cNvPr id="7" name="Content Placeholder 6">
            <a:extLst>
              <a:ext uri="{FF2B5EF4-FFF2-40B4-BE49-F238E27FC236}">
                <a16:creationId xmlns:a16="http://schemas.microsoft.com/office/drawing/2014/main" id="{D5054760-E676-4618-AE5C-3542CF6F9510}"/>
              </a:ext>
            </a:extLst>
          </p:cNvPr>
          <p:cNvSpPr>
            <a:spLocks noGrp="1"/>
          </p:cNvSpPr>
          <p:nvPr>
            <p:ph sz="quarter" idx="16"/>
          </p:nvPr>
        </p:nvSpPr>
        <p:spPr>
          <a:xfrm>
            <a:off x="304800" y="1644649"/>
            <a:ext cx="8200222" cy="4535814"/>
          </a:xfrm>
        </p:spPr>
        <p:txBody>
          <a:bodyPr/>
          <a:lstStyle/>
          <a:p>
            <a:pPr marL="457200" indent="-457200">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Periosteal arteries (accompanied by nerves) enter the diaphysis through Volkmann’s canals. They are accompanied by periosteal veins</a:t>
            </a:r>
          </a:p>
          <a:p>
            <a:pPr marL="457200" indent="-457200">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A nutrient artery enters the center of the diaphysis through a nutrient foramen. Nutrient veins exit via the same canal</a:t>
            </a:r>
          </a:p>
          <a:p>
            <a:pPr marL="457200" indent="-457200">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The </a:t>
            </a:r>
            <a:r>
              <a:rPr lang="en-US" sz="3200" dirty="0" err="1">
                <a:latin typeface="Calibri" panose="020F0502020204030204" pitchFamily="34" charset="0"/>
                <a:cs typeface="Calibri" panose="020F0502020204030204" pitchFamily="34" charset="0"/>
              </a:rPr>
              <a:t>metaphyses</a:t>
            </a:r>
            <a:r>
              <a:rPr lang="en-US" sz="3200" dirty="0">
                <a:latin typeface="Calibri" panose="020F0502020204030204" pitchFamily="34" charset="0"/>
                <a:cs typeface="Calibri" panose="020F0502020204030204" pitchFamily="34" charset="0"/>
              </a:rPr>
              <a:t> and epiphyses also have their own arteries and veins</a:t>
            </a:r>
          </a:p>
        </p:txBody>
      </p:sp>
    </p:spTree>
    <p:extLst>
      <p:ext uri="{BB962C8B-B14F-4D97-AF65-F5344CB8AC3E}">
        <p14:creationId xmlns:p14="http://schemas.microsoft.com/office/powerpoint/2010/main" val="2848996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377E1-7EFD-41CE-8CB1-068C549363C4}"/>
              </a:ext>
            </a:extLst>
          </p:cNvPr>
          <p:cNvSpPr>
            <a:spLocks noGrp="1"/>
          </p:cNvSpPr>
          <p:nvPr>
            <p:ph type="title"/>
          </p:nvPr>
        </p:nvSpPr>
        <p:spPr>
          <a:xfrm>
            <a:off x="304800" y="475689"/>
            <a:ext cx="8534400" cy="692100"/>
          </a:xfrm>
        </p:spPr>
        <p:txBody>
          <a:bodyPr>
            <a:noAutofit/>
          </a:bodyPr>
          <a:lstStyle/>
          <a:p>
            <a:r>
              <a:rPr lang="en-US" dirty="0">
                <a:latin typeface="Calibri" panose="020F0502020204030204" pitchFamily="34" charset="0"/>
                <a:cs typeface="Calibri" panose="020F0502020204030204" pitchFamily="34" charset="0"/>
              </a:rPr>
              <a:t>Blood and Nerve Supply of Bone </a:t>
            </a:r>
            <a:endParaRPr lang="en-US" sz="2000" b="0" dirty="0">
              <a:latin typeface="Calibri" panose="020F0502020204030204" pitchFamily="34" charset="0"/>
              <a:cs typeface="Calibri" panose="020F0502020204030204" pitchFamily="34" charset="0"/>
            </a:endParaRPr>
          </a:p>
        </p:txBody>
      </p:sp>
      <p:pic>
        <p:nvPicPr>
          <p:cNvPr id="7" name="Content Placeholder 7" descr="A diagram illustrates the anatomy of a partially sectioned tibia, or shin bone. The epiphyseal artery and the epiphyseal vein run through the epiphysis, above the epiphyseal line, and articular cartilage caps the end of the epiphysis. The metaphyseal artery and metaphyseal vein run through the metaphysis. Compact bone encases the medullary cavity, located within the diaphysis, and the periosteum sheathes the layer of compact bone. The periosteal artery and the periosteal vein penetrate the periosteum and the compact bone to enter the medullary cavity. The nutrient artery and the nutrient vein run between the periosteum and the compact bone, and they protrude through the nutrient foramen.">
            <a:extLst>
              <a:ext uri="{FF2B5EF4-FFF2-40B4-BE49-F238E27FC236}">
                <a16:creationId xmlns:a16="http://schemas.microsoft.com/office/drawing/2014/main" id="{54481227-7FF4-4687-9803-5F1F2548E8B7}"/>
              </a:ext>
            </a:extLst>
          </p:cNvPr>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1512916" y="997527"/>
            <a:ext cx="5175051" cy="5384783"/>
          </a:xfrm>
          <a:prstGeom prst="rect">
            <a:avLst/>
          </a:prstGeom>
        </p:spPr>
      </p:pic>
    </p:spTree>
    <p:extLst>
      <p:ext uri="{BB962C8B-B14F-4D97-AF65-F5344CB8AC3E}">
        <p14:creationId xmlns:p14="http://schemas.microsoft.com/office/powerpoint/2010/main" val="3937337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61B31-2F5D-41B3-BC7D-9393EADE74F2}"/>
              </a:ext>
            </a:extLst>
          </p:cNvPr>
          <p:cNvSpPr>
            <a:spLocks noGrp="1"/>
          </p:cNvSpPr>
          <p:nvPr>
            <p:ph type="title"/>
          </p:nvPr>
        </p:nvSpPr>
        <p:spPr>
          <a:xfrm>
            <a:off x="304800" y="3009901"/>
            <a:ext cx="8534400" cy="838199"/>
          </a:xfrm>
        </p:spPr>
        <p:txBody>
          <a:bodyPr/>
          <a:lstStyle/>
          <a:p>
            <a:pPr algn="ctr"/>
            <a:r>
              <a:rPr lang="en-US" dirty="0">
                <a:latin typeface="Calibri" panose="020F0502020204030204" pitchFamily="34" charset="0"/>
                <a:cs typeface="Calibri" panose="020F0502020204030204" pitchFamily="34" charset="0"/>
              </a:rPr>
              <a:t>Bone Formation</a:t>
            </a:r>
          </a:p>
        </p:txBody>
      </p:sp>
    </p:spTree>
    <p:extLst>
      <p:ext uri="{BB962C8B-B14F-4D97-AF65-F5344CB8AC3E}">
        <p14:creationId xmlns:p14="http://schemas.microsoft.com/office/powerpoint/2010/main" val="1389154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D72E5-98E9-4B05-991A-13422A47BD2E}"/>
              </a:ext>
            </a:extLst>
          </p:cNvPr>
          <p:cNvSpPr>
            <a:spLocks noGrp="1"/>
          </p:cNvSpPr>
          <p:nvPr>
            <p:ph type="title"/>
          </p:nvPr>
        </p:nvSpPr>
        <p:spPr>
          <a:xfrm>
            <a:off x="304800" y="440586"/>
            <a:ext cx="8534400" cy="789621"/>
          </a:xfrm>
        </p:spPr>
        <p:txBody>
          <a:bodyPr/>
          <a:lstStyle/>
          <a:p>
            <a:r>
              <a:rPr lang="en-US" dirty="0">
                <a:latin typeface="Calibri" panose="020F0502020204030204" pitchFamily="34" charset="0"/>
                <a:cs typeface="Calibri" panose="020F0502020204030204" pitchFamily="34" charset="0"/>
              </a:rPr>
              <a:t>Bone Formation </a:t>
            </a:r>
            <a:endParaRPr lang="en-US" sz="2000" b="0" dirty="0">
              <a:latin typeface="Calibri" panose="020F0502020204030204" pitchFamily="34" charset="0"/>
              <a:cs typeface="Calibri" panose="020F0502020204030204" pitchFamily="34" charset="0"/>
            </a:endParaRPr>
          </a:p>
        </p:txBody>
      </p:sp>
      <p:sp>
        <p:nvSpPr>
          <p:cNvPr id="7" name="Content Placeholder 6">
            <a:extLst>
              <a:ext uri="{FF2B5EF4-FFF2-40B4-BE49-F238E27FC236}">
                <a16:creationId xmlns:a16="http://schemas.microsoft.com/office/drawing/2014/main" id="{4DF11754-4AA5-41BA-9BB9-CF4B4215D901}"/>
              </a:ext>
            </a:extLst>
          </p:cNvPr>
          <p:cNvSpPr>
            <a:spLocks noGrp="1"/>
          </p:cNvSpPr>
          <p:nvPr>
            <p:ph sz="quarter" idx="16"/>
          </p:nvPr>
        </p:nvSpPr>
        <p:spPr>
          <a:xfrm>
            <a:off x="304800" y="1610682"/>
            <a:ext cx="8277340" cy="4459612"/>
          </a:xfrm>
        </p:spPr>
        <p:txBody>
          <a:bodyPr/>
          <a:lstStyle/>
          <a:p>
            <a:pPr marL="457200" indent="-457200">
              <a:lnSpc>
                <a:spcPct val="100000"/>
              </a:lnSpc>
              <a:spcBef>
                <a:spcPts val="624"/>
              </a:spcBef>
              <a:spcAft>
                <a:spcPts val="600"/>
              </a:spcAft>
              <a:buFont typeface="Arial" panose="020B0604020202020204" pitchFamily="34" charset="0"/>
              <a:buChar char="•"/>
            </a:pPr>
            <a:r>
              <a:rPr lang="en-US" sz="3200" dirty="0">
                <a:latin typeface="Calibri" panose="020F0502020204030204" pitchFamily="34" charset="0"/>
                <a:cs typeface="Calibri" panose="020F0502020204030204" pitchFamily="34" charset="0"/>
              </a:rPr>
              <a:t>Ossification (osteogenesis) is the process of bone formation</a:t>
            </a:r>
          </a:p>
          <a:p>
            <a:pPr marL="457200" indent="-457200">
              <a:lnSpc>
                <a:spcPct val="100000"/>
              </a:lnSpc>
              <a:spcBef>
                <a:spcPts val="624"/>
              </a:spcBef>
              <a:spcAft>
                <a:spcPts val="600"/>
              </a:spcAft>
              <a:buFont typeface="Arial" panose="020B0604020202020204" pitchFamily="34" charset="0"/>
              <a:buChar char="•"/>
            </a:pPr>
            <a:r>
              <a:rPr lang="en-US" sz="3200" dirty="0">
                <a:latin typeface="Calibri" panose="020F0502020204030204" pitchFamily="34" charset="0"/>
                <a:cs typeface="Calibri" panose="020F0502020204030204" pitchFamily="34" charset="0"/>
              </a:rPr>
              <a:t>Bones form in 4 situations:</a:t>
            </a:r>
          </a:p>
          <a:p>
            <a:pPr marL="976313" indent="-514350">
              <a:lnSpc>
                <a:spcPct val="100000"/>
              </a:lnSpc>
              <a:spcBef>
                <a:spcPts val="624"/>
              </a:spcBef>
              <a:spcAft>
                <a:spcPts val="600"/>
              </a:spcAft>
              <a:buClr>
                <a:schemeClr val="accent2"/>
              </a:buClr>
              <a:buFont typeface="Arial" panose="020B0604020202020204" pitchFamily="34" charset="0"/>
              <a:buChar char="•"/>
            </a:pPr>
            <a:r>
              <a:rPr lang="en-US" dirty="0">
                <a:latin typeface="Calibri" panose="020F0502020204030204" pitchFamily="34" charset="0"/>
                <a:cs typeface="Calibri" panose="020F0502020204030204" pitchFamily="34" charset="0"/>
              </a:rPr>
              <a:t>During embryological and fetal development</a:t>
            </a:r>
          </a:p>
          <a:p>
            <a:pPr marL="976313" indent="-514350">
              <a:lnSpc>
                <a:spcPct val="100000"/>
              </a:lnSpc>
              <a:spcBef>
                <a:spcPts val="624"/>
              </a:spcBef>
              <a:spcAft>
                <a:spcPts val="600"/>
              </a:spcAft>
              <a:buClr>
                <a:schemeClr val="accent2"/>
              </a:buClr>
              <a:buFont typeface="Arial" panose="020B0604020202020204" pitchFamily="34" charset="0"/>
              <a:buChar char="•"/>
            </a:pPr>
            <a:r>
              <a:rPr lang="en-US" dirty="0">
                <a:latin typeface="Calibri" panose="020F0502020204030204" pitchFamily="34" charset="0"/>
                <a:cs typeface="Calibri" panose="020F0502020204030204" pitchFamily="34" charset="0"/>
              </a:rPr>
              <a:t>When bones grow before adulthood</a:t>
            </a:r>
          </a:p>
          <a:p>
            <a:pPr marL="976313" indent="-514350">
              <a:lnSpc>
                <a:spcPct val="100000"/>
              </a:lnSpc>
              <a:spcBef>
                <a:spcPts val="624"/>
              </a:spcBef>
              <a:spcAft>
                <a:spcPts val="600"/>
              </a:spcAft>
              <a:buClr>
                <a:schemeClr val="accent2"/>
              </a:buClr>
              <a:buFont typeface="Arial" panose="020B0604020202020204" pitchFamily="34" charset="0"/>
              <a:buChar char="•"/>
            </a:pPr>
            <a:r>
              <a:rPr lang="en-US" dirty="0">
                <a:latin typeface="Calibri" panose="020F0502020204030204" pitchFamily="34" charset="0"/>
                <a:cs typeface="Calibri" panose="020F0502020204030204" pitchFamily="34" charset="0"/>
              </a:rPr>
              <a:t>When bones remodel</a:t>
            </a:r>
          </a:p>
          <a:p>
            <a:pPr marL="976313" indent="-514350">
              <a:lnSpc>
                <a:spcPct val="100000"/>
              </a:lnSpc>
              <a:spcBef>
                <a:spcPts val="624"/>
              </a:spcBef>
              <a:spcAft>
                <a:spcPts val="600"/>
              </a:spcAft>
              <a:buClr>
                <a:schemeClr val="accent2"/>
              </a:buClr>
              <a:buFont typeface="Arial" panose="020B0604020202020204" pitchFamily="34" charset="0"/>
              <a:buChar char="•"/>
            </a:pPr>
            <a:r>
              <a:rPr lang="en-US" dirty="0">
                <a:latin typeface="Calibri" panose="020F0502020204030204" pitchFamily="34" charset="0"/>
                <a:cs typeface="Calibri" panose="020F0502020204030204" pitchFamily="34" charset="0"/>
              </a:rPr>
              <a:t>When fractures heal</a:t>
            </a:r>
          </a:p>
        </p:txBody>
      </p:sp>
    </p:spTree>
    <p:extLst>
      <p:ext uri="{BB962C8B-B14F-4D97-AF65-F5344CB8AC3E}">
        <p14:creationId xmlns:p14="http://schemas.microsoft.com/office/powerpoint/2010/main" val="3941917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D72E5-98E9-4B05-991A-13422A47BD2E}"/>
              </a:ext>
            </a:extLst>
          </p:cNvPr>
          <p:cNvSpPr>
            <a:spLocks noGrp="1"/>
          </p:cNvSpPr>
          <p:nvPr>
            <p:ph type="title"/>
          </p:nvPr>
        </p:nvSpPr>
        <p:spPr>
          <a:xfrm>
            <a:off x="304800" y="440586"/>
            <a:ext cx="8534400" cy="789621"/>
          </a:xfrm>
        </p:spPr>
        <p:txBody>
          <a:bodyPr/>
          <a:lstStyle/>
          <a:p>
            <a:r>
              <a:rPr lang="en-US" dirty="0">
                <a:latin typeface="Calibri" panose="020F0502020204030204" pitchFamily="34" charset="0"/>
                <a:cs typeface="Calibri" panose="020F0502020204030204" pitchFamily="34" charset="0"/>
              </a:rPr>
              <a:t>Bone Formation </a:t>
            </a:r>
            <a:endParaRPr lang="en-US" sz="2000" b="0" dirty="0">
              <a:latin typeface="Calibri" panose="020F0502020204030204" pitchFamily="34" charset="0"/>
              <a:cs typeface="Calibri" panose="020F0502020204030204" pitchFamily="34" charset="0"/>
            </a:endParaRPr>
          </a:p>
        </p:txBody>
      </p:sp>
      <p:sp>
        <p:nvSpPr>
          <p:cNvPr id="7" name="Content Placeholder 6">
            <a:extLst>
              <a:ext uri="{FF2B5EF4-FFF2-40B4-BE49-F238E27FC236}">
                <a16:creationId xmlns:a16="http://schemas.microsoft.com/office/drawing/2014/main" id="{4DF11754-4AA5-41BA-9BB9-CF4B4215D901}"/>
              </a:ext>
            </a:extLst>
          </p:cNvPr>
          <p:cNvSpPr>
            <a:spLocks noGrp="1"/>
          </p:cNvSpPr>
          <p:nvPr>
            <p:ph sz="quarter" idx="16"/>
          </p:nvPr>
        </p:nvSpPr>
        <p:spPr>
          <a:xfrm>
            <a:off x="304800" y="1610682"/>
            <a:ext cx="8277340" cy="4459612"/>
          </a:xfrm>
        </p:spPr>
        <p:txBody>
          <a:bodyPr/>
          <a:lstStyle/>
          <a:p>
            <a:pPr marL="457200" indent="-457200">
              <a:lnSpc>
                <a:spcPct val="100000"/>
              </a:lnSpc>
              <a:spcBef>
                <a:spcPts val="624"/>
              </a:spcBef>
              <a:spcAft>
                <a:spcPts val="600"/>
              </a:spcAft>
              <a:buFont typeface="Arial" panose="020B0604020202020204" pitchFamily="34" charset="0"/>
              <a:buChar char="•"/>
            </a:pPr>
            <a:r>
              <a:rPr lang="en-US" sz="3200" dirty="0">
                <a:latin typeface="Calibri" panose="020F0502020204030204" pitchFamily="34" charset="0"/>
                <a:cs typeface="Calibri" panose="020F0502020204030204" pitchFamily="34" charset="0"/>
              </a:rPr>
              <a:t>Types of ossification:</a:t>
            </a:r>
          </a:p>
          <a:p>
            <a:pPr marL="1200150" lvl="1" indent="-514350">
              <a:lnSpc>
                <a:spcPct val="100000"/>
              </a:lnSpc>
              <a:spcBef>
                <a:spcPts val="624"/>
              </a:spcBef>
              <a:spcAft>
                <a:spcPts val="600"/>
              </a:spcAft>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Intramembranous</a:t>
            </a:r>
          </a:p>
          <a:p>
            <a:pPr marL="1657350" lvl="2" indent="-514350">
              <a:lnSpc>
                <a:spcPct val="100000"/>
              </a:lnSpc>
              <a:spcBef>
                <a:spcPts val="624"/>
              </a:spcBef>
              <a:spcAft>
                <a:spcPts val="600"/>
              </a:spcAft>
              <a:buClr>
                <a:schemeClr val="accent2"/>
              </a:buClr>
              <a:buFont typeface="Arial" panose="020B0604020202020204" pitchFamily="34" charset="0"/>
              <a:buChar char="•"/>
            </a:pPr>
            <a:r>
              <a:rPr lang="en-US" sz="2400" dirty="0">
                <a:latin typeface="Calibri" panose="020F0502020204030204" pitchFamily="34" charset="0"/>
                <a:cs typeface="Calibri" panose="020F0502020204030204" pitchFamily="34" charset="0"/>
              </a:rPr>
              <a:t>Occurs in flat bones when a connective tissue membrane is replaced by bone </a:t>
            </a:r>
          </a:p>
          <a:p>
            <a:pPr marL="1200150" lvl="1" indent="-514350">
              <a:lnSpc>
                <a:spcPct val="100000"/>
              </a:lnSpc>
              <a:spcBef>
                <a:spcPts val="624"/>
              </a:spcBef>
              <a:spcAft>
                <a:spcPts val="600"/>
              </a:spcAft>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Endochondral</a:t>
            </a:r>
          </a:p>
          <a:p>
            <a:pPr marL="1657350" lvl="2" indent="-514350">
              <a:lnSpc>
                <a:spcPct val="100000"/>
              </a:lnSpc>
              <a:spcBef>
                <a:spcPts val="624"/>
              </a:spcBef>
              <a:spcAft>
                <a:spcPts val="600"/>
              </a:spcAft>
              <a:buClr>
                <a:schemeClr val="accent2"/>
              </a:buClr>
              <a:buFont typeface="Arial" panose="020B0604020202020204" pitchFamily="34" charset="0"/>
              <a:buChar char="•"/>
            </a:pPr>
            <a:r>
              <a:rPr lang="en-US" sz="2400" dirty="0">
                <a:latin typeface="Calibri" panose="020F0502020204030204" pitchFamily="34" charset="0"/>
                <a:cs typeface="Calibri" panose="020F0502020204030204" pitchFamily="34" charset="0"/>
              </a:rPr>
              <a:t>Replaces cartilage with bone is the developing embryo and fetus </a:t>
            </a:r>
          </a:p>
        </p:txBody>
      </p:sp>
    </p:spTree>
    <p:extLst>
      <p:ext uri="{BB962C8B-B14F-4D97-AF65-F5344CB8AC3E}">
        <p14:creationId xmlns:p14="http://schemas.microsoft.com/office/powerpoint/2010/main" val="2286479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50E28-6BAB-4B68-83EB-9DB6BD16B735}"/>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Bone Formation - Intramembranous</a:t>
            </a:r>
            <a:endParaRPr lang="en-US" sz="2000" b="0" dirty="0">
              <a:latin typeface="Calibri" panose="020F0502020204030204" pitchFamily="34" charset="0"/>
              <a:cs typeface="Calibri" panose="020F0502020204030204" pitchFamily="34" charset="0"/>
            </a:endParaRPr>
          </a:p>
        </p:txBody>
      </p:sp>
      <p:pic>
        <p:nvPicPr>
          <p:cNvPr id="8" name="Content Placeholder 13" descr="A series of 4 diagrams illustrates the process of intramembranous ossification, the type of bone formation that occurs in the mandible and the flat bones of the skull. Step 1, development of ossification center: Osteoblasts secrete organic extracellular matrix. The diagram shows osteoblasts within the ossification center and adjacent mesenchyme, collagen fibers, and blood capillaries. Step 2, calcification: Calcium and other mineral salts are deposited, and extracellular matrix calcifies, or hardens. In the diagram, osteocytes in lacunae are located in newly calcified bone extracellular matrix and joined by canaliculi. The matrix is surrounded by a ring of osteoblasts. Step 3, Formation of spongy bone trabeculae: The extracellular matrix develops into spongy bone trabeculae that fuse to form spongy bone. The diagram shows mesenchyme condensing around spongy bone trabeculae, which are ringed with osteoblasts, and blood vessels that pass through the mesenchyme and trabeculae. Step 4, Development of the periosteum: The mesenchyme at the periphery of the bone develops into the periosteum. The diagram shows spongy bone tissue surrounded by compact bone tissue and an outer layer of periosteum.">
            <a:extLst>
              <a:ext uri="{FF2B5EF4-FFF2-40B4-BE49-F238E27FC236}">
                <a16:creationId xmlns:a16="http://schemas.microsoft.com/office/drawing/2014/main" id="{1E0C0778-1E30-4BDE-A817-0E9A1AB1F8FA}"/>
              </a:ext>
            </a:extLst>
          </p:cNvPr>
          <p:cNvPicPr>
            <a:picLocks noGrp="1" noChangeAspect="1"/>
          </p:cNvPicPr>
          <p:nvPr>
            <p:ph sz="quarter" idx="16"/>
          </p:nvPr>
        </p:nvPicPr>
        <p:blipFill>
          <a:blip r:embed="rId2" cstate="print">
            <a:extLst>
              <a:ext uri="{28A0092B-C50C-407E-A947-70E740481C1C}">
                <a14:useLocalDpi xmlns:a14="http://schemas.microsoft.com/office/drawing/2010/main" val="0"/>
              </a:ext>
            </a:extLst>
          </a:blip>
          <a:stretch>
            <a:fillRect/>
          </a:stretch>
        </p:blipFill>
        <p:spPr>
          <a:xfrm>
            <a:off x="1097280" y="1379913"/>
            <a:ext cx="6932815" cy="4937760"/>
          </a:xfrm>
          <a:prstGeom prst="rect">
            <a:avLst/>
          </a:prstGeom>
        </p:spPr>
      </p:pic>
    </p:spTree>
    <p:extLst>
      <p:ext uri="{BB962C8B-B14F-4D97-AF65-F5344CB8AC3E}">
        <p14:creationId xmlns:p14="http://schemas.microsoft.com/office/powerpoint/2010/main" val="426309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50E28-6BAB-4B68-83EB-9DB6BD16B735}"/>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Bone Formation – Endochondral </a:t>
            </a:r>
            <a:endParaRPr lang="en-US" sz="2000" b="0" dirty="0">
              <a:latin typeface="Calibri" panose="020F0502020204030204" pitchFamily="34" charset="0"/>
              <a:cs typeface="Calibri" panose="020F0502020204030204" pitchFamily="34" charset="0"/>
            </a:endParaRPr>
          </a:p>
        </p:txBody>
      </p:sp>
      <p:pic>
        <p:nvPicPr>
          <p:cNvPr id="9" name="Content Placeholder 14" descr="A series of 6 diagrams, labeled (a), illustrates the process of endochondral ossification and a photo of a 12-week-old fetus, labeled (b), shows calcified and uncalcified bones. Step 1, development of the cartilage model: Mesenchymal cells develop into chondroblasts, which form the cartilage model. The diagram shows a hyaline cartilage model, encased in perichondrium. Brackets indicate the proximal epiphysis, the short diaphysis, and the distal epiphysis. Step 2, growth of the cartilage model: Growth occurs by cell division of chondrocytes. The diagram shows the calcified and uncalcified extracellular matrix within the lengthening diaphysis. Step 3, development of the primary ossification center: In this region of the diaphysis, bone tissue has replaced most of the cartilage. The diagram shows spongy bone at the ends of the primary ossification center. A nutrient artery runs through the primary ossification center. Step 4, development of the medullary, or marrow, cavity: Bone breakdown by osteoclasts form the medullary cavity. The diagram shows uncalcified extracellular matrix at the proximal epiphysis and calcified extracellular matrix closer to the medullary cavity. The nutrient artery and vein run through the medullary cavity, and the perichondrium appears to be thickening. Step 5, development of secondary ossification centers: These occur in the epiphyses of the bone. In the diagram, the epiphyseal vein and artery run through a secondary ossification center in the epiphysis. Step 6, formation of articular cartilage and the epiphyseal plate: Both structures consist of hyaline cartilage. The diagram shows spongy bone between articular cartilage and the epiphyseal plate and a more widespread network of blood vessels.&#10;The photo shows a 12-week-old fetus and labels the distinction between calcified bone and uncalcified cartilage. The skull, spinal column, humerus, radius and ulna, phalanges and metacarpals, pelvis, tibia, and femur are calcified, while the wrist, tibia, bones of the ankle, metatarsals, and occipital bone in the skull are uncalcified.">
            <a:extLst>
              <a:ext uri="{FF2B5EF4-FFF2-40B4-BE49-F238E27FC236}">
                <a16:creationId xmlns:a16="http://schemas.microsoft.com/office/drawing/2014/main" id="{5FB4A349-61DD-4616-ACE1-9D7D915BF062}"/>
              </a:ext>
            </a:extLst>
          </p:cNvPr>
          <p:cNvPicPr>
            <a:picLocks noGrp="1" noChangeAspect="1"/>
          </p:cNvPicPr>
          <p:nvPr>
            <p:ph sz="quarter" idx="16"/>
          </p:nvPr>
        </p:nvPicPr>
        <p:blipFill>
          <a:blip r:embed="rId2" cstate="print">
            <a:extLst>
              <a:ext uri="{28A0092B-C50C-407E-A947-70E740481C1C}">
                <a14:useLocalDpi xmlns:a14="http://schemas.microsoft.com/office/drawing/2010/main" val="0"/>
              </a:ext>
            </a:extLst>
          </a:blip>
          <a:stretch>
            <a:fillRect/>
          </a:stretch>
        </p:blipFill>
        <p:spPr>
          <a:xfrm>
            <a:off x="914400" y="1429790"/>
            <a:ext cx="6833062" cy="4904508"/>
          </a:xfrm>
          <a:prstGeom prst="rect">
            <a:avLst/>
          </a:prstGeom>
        </p:spPr>
      </p:pic>
    </p:spTree>
    <p:extLst>
      <p:ext uri="{BB962C8B-B14F-4D97-AF65-F5344CB8AC3E}">
        <p14:creationId xmlns:p14="http://schemas.microsoft.com/office/powerpoint/2010/main" val="4252944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EFCC-7CAA-4C86-AC15-DA6FCA8BDF78}"/>
              </a:ext>
            </a:extLst>
          </p:cNvPr>
          <p:cNvSpPr>
            <a:spLocks noGrp="1"/>
          </p:cNvSpPr>
          <p:nvPr>
            <p:ph type="title"/>
          </p:nvPr>
        </p:nvSpPr>
        <p:spPr>
          <a:xfrm>
            <a:off x="304800" y="457778"/>
            <a:ext cx="8534400" cy="838199"/>
          </a:xfrm>
        </p:spPr>
        <p:txBody>
          <a:bodyPr>
            <a:normAutofit/>
          </a:bodyPr>
          <a:lstStyle/>
          <a:p>
            <a:r>
              <a:rPr lang="en-US" dirty="0">
                <a:latin typeface="Calibri" panose="020F0502020204030204" pitchFamily="34" charset="0"/>
                <a:cs typeface="Calibri" panose="020F0502020204030204" pitchFamily="34" charset="0"/>
              </a:rPr>
              <a:t>Bone Formation </a:t>
            </a:r>
            <a:endParaRPr lang="en-US" sz="2000" b="0"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99176B64-C2AA-47E1-9690-EA282BDB85B9}"/>
              </a:ext>
            </a:extLst>
          </p:cNvPr>
          <p:cNvSpPr>
            <a:spLocks noGrp="1"/>
          </p:cNvSpPr>
          <p:nvPr>
            <p:ph sz="quarter" idx="16"/>
          </p:nvPr>
        </p:nvSpPr>
        <p:spPr>
          <a:xfrm>
            <a:off x="254770" y="1295977"/>
            <a:ext cx="4915746" cy="2133024"/>
          </a:xfrm>
        </p:spPr>
        <p:txBody>
          <a:bodyPr/>
          <a:lstStyle/>
          <a:p>
            <a:pPr marL="457200" indent="-457200">
              <a:lnSpc>
                <a:spcPct val="100000"/>
              </a:lnSpc>
              <a:spcBef>
                <a:spcPts val="624"/>
              </a:spcBef>
              <a:buFont typeface="Arial" panose="020B0604020202020204" pitchFamily="34" charset="0"/>
              <a:buChar char="•"/>
            </a:pPr>
            <a:r>
              <a:rPr lang="en-US" altLang="en-US" sz="3200" dirty="0">
                <a:latin typeface="Calibri" panose="020F0502020204030204" pitchFamily="34" charset="0"/>
                <a:cs typeface="Calibri" panose="020F0502020204030204" pitchFamily="34" charset="0"/>
              </a:rPr>
              <a:t>Endochondral ossification also occurs in epiphyseal plates of long bones as they grow in length</a:t>
            </a:r>
          </a:p>
        </p:txBody>
      </p:sp>
      <p:pic>
        <p:nvPicPr>
          <p:cNvPr id="10" name="Content Placeholder 9" descr="Diagram (c) shows lengthwise growth of bone at the epiphyseal plate. The diagram shows the proximal epiphysis and its surrounding articular cartilage, before and after endochondral ossification has occurred. In the four zones of the epiphyseal growth plate between the diaphysis and the epiphysis (the zone of calcified cartilage, zone of hypertrophic cartilage, zone of proliferating cartilage, and zone of resting cartilage), old chondrocytes are replaced by bone. The second diagram shows new diaphysis. New chondrocytes are formed, and an arrow highlights the zone of proliferating cartilage in both diagrams.">
            <a:extLst>
              <a:ext uri="{FF2B5EF4-FFF2-40B4-BE49-F238E27FC236}">
                <a16:creationId xmlns:a16="http://schemas.microsoft.com/office/drawing/2014/main" id="{02664E33-BC44-43A0-B60B-31BB69269AA4}"/>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377182" y="3429000"/>
            <a:ext cx="4560578" cy="2689765"/>
          </a:xfrm>
          <a:prstGeom prst="rect">
            <a:avLst/>
          </a:prstGeom>
        </p:spPr>
      </p:pic>
      <p:pic>
        <p:nvPicPr>
          <p:cNvPr id="13" name="Content Placeholder 10" descr="Two illustrations show epiphyseal or growth plate of long bones as they grow. Illustration (a) is a radiograph showing the epiphyseal plate of the femur of a 3-year-old. The tibia and the femur are indicated on the radiograph, and a box encloses the epiphyseal plate below the femur. Illustration (b) is an L M at 400 times magnification that showing the histology of the epiphyseal plate. The diaphyseal and epiphyseal sides of the bone are indicated. Developing bone of the diaphysis occurs above the epiphyseal plate, which includes the zone of calcified cartilage, the zone of hypertrophic cartilage, the zone of proliferating cartilage, and the zone of resting cartilage.">
            <a:extLst>
              <a:ext uri="{FF2B5EF4-FFF2-40B4-BE49-F238E27FC236}">
                <a16:creationId xmlns:a16="http://schemas.microsoft.com/office/drawing/2014/main" id="{894D000B-9F50-4771-A078-8A8DC0B29326}"/>
              </a:ext>
            </a:extLst>
          </p:cNvPr>
          <p:cNvPicPr>
            <a:picLocks noGrp="1" noChangeAspect="1"/>
          </p:cNvPicPr>
          <p:nvPr>
            <p:ph sz="quarter" idx="18"/>
          </p:nvPr>
        </p:nvPicPr>
        <p:blipFill>
          <a:blip r:embed="rId3">
            <a:extLst>
              <a:ext uri="{28A0092B-C50C-407E-A947-70E740481C1C}">
                <a14:useLocalDpi xmlns:a14="http://schemas.microsoft.com/office/drawing/2010/main" val="0"/>
              </a:ext>
            </a:extLst>
          </a:blip>
          <a:stretch>
            <a:fillRect/>
          </a:stretch>
        </p:blipFill>
        <p:spPr>
          <a:xfrm>
            <a:off x="5527376" y="1130531"/>
            <a:ext cx="3361854" cy="4988235"/>
          </a:xfrm>
          <a:prstGeom prst="rect">
            <a:avLst/>
          </a:prstGeom>
        </p:spPr>
      </p:pic>
    </p:spTree>
    <p:extLst>
      <p:ext uri="{BB962C8B-B14F-4D97-AF65-F5344CB8AC3E}">
        <p14:creationId xmlns:p14="http://schemas.microsoft.com/office/powerpoint/2010/main" val="9747130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EFCC-7CAA-4C86-AC15-DA6FCA8BDF78}"/>
              </a:ext>
            </a:extLst>
          </p:cNvPr>
          <p:cNvSpPr>
            <a:spLocks noGrp="1"/>
          </p:cNvSpPr>
          <p:nvPr>
            <p:ph type="title"/>
          </p:nvPr>
        </p:nvSpPr>
        <p:spPr>
          <a:xfrm>
            <a:off x="304800" y="457778"/>
            <a:ext cx="8534400" cy="838199"/>
          </a:xfrm>
        </p:spPr>
        <p:txBody>
          <a:bodyPr>
            <a:normAutofit/>
          </a:bodyPr>
          <a:lstStyle/>
          <a:p>
            <a:r>
              <a:rPr lang="en-US" dirty="0">
                <a:latin typeface="Calibri" panose="020F0502020204030204" pitchFamily="34" charset="0"/>
                <a:cs typeface="Calibri" panose="020F0502020204030204" pitchFamily="34" charset="0"/>
              </a:rPr>
              <a:t>Bone Formation </a:t>
            </a:r>
            <a:endParaRPr lang="en-US" sz="2000" b="0"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99176B64-C2AA-47E1-9690-EA282BDB85B9}"/>
              </a:ext>
            </a:extLst>
          </p:cNvPr>
          <p:cNvSpPr>
            <a:spLocks noGrp="1"/>
          </p:cNvSpPr>
          <p:nvPr>
            <p:ph sz="quarter" idx="16"/>
          </p:nvPr>
        </p:nvSpPr>
        <p:spPr>
          <a:xfrm>
            <a:off x="254770" y="1163783"/>
            <a:ext cx="8757028" cy="1047402"/>
          </a:xfrm>
        </p:spPr>
        <p:txBody>
          <a:bodyPr/>
          <a:lstStyle/>
          <a:p>
            <a:pPr marL="457200" indent="-457200">
              <a:lnSpc>
                <a:spcPct val="100000"/>
              </a:lnSpc>
              <a:spcBef>
                <a:spcPts val="624"/>
              </a:spcBef>
              <a:buFont typeface="Arial" panose="020B0604020202020204" pitchFamily="34" charset="0"/>
              <a:buChar char="•"/>
            </a:pPr>
            <a:r>
              <a:rPr lang="en-US" altLang="en-US" sz="3200" dirty="0">
                <a:latin typeface="Calibri" panose="020F0502020204030204" pitchFamily="34" charset="0"/>
                <a:cs typeface="Calibri" panose="020F0502020204030204" pitchFamily="34" charset="0"/>
              </a:rPr>
              <a:t>Bones thicken thanks to the cooperative action of osteoblasts and osteoclasts</a:t>
            </a:r>
          </a:p>
        </p:txBody>
      </p:sp>
      <p:pic>
        <p:nvPicPr>
          <p:cNvPr id="11" name="Content Placeholder 7" descr="A series of 4 diagrams (a) show microscopic details to illustrate the thickening of bone because of the cooperative action of osteoblasts and osteoclasts. Step 1: Ridges in the periosteum create a groove for the periosteal blood vessel. The diagram shows periosteal ridges and a deep groove in the periosteum containing the periosteal blood vessel. Step 2: The periosteal ridges fold together and fuse to form an endosteum lined tunnel. Step 3: Osteoblasts in the endosteum build new concentric bone lamellae inward toward the center of the tunnel to form a new osteon. The diagram indicates the internal direction of growth with arrows. Step 4: The bone grows outward as osteoblasts in the periosteum build new circumferential bone lamellae. Osteon formation repeats as new periosteal ridges fold over blood vessels. The diagram shows a blood vessel running through the osteonic canal in the center of the new osteon, surrounded by circumferential bone lamellae, and encircled by the outer layer of the periosteum.">
            <a:extLst>
              <a:ext uri="{FF2B5EF4-FFF2-40B4-BE49-F238E27FC236}">
                <a16:creationId xmlns:a16="http://schemas.microsoft.com/office/drawing/2014/main" id="{4EBC539E-54DC-4350-A22D-9C99D648C898}"/>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1479665" y="2211185"/>
            <a:ext cx="6201295" cy="4039985"/>
          </a:xfrm>
          <a:prstGeom prst="rect">
            <a:avLst/>
          </a:prstGeom>
        </p:spPr>
      </p:pic>
    </p:spTree>
    <p:extLst>
      <p:ext uri="{BB962C8B-B14F-4D97-AF65-F5344CB8AC3E}">
        <p14:creationId xmlns:p14="http://schemas.microsoft.com/office/powerpoint/2010/main" val="2702758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EFCC-7CAA-4C86-AC15-DA6FCA8BDF78}"/>
              </a:ext>
            </a:extLst>
          </p:cNvPr>
          <p:cNvSpPr>
            <a:spLocks noGrp="1"/>
          </p:cNvSpPr>
          <p:nvPr>
            <p:ph type="title"/>
          </p:nvPr>
        </p:nvSpPr>
        <p:spPr>
          <a:xfrm>
            <a:off x="304800" y="457778"/>
            <a:ext cx="8534400" cy="838199"/>
          </a:xfrm>
        </p:spPr>
        <p:txBody>
          <a:bodyPr>
            <a:normAutofit/>
          </a:bodyPr>
          <a:lstStyle/>
          <a:p>
            <a:r>
              <a:rPr lang="en-US" dirty="0">
                <a:latin typeface="Calibri" panose="020F0502020204030204" pitchFamily="34" charset="0"/>
                <a:cs typeface="Calibri" panose="020F0502020204030204" pitchFamily="34" charset="0"/>
              </a:rPr>
              <a:t>Bone Formation </a:t>
            </a:r>
            <a:endParaRPr lang="en-US" sz="2000" b="0"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99176B64-C2AA-47E1-9690-EA282BDB85B9}"/>
              </a:ext>
            </a:extLst>
          </p:cNvPr>
          <p:cNvSpPr>
            <a:spLocks noGrp="1"/>
          </p:cNvSpPr>
          <p:nvPr>
            <p:ph sz="quarter" idx="16"/>
          </p:nvPr>
        </p:nvSpPr>
        <p:spPr>
          <a:xfrm>
            <a:off x="254770" y="1047404"/>
            <a:ext cx="8757028" cy="1486476"/>
          </a:xfrm>
        </p:spPr>
        <p:txBody>
          <a:bodyPr/>
          <a:lstStyle/>
          <a:p>
            <a:pPr marL="457200" indent="-457200">
              <a:lnSpc>
                <a:spcPct val="100000"/>
              </a:lnSpc>
              <a:spcBef>
                <a:spcPts val="624"/>
              </a:spcBef>
              <a:buFont typeface="Arial" panose="020B0604020202020204" pitchFamily="34" charset="0"/>
              <a:buChar char="•"/>
            </a:pPr>
            <a:r>
              <a:rPr lang="en-US" altLang="en-US" sz="3200" dirty="0">
                <a:latin typeface="Calibri" panose="020F0502020204030204" pitchFamily="34" charset="0"/>
                <a:cs typeface="Calibri" panose="020F0502020204030204" pitchFamily="34" charset="0"/>
              </a:rPr>
              <a:t>As osteoblasts deposit bone on the outer surface osteoclasts widen the medullary cavity from within</a:t>
            </a:r>
          </a:p>
        </p:txBody>
      </p:sp>
      <p:pic>
        <p:nvPicPr>
          <p:cNvPr id="7" name="Content Placeholder 7" descr="A series of diagrams (b) show macroscopic changes in the size of the medullary cavity over the course of human development to illustrate the cooperative activity of osteoclasts and osteoblasts. An expanded view shows the medullary cavity of an infant and the larger medullary cavity of a child. Labeled components of the child's bone include bone formed by osteoblasts comprising the outer ring of the bone, and bone destroyed by osteoblasts widening the medullary cavity. The developing medullary cavity of a larger young adult bone is wider than a child's, and the cavity is still wider in a larger adult bone, in which growth is complete.">
            <a:extLst>
              <a:ext uri="{FF2B5EF4-FFF2-40B4-BE49-F238E27FC236}">
                <a16:creationId xmlns:a16="http://schemas.microsoft.com/office/drawing/2014/main" id="{4F162E32-72F2-48EB-A90B-3132C9239970}"/>
              </a:ext>
            </a:extLst>
          </p:cNvPr>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482138" y="2743200"/>
            <a:ext cx="8529660" cy="3327179"/>
          </a:xfrm>
          <a:prstGeom prst="rect">
            <a:avLst/>
          </a:prstGeom>
        </p:spPr>
      </p:pic>
    </p:spTree>
    <p:extLst>
      <p:ext uri="{BB962C8B-B14F-4D97-AF65-F5344CB8AC3E}">
        <p14:creationId xmlns:p14="http://schemas.microsoft.com/office/powerpoint/2010/main" val="19324646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F7463-37CF-428E-9D83-ADF6820BC256}"/>
              </a:ext>
            </a:extLst>
          </p:cNvPr>
          <p:cNvSpPr>
            <a:spLocks noGrp="1"/>
          </p:cNvSpPr>
          <p:nvPr>
            <p:ph type="title"/>
          </p:nvPr>
        </p:nvSpPr>
        <p:spPr>
          <a:xfrm>
            <a:off x="304800" y="464667"/>
            <a:ext cx="8534400" cy="1014221"/>
          </a:xfrm>
        </p:spPr>
        <p:txBody>
          <a:bodyPr>
            <a:noAutofit/>
          </a:bodyPr>
          <a:lstStyle/>
          <a:p>
            <a:r>
              <a:rPr lang="en-US" dirty="0">
                <a:latin typeface="Calibri" panose="020F0502020204030204" pitchFamily="34" charset="0"/>
                <a:cs typeface="Calibri" panose="020F0502020204030204" pitchFamily="34" charset="0"/>
              </a:rPr>
              <a:t>Bone Growth and Remodeling Interactions Animation: </a:t>
            </a:r>
            <a:endParaRPr lang="en-US" b="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B4BCD7C5-59B1-4CFA-9C14-4D3415E4C95B}"/>
              </a:ext>
            </a:extLst>
          </p:cNvPr>
          <p:cNvSpPr>
            <a:spLocks noGrp="1"/>
          </p:cNvSpPr>
          <p:nvPr>
            <p:ph sz="quarter" idx="16"/>
          </p:nvPr>
        </p:nvSpPr>
        <p:spPr>
          <a:xfrm>
            <a:off x="304800" y="1752599"/>
            <a:ext cx="8534400" cy="3200401"/>
          </a:xfrm>
        </p:spPr>
        <p:txBody>
          <a:bodyPr/>
          <a:lstStyle/>
          <a:p>
            <a:pPr>
              <a:lnSpc>
                <a:spcPct val="100000"/>
              </a:lnSpc>
              <a:spcBef>
                <a:spcPts val="624"/>
              </a:spcBef>
              <a:spcAft>
                <a:spcPts val="600"/>
              </a:spcAft>
            </a:pPr>
            <a:r>
              <a:rPr lang="en-US" dirty="0">
                <a:latin typeface="Calibri" panose="020F0502020204030204" pitchFamily="34" charset="0"/>
                <a:cs typeface="Calibri" panose="020F0502020204030204" pitchFamily="34" charset="0"/>
                <a:hlinkClick r:id="rId3"/>
              </a:rPr>
              <a:t>Bone Growth and Remodeling</a:t>
            </a:r>
            <a:r>
              <a:rPr lang="en-US" dirty="0">
                <a:latin typeface="Calibri" panose="020F0502020204030204" pitchFamily="34" charset="0"/>
                <a:cs typeface="Calibri" panose="020F0502020204030204" pitchFamily="34" charset="0"/>
              </a:rPr>
              <a:t> – necessary nutrients</a:t>
            </a:r>
          </a:p>
          <a:p>
            <a:pPr>
              <a:lnSpc>
                <a:spcPct val="100000"/>
              </a:lnSpc>
              <a:spcBef>
                <a:spcPts val="624"/>
              </a:spcBef>
              <a:spcAft>
                <a:spcPts val="600"/>
              </a:spcAft>
            </a:pPr>
            <a:r>
              <a:rPr lang="en-US" dirty="0">
                <a:latin typeface="Calibri" panose="020F0502020204030204" pitchFamily="34" charset="0"/>
                <a:cs typeface="Calibri" panose="020F0502020204030204" pitchFamily="34" charset="0"/>
                <a:hlinkClick r:id="rId4"/>
              </a:rPr>
              <a:t>Bone Growth and Remodeling </a:t>
            </a:r>
            <a:r>
              <a:rPr lang="en-US" dirty="0">
                <a:latin typeface="Calibri" panose="020F0502020204030204" pitchFamily="34" charset="0"/>
                <a:cs typeface="Calibri" panose="020F0502020204030204" pitchFamily="34" charset="0"/>
              </a:rPr>
              <a:t>– maintenance of bone thickness</a:t>
            </a:r>
          </a:p>
        </p:txBody>
      </p:sp>
    </p:spTree>
    <p:extLst>
      <p:ext uri="{BB962C8B-B14F-4D97-AF65-F5344CB8AC3E}">
        <p14:creationId xmlns:p14="http://schemas.microsoft.com/office/powerpoint/2010/main" val="2899342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EFCC-7CAA-4C86-AC15-DA6FCA8BDF78}"/>
              </a:ext>
            </a:extLst>
          </p:cNvPr>
          <p:cNvSpPr>
            <a:spLocks noGrp="1"/>
          </p:cNvSpPr>
          <p:nvPr>
            <p:ph type="title"/>
          </p:nvPr>
        </p:nvSpPr>
        <p:spPr>
          <a:xfrm>
            <a:off x="304800" y="457903"/>
            <a:ext cx="8534400" cy="1014221"/>
          </a:xfrm>
        </p:spPr>
        <p:txBody>
          <a:bodyPr>
            <a:noAutofit/>
          </a:bodyPr>
          <a:lstStyle/>
          <a:p>
            <a:r>
              <a:rPr lang="en-US" dirty="0">
                <a:latin typeface="Calibri" panose="020F0502020204030204" pitchFamily="34" charset="0"/>
                <a:cs typeface="Calibri" panose="020F0502020204030204" pitchFamily="34" charset="0"/>
              </a:rPr>
              <a:t>Factors Affecting Bone Growth and Remodeling</a:t>
            </a:r>
            <a:endParaRPr lang="en-US" b="0"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8029272B-D8B6-4005-9D47-19AFE92F841A}"/>
              </a:ext>
            </a:extLst>
          </p:cNvPr>
          <p:cNvSpPr>
            <a:spLocks noGrp="1"/>
          </p:cNvSpPr>
          <p:nvPr>
            <p:ph sz="quarter" idx="16"/>
          </p:nvPr>
        </p:nvSpPr>
        <p:spPr>
          <a:xfrm>
            <a:off x="304799" y="1752600"/>
            <a:ext cx="8534399" cy="4416846"/>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altLang="en-US" sz="3200" dirty="0">
                <a:latin typeface="Calibri" panose="020F0502020204030204" pitchFamily="34" charset="0"/>
                <a:cs typeface="Calibri" panose="020F0502020204030204" pitchFamily="34" charset="0"/>
              </a:rPr>
              <a:t>Minerals</a:t>
            </a:r>
            <a:r>
              <a:rPr lang="en-US" altLang="en-US" sz="3200" b="1" dirty="0">
                <a:latin typeface="Calibri" panose="020F0502020204030204" pitchFamily="34" charset="0"/>
                <a:cs typeface="Calibri" panose="020F0502020204030204" pitchFamily="34" charset="0"/>
              </a:rPr>
              <a:t> </a:t>
            </a:r>
            <a:r>
              <a:rPr lang="en-US" altLang="en-US" sz="3200" dirty="0">
                <a:latin typeface="Calibri" panose="020F0502020204030204" pitchFamily="34" charset="0"/>
                <a:cs typeface="Calibri" panose="020F0502020204030204" pitchFamily="34" charset="0"/>
              </a:rPr>
              <a:t>– calcium, phosphorus, magnesium, fluoride, manganese</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altLang="en-US" sz="3200" dirty="0">
              <a:latin typeface="Calibri" panose="020F0502020204030204" pitchFamily="34" charset="0"/>
              <a:cs typeface="Calibri" panose="020F0502020204030204" pitchFamily="34" charset="0"/>
            </a:endParaRPr>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altLang="en-US" sz="3200" dirty="0">
                <a:latin typeface="Calibri" panose="020F0502020204030204" pitchFamily="34" charset="0"/>
                <a:cs typeface="Calibri" panose="020F0502020204030204" pitchFamily="34" charset="0"/>
              </a:rPr>
              <a:t>Vitamins – Vitamins A, C, D, K and B</a:t>
            </a:r>
            <a:r>
              <a:rPr lang="en-US" altLang="en-US" sz="3200" baseline="-25000" dirty="0">
                <a:latin typeface="Calibri" panose="020F0502020204030204" pitchFamily="34" charset="0"/>
                <a:cs typeface="Calibri" panose="020F0502020204030204" pitchFamily="34" charset="0"/>
              </a:rPr>
              <a:t>12</a:t>
            </a:r>
            <a:endParaRPr lang="en-US" altLang="en-US" sz="3200" dirty="0">
              <a:latin typeface="Calibri" panose="020F0502020204030204" pitchFamily="34" charset="0"/>
              <a:cs typeface="Calibri" panose="020F0502020204030204" pitchFamily="34" charset="0"/>
            </a:endParaRP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altLang="en-US" sz="3200" dirty="0">
              <a:latin typeface="Calibri" panose="020F0502020204030204" pitchFamily="34" charset="0"/>
              <a:cs typeface="Calibri" panose="020F0502020204030204" pitchFamily="34" charset="0"/>
            </a:endParaRPr>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altLang="en-US" sz="3200" dirty="0">
                <a:latin typeface="Calibri" panose="020F0502020204030204" pitchFamily="34" charset="0"/>
                <a:cs typeface="Calibri" panose="020F0502020204030204" pitchFamily="34" charset="0"/>
              </a:rPr>
              <a:t>Hormones – IGFs (stimulated by GH), T</a:t>
            </a:r>
            <a:r>
              <a:rPr lang="en-US" altLang="en-US" sz="3200" baseline="-25000" dirty="0">
                <a:latin typeface="Calibri" panose="020F0502020204030204" pitchFamily="34" charset="0"/>
                <a:cs typeface="Calibri" panose="020F0502020204030204" pitchFamily="34" charset="0"/>
              </a:rPr>
              <a:t>3</a:t>
            </a:r>
            <a:r>
              <a:rPr lang="en-US" altLang="en-US" sz="3200" dirty="0">
                <a:latin typeface="Calibri" panose="020F0502020204030204" pitchFamily="34" charset="0"/>
                <a:cs typeface="Calibri" panose="020F0502020204030204" pitchFamily="34" charset="0"/>
              </a:rPr>
              <a:t> and T</a:t>
            </a:r>
            <a:r>
              <a:rPr lang="en-US" altLang="en-US" sz="3200" baseline="-25000" dirty="0">
                <a:latin typeface="Calibri" panose="020F0502020204030204" pitchFamily="34" charset="0"/>
                <a:cs typeface="Calibri" panose="020F0502020204030204" pitchFamily="34" charset="0"/>
              </a:rPr>
              <a:t>4</a:t>
            </a:r>
            <a:r>
              <a:rPr lang="en-US" altLang="en-US" sz="3200" dirty="0">
                <a:latin typeface="Calibri" panose="020F0502020204030204" pitchFamily="34" charset="0"/>
                <a:cs typeface="Calibri" panose="020F0502020204030204" pitchFamily="34" charset="0"/>
              </a:rPr>
              <a:t>, sex hormones (estrogen in females, testosterone in males)</a:t>
            </a:r>
          </a:p>
        </p:txBody>
      </p:sp>
    </p:spTree>
    <p:extLst>
      <p:ext uri="{BB962C8B-B14F-4D97-AF65-F5344CB8AC3E}">
        <p14:creationId xmlns:p14="http://schemas.microsoft.com/office/powerpoint/2010/main" val="10902740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61B31-2F5D-41B3-BC7D-9393EADE74F2}"/>
              </a:ext>
            </a:extLst>
          </p:cNvPr>
          <p:cNvSpPr>
            <a:spLocks noGrp="1"/>
          </p:cNvSpPr>
          <p:nvPr>
            <p:ph type="title"/>
          </p:nvPr>
        </p:nvSpPr>
        <p:spPr>
          <a:xfrm>
            <a:off x="304800" y="3009901"/>
            <a:ext cx="8534400" cy="838199"/>
          </a:xfrm>
        </p:spPr>
        <p:txBody>
          <a:bodyPr/>
          <a:lstStyle/>
          <a:p>
            <a:pPr algn="ctr"/>
            <a:r>
              <a:rPr lang="en-US" dirty="0">
                <a:latin typeface="Calibri" panose="020F0502020204030204" pitchFamily="34" charset="0"/>
                <a:cs typeface="Calibri" panose="020F0502020204030204" pitchFamily="34" charset="0"/>
              </a:rPr>
              <a:t>Fracture and Repair of Bone</a:t>
            </a:r>
          </a:p>
        </p:txBody>
      </p:sp>
    </p:spTree>
    <p:extLst>
      <p:ext uri="{BB962C8B-B14F-4D97-AF65-F5344CB8AC3E}">
        <p14:creationId xmlns:p14="http://schemas.microsoft.com/office/powerpoint/2010/main" val="2387983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44053-77DB-4D0F-94B4-5353A9793B66}"/>
              </a:ext>
            </a:extLst>
          </p:cNvPr>
          <p:cNvSpPr>
            <a:spLocks noGrp="1"/>
          </p:cNvSpPr>
          <p:nvPr>
            <p:ph type="title"/>
          </p:nvPr>
        </p:nvSpPr>
        <p:spPr>
          <a:xfrm>
            <a:off x="304800" y="495300"/>
            <a:ext cx="8534400" cy="838199"/>
          </a:xfrm>
        </p:spPr>
        <p:txBody>
          <a:bodyPr>
            <a:normAutofit/>
          </a:bodyPr>
          <a:lstStyle/>
          <a:p>
            <a:r>
              <a:rPr lang="en-US" dirty="0">
                <a:latin typeface="Calibri" panose="020F0502020204030204" pitchFamily="34" charset="0"/>
                <a:cs typeface="Calibri" panose="020F0502020204030204" pitchFamily="34" charset="0"/>
              </a:rPr>
              <a:t>Fracture and Repair of Bone </a:t>
            </a:r>
            <a:endParaRPr lang="en-US" sz="2000" b="0" dirty="0">
              <a:latin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F37CE8A0-5166-4D8A-9153-886A8886550C}"/>
              </a:ext>
            </a:extLst>
          </p:cNvPr>
          <p:cNvSpPr>
            <a:spLocks noGrp="1"/>
          </p:cNvSpPr>
          <p:nvPr>
            <p:ph sz="quarter" idx="16"/>
          </p:nvPr>
        </p:nvSpPr>
        <p:spPr>
          <a:xfrm>
            <a:off x="304800" y="1147156"/>
            <a:ext cx="8534400" cy="5011273"/>
          </a:xfrm>
        </p:spPr>
        <p:txBody>
          <a:bodyPr/>
          <a:lstStyle/>
          <a:p>
            <a:pPr marL="457200" indent="-457200">
              <a:lnSpc>
                <a:spcPct val="100000"/>
              </a:lnSpc>
              <a:spcBef>
                <a:spcPts val="624"/>
              </a:spcBef>
              <a:spcAft>
                <a:spcPts val="600"/>
              </a:spcAft>
              <a:buFont typeface="Arial" panose="020B0604020202020204" pitchFamily="34" charset="0"/>
              <a:buChar char="•"/>
            </a:pPr>
            <a:r>
              <a:rPr lang="en-US" sz="3200" dirty="0">
                <a:latin typeface="Calibri" panose="020F0502020204030204" pitchFamily="34" charset="0"/>
                <a:cs typeface="Calibri" panose="020F0502020204030204" pitchFamily="34" charset="0"/>
              </a:rPr>
              <a:t>A fracture is a break in a bone. Many different types of fractures may occur. The healing process involves 3 different phases:</a:t>
            </a:r>
          </a:p>
          <a:p>
            <a:pPr marL="1143000" lvl="1" indent="-457200">
              <a:lnSpc>
                <a:spcPct val="100000"/>
              </a:lnSpc>
              <a:spcBef>
                <a:spcPts val="624"/>
              </a:spcBef>
              <a:spcAft>
                <a:spcPts val="600"/>
              </a:spcAft>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The reactive phase is an early inflammatory phase</a:t>
            </a:r>
          </a:p>
          <a:p>
            <a:pPr marL="1143000" lvl="1" indent="-457200">
              <a:lnSpc>
                <a:spcPct val="100000"/>
              </a:lnSpc>
              <a:spcBef>
                <a:spcPts val="624"/>
              </a:spcBef>
              <a:spcAft>
                <a:spcPts val="600"/>
              </a:spcAft>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The reparative phase includes formation of a fibrocartilaginous callus first and a bony callus second</a:t>
            </a:r>
          </a:p>
          <a:p>
            <a:pPr marL="1143000" lvl="1" indent="-457200">
              <a:lnSpc>
                <a:spcPct val="100000"/>
              </a:lnSpc>
              <a:spcBef>
                <a:spcPts val="624"/>
              </a:spcBef>
              <a:spcAft>
                <a:spcPts val="600"/>
              </a:spcAft>
              <a:buClr>
                <a:schemeClr val="accent2"/>
              </a:buClr>
              <a:buFont typeface="Arial" panose="020B0604020202020204" pitchFamily="34" charset="0"/>
              <a:buChar char="•"/>
            </a:pPr>
            <a:r>
              <a:rPr lang="en-US" sz="2800" dirty="0">
                <a:latin typeface="Calibri" panose="020F0502020204030204" pitchFamily="34" charset="0"/>
                <a:cs typeface="Calibri" panose="020F0502020204030204" pitchFamily="34" charset="0"/>
              </a:rPr>
              <a:t>The bone remodeling phase is the last step as the bony callus is remodeled </a:t>
            </a:r>
          </a:p>
        </p:txBody>
      </p:sp>
    </p:spTree>
    <p:extLst>
      <p:ext uri="{BB962C8B-B14F-4D97-AF65-F5344CB8AC3E}">
        <p14:creationId xmlns:p14="http://schemas.microsoft.com/office/powerpoint/2010/main" val="12594146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E15B6-F21B-407A-A83C-80ED67A93206}"/>
              </a:ext>
            </a:extLst>
          </p:cNvPr>
          <p:cNvSpPr>
            <a:spLocks noGrp="1"/>
          </p:cNvSpPr>
          <p:nvPr>
            <p:ph type="title"/>
          </p:nvPr>
        </p:nvSpPr>
        <p:spPr>
          <a:xfrm>
            <a:off x="304800" y="457581"/>
            <a:ext cx="8534400" cy="838199"/>
          </a:xfrm>
        </p:spPr>
        <p:txBody>
          <a:bodyPr/>
          <a:lstStyle/>
          <a:p>
            <a:r>
              <a:rPr lang="en-US" dirty="0">
                <a:latin typeface="Calibri" panose="020F0502020204030204" pitchFamily="34" charset="0"/>
                <a:cs typeface="Calibri" panose="020F0502020204030204" pitchFamily="34" charset="0"/>
              </a:rPr>
              <a:t>Fracture and Repair of Bone </a:t>
            </a:r>
            <a:endParaRPr lang="en-US" sz="2000" b="0" dirty="0">
              <a:latin typeface="Calibri" panose="020F0502020204030204" pitchFamily="34" charset="0"/>
              <a:cs typeface="Calibri" panose="020F0502020204030204" pitchFamily="34" charset="0"/>
            </a:endParaRPr>
          </a:p>
        </p:txBody>
      </p:sp>
      <p:pic>
        <p:nvPicPr>
          <p:cNvPr id="11" name="Content Placeholder 7" descr="A series of diagrams illustrate the steps in the repair of a bone fracture. Step 1, reactive phase: Formation of the fracture hematoma. The diagram shows a fracture hematoma forming in the space between the broken sections of bone. Step 2 a, reparative phase: Fibrocartilaginous callus formation. The diagram shows a new blood vessel, the growth of spongy bone trabeculae in the space between the broken sections of bone, and formation of a soft fibrocartilaginous callus. Step 2 b, reparative phase: Bony callus formation. The diagram shows the hardening of spongy bone trabeculae into a bony, or hard, callus, filling the gap between sections of bone. Step 3, bone remodeling phase: The diagram shows the healed fracture.">
            <a:extLst>
              <a:ext uri="{FF2B5EF4-FFF2-40B4-BE49-F238E27FC236}">
                <a16:creationId xmlns:a16="http://schemas.microsoft.com/office/drawing/2014/main" id="{D401C67A-A56E-4764-B371-BBDD54026CBE}"/>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304800" y="1113905"/>
            <a:ext cx="8506692" cy="5120640"/>
          </a:xfrm>
          <a:prstGeom prst="rect">
            <a:avLst/>
          </a:prstGeom>
        </p:spPr>
      </p:pic>
    </p:spTree>
    <p:extLst>
      <p:ext uri="{BB962C8B-B14F-4D97-AF65-F5344CB8AC3E}">
        <p14:creationId xmlns:p14="http://schemas.microsoft.com/office/powerpoint/2010/main" val="8023444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EFCC-7CAA-4C86-AC15-DA6FCA8BDF78}"/>
              </a:ext>
            </a:extLst>
          </p:cNvPr>
          <p:cNvSpPr>
            <a:spLocks noGrp="1"/>
          </p:cNvSpPr>
          <p:nvPr>
            <p:ph type="title"/>
          </p:nvPr>
        </p:nvSpPr>
        <p:spPr/>
        <p:txBody>
          <a:bodyPr>
            <a:normAutofit/>
          </a:bodyPr>
          <a:lstStyle/>
          <a:p>
            <a:r>
              <a:rPr lang="en-US" dirty="0">
                <a:latin typeface="Calibri" panose="020F0502020204030204" pitchFamily="34" charset="0"/>
                <a:cs typeface="Calibri" panose="020F0502020204030204" pitchFamily="34" charset="0"/>
              </a:rPr>
              <a:t>Fracture and Repair of Bone </a:t>
            </a:r>
            <a:endParaRPr lang="en-US" sz="2000" b="0" dirty="0">
              <a:latin typeface="Calibri" panose="020F0502020204030204" pitchFamily="34" charset="0"/>
              <a:cs typeface="Calibri" panose="020F0502020204030204" pitchFamily="34" charset="0"/>
            </a:endParaRPr>
          </a:p>
        </p:txBody>
      </p:sp>
      <p:pic>
        <p:nvPicPr>
          <p:cNvPr id="8" name="Content Placeholder 11" descr="A table with two rows and four columns shows some common fractures. The column headers are: fracture, description, illustration, and radiograph. The row entries are as follows:&#10;Row 1: Open (Compound) fracture; The broken ends of the bone protrude through the skin. Conversely, a closed (simple) fracture does not break the skin; A diagram illustrates humerus broken in half, and its edges ragged; and a radiograph shows a humerus with a compound fracture in relation to the radius and ulna.&#10;Row 2: Comminuted fracture; The bone is splintered, crushed, or broken into pieces at the site of impact, and smaller bone fragments lie between the two main fragments; A diagram illustrates a splintered bone; and a radiograph shows a comminuted fracture of the humerus.">
            <a:extLst>
              <a:ext uri="{FF2B5EF4-FFF2-40B4-BE49-F238E27FC236}">
                <a16:creationId xmlns:a16="http://schemas.microsoft.com/office/drawing/2014/main" id="{FBACFAE2-1D60-4175-BF2D-02A2A574CD5E}"/>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444500" y="1413164"/>
            <a:ext cx="8394700" cy="4682836"/>
          </a:xfrm>
          <a:prstGeom prst="rect">
            <a:avLst/>
          </a:prstGeom>
        </p:spPr>
      </p:pic>
    </p:spTree>
    <p:extLst>
      <p:ext uri="{BB962C8B-B14F-4D97-AF65-F5344CB8AC3E}">
        <p14:creationId xmlns:p14="http://schemas.microsoft.com/office/powerpoint/2010/main" val="6217541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EFCC-7CAA-4C86-AC15-DA6FCA8BDF78}"/>
              </a:ext>
            </a:extLst>
          </p:cNvPr>
          <p:cNvSpPr>
            <a:spLocks noGrp="1"/>
          </p:cNvSpPr>
          <p:nvPr>
            <p:ph type="title"/>
          </p:nvPr>
        </p:nvSpPr>
        <p:spPr/>
        <p:txBody>
          <a:bodyPr>
            <a:normAutofit/>
          </a:bodyPr>
          <a:lstStyle/>
          <a:p>
            <a:r>
              <a:rPr lang="en-US" dirty="0">
                <a:latin typeface="Calibri" panose="020F0502020204030204" pitchFamily="34" charset="0"/>
                <a:cs typeface="Calibri" panose="020F0502020204030204" pitchFamily="34" charset="0"/>
              </a:rPr>
              <a:t>Fracture and Repair of Bone </a:t>
            </a:r>
            <a:endParaRPr lang="en-US" sz="2000" b="0" dirty="0">
              <a:latin typeface="Calibri" panose="020F0502020204030204" pitchFamily="34" charset="0"/>
              <a:cs typeface="Calibri" panose="020F0502020204030204" pitchFamily="34" charset="0"/>
            </a:endParaRPr>
          </a:p>
        </p:txBody>
      </p:sp>
      <p:pic>
        <p:nvPicPr>
          <p:cNvPr id="7" name="Content Placeholder 11" descr="A table with two rows and four columns shows some common fractures. The column headers are: fracture, description, illustration, and radiograph. The row entries are as follows:&#10;Row 1: Greenstick fracture; A partial fracture in which one side of the bone is broken and the other side bends, similar to the way a green twig breaks on one side while the other side stays whole, but bends; occurs only in children, whose bones are not fully ossified and contain more organic material than inorganic material; A diagram illustrates the radius is fractured, and the other side is bent; and a radiograph shows an arrow pointing to the break in the radius, and the ulna and wrist bones are labeled.&#10;Row 2: Impacted fracture; One end of the fractured bone is forcefully driven into the interior of the other; A diagram illustrates a fragment of broken bone has been pushed to the outer edge of the upper section of bone, and the upper section is wedged into the interior of the lower section of bone; and a radiograph shows an impacted fracture of the humerus.">
            <a:extLst>
              <a:ext uri="{FF2B5EF4-FFF2-40B4-BE49-F238E27FC236}">
                <a16:creationId xmlns:a16="http://schemas.microsoft.com/office/drawing/2014/main" id="{5E9F625A-1981-4F4F-B5F8-7E98FFCCE4CA}"/>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498764" y="1280160"/>
            <a:ext cx="8063345" cy="4815840"/>
          </a:xfrm>
          <a:prstGeom prst="rect">
            <a:avLst/>
          </a:prstGeom>
        </p:spPr>
      </p:pic>
    </p:spTree>
    <p:extLst>
      <p:ext uri="{BB962C8B-B14F-4D97-AF65-F5344CB8AC3E}">
        <p14:creationId xmlns:p14="http://schemas.microsoft.com/office/powerpoint/2010/main" val="10026317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EFCC-7CAA-4C86-AC15-DA6FCA8BDF78}"/>
              </a:ext>
            </a:extLst>
          </p:cNvPr>
          <p:cNvSpPr>
            <a:spLocks noGrp="1"/>
          </p:cNvSpPr>
          <p:nvPr>
            <p:ph type="title"/>
          </p:nvPr>
        </p:nvSpPr>
        <p:spPr/>
        <p:txBody>
          <a:bodyPr>
            <a:normAutofit/>
          </a:bodyPr>
          <a:lstStyle/>
          <a:p>
            <a:r>
              <a:rPr lang="en-US" dirty="0">
                <a:latin typeface="Calibri" panose="020F0502020204030204" pitchFamily="34" charset="0"/>
                <a:cs typeface="Calibri" panose="020F0502020204030204" pitchFamily="34" charset="0"/>
              </a:rPr>
              <a:t>Fracture and Repair of Bone </a:t>
            </a:r>
            <a:endParaRPr lang="en-US" sz="2000" b="0" dirty="0">
              <a:latin typeface="Calibri" panose="020F0502020204030204" pitchFamily="34" charset="0"/>
              <a:cs typeface="Calibri" panose="020F0502020204030204" pitchFamily="34" charset="0"/>
            </a:endParaRPr>
          </a:p>
        </p:txBody>
      </p:sp>
      <p:pic>
        <p:nvPicPr>
          <p:cNvPr id="8" name="Content Placeholder 11" descr="A table with two rows and four columns shows some common fractures. The column headers are: fracture, description, illustration, and radiograph. The row entries are as follows:&#10;Row 1: Pott fracture; Fracture of the distal end of the fibula (lateral leg bone), with serious injury of the distal tibial articulation; A diagram illustrates a fibula is fractured, and the articulating cartilage is damaged; and a radiograph shows tibia, fibula, and ankle bones labeled, and an arrow indicating the fracture in the fibula.&#10;Row 2: Colles fracture; Fracture of the distal end of the lateral forearm bone (radius) in which the distal fragment is displaced posteriorly; A diagram illustrates a radius is broken near the wrist bones; and a radiograph shows radius, ulna, and wrist bones labeled, and an arrow indicating the fracture near the wrist.">
            <a:extLst>
              <a:ext uri="{FF2B5EF4-FFF2-40B4-BE49-F238E27FC236}">
                <a16:creationId xmlns:a16="http://schemas.microsoft.com/office/drawing/2014/main" id="{938AC93D-3C4C-40CA-B680-46EFF34099AF}"/>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465512" y="1363287"/>
            <a:ext cx="8373687" cy="4732713"/>
          </a:xfrm>
          <a:prstGeom prst="rect">
            <a:avLst/>
          </a:prstGeom>
        </p:spPr>
      </p:pic>
    </p:spTree>
    <p:extLst>
      <p:ext uri="{BB962C8B-B14F-4D97-AF65-F5344CB8AC3E}">
        <p14:creationId xmlns:p14="http://schemas.microsoft.com/office/powerpoint/2010/main" val="4461670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EFCC-7CAA-4C86-AC15-DA6FCA8BDF78}"/>
              </a:ext>
            </a:extLst>
          </p:cNvPr>
          <p:cNvSpPr>
            <a:spLocks noGrp="1"/>
          </p:cNvSpPr>
          <p:nvPr>
            <p:ph type="title"/>
          </p:nvPr>
        </p:nvSpPr>
        <p:spPr/>
        <p:txBody>
          <a:bodyPr>
            <a:normAutofit/>
          </a:bodyPr>
          <a:lstStyle/>
          <a:p>
            <a:r>
              <a:rPr lang="en-US" dirty="0">
                <a:latin typeface="Calibri" panose="020F0502020204030204" pitchFamily="34" charset="0"/>
                <a:cs typeface="Calibri" panose="020F0502020204030204" pitchFamily="34" charset="0"/>
              </a:rPr>
              <a:t>Fracture and Repair of Bone </a:t>
            </a:r>
            <a:endParaRPr lang="en-US" sz="2000" b="0" dirty="0">
              <a:latin typeface="Calibri" panose="020F0502020204030204" pitchFamily="34" charset="0"/>
              <a:cs typeface="Calibri" panose="020F0502020204030204" pitchFamily="34" charset="0"/>
            </a:endParaRPr>
          </a:p>
        </p:txBody>
      </p:sp>
      <p:pic>
        <p:nvPicPr>
          <p:cNvPr id="7" name="Content Placeholder 11" descr="A table with one row and three columns shows some common fractures. The column headers are: fracture, description, and illustration. The row entry is as follows:&#10;Row 1: Vertebral compression fracture (V C F); The vertebral body of one or more vertebrae fractures and becomes compressed into a wedge- shape. May be caused by injury, trauma, or more commonly in individuals with osteoporosis; and a diagram illustrates shows a section of three vertebrae with a fracture in the vertebral body of the middle vertebra.">
            <a:extLst>
              <a:ext uri="{FF2B5EF4-FFF2-40B4-BE49-F238E27FC236}">
                <a16:creationId xmlns:a16="http://schemas.microsoft.com/office/drawing/2014/main" id="{84924A35-21DA-43C2-81F7-F5FBAAB8BB06}"/>
              </a:ext>
            </a:extLst>
          </p:cNvPr>
          <p:cNvPicPr>
            <a:picLocks noGrp="1" noChangeAspect="1"/>
          </p:cNvPicPr>
          <p:nvPr>
            <p:ph sz="quarter" idx="16"/>
          </p:nvPr>
        </p:nvPicPr>
        <p:blipFill>
          <a:blip r:embed="rId2" cstate="print">
            <a:extLst>
              <a:ext uri="{28A0092B-C50C-407E-A947-70E740481C1C}">
                <a14:useLocalDpi xmlns:a14="http://schemas.microsoft.com/office/drawing/2010/main" val="0"/>
              </a:ext>
            </a:extLst>
          </a:blip>
          <a:stretch>
            <a:fillRect/>
          </a:stretch>
        </p:blipFill>
        <p:spPr>
          <a:xfrm>
            <a:off x="305492" y="1397000"/>
            <a:ext cx="8533015" cy="4698999"/>
          </a:xfrm>
          <a:prstGeom prst="rect">
            <a:avLst/>
          </a:prstGeom>
        </p:spPr>
      </p:pic>
    </p:spTree>
    <p:extLst>
      <p:ext uri="{BB962C8B-B14F-4D97-AF65-F5344CB8AC3E}">
        <p14:creationId xmlns:p14="http://schemas.microsoft.com/office/powerpoint/2010/main" val="962528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E3A7D-7D78-4B7D-A985-A2D46D67BC02}"/>
              </a:ext>
            </a:extLst>
          </p:cNvPr>
          <p:cNvSpPr>
            <a:spLocks noGrp="1"/>
          </p:cNvSpPr>
          <p:nvPr>
            <p:ph type="title"/>
          </p:nvPr>
        </p:nvSpPr>
        <p:spPr>
          <a:xfrm>
            <a:off x="304800" y="2819402"/>
            <a:ext cx="8534400" cy="728030"/>
          </a:xfrm>
        </p:spPr>
        <p:txBody>
          <a:bodyPr>
            <a:noAutofit/>
          </a:bodyPr>
          <a:lstStyle/>
          <a:p>
            <a:pPr algn="ctr"/>
            <a:r>
              <a:rPr lang="it-IT" dirty="0">
                <a:latin typeface="Calibri" panose="020F0502020204030204" pitchFamily="34" charset="0"/>
                <a:cs typeface="Calibri" panose="020F0502020204030204" pitchFamily="34" charset="0"/>
              </a:rPr>
              <a:t>Bone’s Role in Calcium Homeostasis</a:t>
            </a:r>
            <a:endParaRPr lang="en-US"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398225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44053-77DB-4D0F-94B4-5353A9793B66}"/>
              </a:ext>
            </a:extLst>
          </p:cNvPr>
          <p:cNvSpPr>
            <a:spLocks noGrp="1"/>
          </p:cNvSpPr>
          <p:nvPr>
            <p:ph type="title"/>
          </p:nvPr>
        </p:nvSpPr>
        <p:spPr>
          <a:xfrm>
            <a:off x="304800" y="475424"/>
            <a:ext cx="8640896" cy="922019"/>
          </a:xfrm>
        </p:spPr>
        <p:txBody>
          <a:bodyPr>
            <a:noAutofit/>
          </a:bodyPr>
          <a:lstStyle/>
          <a:p>
            <a:r>
              <a:rPr lang="en-US" dirty="0">
                <a:latin typeface="Calibri" panose="020F0502020204030204" pitchFamily="34" charset="0"/>
                <a:cs typeface="Calibri" panose="020F0502020204030204" pitchFamily="34" charset="0"/>
              </a:rPr>
              <a:t>Bone’s Role in Calcium Homeostasis </a:t>
            </a:r>
            <a:endParaRPr lang="en-US" sz="2000" b="0" dirty="0">
              <a:latin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F37CE8A0-5166-4D8A-9153-886A8886550C}"/>
              </a:ext>
            </a:extLst>
          </p:cNvPr>
          <p:cNvSpPr>
            <a:spLocks noGrp="1"/>
          </p:cNvSpPr>
          <p:nvPr>
            <p:ph sz="quarter" idx="16"/>
          </p:nvPr>
        </p:nvSpPr>
        <p:spPr>
          <a:xfrm>
            <a:off x="304800" y="1257300"/>
            <a:ext cx="8534400" cy="4901129"/>
          </a:xfrm>
        </p:spPr>
        <p:txBody>
          <a:bodyPr/>
          <a:lstStyle/>
          <a:p>
            <a:pPr marL="457200" indent="-457200">
              <a:lnSpc>
                <a:spcPct val="100000"/>
              </a:lnSpc>
              <a:spcBef>
                <a:spcPts val="624"/>
              </a:spcBef>
              <a:spcAft>
                <a:spcPts val="600"/>
              </a:spcAft>
              <a:buFont typeface="Arial" panose="020B0604020202020204" pitchFamily="34" charset="0"/>
              <a:buChar char="•"/>
            </a:pPr>
            <a:r>
              <a:rPr lang="en-US" sz="3200" dirty="0">
                <a:latin typeface="Calibri" panose="020F0502020204030204" pitchFamily="34" charset="0"/>
                <a:cs typeface="Calibri" panose="020F0502020204030204" pitchFamily="34" charset="0"/>
              </a:rPr>
              <a:t>Bones store 99% of the body’s calcium</a:t>
            </a:r>
          </a:p>
          <a:p>
            <a:pPr marL="457200" indent="-457200">
              <a:lnSpc>
                <a:spcPct val="100000"/>
              </a:lnSpc>
              <a:spcBef>
                <a:spcPts val="624"/>
              </a:spcBef>
              <a:spcAft>
                <a:spcPts val="600"/>
              </a:spcAft>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lnSpc>
                <a:spcPct val="100000"/>
              </a:lnSpc>
              <a:spcBef>
                <a:spcPts val="624"/>
              </a:spcBef>
              <a:spcAft>
                <a:spcPts val="600"/>
              </a:spcAft>
              <a:buFont typeface="Arial" panose="020B0604020202020204" pitchFamily="34" charset="0"/>
              <a:buChar char="•"/>
            </a:pPr>
            <a:r>
              <a:rPr lang="en-US" sz="3200" dirty="0">
                <a:latin typeface="Calibri" panose="020F0502020204030204" pitchFamily="34" charset="0"/>
                <a:cs typeface="Calibri" panose="020F0502020204030204" pitchFamily="34" charset="0"/>
              </a:rPr>
              <a:t>Parathyroid gland secretes parathyroid hormone (PTH)</a:t>
            </a:r>
            <a:r>
              <a:rPr lang="en-US" sz="3200" b="1" dirty="0">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when calcium levels drop</a:t>
            </a:r>
          </a:p>
          <a:p>
            <a:pPr marL="1143000" lvl="1" indent="-457200">
              <a:lnSpc>
                <a:spcPct val="100000"/>
              </a:lnSpc>
              <a:spcBef>
                <a:spcPts val="624"/>
              </a:spcBef>
              <a:spcAft>
                <a:spcPts val="600"/>
              </a:spcAft>
              <a:buFont typeface="Arial" panose="020B0604020202020204" pitchFamily="34" charset="0"/>
              <a:buChar char="•"/>
            </a:pPr>
            <a:r>
              <a:rPr lang="en-US" sz="2800" dirty="0">
                <a:latin typeface="Calibri" panose="020F0502020204030204" pitchFamily="34" charset="0"/>
                <a:cs typeface="Calibri" panose="020F0502020204030204" pitchFamily="34" charset="0"/>
              </a:rPr>
              <a:t>Osteoclasts are stimulated to increase bone resorption and calcium is released</a:t>
            </a:r>
          </a:p>
          <a:p>
            <a:pPr marL="1143000" lvl="1" indent="-457200">
              <a:lnSpc>
                <a:spcPct val="100000"/>
              </a:lnSpc>
              <a:spcBef>
                <a:spcPts val="624"/>
              </a:spcBef>
              <a:spcAft>
                <a:spcPts val="600"/>
              </a:spcAft>
              <a:buFont typeface="Arial" panose="020B0604020202020204" pitchFamily="34" charset="0"/>
              <a:buChar char="•"/>
            </a:pPr>
            <a:r>
              <a:rPr lang="en-US" sz="2800" dirty="0">
                <a:latin typeface="Calibri" panose="020F0502020204030204" pitchFamily="34" charset="0"/>
                <a:cs typeface="Calibri" panose="020F0502020204030204" pitchFamily="34" charset="0"/>
              </a:rPr>
              <a:t>PTH also stimulates the production of calcitriol by the kidneys to increase calcium absorption in the intestines</a:t>
            </a:r>
          </a:p>
        </p:txBody>
      </p:sp>
    </p:spTree>
    <p:extLst>
      <p:ext uri="{BB962C8B-B14F-4D97-AF65-F5344CB8AC3E}">
        <p14:creationId xmlns:p14="http://schemas.microsoft.com/office/powerpoint/2010/main" val="31099312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B1564-EC8A-4994-8A73-F43B3A06ED85}"/>
              </a:ext>
            </a:extLst>
          </p:cNvPr>
          <p:cNvSpPr>
            <a:spLocks noGrp="1"/>
          </p:cNvSpPr>
          <p:nvPr>
            <p:ph type="title"/>
          </p:nvPr>
        </p:nvSpPr>
        <p:spPr>
          <a:xfrm>
            <a:off x="304799" y="442637"/>
            <a:ext cx="8673947" cy="1014221"/>
          </a:xfrm>
        </p:spPr>
        <p:txBody>
          <a:bodyPr>
            <a:noAutofit/>
          </a:bodyPr>
          <a:lstStyle/>
          <a:p>
            <a:pPr>
              <a:lnSpc>
                <a:spcPct val="100000"/>
              </a:lnSpc>
            </a:pPr>
            <a:r>
              <a:rPr lang="en-US" dirty="0">
                <a:latin typeface="Calibri" panose="020F0502020204030204" pitchFamily="34" charset="0"/>
                <a:cs typeface="Calibri" panose="020F0502020204030204" pitchFamily="34" charset="0"/>
              </a:rPr>
              <a:t>Bone’s Role in Calcium Homeostasis </a:t>
            </a:r>
            <a:endParaRPr lang="en-US" sz="2000" b="0" dirty="0">
              <a:latin typeface="Calibri" panose="020F0502020204030204" pitchFamily="34" charset="0"/>
              <a:cs typeface="Calibri" panose="020F0502020204030204" pitchFamily="34" charset="0"/>
            </a:endParaRPr>
          </a:p>
        </p:txBody>
      </p:sp>
      <p:pic>
        <p:nvPicPr>
          <p:cNvPr id="9" name="Content Placeholder 7" descr="A flowchart illustrates negative feedback control of blood calcium concentration. A stimulus is the starting point, and it disrupts homeostasis by decreasing a controlled condition, blood calcium (C a 2 plus) level, that is monitored by receptors. The receptors in parathyroid gland cells detect the lowered C a 2 plus concentration, which increases the production of cyclic A M P, and triggers input to the control center, the parathyroid hormone gene. The gene is turned on, which increases the release of parathyroid hormone (P T H) to its effectors, osteoclasts and kidneys. Osteoclasts increase bone absorption, and kidneys retain C a 2 plus in blood, excrete phosphate in urine, and produce calcitriol. The response is an increase in blood C a 2 plus levels. There is a return to homeostasis when the response brings blood C a 2 plus levels back to normal.">
            <a:extLst>
              <a:ext uri="{FF2B5EF4-FFF2-40B4-BE49-F238E27FC236}">
                <a16:creationId xmlns:a16="http://schemas.microsoft.com/office/drawing/2014/main" id="{41FE6C38-EFE6-4E2B-B261-256FD7255E72}"/>
              </a:ext>
            </a:extLst>
          </p:cNvPr>
          <p:cNvPicPr>
            <a:picLocks noGrp="1" noChangeAspect="1"/>
          </p:cNvPicPr>
          <p:nvPr>
            <p:ph sz="quarter" idx="16"/>
          </p:nvPr>
        </p:nvPicPr>
        <p:blipFill>
          <a:blip r:embed="rId2" cstate="print">
            <a:extLst>
              <a:ext uri="{28A0092B-C50C-407E-A947-70E740481C1C}">
                <a14:useLocalDpi xmlns:a14="http://schemas.microsoft.com/office/drawing/2010/main" val="0"/>
              </a:ext>
            </a:extLst>
          </a:blip>
          <a:stretch>
            <a:fillRect/>
          </a:stretch>
        </p:blipFill>
        <p:spPr>
          <a:xfrm>
            <a:off x="1911927" y="1147157"/>
            <a:ext cx="4838008" cy="5054138"/>
          </a:xfrm>
          <a:prstGeom prst="rect">
            <a:avLst/>
          </a:prstGeom>
        </p:spPr>
      </p:pic>
    </p:spTree>
    <p:extLst>
      <p:ext uri="{BB962C8B-B14F-4D97-AF65-F5344CB8AC3E}">
        <p14:creationId xmlns:p14="http://schemas.microsoft.com/office/powerpoint/2010/main" val="12231253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37B24-74FA-488C-925A-7CD3943C6EBE}"/>
              </a:ext>
            </a:extLst>
          </p:cNvPr>
          <p:cNvSpPr>
            <a:spLocks noGrp="1"/>
          </p:cNvSpPr>
          <p:nvPr>
            <p:ph type="title"/>
          </p:nvPr>
        </p:nvSpPr>
        <p:spPr>
          <a:xfrm>
            <a:off x="304800" y="458024"/>
            <a:ext cx="8534400" cy="1115643"/>
          </a:xfrm>
        </p:spPr>
        <p:txBody>
          <a:bodyPr>
            <a:noAutofit/>
          </a:bodyPr>
          <a:lstStyle/>
          <a:p>
            <a:r>
              <a:rPr lang="en-US" dirty="0">
                <a:latin typeface="Calibri" panose="020F0502020204030204" pitchFamily="34" charset="0"/>
                <a:cs typeface="Calibri" panose="020F0502020204030204" pitchFamily="34" charset="0"/>
              </a:rPr>
              <a:t>Calcium Homeostasis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Interactions Animation:</a:t>
            </a:r>
            <a:endParaRPr lang="en-US" b="0"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5D5BA3F8-8F61-4B3D-B7B0-8F3DC7E84F18}"/>
              </a:ext>
            </a:extLst>
          </p:cNvPr>
          <p:cNvSpPr>
            <a:spLocks noGrp="1"/>
          </p:cNvSpPr>
          <p:nvPr>
            <p:ph sz="quarter" idx="16"/>
          </p:nvPr>
        </p:nvSpPr>
        <p:spPr>
          <a:xfrm>
            <a:off x="304800" y="1752600"/>
            <a:ext cx="8640896" cy="737212"/>
          </a:xfrm>
        </p:spPr>
        <p:txBody>
          <a:bodyPr/>
          <a:lstStyle/>
          <a:p>
            <a:r>
              <a:rPr lang="en-US" dirty="0">
                <a:latin typeface="Calibri" panose="020F0502020204030204" pitchFamily="34" charset="0"/>
                <a:cs typeface="Calibri" panose="020F0502020204030204" pitchFamily="34" charset="0"/>
                <a:hlinkClick r:id="rId3"/>
              </a:rPr>
              <a:t>Calcium Homeostasis</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11589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D89D8-3C6C-4DCE-B035-5AFAC827574C}"/>
              </a:ext>
            </a:extLst>
          </p:cNvPr>
          <p:cNvSpPr>
            <a:spLocks noGrp="1"/>
          </p:cNvSpPr>
          <p:nvPr>
            <p:ph type="title"/>
          </p:nvPr>
        </p:nvSpPr>
        <p:spPr>
          <a:xfrm>
            <a:off x="304800" y="3009901"/>
            <a:ext cx="8534400" cy="838199"/>
          </a:xfrm>
        </p:spPr>
        <p:txBody>
          <a:bodyPr/>
          <a:lstStyle/>
          <a:p>
            <a:pPr algn="ctr"/>
            <a:r>
              <a:rPr lang="en-US" dirty="0">
                <a:latin typeface="Calibri" panose="020F0502020204030204" pitchFamily="34" charset="0"/>
                <a:cs typeface="Calibri" panose="020F0502020204030204" pitchFamily="34" charset="0"/>
              </a:rPr>
              <a:t>Exercise and Aging in Bone Tissue</a:t>
            </a:r>
            <a:endParaRPr lang="en-US" sz="2000"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835347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37B24-74FA-488C-925A-7CD3943C6EBE}"/>
              </a:ext>
            </a:extLst>
          </p:cNvPr>
          <p:cNvSpPr>
            <a:spLocks noGrp="1"/>
          </p:cNvSpPr>
          <p:nvPr>
            <p:ph type="title"/>
          </p:nvPr>
        </p:nvSpPr>
        <p:spPr>
          <a:xfrm>
            <a:off x="304800" y="458024"/>
            <a:ext cx="8534400" cy="1115643"/>
          </a:xfrm>
        </p:spPr>
        <p:txBody>
          <a:bodyPr>
            <a:noAutofit/>
          </a:bodyPr>
          <a:lstStyle/>
          <a:p>
            <a:r>
              <a:rPr lang="en-US" dirty="0">
                <a:latin typeface="Calibri" panose="020F0502020204030204" pitchFamily="34" charset="0"/>
                <a:cs typeface="Calibri" panose="020F0502020204030204" pitchFamily="34" charset="0"/>
              </a:rPr>
              <a:t>Exercise and Bone Tissue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Interactions Animation:</a:t>
            </a:r>
            <a:endParaRPr lang="en-US" b="0"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5D5BA3F8-8F61-4B3D-B7B0-8F3DC7E84F18}"/>
              </a:ext>
            </a:extLst>
          </p:cNvPr>
          <p:cNvSpPr>
            <a:spLocks noGrp="1"/>
          </p:cNvSpPr>
          <p:nvPr>
            <p:ph sz="quarter" idx="16"/>
          </p:nvPr>
        </p:nvSpPr>
        <p:spPr>
          <a:xfrm>
            <a:off x="304800" y="1752600"/>
            <a:ext cx="8640896" cy="737212"/>
          </a:xfrm>
        </p:spPr>
        <p:txBody>
          <a:bodyPr/>
          <a:lstStyle/>
          <a:p>
            <a:r>
              <a:rPr lang="en-US" dirty="0">
                <a:latin typeface="Calibri" panose="020F0502020204030204" pitchFamily="34" charset="0"/>
                <a:cs typeface="Calibri" panose="020F0502020204030204" pitchFamily="34" charset="0"/>
                <a:hlinkClick r:id="rId3"/>
              </a:rPr>
              <a:t>Effect of Exercise on Bone</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697299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9E1A1-80AD-4595-BDAD-06E77A286E7B}"/>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Aging and Bone Tissue</a:t>
            </a:r>
            <a:endParaRPr lang="en-US" sz="2000" b="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3349B140-CCE3-4D4E-85C6-6BC7A03B4285}"/>
              </a:ext>
            </a:extLst>
          </p:cNvPr>
          <p:cNvSpPr>
            <a:spLocks noGrp="1"/>
          </p:cNvSpPr>
          <p:nvPr>
            <p:ph sz="quarter" idx="16"/>
          </p:nvPr>
        </p:nvSpPr>
        <p:spPr/>
        <p:txBody>
          <a:bodyPr/>
          <a:lstStyle/>
          <a:p>
            <a:pPr marL="457200" indent="-457200">
              <a:lnSpc>
                <a:spcPct val="100000"/>
              </a:lnSpc>
              <a:spcBef>
                <a:spcPts val="624"/>
              </a:spcBef>
              <a:spcAft>
                <a:spcPts val="600"/>
              </a:spcAft>
              <a:buFont typeface="Arial" panose="020B0604020202020204" pitchFamily="34" charset="0"/>
              <a:buChar char="•"/>
            </a:pPr>
            <a:r>
              <a:rPr lang="en-US" sz="2400" dirty="0">
                <a:latin typeface="Calibri" panose="020F0502020204030204" pitchFamily="34" charset="0"/>
                <a:cs typeface="Calibri" panose="020F0502020204030204" pitchFamily="34" charset="0"/>
              </a:rPr>
              <a:t>From birth through adolescence, more bone is produced than is lost during remodeling</a:t>
            </a:r>
          </a:p>
          <a:p>
            <a:pPr marL="457200" indent="-457200">
              <a:lnSpc>
                <a:spcPct val="100000"/>
              </a:lnSpc>
              <a:spcBef>
                <a:spcPts val="624"/>
              </a:spcBef>
              <a:spcAft>
                <a:spcPts val="600"/>
              </a:spcAft>
              <a:buFont typeface="Arial" panose="020B0604020202020204" pitchFamily="34" charset="0"/>
              <a:buChar char="•"/>
            </a:pPr>
            <a:r>
              <a:rPr lang="en-US" sz="2400" dirty="0">
                <a:latin typeface="Calibri" panose="020F0502020204030204" pitchFamily="34" charset="0"/>
                <a:cs typeface="Calibri" panose="020F0502020204030204" pitchFamily="34" charset="0"/>
              </a:rPr>
              <a:t> In adults, the rates are the same</a:t>
            </a:r>
          </a:p>
          <a:p>
            <a:pPr marL="457200" indent="-457200">
              <a:lnSpc>
                <a:spcPct val="100000"/>
              </a:lnSpc>
              <a:spcBef>
                <a:spcPts val="624"/>
              </a:spcBef>
              <a:spcAft>
                <a:spcPts val="600"/>
              </a:spcAft>
              <a:buFont typeface="Arial" panose="020B0604020202020204" pitchFamily="34" charset="0"/>
              <a:buChar char="•"/>
            </a:pPr>
            <a:r>
              <a:rPr lang="en-US" sz="2400" dirty="0">
                <a:latin typeface="Calibri" panose="020F0502020204030204" pitchFamily="34" charset="0"/>
                <a:cs typeface="Calibri" panose="020F0502020204030204" pitchFamily="34" charset="0"/>
              </a:rPr>
              <a:t>Older individuals, especially post-menopausal women, experience a decrease in bone mass when resorption outpaces deposition</a:t>
            </a:r>
          </a:p>
        </p:txBody>
      </p:sp>
      <p:pic>
        <p:nvPicPr>
          <p:cNvPr id="7" name="Content Placeholder 7" descr="Two S E Ms, a and b, at 30 times magnification show normal bone and osteoporotic bone. Micrograph (a) normal bone, displays solid bone in curved, connected shapes. In micrograph (b) osteoporotic bone, the bone appears thinner and more brittle, with darkened portions and numerous indentations throughout.">
            <a:extLst>
              <a:ext uri="{FF2B5EF4-FFF2-40B4-BE49-F238E27FC236}">
                <a16:creationId xmlns:a16="http://schemas.microsoft.com/office/drawing/2014/main" id="{CFD637D6-7BBF-414A-9749-43B6F5134618}"/>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4419600" y="1752601"/>
            <a:ext cx="4419600" cy="4082934"/>
          </a:xfrm>
          <a:prstGeom prst="rect">
            <a:avLst/>
          </a:prstGeom>
        </p:spPr>
      </p:pic>
    </p:spTree>
    <p:extLst>
      <p:ext uri="{BB962C8B-B14F-4D97-AF65-F5344CB8AC3E}">
        <p14:creationId xmlns:p14="http://schemas.microsoft.com/office/powerpoint/2010/main" val="22218443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6564F-B5EF-40D5-B455-9F5E934393A9}"/>
              </a:ext>
            </a:extLst>
          </p:cNvPr>
          <p:cNvSpPr>
            <a:spLocks noGrp="1"/>
          </p:cNvSpPr>
          <p:nvPr>
            <p:ph type="title"/>
          </p:nvPr>
        </p:nvSpPr>
        <p:spPr>
          <a:xfrm>
            <a:off x="304800" y="413956"/>
            <a:ext cx="8534400" cy="1115643"/>
          </a:xfrm>
        </p:spPr>
        <p:txBody>
          <a:bodyPr>
            <a:noAutofit/>
          </a:bodyPr>
          <a:lstStyle/>
          <a:p>
            <a:r>
              <a:rPr lang="en-US" dirty="0">
                <a:latin typeface="Calibri" panose="020F0502020204030204" pitchFamily="34" charset="0"/>
                <a:cs typeface="Calibri" panose="020F0502020204030204" pitchFamily="34" charset="0"/>
              </a:rPr>
              <a:t>Summary of Factors That Affect Bone Growth: Minerals</a:t>
            </a:r>
            <a:endParaRPr lang="en-US" b="0" dirty="0">
              <a:latin typeface="Calibri" panose="020F0502020204030204" pitchFamily="34" charset="0"/>
              <a:cs typeface="Calibri" panose="020F0502020204030204" pitchFamily="34" charset="0"/>
            </a:endParaRPr>
          </a:p>
        </p:txBody>
      </p:sp>
      <p:graphicFrame>
        <p:nvGraphicFramePr>
          <p:cNvPr id="5" name="Table 5">
            <a:extLst>
              <a:ext uri="{FF2B5EF4-FFF2-40B4-BE49-F238E27FC236}">
                <a16:creationId xmlns:a16="http://schemas.microsoft.com/office/drawing/2014/main" id="{3043B3D2-A6CC-4327-B61B-C122F6613D71}"/>
              </a:ext>
            </a:extLst>
          </p:cNvPr>
          <p:cNvGraphicFramePr>
            <a:graphicFrameLocks noGrp="1"/>
          </p:cNvGraphicFramePr>
          <p:nvPr>
            <p:ph sz="quarter" idx="16"/>
            <p:extLst>
              <p:ext uri="{D42A27DB-BD31-4B8C-83A1-F6EECF244321}">
                <p14:modId xmlns:p14="http://schemas.microsoft.com/office/powerpoint/2010/main" val="1960205212"/>
              </p:ext>
            </p:extLst>
          </p:nvPr>
        </p:nvGraphicFramePr>
        <p:xfrm>
          <a:off x="304800" y="1816101"/>
          <a:ext cx="8534400" cy="3936999"/>
        </p:xfrm>
        <a:graphic>
          <a:graphicData uri="http://schemas.openxmlformats.org/drawingml/2006/table">
            <a:tbl>
              <a:tblPr firstRow="1" bandRow="1">
                <a:tableStyleId>{69012ECD-51FC-41F1-AA8D-1B2483CD663E}</a:tableStyleId>
              </a:tblPr>
              <a:tblGrid>
                <a:gridCol w="2978227">
                  <a:extLst>
                    <a:ext uri="{9D8B030D-6E8A-4147-A177-3AD203B41FA5}">
                      <a16:colId xmlns:a16="http://schemas.microsoft.com/office/drawing/2014/main" val="3144201346"/>
                    </a:ext>
                  </a:extLst>
                </a:gridCol>
                <a:gridCol w="5556173">
                  <a:extLst>
                    <a:ext uri="{9D8B030D-6E8A-4147-A177-3AD203B41FA5}">
                      <a16:colId xmlns:a16="http://schemas.microsoft.com/office/drawing/2014/main" val="3332197545"/>
                    </a:ext>
                  </a:extLst>
                </a:gridCol>
              </a:tblGrid>
              <a:tr h="682413">
                <a:tc>
                  <a:txBody>
                    <a:bodyPr/>
                    <a:lstStyle/>
                    <a:p>
                      <a:r>
                        <a:rPr lang="en-US" sz="2000" dirty="0"/>
                        <a:t>Factor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Comment</a:t>
                      </a:r>
                    </a:p>
                  </a:txBody>
                  <a:tcPr/>
                </a:tc>
                <a:extLst>
                  <a:ext uri="{0D108BD9-81ED-4DB2-BD59-A6C34878D82A}">
                    <a16:rowId xmlns:a16="http://schemas.microsoft.com/office/drawing/2014/main" val="3752033130"/>
                  </a:ext>
                </a:extLst>
              </a:tr>
              <a:tr h="682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Calcium and phosphorus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Make bone extracellular matrix hard.</a:t>
                      </a:r>
                    </a:p>
                  </a:txBody>
                  <a:tcPr/>
                </a:tc>
                <a:extLst>
                  <a:ext uri="{0D108BD9-81ED-4DB2-BD59-A6C34878D82A}">
                    <a16:rowId xmlns:a16="http://schemas.microsoft.com/office/drawing/2014/main" val="1679679034"/>
                  </a:ext>
                </a:extLst>
              </a:tr>
              <a:tr h="682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Magnesium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Helps form bone extracellular matrix.</a:t>
                      </a:r>
                    </a:p>
                  </a:txBody>
                  <a:tcPr/>
                </a:tc>
                <a:extLst>
                  <a:ext uri="{0D108BD9-81ED-4DB2-BD59-A6C34878D82A}">
                    <a16:rowId xmlns:a16="http://schemas.microsoft.com/office/drawing/2014/main" val="2609414182"/>
                  </a:ext>
                </a:extLst>
              </a:tr>
              <a:tr h="682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Fluoride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Helps strengthen bone extracellular matrix.</a:t>
                      </a:r>
                    </a:p>
                  </a:txBody>
                  <a:tcPr/>
                </a:tc>
                <a:extLst>
                  <a:ext uri="{0D108BD9-81ED-4DB2-BD59-A6C34878D82A}">
                    <a16:rowId xmlns:a16="http://schemas.microsoft.com/office/drawing/2014/main" val="3948130185"/>
                  </a:ext>
                </a:extLst>
              </a:tr>
              <a:tr h="1207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Manganese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Activates enzymes involved in synthesis of bone extracellular matrix.</a:t>
                      </a:r>
                    </a:p>
                  </a:txBody>
                  <a:tcPr/>
                </a:tc>
                <a:extLst>
                  <a:ext uri="{0D108BD9-81ED-4DB2-BD59-A6C34878D82A}">
                    <a16:rowId xmlns:a16="http://schemas.microsoft.com/office/drawing/2014/main" val="4053820575"/>
                  </a:ext>
                </a:extLst>
              </a:tr>
            </a:tbl>
          </a:graphicData>
        </a:graphic>
      </p:graphicFrame>
    </p:spTree>
    <p:extLst>
      <p:ext uri="{BB962C8B-B14F-4D97-AF65-F5344CB8AC3E}">
        <p14:creationId xmlns:p14="http://schemas.microsoft.com/office/powerpoint/2010/main" val="18422323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6564F-B5EF-40D5-B455-9F5E934393A9}"/>
              </a:ext>
            </a:extLst>
          </p:cNvPr>
          <p:cNvSpPr>
            <a:spLocks noGrp="1"/>
          </p:cNvSpPr>
          <p:nvPr>
            <p:ph type="title"/>
          </p:nvPr>
        </p:nvSpPr>
        <p:spPr>
          <a:xfrm>
            <a:off x="304800" y="413956"/>
            <a:ext cx="8534400" cy="1115643"/>
          </a:xfrm>
        </p:spPr>
        <p:txBody>
          <a:bodyPr>
            <a:noAutofit/>
          </a:bodyPr>
          <a:lstStyle/>
          <a:p>
            <a:r>
              <a:rPr lang="en-US" dirty="0">
                <a:latin typeface="Calibri" panose="020F0502020204030204" pitchFamily="34" charset="0"/>
                <a:cs typeface="Calibri" panose="020F0502020204030204" pitchFamily="34" charset="0"/>
              </a:rPr>
              <a:t>Summary of Factors That Affect Bone Growth: Vitamins</a:t>
            </a:r>
            <a:endParaRPr lang="en-US" b="0" dirty="0">
              <a:latin typeface="Calibri" panose="020F0502020204030204" pitchFamily="34" charset="0"/>
              <a:cs typeface="Calibri" panose="020F0502020204030204" pitchFamily="34" charset="0"/>
            </a:endParaRPr>
          </a:p>
        </p:txBody>
      </p:sp>
      <p:graphicFrame>
        <p:nvGraphicFramePr>
          <p:cNvPr id="5" name="Table 5">
            <a:extLst>
              <a:ext uri="{FF2B5EF4-FFF2-40B4-BE49-F238E27FC236}">
                <a16:creationId xmlns:a16="http://schemas.microsoft.com/office/drawing/2014/main" id="{3043B3D2-A6CC-4327-B61B-C122F6613D71}"/>
              </a:ext>
            </a:extLst>
          </p:cNvPr>
          <p:cNvGraphicFramePr>
            <a:graphicFrameLocks noGrp="1"/>
          </p:cNvGraphicFramePr>
          <p:nvPr>
            <p:ph sz="quarter" idx="16"/>
            <p:extLst>
              <p:ext uri="{D42A27DB-BD31-4B8C-83A1-F6EECF244321}">
                <p14:modId xmlns:p14="http://schemas.microsoft.com/office/powerpoint/2010/main" val="406324510"/>
              </p:ext>
            </p:extLst>
          </p:nvPr>
        </p:nvGraphicFramePr>
        <p:xfrm>
          <a:off x="304800" y="1880212"/>
          <a:ext cx="8534400" cy="4355488"/>
        </p:xfrm>
        <a:graphic>
          <a:graphicData uri="http://schemas.openxmlformats.org/drawingml/2006/table">
            <a:tbl>
              <a:tblPr firstRow="1" bandRow="1">
                <a:tableStyleId>{69012ECD-51FC-41F1-AA8D-1B2483CD663E}</a:tableStyleId>
              </a:tblPr>
              <a:tblGrid>
                <a:gridCol w="1810439">
                  <a:extLst>
                    <a:ext uri="{9D8B030D-6E8A-4147-A177-3AD203B41FA5}">
                      <a16:colId xmlns:a16="http://schemas.microsoft.com/office/drawing/2014/main" val="3144201346"/>
                    </a:ext>
                  </a:extLst>
                </a:gridCol>
                <a:gridCol w="6723961">
                  <a:extLst>
                    <a:ext uri="{9D8B030D-6E8A-4147-A177-3AD203B41FA5}">
                      <a16:colId xmlns:a16="http://schemas.microsoft.com/office/drawing/2014/main" val="3332197545"/>
                    </a:ext>
                  </a:extLst>
                </a:gridCol>
              </a:tblGrid>
              <a:tr h="389168">
                <a:tc>
                  <a:txBody>
                    <a:bodyPr/>
                    <a:lstStyle/>
                    <a:p>
                      <a:r>
                        <a:rPr lang="en-US" sz="1600" dirty="0"/>
                        <a:t>Factor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Comment</a:t>
                      </a:r>
                    </a:p>
                  </a:txBody>
                  <a:tcPr/>
                </a:tc>
                <a:extLst>
                  <a:ext uri="{0D108BD9-81ED-4DB2-BD59-A6C34878D82A}">
                    <a16:rowId xmlns:a16="http://schemas.microsoft.com/office/drawing/2014/main" val="3752033130"/>
                  </a:ext>
                </a:extLst>
              </a:tr>
              <a:tr h="607743">
                <a:tc>
                  <a:txBody>
                    <a:bodyPr/>
                    <a:lstStyle/>
                    <a:p>
                      <a:r>
                        <a:rPr lang="en-US" sz="1600" dirty="0"/>
                        <a:t>Vitamin A</a:t>
                      </a:r>
                    </a:p>
                  </a:txBody>
                  <a:tcPr/>
                </a:tc>
                <a:tc>
                  <a:txBody>
                    <a:bodyPr/>
                    <a:lstStyle/>
                    <a:p>
                      <a:r>
                        <a:rPr lang="en-US" sz="1600" dirty="0"/>
                        <a:t>Needed for the activity of osteoblasts during remodeling of bone; deficiency stunts bone growth; toxic in high doses.</a:t>
                      </a:r>
                    </a:p>
                  </a:txBody>
                  <a:tcPr/>
                </a:tc>
                <a:extLst>
                  <a:ext uri="{0D108BD9-81ED-4DB2-BD59-A6C34878D82A}">
                    <a16:rowId xmlns:a16="http://schemas.microsoft.com/office/drawing/2014/main" val="1679679034"/>
                  </a:ext>
                </a:extLst>
              </a:tr>
              <a:tr h="8636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Vitamin C</a:t>
                      </a:r>
                    </a:p>
                  </a:txBody>
                  <a:tcPr/>
                </a:tc>
                <a:tc>
                  <a:txBody>
                    <a:bodyPr/>
                    <a:lstStyle/>
                    <a:p>
                      <a:r>
                        <a:rPr lang="en-US" sz="1600" dirty="0"/>
                        <a:t>Needed for synthesis of collagen, the main bone protein; deficiency leads to decreased collagen production, which slows down bone growth and delays repair of broken bones.</a:t>
                      </a:r>
                    </a:p>
                  </a:txBody>
                  <a:tcPr/>
                </a:tc>
                <a:extLst>
                  <a:ext uri="{0D108BD9-81ED-4DB2-BD59-A6C34878D82A}">
                    <a16:rowId xmlns:a16="http://schemas.microsoft.com/office/drawing/2014/main" val="2609414182"/>
                  </a:ext>
                </a:extLst>
              </a:tr>
              <a:tr h="1887200">
                <a:tc>
                  <a:txBody>
                    <a:bodyPr/>
                    <a:lstStyle/>
                    <a:p>
                      <a:r>
                        <a:rPr lang="en-US" sz="1600" dirty="0"/>
                        <a:t>Vitamin 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Active form (calcitriol) is produced by the kidneys; helps build bone by increasing absorption of calcium from digestive canal into blood; deficiency causes faulty calcification and slows down bone growth; may reduce the risk of osteoporosis but is toxic if taken in high doses. People who have minimal exposure to ultraviolet rays or do not take vitamin D supplements may not have sufficient vitamin D to absorb calcium. This interferes with calcium metabolism.</a:t>
                      </a:r>
                    </a:p>
                  </a:txBody>
                  <a:tcPr/>
                </a:tc>
                <a:extLst>
                  <a:ext uri="{0D108BD9-81ED-4DB2-BD59-A6C34878D82A}">
                    <a16:rowId xmlns:a16="http://schemas.microsoft.com/office/drawing/2014/main" val="3948130185"/>
                  </a:ext>
                </a:extLst>
              </a:tr>
              <a:tr h="607743">
                <a:tc>
                  <a:txBody>
                    <a:bodyPr/>
                    <a:lstStyle/>
                    <a:p>
                      <a:r>
                        <a:rPr lang="en-US" sz="1600" dirty="0"/>
                        <a:t>Vitamins K and B</a:t>
                      </a:r>
                      <a:r>
                        <a:rPr lang="en-US" sz="1600" baseline="-25000" dirty="0"/>
                        <a:t>12</a:t>
                      </a:r>
                    </a:p>
                  </a:txBody>
                  <a:tcPr/>
                </a:tc>
                <a:tc>
                  <a:txBody>
                    <a:bodyPr/>
                    <a:lstStyle/>
                    <a:p>
                      <a:r>
                        <a:rPr lang="en-US" sz="1600" dirty="0"/>
                        <a:t>Needed for synthesis of bone proteins; deficiency leads to abnormal protein production in bone extracellular matrix and decreased bone density.</a:t>
                      </a:r>
                    </a:p>
                  </a:txBody>
                  <a:tcPr/>
                </a:tc>
                <a:extLst>
                  <a:ext uri="{0D108BD9-81ED-4DB2-BD59-A6C34878D82A}">
                    <a16:rowId xmlns:a16="http://schemas.microsoft.com/office/drawing/2014/main" val="4053820575"/>
                  </a:ext>
                </a:extLst>
              </a:tr>
            </a:tbl>
          </a:graphicData>
        </a:graphic>
      </p:graphicFrame>
    </p:spTree>
    <p:extLst>
      <p:ext uri="{BB962C8B-B14F-4D97-AF65-F5344CB8AC3E}">
        <p14:creationId xmlns:p14="http://schemas.microsoft.com/office/powerpoint/2010/main" val="26500523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6564F-B5EF-40D5-B455-9F5E934393A9}"/>
              </a:ext>
            </a:extLst>
          </p:cNvPr>
          <p:cNvSpPr>
            <a:spLocks noGrp="1"/>
          </p:cNvSpPr>
          <p:nvPr>
            <p:ph type="title"/>
          </p:nvPr>
        </p:nvSpPr>
        <p:spPr>
          <a:xfrm>
            <a:off x="304800" y="413956"/>
            <a:ext cx="8534400" cy="1115643"/>
          </a:xfrm>
        </p:spPr>
        <p:txBody>
          <a:bodyPr>
            <a:noAutofit/>
          </a:bodyPr>
          <a:lstStyle/>
          <a:p>
            <a:r>
              <a:rPr lang="en-US" dirty="0">
                <a:latin typeface="Calibri" panose="020F0502020204030204" pitchFamily="34" charset="0"/>
                <a:cs typeface="Calibri" panose="020F0502020204030204" pitchFamily="34" charset="0"/>
              </a:rPr>
              <a:t>Summary of Factors That Affect Bone Growth: Hormones </a:t>
            </a:r>
            <a:endParaRPr lang="en-US" sz="2000" b="0" dirty="0">
              <a:latin typeface="Calibri" panose="020F0502020204030204" pitchFamily="34" charset="0"/>
              <a:cs typeface="Calibri" panose="020F0502020204030204" pitchFamily="34" charset="0"/>
            </a:endParaRPr>
          </a:p>
        </p:txBody>
      </p:sp>
      <p:graphicFrame>
        <p:nvGraphicFramePr>
          <p:cNvPr id="5" name="Table 5">
            <a:extLst>
              <a:ext uri="{FF2B5EF4-FFF2-40B4-BE49-F238E27FC236}">
                <a16:creationId xmlns:a16="http://schemas.microsoft.com/office/drawing/2014/main" id="{3043B3D2-A6CC-4327-B61B-C122F6613D71}"/>
              </a:ext>
            </a:extLst>
          </p:cNvPr>
          <p:cNvGraphicFramePr>
            <a:graphicFrameLocks noGrp="1"/>
          </p:cNvGraphicFramePr>
          <p:nvPr>
            <p:ph sz="quarter" idx="16"/>
            <p:extLst>
              <p:ext uri="{D42A27DB-BD31-4B8C-83A1-F6EECF244321}">
                <p14:modId xmlns:p14="http://schemas.microsoft.com/office/powerpoint/2010/main" val="143480967"/>
              </p:ext>
            </p:extLst>
          </p:nvPr>
        </p:nvGraphicFramePr>
        <p:xfrm>
          <a:off x="304800" y="1880212"/>
          <a:ext cx="8534400" cy="4266588"/>
        </p:xfrm>
        <a:graphic>
          <a:graphicData uri="http://schemas.openxmlformats.org/drawingml/2006/table">
            <a:tbl>
              <a:tblPr firstRow="1" bandRow="1">
                <a:tableStyleId>{69012ECD-51FC-41F1-AA8D-1B2483CD663E}</a:tableStyleId>
              </a:tblPr>
              <a:tblGrid>
                <a:gridCol w="1975692">
                  <a:extLst>
                    <a:ext uri="{9D8B030D-6E8A-4147-A177-3AD203B41FA5}">
                      <a16:colId xmlns:a16="http://schemas.microsoft.com/office/drawing/2014/main" val="3144201346"/>
                    </a:ext>
                  </a:extLst>
                </a:gridCol>
                <a:gridCol w="6558708">
                  <a:extLst>
                    <a:ext uri="{9D8B030D-6E8A-4147-A177-3AD203B41FA5}">
                      <a16:colId xmlns:a16="http://schemas.microsoft.com/office/drawing/2014/main" val="3332197545"/>
                    </a:ext>
                  </a:extLst>
                </a:gridCol>
              </a:tblGrid>
              <a:tr h="421463">
                <a:tc>
                  <a:txBody>
                    <a:bodyPr/>
                    <a:lstStyle/>
                    <a:p>
                      <a:pPr>
                        <a:spcBef>
                          <a:spcPts val="624"/>
                        </a:spcBef>
                      </a:pPr>
                      <a:r>
                        <a:rPr lang="en-US" sz="1800" dirty="0"/>
                        <a:t>Factor</a:t>
                      </a:r>
                    </a:p>
                  </a:txBody>
                  <a:tcPr/>
                </a:tc>
                <a:tc>
                  <a:txBody>
                    <a:bodyPr/>
                    <a:lstStyle/>
                    <a:p>
                      <a:pPr marL="0" marR="0" lvl="0" indent="0" algn="l" defTabSz="914400" rtl="0" eaLnBrk="1" fontAlgn="auto" latinLnBrk="0" hangingPunct="1">
                        <a:lnSpc>
                          <a:spcPct val="100000"/>
                        </a:lnSpc>
                        <a:spcBef>
                          <a:spcPts val="624"/>
                        </a:spcBef>
                        <a:spcAft>
                          <a:spcPts val="0"/>
                        </a:spcAft>
                        <a:buClrTx/>
                        <a:buSzTx/>
                        <a:buFontTx/>
                        <a:buNone/>
                        <a:tabLst/>
                        <a:defRPr/>
                      </a:pPr>
                      <a:r>
                        <a:rPr lang="en-US" sz="1800" dirty="0"/>
                        <a:t>Comment</a:t>
                      </a:r>
                    </a:p>
                  </a:txBody>
                  <a:tcPr/>
                </a:tc>
                <a:extLst>
                  <a:ext uri="{0D108BD9-81ED-4DB2-BD59-A6C34878D82A}">
                    <a16:rowId xmlns:a16="http://schemas.microsoft.com/office/drawing/2014/main" val="3752033130"/>
                  </a:ext>
                </a:extLst>
              </a:tr>
              <a:tr h="1039223">
                <a:tc>
                  <a:txBody>
                    <a:bodyPr/>
                    <a:lstStyle/>
                    <a:p>
                      <a:pPr>
                        <a:spcBef>
                          <a:spcPts val="624"/>
                        </a:spcBef>
                      </a:pPr>
                      <a:r>
                        <a:rPr lang="en-US" sz="1800" baseline="0" dirty="0"/>
                        <a:t>Growth hormone (GH)</a:t>
                      </a:r>
                    </a:p>
                  </a:txBody>
                  <a:tcPr/>
                </a:tc>
                <a:tc>
                  <a:txBody>
                    <a:bodyPr/>
                    <a:lstStyle/>
                    <a:p>
                      <a:pPr>
                        <a:spcBef>
                          <a:spcPts val="624"/>
                        </a:spcBef>
                      </a:pPr>
                      <a:r>
                        <a:rPr lang="en-US" sz="1800" baseline="0" dirty="0"/>
                        <a:t>Secreted by the anterior lobe of the pituitary gland; promotes general growth of all body tissues, including bone, mainly by stimulating production of insulin-like growth factors.</a:t>
                      </a:r>
                      <a:endParaRPr lang="en-US" sz="1800" dirty="0"/>
                    </a:p>
                  </a:txBody>
                  <a:tcPr/>
                </a:tc>
                <a:extLst>
                  <a:ext uri="{0D108BD9-81ED-4DB2-BD59-A6C34878D82A}">
                    <a16:rowId xmlns:a16="http://schemas.microsoft.com/office/drawing/2014/main" val="1679679034"/>
                  </a:ext>
                </a:extLst>
              </a:tr>
              <a:tr h="1350990">
                <a:tc>
                  <a:txBody>
                    <a:bodyPr/>
                    <a:lstStyle/>
                    <a:p>
                      <a:pPr>
                        <a:spcBef>
                          <a:spcPts val="624"/>
                        </a:spcBef>
                      </a:pPr>
                      <a:r>
                        <a:rPr lang="en-US" sz="1800" baseline="0" dirty="0"/>
                        <a:t>Insulin-like growth factors (IGFs)</a:t>
                      </a:r>
                    </a:p>
                  </a:txBody>
                  <a:tcPr/>
                </a:tc>
                <a:tc>
                  <a:txBody>
                    <a:bodyPr/>
                    <a:lstStyle/>
                    <a:p>
                      <a:pPr>
                        <a:spcBef>
                          <a:spcPts val="624"/>
                        </a:spcBef>
                      </a:pPr>
                      <a:r>
                        <a:rPr lang="en-US" sz="1800" baseline="0" dirty="0"/>
                        <a:t>Secreted by the liver, bones, and other tissues on stimulation by growth hormone; promotes normal bone growth by stimulating osteoblasts and by increasing the synthesis of proteins needed to build new bone.</a:t>
                      </a:r>
                      <a:endParaRPr lang="en-US" sz="1800" dirty="0"/>
                    </a:p>
                  </a:txBody>
                  <a:tcPr/>
                </a:tc>
                <a:extLst>
                  <a:ext uri="{0D108BD9-81ED-4DB2-BD59-A6C34878D82A}">
                    <a16:rowId xmlns:a16="http://schemas.microsoft.com/office/drawing/2014/main" val="2609414182"/>
                  </a:ext>
                </a:extLst>
              </a:tr>
              <a:tr h="727456">
                <a:tc>
                  <a:txBody>
                    <a:bodyPr/>
                    <a:lstStyle/>
                    <a:p>
                      <a:pPr>
                        <a:spcBef>
                          <a:spcPts val="624"/>
                        </a:spcBef>
                      </a:pPr>
                      <a:r>
                        <a:rPr lang="en-US" sz="1800" baseline="0" dirty="0"/>
                        <a:t>Thyroid hormones (T</a:t>
                      </a:r>
                      <a:r>
                        <a:rPr lang="en-US" sz="1800" baseline="-25000" dirty="0"/>
                        <a:t>3</a:t>
                      </a:r>
                      <a:r>
                        <a:rPr lang="en-US" sz="1800" baseline="0" dirty="0"/>
                        <a:t> and T</a:t>
                      </a:r>
                      <a:r>
                        <a:rPr lang="en-US" sz="1800" baseline="-25000" dirty="0"/>
                        <a:t>4</a:t>
                      </a:r>
                      <a:r>
                        <a:rPr lang="en-US" sz="1800" baseline="0" dirty="0"/>
                        <a:t>)</a:t>
                      </a:r>
                    </a:p>
                  </a:txBody>
                  <a:tcPr/>
                </a:tc>
                <a:tc>
                  <a:txBody>
                    <a:bodyPr/>
                    <a:lstStyle/>
                    <a:p>
                      <a:pPr marL="0" marR="0" lvl="0" indent="0" algn="l" defTabSz="914400" rtl="0" eaLnBrk="1" fontAlgn="auto" latinLnBrk="0" hangingPunct="1">
                        <a:lnSpc>
                          <a:spcPct val="100000"/>
                        </a:lnSpc>
                        <a:spcBef>
                          <a:spcPts val="624"/>
                        </a:spcBef>
                        <a:spcAft>
                          <a:spcPts val="0"/>
                        </a:spcAft>
                        <a:buClrTx/>
                        <a:buSzTx/>
                        <a:buFontTx/>
                        <a:buNone/>
                        <a:tabLst/>
                        <a:defRPr/>
                      </a:pPr>
                      <a:r>
                        <a:rPr lang="en-US" sz="1800" baseline="0" dirty="0"/>
                        <a:t>Secreted by thyroid gland; promote normal bone growth by stimulating osteoblasts.</a:t>
                      </a:r>
                      <a:endParaRPr lang="en-US" sz="1800" dirty="0"/>
                    </a:p>
                  </a:txBody>
                  <a:tcPr/>
                </a:tc>
                <a:extLst>
                  <a:ext uri="{0D108BD9-81ED-4DB2-BD59-A6C34878D82A}">
                    <a16:rowId xmlns:a16="http://schemas.microsoft.com/office/drawing/2014/main" val="3948130185"/>
                  </a:ext>
                </a:extLst>
              </a:tr>
              <a:tr h="727456">
                <a:tc>
                  <a:txBody>
                    <a:bodyPr/>
                    <a:lstStyle/>
                    <a:p>
                      <a:pPr>
                        <a:spcBef>
                          <a:spcPts val="624"/>
                        </a:spcBef>
                      </a:pPr>
                      <a:r>
                        <a:rPr lang="en-US" sz="1800" baseline="0" dirty="0"/>
                        <a:t>Insulin</a:t>
                      </a:r>
                    </a:p>
                  </a:txBody>
                  <a:tcPr/>
                </a:tc>
                <a:tc>
                  <a:txBody>
                    <a:bodyPr/>
                    <a:lstStyle/>
                    <a:p>
                      <a:pPr>
                        <a:spcBef>
                          <a:spcPts val="624"/>
                        </a:spcBef>
                      </a:pPr>
                      <a:r>
                        <a:rPr lang="en-US" sz="1800" baseline="0" dirty="0"/>
                        <a:t>Secreted by the pancreas; promotes normal bone growth by increasing the synthesis of bone proteins.</a:t>
                      </a:r>
                    </a:p>
                  </a:txBody>
                  <a:tcPr/>
                </a:tc>
                <a:extLst>
                  <a:ext uri="{0D108BD9-81ED-4DB2-BD59-A6C34878D82A}">
                    <a16:rowId xmlns:a16="http://schemas.microsoft.com/office/drawing/2014/main" val="4053820575"/>
                  </a:ext>
                </a:extLst>
              </a:tr>
            </a:tbl>
          </a:graphicData>
        </a:graphic>
      </p:graphicFrame>
    </p:spTree>
    <p:extLst>
      <p:ext uri="{BB962C8B-B14F-4D97-AF65-F5344CB8AC3E}">
        <p14:creationId xmlns:p14="http://schemas.microsoft.com/office/powerpoint/2010/main" val="9864638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6564F-B5EF-40D5-B455-9F5E934393A9}"/>
              </a:ext>
            </a:extLst>
          </p:cNvPr>
          <p:cNvSpPr>
            <a:spLocks noGrp="1"/>
          </p:cNvSpPr>
          <p:nvPr>
            <p:ph type="title"/>
          </p:nvPr>
        </p:nvSpPr>
        <p:spPr>
          <a:xfrm>
            <a:off x="304800" y="413956"/>
            <a:ext cx="8534400" cy="1115643"/>
          </a:xfrm>
        </p:spPr>
        <p:txBody>
          <a:bodyPr>
            <a:noAutofit/>
          </a:bodyPr>
          <a:lstStyle/>
          <a:p>
            <a:r>
              <a:rPr lang="en-US" dirty="0">
                <a:latin typeface="Calibri" panose="020F0502020204030204" pitchFamily="34" charset="0"/>
                <a:cs typeface="Calibri" panose="020F0502020204030204" pitchFamily="34" charset="0"/>
              </a:rPr>
              <a:t>Summary of Factors That Affect Bone Growth: Hormones </a:t>
            </a:r>
            <a:endParaRPr lang="en-US" sz="2000" b="0" dirty="0">
              <a:latin typeface="Calibri" panose="020F0502020204030204" pitchFamily="34" charset="0"/>
              <a:cs typeface="Calibri" panose="020F0502020204030204" pitchFamily="34" charset="0"/>
            </a:endParaRPr>
          </a:p>
        </p:txBody>
      </p:sp>
      <p:graphicFrame>
        <p:nvGraphicFramePr>
          <p:cNvPr id="5" name="Table 5">
            <a:extLst>
              <a:ext uri="{FF2B5EF4-FFF2-40B4-BE49-F238E27FC236}">
                <a16:creationId xmlns:a16="http://schemas.microsoft.com/office/drawing/2014/main" id="{3043B3D2-A6CC-4327-B61B-C122F6613D71}"/>
              </a:ext>
            </a:extLst>
          </p:cNvPr>
          <p:cNvGraphicFramePr>
            <a:graphicFrameLocks noGrp="1"/>
          </p:cNvGraphicFramePr>
          <p:nvPr>
            <p:ph sz="quarter" idx="16"/>
            <p:extLst>
              <p:ext uri="{D42A27DB-BD31-4B8C-83A1-F6EECF244321}">
                <p14:modId xmlns:p14="http://schemas.microsoft.com/office/powerpoint/2010/main" val="753927270"/>
              </p:ext>
            </p:extLst>
          </p:nvPr>
        </p:nvGraphicFramePr>
        <p:xfrm>
          <a:off x="304800" y="1880212"/>
          <a:ext cx="8534400" cy="4164989"/>
        </p:xfrm>
        <a:graphic>
          <a:graphicData uri="http://schemas.openxmlformats.org/drawingml/2006/table">
            <a:tbl>
              <a:tblPr firstRow="1" bandRow="1">
                <a:tableStyleId>{69012ECD-51FC-41F1-AA8D-1B2483CD663E}</a:tableStyleId>
              </a:tblPr>
              <a:tblGrid>
                <a:gridCol w="1799422">
                  <a:extLst>
                    <a:ext uri="{9D8B030D-6E8A-4147-A177-3AD203B41FA5}">
                      <a16:colId xmlns:a16="http://schemas.microsoft.com/office/drawing/2014/main" val="3144201346"/>
                    </a:ext>
                  </a:extLst>
                </a:gridCol>
                <a:gridCol w="6734978">
                  <a:extLst>
                    <a:ext uri="{9D8B030D-6E8A-4147-A177-3AD203B41FA5}">
                      <a16:colId xmlns:a16="http://schemas.microsoft.com/office/drawing/2014/main" val="3332197545"/>
                    </a:ext>
                  </a:extLst>
                </a:gridCol>
              </a:tblGrid>
              <a:tr h="421114">
                <a:tc>
                  <a:txBody>
                    <a:bodyPr/>
                    <a:lstStyle/>
                    <a:p>
                      <a:pPr>
                        <a:spcBef>
                          <a:spcPts val="624"/>
                        </a:spcBef>
                      </a:pPr>
                      <a:r>
                        <a:rPr lang="en-US" sz="1800" dirty="0"/>
                        <a:t>Factor</a:t>
                      </a:r>
                    </a:p>
                  </a:txBody>
                  <a:tcPr/>
                </a:tc>
                <a:tc>
                  <a:txBody>
                    <a:bodyPr/>
                    <a:lstStyle/>
                    <a:p>
                      <a:pPr marL="0" marR="0" lvl="0" indent="0" algn="l" defTabSz="914400" rtl="0" eaLnBrk="1" fontAlgn="auto" latinLnBrk="0" hangingPunct="1">
                        <a:lnSpc>
                          <a:spcPct val="100000"/>
                        </a:lnSpc>
                        <a:spcBef>
                          <a:spcPts val="624"/>
                        </a:spcBef>
                        <a:spcAft>
                          <a:spcPts val="0"/>
                        </a:spcAft>
                        <a:buClrTx/>
                        <a:buSzTx/>
                        <a:buFontTx/>
                        <a:buNone/>
                        <a:tabLst/>
                        <a:defRPr/>
                      </a:pPr>
                      <a:r>
                        <a:rPr lang="en-US" sz="1800" dirty="0"/>
                        <a:t>Comment</a:t>
                      </a:r>
                    </a:p>
                  </a:txBody>
                  <a:tcPr/>
                </a:tc>
                <a:extLst>
                  <a:ext uri="{0D108BD9-81ED-4DB2-BD59-A6C34878D82A}">
                    <a16:rowId xmlns:a16="http://schemas.microsoft.com/office/drawing/2014/main" val="3752033130"/>
                  </a:ext>
                </a:extLst>
              </a:tr>
              <a:tr h="2284398">
                <a:tc>
                  <a:txBody>
                    <a:bodyPr/>
                    <a:lstStyle/>
                    <a:p>
                      <a:r>
                        <a:rPr lang="en-US" sz="1800" baseline="0" dirty="0"/>
                        <a:t>Sex hormones (estrogens and testosterone)</a:t>
                      </a:r>
                    </a:p>
                  </a:txBody>
                  <a:tcPr/>
                </a:tc>
                <a:tc>
                  <a:txBody>
                    <a:bodyPr/>
                    <a:lstStyle/>
                    <a:p>
                      <a:r>
                        <a:rPr lang="en-US" sz="1800" baseline="0" dirty="0"/>
                        <a:t>Secreted by the ovaries in women (estrogens) and by the testes in men (testosterone); stimulate osteoblasts and promote the sudden “growth spurt” that occurs during the teenage years; shut down growth at the epiphyseal plates around age 18–21, causing lengthwise growth of bone to end; contribute to bone remodeling during adulthood by slowing bone resorption by osteoclasts and promoting bone deposition by osteoblasts.</a:t>
                      </a:r>
                    </a:p>
                  </a:txBody>
                  <a:tcPr/>
                </a:tc>
                <a:extLst>
                  <a:ext uri="{0D108BD9-81ED-4DB2-BD59-A6C34878D82A}">
                    <a16:rowId xmlns:a16="http://schemas.microsoft.com/office/drawing/2014/main" val="1679679034"/>
                  </a:ext>
                </a:extLst>
              </a:tr>
              <a:tr h="1038363">
                <a:tc>
                  <a:txBody>
                    <a:bodyPr/>
                    <a:lstStyle/>
                    <a:p>
                      <a:r>
                        <a:rPr lang="en-US" sz="1800" baseline="0" dirty="0"/>
                        <a:t>Parathyroid hormone (PTH)</a:t>
                      </a:r>
                    </a:p>
                  </a:txBody>
                  <a:tcPr/>
                </a:tc>
                <a:tc>
                  <a:txBody>
                    <a:bodyPr/>
                    <a:lstStyle/>
                    <a:p>
                      <a:r>
                        <a:rPr lang="en-US" sz="1800" baseline="0" dirty="0"/>
                        <a:t>Secreted by the parathyroid glands; promotes bone resorption by osteoclasts; enhances recovery of calcium ions from urine; promotes formation of the active form of vitamin D (calcitriol).</a:t>
                      </a:r>
                    </a:p>
                  </a:txBody>
                  <a:tcPr/>
                </a:tc>
                <a:extLst>
                  <a:ext uri="{0D108BD9-81ED-4DB2-BD59-A6C34878D82A}">
                    <a16:rowId xmlns:a16="http://schemas.microsoft.com/office/drawing/2014/main" val="2609414182"/>
                  </a:ext>
                </a:extLst>
              </a:tr>
              <a:tr h="421114">
                <a:tc>
                  <a:txBody>
                    <a:bodyPr/>
                    <a:lstStyle/>
                    <a:p>
                      <a:pPr>
                        <a:spcBef>
                          <a:spcPts val="624"/>
                        </a:spcBef>
                      </a:pPr>
                      <a:r>
                        <a:rPr lang="en-US" sz="1800" baseline="0" dirty="0"/>
                        <a:t>Calcitonin (CT)</a:t>
                      </a:r>
                    </a:p>
                  </a:txBody>
                  <a:tcPr/>
                </a:tc>
                <a:tc>
                  <a:txBody>
                    <a:bodyPr/>
                    <a:lstStyle/>
                    <a:p>
                      <a:r>
                        <a:rPr lang="en-US" sz="1800" baseline="0" dirty="0"/>
                        <a:t>Secreted by the thyroid gland; inhibits bone resorption by osteoclasts.</a:t>
                      </a:r>
                    </a:p>
                  </a:txBody>
                  <a:tcPr/>
                </a:tc>
                <a:extLst>
                  <a:ext uri="{0D108BD9-81ED-4DB2-BD59-A6C34878D82A}">
                    <a16:rowId xmlns:a16="http://schemas.microsoft.com/office/drawing/2014/main" val="3948130185"/>
                  </a:ext>
                </a:extLst>
              </a:tr>
            </a:tbl>
          </a:graphicData>
        </a:graphic>
      </p:graphicFrame>
    </p:spTree>
    <p:extLst>
      <p:ext uri="{BB962C8B-B14F-4D97-AF65-F5344CB8AC3E}">
        <p14:creationId xmlns:p14="http://schemas.microsoft.com/office/powerpoint/2010/main" val="41526274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6564F-B5EF-40D5-B455-9F5E934393A9}"/>
              </a:ext>
            </a:extLst>
          </p:cNvPr>
          <p:cNvSpPr>
            <a:spLocks noGrp="1"/>
          </p:cNvSpPr>
          <p:nvPr>
            <p:ph type="title"/>
          </p:nvPr>
        </p:nvSpPr>
        <p:spPr>
          <a:xfrm>
            <a:off x="304800" y="413956"/>
            <a:ext cx="8534400" cy="1115643"/>
          </a:xfrm>
        </p:spPr>
        <p:txBody>
          <a:bodyPr>
            <a:noAutofit/>
          </a:bodyPr>
          <a:lstStyle/>
          <a:p>
            <a:r>
              <a:rPr lang="en-US" dirty="0">
                <a:latin typeface="Calibri" panose="020F0502020204030204" pitchFamily="34" charset="0"/>
                <a:cs typeface="Calibri" panose="020F0502020204030204" pitchFamily="34" charset="0"/>
              </a:rPr>
              <a:t>Summary of Factors That Affect Bone Growth: Exercise and Aging</a:t>
            </a:r>
            <a:endParaRPr lang="en-US" sz="2000" b="0" dirty="0">
              <a:latin typeface="Calibri" panose="020F0502020204030204" pitchFamily="34" charset="0"/>
              <a:cs typeface="Calibri" panose="020F0502020204030204" pitchFamily="34" charset="0"/>
            </a:endParaRPr>
          </a:p>
        </p:txBody>
      </p:sp>
      <p:graphicFrame>
        <p:nvGraphicFramePr>
          <p:cNvPr id="5" name="Table 5">
            <a:extLst>
              <a:ext uri="{FF2B5EF4-FFF2-40B4-BE49-F238E27FC236}">
                <a16:creationId xmlns:a16="http://schemas.microsoft.com/office/drawing/2014/main" id="{3043B3D2-A6CC-4327-B61B-C122F6613D71}"/>
              </a:ext>
            </a:extLst>
          </p:cNvPr>
          <p:cNvGraphicFramePr>
            <a:graphicFrameLocks noGrp="1"/>
          </p:cNvGraphicFramePr>
          <p:nvPr>
            <p:ph sz="quarter" idx="16"/>
            <p:extLst>
              <p:ext uri="{D42A27DB-BD31-4B8C-83A1-F6EECF244321}">
                <p14:modId xmlns:p14="http://schemas.microsoft.com/office/powerpoint/2010/main" val="4140486791"/>
              </p:ext>
            </p:extLst>
          </p:nvPr>
        </p:nvGraphicFramePr>
        <p:xfrm>
          <a:off x="304800" y="2054859"/>
          <a:ext cx="8534400" cy="4117341"/>
        </p:xfrm>
        <a:graphic>
          <a:graphicData uri="http://schemas.openxmlformats.org/drawingml/2006/table">
            <a:tbl>
              <a:tblPr firstRow="1" bandRow="1">
                <a:tableStyleId>{69012ECD-51FC-41F1-AA8D-1B2483CD663E}</a:tableStyleId>
              </a:tblPr>
              <a:tblGrid>
                <a:gridCol w="1380781">
                  <a:extLst>
                    <a:ext uri="{9D8B030D-6E8A-4147-A177-3AD203B41FA5}">
                      <a16:colId xmlns:a16="http://schemas.microsoft.com/office/drawing/2014/main" val="3144201346"/>
                    </a:ext>
                  </a:extLst>
                </a:gridCol>
                <a:gridCol w="7153619">
                  <a:extLst>
                    <a:ext uri="{9D8B030D-6E8A-4147-A177-3AD203B41FA5}">
                      <a16:colId xmlns:a16="http://schemas.microsoft.com/office/drawing/2014/main" val="3332197545"/>
                    </a:ext>
                  </a:extLst>
                </a:gridCol>
              </a:tblGrid>
              <a:tr h="617179">
                <a:tc>
                  <a:txBody>
                    <a:bodyPr/>
                    <a:lstStyle/>
                    <a:p>
                      <a:pPr>
                        <a:spcBef>
                          <a:spcPts val="624"/>
                        </a:spcBef>
                      </a:pPr>
                      <a:r>
                        <a:rPr lang="en-US" sz="1800" dirty="0"/>
                        <a:t>Factor</a:t>
                      </a:r>
                    </a:p>
                  </a:txBody>
                  <a:tcPr/>
                </a:tc>
                <a:tc>
                  <a:txBody>
                    <a:bodyPr/>
                    <a:lstStyle/>
                    <a:p>
                      <a:pPr marL="0" marR="0" lvl="0" indent="0" algn="l" defTabSz="914400" rtl="0" eaLnBrk="1" fontAlgn="auto" latinLnBrk="0" hangingPunct="1">
                        <a:lnSpc>
                          <a:spcPct val="100000"/>
                        </a:lnSpc>
                        <a:spcBef>
                          <a:spcPts val="624"/>
                        </a:spcBef>
                        <a:spcAft>
                          <a:spcPts val="0"/>
                        </a:spcAft>
                        <a:buClrTx/>
                        <a:buSzTx/>
                        <a:buFontTx/>
                        <a:buNone/>
                        <a:tabLst/>
                        <a:defRPr/>
                      </a:pPr>
                      <a:r>
                        <a:rPr lang="en-US" sz="1800" dirty="0"/>
                        <a:t>Comment</a:t>
                      </a:r>
                    </a:p>
                  </a:txBody>
                  <a:tcPr/>
                </a:tc>
                <a:extLst>
                  <a:ext uri="{0D108BD9-81ED-4DB2-BD59-A6C34878D82A}">
                    <a16:rowId xmlns:a16="http://schemas.microsoft.com/office/drawing/2014/main" val="3752033130"/>
                  </a:ext>
                </a:extLst>
              </a:tr>
              <a:tr h="1521810">
                <a:tc>
                  <a:txBody>
                    <a:bodyPr/>
                    <a:lstStyle/>
                    <a:p>
                      <a:r>
                        <a:rPr lang="en-US" sz="1800" baseline="0" dirty="0"/>
                        <a:t>Exercise</a:t>
                      </a:r>
                    </a:p>
                  </a:txBody>
                  <a:tcPr/>
                </a:tc>
                <a:tc>
                  <a:txBody>
                    <a:bodyPr/>
                    <a:lstStyle/>
                    <a:p>
                      <a:r>
                        <a:rPr lang="en-US" sz="1800" baseline="0" dirty="0"/>
                        <a:t>Weight-bearing activities stimulate osteoblasts and, consequently, help build thicker, stronger bones and retard loss of bone mass that occurs as people age.</a:t>
                      </a:r>
                    </a:p>
                  </a:txBody>
                  <a:tcPr/>
                </a:tc>
                <a:extLst>
                  <a:ext uri="{0D108BD9-81ED-4DB2-BD59-A6C34878D82A}">
                    <a16:rowId xmlns:a16="http://schemas.microsoft.com/office/drawing/2014/main" val="1679679034"/>
                  </a:ext>
                </a:extLst>
              </a:tr>
              <a:tr h="1978352">
                <a:tc>
                  <a:txBody>
                    <a:bodyPr/>
                    <a:lstStyle/>
                    <a:p>
                      <a:r>
                        <a:rPr lang="en-US" sz="1800" baseline="0" dirty="0"/>
                        <a:t>Aging</a:t>
                      </a:r>
                    </a:p>
                  </a:txBody>
                  <a:tcPr/>
                </a:tc>
                <a:tc>
                  <a:txBody>
                    <a:bodyPr/>
                    <a:lstStyle/>
                    <a:p>
                      <a:r>
                        <a:rPr lang="en-US" sz="1800" baseline="0" dirty="0"/>
                        <a:t>As the level of sex hormones diminishes during middle age to older adulthood, especially in women after menopause, bone resorption by osteoclasts outpaces bone deposition by osteoblasts, which leads to a decrease in bone mass and an increased risk of osteoporosis.</a:t>
                      </a:r>
                    </a:p>
                  </a:txBody>
                  <a:tcPr/>
                </a:tc>
                <a:extLst>
                  <a:ext uri="{0D108BD9-81ED-4DB2-BD59-A6C34878D82A}">
                    <a16:rowId xmlns:a16="http://schemas.microsoft.com/office/drawing/2014/main" val="2609414182"/>
                  </a:ext>
                </a:extLst>
              </a:tr>
            </a:tbl>
          </a:graphicData>
        </a:graphic>
      </p:graphicFrame>
    </p:spTree>
    <p:extLst>
      <p:ext uri="{BB962C8B-B14F-4D97-AF65-F5344CB8AC3E}">
        <p14:creationId xmlns:p14="http://schemas.microsoft.com/office/powerpoint/2010/main" val="32473529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090A-07C8-48E3-B26D-126F62C94668}"/>
              </a:ext>
            </a:extLst>
          </p:cNvPr>
          <p:cNvSpPr>
            <a:spLocks noGrp="1"/>
          </p:cNvSpPr>
          <p:nvPr>
            <p:ph type="title"/>
          </p:nvPr>
        </p:nvSpPr>
        <p:spPr>
          <a:xfrm>
            <a:off x="304800" y="453529"/>
            <a:ext cx="8534400" cy="838199"/>
          </a:xfrm>
        </p:spPr>
        <p:txBody>
          <a:bodyPr/>
          <a:lstStyle/>
          <a:p>
            <a:r>
              <a:rPr lang="en-US" dirty="0">
                <a:latin typeface="Calibri" panose="020F0502020204030204" pitchFamily="34" charset="0"/>
                <a:cs typeface="Calibri" panose="020F0502020204030204" pitchFamily="34" charset="0"/>
              </a:rPr>
              <a:t>Disorders: Homeostatic Imbalances</a:t>
            </a:r>
            <a:endParaRPr lang="en-US" sz="2000" b="0"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75D90B2F-1B51-42AC-9339-0AC1D1756414}"/>
              </a:ext>
            </a:extLst>
          </p:cNvPr>
          <p:cNvSpPr>
            <a:spLocks noGrp="1"/>
          </p:cNvSpPr>
          <p:nvPr>
            <p:ph sz="quarter" idx="16"/>
          </p:nvPr>
        </p:nvSpPr>
        <p:spPr>
          <a:xfrm>
            <a:off x="304800" y="1620398"/>
            <a:ext cx="8534400" cy="4549048"/>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Osteoporosis – bone resorption outpaces formation, 80% of those affected are women</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Rickets and </a:t>
            </a:r>
            <a:r>
              <a:rPr lang="en-US" dirty="0" err="1">
                <a:latin typeface="Calibri" panose="020F0502020204030204" pitchFamily="34" charset="0"/>
                <a:cs typeface="Calibri" panose="020F0502020204030204" pitchFamily="34" charset="0"/>
              </a:rPr>
              <a:t>Osteomalacia</a:t>
            </a:r>
            <a:r>
              <a:rPr lang="en-US" dirty="0">
                <a:latin typeface="Calibri" panose="020F0502020204030204" pitchFamily="34" charset="0"/>
                <a:cs typeface="Calibri" panose="020F0502020204030204" pitchFamily="34" charset="0"/>
              </a:rPr>
              <a:t> – inadequate calcification of extracellular bone matrix.  </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Rickets affects children and leads to bowed legs and deformations in skull, rib cage or pelvis</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dirty="0" err="1">
                <a:latin typeface="Calibri" panose="020F0502020204030204" pitchFamily="34" charset="0"/>
                <a:cs typeface="Calibri" panose="020F0502020204030204" pitchFamily="34" charset="0"/>
              </a:rPr>
              <a:t>Osteomalacia</a:t>
            </a:r>
            <a:r>
              <a:rPr lang="en-US" dirty="0">
                <a:latin typeface="Calibri" panose="020F0502020204030204" pitchFamily="34" charset="0"/>
                <a:cs typeface="Calibri" panose="020F0502020204030204" pitchFamily="34" charset="0"/>
              </a:rPr>
              <a:t> affects adults and causes painful/tender bones and fractures with minor trauma</a:t>
            </a:r>
          </a:p>
        </p:txBody>
      </p:sp>
    </p:spTree>
    <p:extLst>
      <p:ext uri="{BB962C8B-B14F-4D97-AF65-F5344CB8AC3E}">
        <p14:creationId xmlns:p14="http://schemas.microsoft.com/office/powerpoint/2010/main" val="41863628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9E1A1-80AD-4595-BDAD-06E77A286E7B}"/>
              </a:ext>
            </a:extLst>
          </p:cNvPr>
          <p:cNvSpPr>
            <a:spLocks noGrp="1"/>
          </p:cNvSpPr>
          <p:nvPr>
            <p:ph type="title"/>
          </p:nvPr>
        </p:nvSpPr>
        <p:spPr>
          <a:xfrm>
            <a:off x="304800" y="412427"/>
            <a:ext cx="8534400" cy="838199"/>
          </a:xfrm>
        </p:spPr>
        <p:txBody>
          <a:bodyPr/>
          <a:lstStyle/>
          <a:p>
            <a:r>
              <a:rPr lang="en-US" dirty="0">
                <a:latin typeface="Calibri" panose="020F0502020204030204" pitchFamily="34" charset="0"/>
                <a:cs typeface="Calibri" panose="020F0502020204030204" pitchFamily="34" charset="0"/>
              </a:rPr>
              <a:t>Medical Terminology</a:t>
            </a:r>
            <a:endParaRPr lang="en-US" sz="2000" b="0" dirty="0">
              <a:latin typeface="Calibri" panose="020F0502020204030204" pitchFamily="34" charset="0"/>
              <a:cs typeface="Calibri" panose="020F0502020204030204" pitchFamily="34" charset="0"/>
            </a:endParaRPr>
          </a:p>
        </p:txBody>
      </p:sp>
      <p:sp>
        <p:nvSpPr>
          <p:cNvPr id="7" name="Content Placeholder 6">
            <a:extLst>
              <a:ext uri="{FF2B5EF4-FFF2-40B4-BE49-F238E27FC236}">
                <a16:creationId xmlns:a16="http://schemas.microsoft.com/office/drawing/2014/main" id="{0D2E819D-D363-4693-BEA3-4066A60186E5}"/>
              </a:ext>
            </a:extLst>
          </p:cNvPr>
          <p:cNvSpPr>
            <a:spLocks noGrp="1"/>
          </p:cNvSpPr>
          <p:nvPr>
            <p:ph sz="quarter" idx="16"/>
          </p:nvPr>
        </p:nvSpPr>
        <p:spPr>
          <a:xfrm>
            <a:off x="304800" y="1130531"/>
            <a:ext cx="8534400" cy="5105016"/>
          </a:xfrm>
        </p:spPr>
        <p:txBody>
          <a:bodyPr/>
          <a:lstStyle/>
          <a:p>
            <a:pPr marL="517525" indent="-517525">
              <a:lnSpc>
                <a:spcPct val="100000"/>
              </a:lnSpc>
              <a:spcBef>
                <a:spcPts val="624"/>
              </a:spcBef>
              <a:spcAft>
                <a:spcPts val="600"/>
              </a:spcAft>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Osteoarthritis – degeneration of articular cartilage, leads to friction of bone against bone</a:t>
            </a:r>
          </a:p>
          <a:p>
            <a:pPr marL="517525" indent="-517525">
              <a:lnSpc>
                <a:spcPct val="100000"/>
              </a:lnSpc>
              <a:spcBef>
                <a:spcPts val="624"/>
              </a:spcBef>
              <a:spcAft>
                <a:spcPts val="600"/>
              </a:spcAft>
              <a:buClr>
                <a:schemeClr val="accent2"/>
              </a:buClr>
              <a:buSzPct val="10000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517525" indent="-517525">
              <a:lnSpc>
                <a:spcPct val="100000"/>
              </a:lnSpc>
              <a:spcBef>
                <a:spcPts val="624"/>
              </a:spcBef>
              <a:spcAft>
                <a:spcPts val="600"/>
              </a:spcAft>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Osteomyelitis – infection of bone often caused by </a:t>
            </a:r>
            <a:r>
              <a:rPr lang="en-US" i="1" dirty="0">
                <a:latin typeface="Calibri" panose="020F0502020204030204" pitchFamily="34" charset="0"/>
                <a:cs typeface="Calibri" panose="020F0502020204030204" pitchFamily="34" charset="0"/>
              </a:rPr>
              <a:t>Staphylococcus aureus</a:t>
            </a:r>
            <a:r>
              <a:rPr lang="en-US" dirty="0">
                <a:latin typeface="Calibri" panose="020F0502020204030204" pitchFamily="34" charset="0"/>
                <a:cs typeface="Calibri" panose="020F0502020204030204" pitchFamily="34" charset="0"/>
              </a:rPr>
              <a:t> </a:t>
            </a:r>
          </a:p>
          <a:p>
            <a:pPr marL="517525" indent="-517525">
              <a:lnSpc>
                <a:spcPct val="100000"/>
              </a:lnSpc>
              <a:spcBef>
                <a:spcPts val="624"/>
              </a:spcBef>
              <a:spcAft>
                <a:spcPts val="600"/>
              </a:spcAft>
              <a:buClr>
                <a:schemeClr val="accent2"/>
              </a:buClr>
              <a:buSzPct val="10000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517525" indent="-517525">
              <a:lnSpc>
                <a:spcPct val="100000"/>
              </a:lnSpc>
              <a:spcBef>
                <a:spcPts val="624"/>
              </a:spcBef>
              <a:spcAft>
                <a:spcPts val="600"/>
              </a:spcAft>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Osteopenia – reduced bone mass below normal</a:t>
            </a:r>
          </a:p>
          <a:p>
            <a:pPr marL="517525" indent="-517525">
              <a:lnSpc>
                <a:spcPct val="100000"/>
              </a:lnSpc>
              <a:spcBef>
                <a:spcPts val="624"/>
              </a:spcBef>
              <a:spcAft>
                <a:spcPts val="600"/>
              </a:spcAft>
              <a:buClr>
                <a:schemeClr val="accent2"/>
              </a:buClr>
              <a:buSzPct val="10000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517525" indent="-517525">
              <a:lnSpc>
                <a:spcPct val="100000"/>
              </a:lnSpc>
              <a:spcBef>
                <a:spcPts val="624"/>
              </a:spcBef>
              <a:spcAft>
                <a:spcPts val="600"/>
              </a:spcAft>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Osteosarcoma – bone cancer that primarily affects osteoblasts</a:t>
            </a:r>
          </a:p>
        </p:txBody>
      </p:sp>
    </p:spTree>
    <p:extLst>
      <p:ext uri="{BB962C8B-B14F-4D97-AF65-F5344CB8AC3E}">
        <p14:creationId xmlns:p14="http://schemas.microsoft.com/office/powerpoint/2010/main" val="27238232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Copyright</a:t>
            </a:r>
          </a:p>
        </p:txBody>
      </p:sp>
      <p:sp>
        <p:nvSpPr>
          <p:cNvPr id="3" name="Content Placeholder 2"/>
          <p:cNvSpPr>
            <a:spLocks noGrp="1"/>
          </p:cNvSpPr>
          <p:nvPr>
            <p:ph sz="quarter" idx="16"/>
          </p:nvPr>
        </p:nvSpPr>
        <p:spPr>
          <a:xfrm>
            <a:off x="304800" y="1752600"/>
            <a:ext cx="8534400" cy="3429000"/>
          </a:xfrm>
        </p:spPr>
        <p:txBody>
          <a:bodyPr/>
          <a:lstStyle/>
          <a:p>
            <a:r>
              <a:rPr lang="en-US" sz="2400" b="1" dirty="0">
                <a:latin typeface="Calibri" panose="020F0502020204030204" pitchFamily="34" charset="0"/>
                <a:cs typeface="Calibri" panose="020F0502020204030204" pitchFamily="34" charset="0"/>
              </a:rPr>
              <a:t>Copyright © 2021 John Wiley &amp; Sons, Inc.</a:t>
            </a:r>
          </a:p>
          <a:p>
            <a:pPr>
              <a:lnSpc>
                <a:spcPct val="150000"/>
              </a:lnSpc>
            </a:pPr>
            <a:r>
              <a:rPr lang="en-US" sz="1800" dirty="0">
                <a:latin typeface="Calibri" panose="020F0502020204030204" pitchFamily="34" charset="0"/>
                <a:cs typeface="Calibri" panose="020F0502020204030204" pitchFamily="34" charset="0"/>
              </a:rPr>
              <a:t>All rights reserved. Reproduction or translation of this work beyond that permitted in Section 117 of the 1976 United States Copyright Act without the express written permission of the copyright owner is unlawful. Request for further information should be addressed to the Permissions Department, John Wiley &amp; Sons, Inc. The purchaser may make back-up copies for his/her own use only and not for distribution or resale. The Publisher assumes no responsibility for errors, omissions, or damages caused by the use of these programs or from the use of the information contained herein.</a:t>
            </a:r>
          </a:p>
        </p:txBody>
      </p:sp>
    </p:spTree>
    <p:extLst>
      <p:ext uri="{BB962C8B-B14F-4D97-AF65-F5344CB8AC3E}">
        <p14:creationId xmlns:p14="http://schemas.microsoft.com/office/powerpoint/2010/main" val="13856248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4bb1a6f6a37846e759f335af07b6f9d3376d58a"/>
</p:tagLst>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E01F302C440524FA31D7DCD25615BF1" ma:contentTypeVersion="7" ma:contentTypeDescription="Create a new document." ma:contentTypeScope="" ma:versionID="70c2503ec15103d2cca162ccd324bd4f">
  <xsd:schema xmlns:xsd="http://www.w3.org/2001/XMLSchema" xmlns:xs="http://www.w3.org/2001/XMLSchema" xmlns:p="http://schemas.microsoft.com/office/2006/metadata/properties" xmlns:ns2="e88296c4-2d3a-4b5e-b7cc-73362ec365d5" targetNamespace="http://schemas.microsoft.com/office/2006/metadata/properties" ma:root="true" ma:fieldsID="1ee8fd890c3ab4027bd76155cf630935" ns2:_="">
    <xsd:import namespace="e88296c4-2d3a-4b5e-b7cc-73362ec365d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8296c4-2d3a-4b5e-b7cc-73362ec365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88F1D47-4251-47E8-ACDB-2528FF86B6CA}">
  <ds:schemaRefs>
    <ds:schemaRef ds:uri="http://schemas.microsoft.com/sharepoint/v3/contenttype/forms"/>
  </ds:schemaRefs>
</ds:datastoreItem>
</file>

<file path=customXml/itemProps2.xml><?xml version="1.0" encoding="utf-8"?>
<ds:datastoreItem xmlns:ds="http://schemas.openxmlformats.org/officeDocument/2006/customXml" ds:itemID="{479F80CF-16EB-49A6-AF14-9931E73E28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8296c4-2d3a-4b5e-b7cc-73362ec365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1C71EB-81EB-430C-AADD-7391148CA65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23597</TotalTime>
  <Words>1782</Words>
  <Application>Microsoft Office PowerPoint</Application>
  <PresentationFormat>On-screen Show (4:3)</PresentationFormat>
  <Paragraphs>201</Paragraphs>
  <Slides>50</Slides>
  <Notes>7</Notes>
  <HiddenSlides>0</HiddenSlides>
  <MMClips>0</MMClips>
  <ScaleCrop>false</ScaleCrop>
  <HeadingPairs>
    <vt:vector size="6" baseType="variant">
      <vt:variant>
        <vt:lpstr>Fonts Used</vt:lpstr>
      </vt:variant>
      <vt:variant>
        <vt:i4>7</vt:i4>
      </vt:variant>
      <vt:variant>
        <vt:lpstr>Theme</vt:lpstr>
      </vt:variant>
      <vt:variant>
        <vt:i4>7</vt:i4>
      </vt:variant>
      <vt:variant>
        <vt:lpstr>Slide Titles</vt:lpstr>
      </vt:variant>
      <vt:variant>
        <vt:i4>50</vt:i4>
      </vt:variant>
    </vt:vector>
  </HeadingPairs>
  <TitlesOfParts>
    <vt:vector size="64" baseType="lpstr">
      <vt:lpstr>Arial</vt:lpstr>
      <vt:lpstr>Calibri</vt:lpstr>
      <vt:lpstr>Calibri </vt:lpstr>
      <vt:lpstr>Calibri Light</vt:lpstr>
      <vt:lpstr>Courier New</vt:lpstr>
      <vt:lpstr>Source Sans Pro</vt:lpstr>
      <vt:lpstr>Times New Roman</vt:lpstr>
      <vt:lpstr>Opener</vt:lpstr>
      <vt:lpstr>Chapter Outline</vt:lpstr>
      <vt:lpstr>Learning Objectives</vt:lpstr>
      <vt:lpstr>Concept Check Question</vt:lpstr>
      <vt:lpstr>Key Term</vt:lpstr>
      <vt:lpstr>Section</vt:lpstr>
      <vt:lpstr>Image Slide Master</vt:lpstr>
      <vt:lpstr>Principles of Anatomy and Physiology</vt:lpstr>
      <vt:lpstr>Introduction </vt:lpstr>
      <vt:lpstr>Functions of Bone and the Skeletal System</vt:lpstr>
      <vt:lpstr>Bone</vt:lpstr>
      <vt:lpstr>Functions of the Skeletal System</vt:lpstr>
      <vt:lpstr>Structure of Bone </vt:lpstr>
      <vt:lpstr>Structure of Bone </vt:lpstr>
      <vt:lpstr>Structure of Bone </vt:lpstr>
      <vt:lpstr>Histology of Bone </vt:lpstr>
      <vt:lpstr>Histology of Bone </vt:lpstr>
      <vt:lpstr>Histology of Bone </vt:lpstr>
      <vt:lpstr>Histology of Bone </vt:lpstr>
      <vt:lpstr>Histology of Bone </vt:lpstr>
      <vt:lpstr>Histology of Bone </vt:lpstr>
      <vt:lpstr>Histology of Bone </vt:lpstr>
      <vt:lpstr>Histology of Bone </vt:lpstr>
      <vt:lpstr>Blood and Nerve Supply of Bone </vt:lpstr>
      <vt:lpstr>Blood and Nerve Supply of Bone </vt:lpstr>
      <vt:lpstr>Bone Formation</vt:lpstr>
      <vt:lpstr>Bone Formation </vt:lpstr>
      <vt:lpstr>Bone Formation </vt:lpstr>
      <vt:lpstr>Bone Formation - Intramembranous</vt:lpstr>
      <vt:lpstr>Bone Formation – Endochondral </vt:lpstr>
      <vt:lpstr>Bone Formation </vt:lpstr>
      <vt:lpstr>Bone Formation </vt:lpstr>
      <vt:lpstr>Bone Formation </vt:lpstr>
      <vt:lpstr>Bone Growth and Remodeling Interactions Animation: </vt:lpstr>
      <vt:lpstr>Factors Affecting Bone Growth and Remodeling</vt:lpstr>
      <vt:lpstr>Fracture and Repair of Bone</vt:lpstr>
      <vt:lpstr>Fracture and Repair of Bone </vt:lpstr>
      <vt:lpstr>Fracture and Repair of Bone </vt:lpstr>
      <vt:lpstr>Fracture and Repair of Bone </vt:lpstr>
      <vt:lpstr>Fracture and Repair of Bone </vt:lpstr>
      <vt:lpstr>Fracture and Repair of Bone </vt:lpstr>
      <vt:lpstr>Fracture and Repair of Bone </vt:lpstr>
      <vt:lpstr>Bone’s Role in Calcium Homeostasis</vt:lpstr>
      <vt:lpstr>Bone’s Role in Calcium Homeostasis </vt:lpstr>
      <vt:lpstr>Bone’s Role in Calcium Homeostasis </vt:lpstr>
      <vt:lpstr>Calcium Homeostasis  Interactions Animation:</vt:lpstr>
      <vt:lpstr>Exercise and Aging in Bone Tissue</vt:lpstr>
      <vt:lpstr>Exercise and Bone Tissue Interactions Animation:</vt:lpstr>
      <vt:lpstr>Aging and Bone Tissue</vt:lpstr>
      <vt:lpstr>Summary of Factors That Affect Bone Growth: Minerals</vt:lpstr>
      <vt:lpstr>Summary of Factors That Affect Bone Growth: Vitamins</vt:lpstr>
      <vt:lpstr>Summary of Factors That Affect Bone Growth: Hormones </vt:lpstr>
      <vt:lpstr>Summary of Factors That Affect Bone Growth: Hormones </vt:lpstr>
      <vt:lpstr>Summary of Factors That Affect Bone Growth: Exercise and Aging</vt:lpstr>
      <vt:lpstr>Disorders: Homeostatic Imbalances</vt:lpstr>
      <vt:lpstr>Medical Terminology</vt:lpstr>
      <vt:lpstr>Copyright</vt:lpstr>
    </vt:vector>
  </TitlesOfParts>
  <Manager/>
  <Company>John Wiley &amp; Sons,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20 The Cardiovascular System: The Heart</dc:title>
  <dc:subject/>
  <dc:creator>Gerard Tortora/Bryan Derrickson</dc:creator>
  <cp:keywords/>
  <dc:description/>
  <cp:lastModifiedBy>Jill</cp:lastModifiedBy>
  <cp:revision>1362</cp:revision>
  <cp:lastPrinted>2017-04-26T13:25:47Z</cp:lastPrinted>
  <dcterms:created xsi:type="dcterms:W3CDTF">2017-04-21T14:49:46Z</dcterms:created>
  <dcterms:modified xsi:type="dcterms:W3CDTF">2021-05-28T20:51:19Z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0x0101000E01F302C440524FA31D7DCD25615BF1</vt:lpwstr>
  </property>
</Properties>
</file>