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4.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5.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3976" r:id="rId10"/>
  </p:sldMasterIdLst>
  <p:notesMasterIdLst>
    <p:notesMasterId r:id="rId66"/>
  </p:notesMasterIdLst>
  <p:sldIdLst>
    <p:sldId id="496" r:id="rId11"/>
    <p:sldId id="305" r:id="rId12"/>
    <p:sldId id="497" r:id="rId13"/>
    <p:sldId id="258" r:id="rId14"/>
    <p:sldId id="498" r:id="rId15"/>
    <p:sldId id="259" r:id="rId16"/>
    <p:sldId id="260" r:id="rId17"/>
    <p:sldId id="499" r:id="rId18"/>
    <p:sldId id="500" r:id="rId19"/>
    <p:sldId id="501" r:id="rId20"/>
    <p:sldId id="537" r:id="rId21"/>
    <p:sldId id="261" r:id="rId22"/>
    <p:sldId id="538" r:id="rId23"/>
    <p:sldId id="502" r:id="rId24"/>
    <p:sldId id="262" r:id="rId25"/>
    <p:sldId id="539" r:id="rId26"/>
    <p:sldId id="540" r:id="rId27"/>
    <p:sldId id="541" r:id="rId28"/>
    <p:sldId id="263" r:id="rId29"/>
    <p:sldId id="326" r:id="rId30"/>
    <p:sldId id="542" r:id="rId31"/>
    <p:sldId id="506" r:id="rId32"/>
    <p:sldId id="264" r:id="rId33"/>
    <p:sldId id="266" r:id="rId34"/>
    <p:sldId id="265" r:id="rId35"/>
    <p:sldId id="267" r:id="rId36"/>
    <p:sldId id="507" r:id="rId37"/>
    <p:sldId id="508" r:id="rId38"/>
    <p:sldId id="509" r:id="rId39"/>
    <p:sldId id="543" r:id="rId40"/>
    <p:sldId id="269" r:id="rId41"/>
    <p:sldId id="270" r:id="rId42"/>
    <p:sldId id="517" r:id="rId43"/>
    <p:sldId id="271" r:id="rId44"/>
    <p:sldId id="544" r:id="rId45"/>
    <p:sldId id="545" r:id="rId46"/>
    <p:sldId id="524" r:id="rId47"/>
    <p:sldId id="272" r:id="rId48"/>
    <p:sldId id="525" r:id="rId49"/>
    <p:sldId id="273" r:id="rId50"/>
    <p:sldId id="526" r:id="rId51"/>
    <p:sldId id="274" r:id="rId52"/>
    <p:sldId id="527" r:id="rId53"/>
    <p:sldId id="528" r:id="rId54"/>
    <p:sldId id="530" r:id="rId55"/>
    <p:sldId id="531" r:id="rId56"/>
    <p:sldId id="532" r:id="rId57"/>
    <p:sldId id="533" r:id="rId58"/>
    <p:sldId id="276" r:id="rId59"/>
    <p:sldId id="534" r:id="rId60"/>
    <p:sldId id="535" r:id="rId61"/>
    <p:sldId id="277" r:id="rId62"/>
    <p:sldId id="327" r:id="rId63"/>
    <p:sldId id="536" r:id="rId64"/>
    <p:sldId id="323" r:id="rId65"/>
  </p:sldIdLst>
  <p:sldSz cx="9144000" cy="6858000" type="screen4x3"/>
  <p:notesSz cx="7315200" cy="9601200"/>
  <p:custDataLst>
    <p:tags r:id="rId6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pos="2880">
          <p15:clr>
            <a:srgbClr val="A4A3A4"/>
          </p15:clr>
        </p15:guide>
        <p15:guide id="3" pos="5664" userDrawn="1">
          <p15:clr>
            <a:srgbClr val="A4A3A4"/>
          </p15:clr>
        </p15:guide>
        <p15:guide id="4" pos="192" userDrawn="1">
          <p15:clr>
            <a:srgbClr val="A4A3A4"/>
          </p15:clr>
        </p15:guide>
        <p15:guide id="5" pos="4464" userDrawn="1">
          <p15:clr>
            <a:srgbClr val="A4A3A4"/>
          </p15:clr>
        </p15:guide>
        <p15:guide id="6" pos="163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 id="4" name="CD" initials="CD" lastIdx="3" clrIdx="4">
    <p:extLst>
      <p:ext uri="{19B8F6BF-5375-455C-9EA6-DF929625EA0E}">
        <p15:presenceInfo xmlns:p15="http://schemas.microsoft.com/office/powerpoint/2012/main" userId="C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D5D6"/>
    <a:srgbClr val="E4E5E3"/>
    <a:srgbClr val="EAEAE9"/>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90" autoAdjust="0"/>
    <p:restoredTop sz="96224" autoAdjust="0"/>
  </p:normalViewPr>
  <p:slideViewPr>
    <p:cSldViewPr snapToGrid="0">
      <p:cViewPr varScale="1">
        <p:scale>
          <a:sx n="86" d="100"/>
          <a:sy n="86" d="100"/>
        </p:scale>
        <p:origin x="1368" y="90"/>
      </p:cViewPr>
      <p:guideLst>
        <p:guide orient="horz" pos="1200"/>
        <p:guide pos="2880"/>
        <p:guide pos="5664"/>
        <p:guide pos="192"/>
        <p:guide pos="4464"/>
        <p:guide pos="1632"/>
      </p:guideLst>
    </p:cSldViewPr>
  </p:slideViewPr>
  <p:outlineViewPr>
    <p:cViewPr>
      <p:scale>
        <a:sx n="33" d="100"/>
        <a:sy n="33" d="100"/>
      </p:scale>
      <p:origin x="0" y="0"/>
    </p:cViewPr>
  </p:outlineViewPr>
  <p:notesTextViewPr>
    <p:cViewPr>
      <p:scale>
        <a:sx n="66" d="100"/>
        <a:sy n="66" d="100"/>
      </p:scale>
      <p:origin x="0" y="0"/>
    </p:cViewPr>
  </p:notesTextViewPr>
  <p:sorterViewPr>
    <p:cViewPr varScale="1">
      <p:scale>
        <a:sx n="1" d="1"/>
        <a:sy n="1" d="1"/>
      </p:scale>
      <p:origin x="0" y="-6378"/>
    </p:cViewPr>
  </p:sorterViewPr>
  <p:notesViewPr>
    <p:cSldViewPr snapToGrid="0">
      <p:cViewPr varScale="1">
        <p:scale>
          <a:sx n="134" d="100"/>
          <a:sy n="134" d="100"/>
        </p:scale>
        <p:origin x="3184" y="20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slide" Target="slides/slide45.xml"/><Relationship Id="rId63" Type="http://schemas.openxmlformats.org/officeDocument/2006/relationships/slide" Target="slides/slide53.xml"/><Relationship Id="rId68" Type="http://schemas.openxmlformats.org/officeDocument/2006/relationships/commentAuthors" Target="commentAuthors.xml"/><Relationship Id="rId7" Type="http://schemas.openxmlformats.org/officeDocument/2006/relationships/slideMaster" Target="slideMasters/slideMaster4.xml"/><Relationship Id="rId71"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61" Type="http://schemas.openxmlformats.org/officeDocument/2006/relationships/slide" Target="slides/slide51.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1.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tags" Target="tags/tag1.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94C1A8-DC4B-4329-AF88-FD913597DE85}" type="datetimeFigureOut">
              <a:rPr lang="en-US" smtClean="0"/>
              <a:t>5/28/2021</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8073E54-D085-4E2E-B9A5-A53D7E51940E}" type="slidenum">
              <a:rPr lang="en-US" smtClean="0"/>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1</a:t>
            </a:fld>
            <a:endParaRPr lang="en-US" dirty="0"/>
          </a:p>
        </p:txBody>
      </p:sp>
    </p:spTree>
    <p:extLst>
      <p:ext uri="{BB962C8B-B14F-4D97-AF65-F5344CB8AC3E}">
        <p14:creationId xmlns:p14="http://schemas.microsoft.com/office/powerpoint/2010/main" val="3579695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You must be connected to the Internet and in Slideshow Mode to run this animation.</a:t>
            </a:r>
          </a:p>
        </p:txBody>
      </p:sp>
      <p:sp>
        <p:nvSpPr>
          <p:cNvPr id="4" name="Slide Number Placeholder 3"/>
          <p:cNvSpPr>
            <a:spLocks noGrp="1"/>
          </p:cNvSpPr>
          <p:nvPr>
            <p:ph type="sldNum" sz="quarter" idx="5"/>
          </p:nvPr>
        </p:nvSpPr>
        <p:spPr/>
        <p:txBody>
          <a:bodyPr/>
          <a:lstStyle/>
          <a:p>
            <a:fld id="{A8073E54-D085-4E2E-B9A5-A53D7E51940E}" type="slidenum">
              <a:rPr lang="en-US" smtClean="0"/>
              <a:t>3</a:t>
            </a:fld>
            <a:endParaRPr lang="en-US" dirty="0"/>
          </a:p>
        </p:txBody>
      </p:sp>
    </p:spTree>
    <p:extLst>
      <p:ext uri="{BB962C8B-B14F-4D97-AF65-F5344CB8AC3E}">
        <p14:creationId xmlns:p14="http://schemas.microsoft.com/office/powerpoint/2010/main" val="3977134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Calibri "/>
            </a:endParaRPr>
          </a:p>
        </p:txBody>
      </p:sp>
      <p:sp>
        <p:nvSpPr>
          <p:cNvPr id="4" name="Slide Number Placeholder 3"/>
          <p:cNvSpPr>
            <a:spLocks noGrp="1"/>
          </p:cNvSpPr>
          <p:nvPr>
            <p:ph type="sldNum" sz="quarter" idx="10"/>
          </p:nvPr>
        </p:nvSpPr>
        <p:spPr/>
        <p:txBody>
          <a:bodyPr/>
          <a:lstStyle/>
          <a:p>
            <a:fld id="{A8073E54-D085-4E2E-B9A5-A53D7E51940E}" type="slidenum">
              <a:rPr lang="en-US" smtClean="0"/>
              <a:t>15</a:t>
            </a:fld>
            <a:endParaRPr lang="en-US" dirty="0"/>
          </a:p>
        </p:txBody>
      </p:sp>
    </p:spTree>
    <p:extLst>
      <p:ext uri="{BB962C8B-B14F-4D97-AF65-F5344CB8AC3E}">
        <p14:creationId xmlns:p14="http://schemas.microsoft.com/office/powerpoint/2010/main" val="3397111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55</a:t>
            </a:fld>
            <a:endParaRPr lang="en-US" dirty="0"/>
          </a:p>
        </p:txBody>
      </p:sp>
    </p:spTree>
    <p:extLst>
      <p:ext uri="{BB962C8B-B14F-4D97-AF65-F5344CB8AC3E}">
        <p14:creationId xmlns:p14="http://schemas.microsoft.com/office/powerpoint/2010/main" val="952343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25" name="Edition"/>
          <p:cNvSpPr>
            <a:spLocks noGrp="1"/>
          </p:cNvSpPr>
          <p:nvPr>
            <p:ph sz="quarter" idx="17" hasCustomPrompt="1"/>
          </p:nvPr>
        </p:nvSpPr>
        <p:spPr>
          <a:xfrm>
            <a:off x="152400" y="1828800"/>
            <a:ext cx="8839200" cy="4572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27" name="Author"/>
          <p:cNvSpPr>
            <a:spLocks noGrp="1"/>
          </p:cNvSpPr>
          <p:nvPr>
            <p:ph sz="quarter" idx="18" hasCustomPrompt="1"/>
          </p:nvPr>
        </p:nvSpPr>
        <p:spPr>
          <a:xfrm>
            <a:off x="152400" y="2362200"/>
            <a:ext cx="8839200" cy="6858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31" name="CT"/>
          <p:cNvSpPr>
            <a:spLocks noGrp="1"/>
          </p:cNvSpPr>
          <p:nvPr>
            <p:ph sz="quarter" idx="20" hasCustomPrompt="1"/>
          </p:nvPr>
        </p:nvSpPr>
        <p:spPr>
          <a:xfrm>
            <a:off x="152400" y="4343400"/>
            <a:ext cx="8839200" cy="23622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152400" y="2286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14" name="CT"/>
          <p:cNvSpPr>
            <a:spLocks noGrp="1"/>
          </p:cNvSpPr>
          <p:nvPr>
            <p:ph sz="quarter" idx="20" hasCustomPrompt="1"/>
          </p:nvPr>
        </p:nvSpPr>
        <p:spPr>
          <a:xfrm>
            <a:off x="152400" y="838200"/>
            <a:ext cx="8839200" cy="2189672"/>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152400" y="3505200"/>
            <a:ext cx="8839200" cy="1524000"/>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15" name="Edition"/>
          <p:cNvSpPr>
            <a:spLocks noGrp="1"/>
          </p:cNvSpPr>
          <p:nvPr>
            <p:ph sz="quarter" idx="17" hasCustomPrompt="1"/>
          </p:nvPr>
        </p:nvSpPr>
        <p:spPr>
          <a:xfrm>
            <a:off x="152400" y="5105400"/>
            <a:ext cx="8839200" cy="6858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16" name="Author"/>
          <p:cNvSpPr>
            <a:spLocks noGrp="1"/>
          </p:cNvSpPr>
          <p:nvPr>
            <p:ph sz="quarter" idx="18" hasCustomPrompt="1"/>
          </p:nvPr>
        </p:nvSpPr>
        <p:spPr>
          <a:xfrm>
            <a:off x="152400" y="6096000"/>
            <a:ext cx="8839200" cy="5334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995965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152400" y="1755648"/>
            <a:ext cx="8839200" cy="6096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152400" y="2363724"/>
            <a:ext cx="88392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rgbClr val="007787"/>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152400" y="4267200"/>
            <a:ext cx="8839200" cy="24384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4" name="Content Placeholder 3"/>
          <p:cNvSpPr>
            <a:spLocks noGrp="1"/>
          </p:cNvSpPr>
          <p:nvPr>
            <p:ph sz="quarter" idx="23" hasCustomPrompt="1"/>
          </p:nvPr>
        </p:nvSpPr>
        <p:spPr>
          <a:xfrm>
            <a:off x="1568918" y="6248400"/>
            <a:ext cx="6584482" cy="457200"/>
          </a:xfrm>
          <a:prstGeom prst="rect">
            <a:avLst/>
          </a:prstGeom>
        </p:spPr>
        <p:txBody>
          <a:bodyPr/>
          <a:lstStyle>
            <a:lvl1pPr marL="0" indent="0">
              <a:buNone/>
              <a:defRPr/>
            </a:lvl1pPr>
          </a:lstStyle>
          <a:p>
            <a:pPr lvl="0"/>
            <a:r>
              <a:rPr lang="en-US" dirty="0"/>
              <a:t>Copyright ©2019 John Wiley &amp; Sons, Inc.</a:t>
            </a:r>
          </a:p>
        </p:txBody>
      </p:sp>
      <p:sp>
        <p:nvSpPr>
          <p:cNvPr id="6" name="Content Placeholder 5"/>
          <p:cNvSpPr>
            <a:spLocks noGrp="1"/>
          </p:cNvSpPr>
          <p:nvPr>
            <p:ph sz="quarter" idx="24"/>
          </p:nvPr>
        </p:nvSpPr>
        <p:spPr>
          <a:xfrm>
            <a:off x="152400" y="6092825"/>
            <a:ext cx="8839200" cy="27305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1535784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5274" y="777241"/>
            <a:ext cx="8543926"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3" name="COBBL"/>
          <p:cNvSpPr>
            <a:spLocks noGrp="1"/>
          </p:cNvSpPr>
          <p:nvPr>
            <p:ph sz="quarter" idx="10" hasCustomPrompt="1"/>
          </p:nvPr>
        </p:nvSpPr>
        <p:spPr>
          <a:xfrm>
            <a:off x="304800" y="1752600"/>
            <a:ext cx="8534400" cy="4495800"/>
          </a:xfrm>
          <a:prstGeom prst="rect">
            <a:avLst/>
          </a:prstGeom>
        </p:spPr>
        <p:txBody>
          <a:bodyPr/>
          <a:lstStyle>
            <a:lvl1pPr marL="295275" indent="-295275">
              <a:buClr>
                <a:schemeClr val="accent2"/>
              </a:buCl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86693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BL 2-col"/>
          <p:cNvSpPr>
            <a:spLocks noGrp="1"/>
          </p:cNvSpPr>
          <p:nvPr>
            <p:ph sz="quarter" idx="12" hasCustomPrompt="1"/>
          </p:nvPr>
        </p:nvSpPr>
        <p:spPr>
          <a:xfrm>
            <a:off x="304800" y="1752600"/>
            <a:ext cx="8534400" cy="460375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lvl="0"/>
            <a:endParaRPr lang="en-US" dirty="0"/>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993600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9" name="TextBox 8">
            <a:extLst>
              <a:ext uri="{FF2B5EF4-FFF2-40B4-BE49-F238E27FC236}">
                <a16:creationId xmlns:a16="http://schemas.microsoft.com/office/drawing/2014/main" id="{FF5D095A-BE6A-47A1-8722-8C6BB720CC13}"/>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10" name="Slide Number Placeholder 5">
            <a:extLst>
              <a:ext uri="{FF2B5EF4-FFF2-40B4-BE49-F238E27FC236}">
                <a16:creationId xmlns:a16="http://schemas.microsoft.com/office/drawing/2014/main" id="{DEFECBCA-CFAF-4829-AEAC-1A3EFCAE9F2B}"/>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1786427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0" name="COBNL"/>
          <p:cNvSpPr>
            <a:spLocks noGrp="1"/>
          </p:cNvSpPr>
          <p:nvPr>
            <p:ph sz="quarter" idx="14" hasCustomPrompt="1"/>
          </p:nvPr>
        </p:nvSpPr>
        <p:spPr>
          <a:xfrm>
            <a:off x="304800" y="1752600"/>
            <a:ext cx="8534400" cy="4114800"/>
          </a:xfrm>
          <a:prstGeom prst="rect">
            <a:avLst/>
          </a:prstGeom>
        </p:spPr>
        <p:txBody>
          <a:bodyPr/>
          <a:lstStyle>
            <a:lvl1pPr marL="803275" indent="-803275">
              <a:buNone/>
              <a:tabLst/>
              <a:defRPr sz="2800" b="0" i="0" baseline="0">
                <a:latin typeface="Calibri" charset="0"/>
                <a:ea typeface="Calibri" charset="0"/>
                <a:cs typeface="Calibri"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123572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304800" y="1752600"/>
            <a:ext cx="8534400" cy="4495800"/>
          </a:xfrm>
          <a:prstGeom prst="rect">
            <a:avLst/>
          </a:prstGeom>
        </p:spPr>
        <p:txBody>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37909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a:lstStyle>
            <a:lvl1pPr marL="465138" indent="-465138">
              <a:buClr>
                <a:schemeClr val="accent2"/>
              </a:buClr>
              <a:buFont typeface="+mj-lt"/>
              <a:buAutoNum type="arabicPeriod"/>
              <a:tabLst/>
              <a:defRPr sz="2800" b="0" i="0" baseline="0">
                <a:latin typeface="Calibri" charset="0"/>
                <a:ea typeface="Calibri" charset="0"/>
                <a:cs typeface="Calibri" charset="0"/>
              </a:defRPr>
            </a:lvl1pPr>
            <a:lvl2pPr marL="803275" indent="-282575">
              <a:buClr>
                <a:schemeClr val="accent2"/>
              </a:buClr>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263432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343400"/>
          </a:xfrm>
          <a:prstGeom prst="rect">
            <a:avLst/>
          </a:prstGeom>
        </p:spPr>
        <p:txBody>
          <a:bodyPr/>
          <a:lstStyle>
            <a:lvl1pPr marL="803275" indent="-803275">
              <a:buNone/>
              <a:tabLst/>
              <a:defRPr sz="2800" b="0" i="0" baseline="0">
                <a:latin typeface="Calibri" charset="0"/>
                <a:ea typeface="Calibri" charset="0"/>
                <a:cs typeface="Calibri" charset="0"/>
              </a:defRPr>
            </a:lvl1pPr>
            <a:lvl2pPr marL="1143000" indent="-292608">
              <a:buClr>
                <a:schemeClr val="accent2"/>
              </a:buClr>
              <a:defRPr sz="2400" b="0" i="0" baseline="0">
                <a:latin typeface="Calibri" charset="0"/>
                <a:ea typeface="Calibri" charset="0"/>
                <a:cs typeface="Calibri"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042655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Calibri" charset="0"/>
                <a:ea typeface="Calibri" charset="0"/>
                <a:cs typeface="Calibri" charset="0"/>
              </a:defRPr>
            </a:lvl1pPr>
            <a:lvl2pPr marL="803275" indent="-282575">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3403783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20518789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Outline: Version F2 (2 text boxe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NL1"/>
          <p:cNvSpPr>
            <a:spLocks noGrp="1"/>
          </p:cNvSpPr>
          <p:nvPr>
            <p:ph sz="quarter" idx="14" hasCustomPrompt="1"/>
          </p:nvPr>
        </p:nvSpPr>
        <p:spPr>
          <a:xfrm>
            <a:off x="304800"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(2 Boxes) and Double-numbered</a:t>
            </a:r>
          </a:p>
          <a:p>
            <a:pPr lvl="0"/>
            <a:r>
              <a:rPr lang="en-US" dirty="0"/>
              <a:t>1.2	It is Two-column </a:t>
            </a:r>
          </a:p>
          <a:p>
            <a:pPr lvl="0"/>
            <a:r>
              <a:rPr lang="en-US" dirty="0"/>
              <a:t>1.3	This Outline Has No Sub-lists</a:t>
            </a:r>
          </a:p>
          <a:p>
            <a:pPr lvl="0"/>
            <a:r>
              <a:rPr lang="en-US" dirty="0"/>
              <a:t>1.4	This List Is Double-numbered</a:t>
            </a:r>
          </a:p>
        </p:txBody>
      </p:sp>
      <p:sp>
        <p:nvSpPr>
          <p:cNvPr id="7" name="COBNL2"/>
          <p:cNvSpPr>
            <a:spLocks noGrp="1"/>
          </p:cNvSpPr>
          <p:nvPr>
            <p:ph sz="quarter" idx="15" hasCustomPrompt="1"/>
          </p:nvPr>
        </p:nvSpPr>
        <p:spPr>
          <a:xfrm>
            <a:off x="4800602" y="1844675"/>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1.9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5" name="Picture Placeholder 4">
            <a:extLst>
              <a:ext uri="{FF2B5EF4-FFF2-40B4-BE49-F238E27FC236}">
                <a16:creationId xmlns:a16="http://schemas.microsoft.com/office/drawing/2014/main" id="{3E70A9A6-7614-4C91-B648-0088582A50A3}"/>
              </a:ext>
            </a:extLst>
          </p:cNvPr>
          <p:cNvSpPr>
            <a:spLocks noGrp="1"/>
          </p:cNvSpPr>
          <p:nvPr>
            <p:ph type="pic" sz="quarter" idx="16"/>
          </p:nvPr>
        </p:nvSpPr>
        <p:spPr>
          <a:xfrm>
            <a:off x="142875" y="2052638"/>
            <a:ext cx="4038600" cy="1443037"/>
          </a:xfrm>
          <a:prstGeom prst="rect">
            <a:avLst/>
          </a:prstGeom>
        </p:spPr>
        <p:txBody>
          <a:bodyPr/>
          <a:lstStyle/>
          <a:p>
            <a:endParaRPr lang="en-US"/>
          </a:p>
        </p:txBody>
      </p:sp>
      <p:sp>
        <p:nvSpPr>
          <p:cNvPr id="10" name="Picture Placeholder 9">
            <a:extLst>
              <a:ext uri="{FF2B5EF4-FFF2-40B4-BE49-F238E27FC236}">
                <a16:creationId xmlns:a16="http://schemas.microsoft.com/office/drawing/2014/main" id="{67430892-9403-4F94-BF4F-761A8366902A}"/>
              </a:ext>
            </a:extLst>
          </p:cNvPr>
          <p:cNvSpPr>
            <a:spLocks noGrp="1"/>
          </p:cNvSpPr>
          <p:nvPr>
            <p:ph type="pic" sz="quarter" idx="17"/>
          </p:nvPr>
        </p:nvSpPr>
        <p:spPr>
          <a:xfrm>
            <a:off x="4505325" y="2222500"/>
            <a:ext cx="4154488" cy="1346200"/>
          </a:xfrm>
          <a:prstGeom prst="rect">
            <a:avLst/>
          </a:prstGeom>
        </p:spPr>
        <p:txBody>
          <a:bodyPr/>
          <a:lstStyle/>
          <a:p>
            <a:endParaRPr lang="en-US"/>
          </a:p>
        </p:txBody>
      </p:sp>
      <p:sp>
        <p:nvSpPr>
          <p:cNvPr id="12" name="Picture Placeholder 11">
            <a:extLst>
              <a:ext uri="{FF2B5EF4-FFF2-40B4-BE49-F238E27FC236}">
                <a16:creationId xmlns:a16="http://schemas.microsoft.com/office/drawing/2014/main" id="{79571E3D-1C21-49AD-8782-74CF951E47D8}"/>
              </a:ext>
            </a:extLst>
          </p:cNvPr>
          <p:cNvSpPr>
            <a:spLocks noGrp="1"/>
          </p:cNvSpPr>
          <p:nvPr>
            <p:ph type="pic" sz="quarter" idx="18"/>
          </p:nvPr>
        </p:nvSpPr>
        <p:spPr>
          <a:xfrm>
            <a:off x="825500" y="4191000"/>
            <a:ext cx="4624388" cy="1443038"/>
          </a:xfrm>
          <a:prstGeom prst="rect">
            <a:avLst/>
          </a:prstGeom>
        </p:spPr>
        <p:txBody>
          <a:bodyPr/>
          <a:lstStyle/>
          <a:p>
            <a:endParaRPr lang="en-US"/>
          </a:p>
        </p:txBody>
      </p:sp>
    </p:spTree>
    <p:extLst>
      <p:ext uri="{BB962C8B-B14F-4D97-AF65-F5344CB8AC3E}">
        <p14:creationId xmlns:p14="http://schemas.microsoft.com/office/powerpoint/2010/main" val="1410060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5" name="Content Placeholder 4"/>
          <p:cNvSpPr>
            <a:spLocks noGrp="1"/>
          </p:cNvSpPr>
          <p:nvPr>
            <p:ph sz="quarter" idx="15" hasCustomPrompt="1"/>
          </p:nvPr>
        </p:nvSpPr>
        <p:spPr>
          <a:xfrm>
            <a:off x="304800" y="1752600"/>
            <a:ext cx="8534400" cy="4419600"/>
          </a:xfrm>
          <a:prstGeom prst="rect">
            <a:avLst/>
          </a:prstGeom>
        </p:spPr>
        <p:txBody>
          <a:bodyPr/>
          <a:lstStyle>
            <a:lvl1pPr marL="0" indent="0">
              <a:buNone/>
              <a:defRPr sz="2800" baseline="0"/>
            </a:lvl1pPr>
            <a:lvl2pPr marL="457200" indent="-446088">
              <a:spcBef>
                <a:spcPts val="2000"/>
              </a:spcBef>
              <a:buFont typeface="+mj-lt"/>
              <a:buNone/>
              <a:tabLst/>
              <a:defRPr sz="2800">
                <a:solidFill>
                  <a:schemeClr val="accent2"/>
                </a:solidFill>
              </a:defRPr>
            </a:lvl2pPr>
            <a:lvl3pPr marL="688975" indent="-400050">
              <a:spcBef>
                <a:spcPts val="1000"/>
              </a:spcBef>
              <a:buClr>
                <a:schemeClr val="accent2"/>
              </a:buClr>
              <a:buFont typeface="+mj-lt"/>
              <a:buAutoNum type="arabicPeriod"/>
              <a:tabLst/>
              <a:defRPr sz="2800"/>
            </a:lvl3pPr>
            <a:lvl4pPr marL="1371600" indent="0">
              <a:buNone/>
              <a:defRPr sz="2800"/>
            </a:lvl4pPr>
            <a:lvl5pPr marL="1828800" indent="0">
              <a:buNone/>
              <a:defRPr sz="2800"/>
            </a:lvl5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956338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838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
        <p:nvSpPr>
          <p:cNvPr id="7" name="Content Placeholder"/>
          <p:cNvSpPr>
            <a:spLocks noGrp="1"/>
          </p:cNvSpPr>
          <p:nvPr>
            <p:ph sz="quarter" idx="17"/>
          </p:nvPr>
        </p:nvSpPr>
        <p:spPr>
          <a:xfrm>
            <a:off x="313265" y="2980267"/>
            <a:ext cx="8534400" cy="838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TextBox 7">
            <a:extLst>
              <a:ext uri="{FF2B5EF4-FFF2-40B4-BE49-F238E27FC236}">
                <a16:creationId xmlns:a16="http://schemas.microsoft.com/office/drawing/2014/main" id="{D6301D86-595C-4C8C-8A69-C187BE494230}"/>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9" name="Slide Number Placeholder 5">
            <a:extLst>
              <a:ext uri="{FF2B5EF4-FFF2-40B4-BE49-F238E27FC236}">
                <a16:creationId xmlns:a16="http://schemas.microsoft.com/office/drawing/2014/main" id="{3969569B-6835-4753-9259-94CFABF9200F}"/>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1872483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752600"/>
            <a:ext cx="41148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8" name="TextBox 7">
            <a:extLst>
              <a:ext uri="{FF2B5EF4-FFF2-40B4-BE49-F238E27FC236}">
                <a16:creationId xmlns:a16="http://schemas.microsoft.com/office/drawing/2014/main" id="{F5E6360E-5B6F-4AAB-86ED-9632394E8A31}"/>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10" name="Slide Number Placeholder 5">
            <a:extLst>
              <a:ext uri="{FF2B5EF4-FFF2-40B4-BE49-F238E27FC236}">
                <a16:creationId xmlns:a16="http://schemas.microsoft.com/office/drawing/2014/main" id="{77BBB985-21A2-4C48-B021-545D1D7D91E5}"/>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1751282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04800" y="743712"/>
            <a:ext cx="8534400" cy="856488"/>
          </a:xfrm>
          <a:prstGeom prst="rect">
            <a:avLst/>
          </a:prstGeom>
        </p:spPr>
        <p:txBody>
          <a:bodyPr/>
          <a:lstStyle>
            <a:lvl1pPr>
              <a:defRPr sz="4000" b="1" i="0">
                <a:solidFill>
                  <a:schemeClr val="accent2"/>
                </a:solidFill>
                <a:latin typeface="Calibri" charset="0"/>
                <a:ea typeface="Calibri" charset="0"/>
                <a:cs typeface="Calibri" charset="0"/>
              </a:defRPr>
            </a:lvl1pPr>
          </a:lstStyle>
          <a:p>
            <a:r>
              <a:rPr lang="en-US" dirty="0"/>
              <a:t>Learning Objectives</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lvl1pPr>
              <a:defRPr b="0" i="0">
                <a:latin typeface="Calibri" charset="0"/>
                <a:ea typeface="Calibri" charset="0"/>
                <a:cs typeface="Calibri" charset="0"/>
              </a:defRPr>
            </a:lvl1pPr>
          </a:lstStyle>
          <a:p>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8823214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6" name="Title"/>
          <p:cNvSpPr>
            <a:spLocks noGrp="1"/>
          </p:cNvSpPr>
          <p:nvPr>
            <p:ph type="title" hasCustomPrompt="1"/>
          </p:nvPr>
        </p:nvSpPr>
        <p:spPr>
          <a:xfrm>
            <a:off x="304800" y="743712"/>
            <a:ext cx="8534400" cy="856488"/>
          </a:xfrm>
          <a:prstGeom prst="rect">
            <a:avLst/>
          </a:prstGeom>
        </p:spPr>
        <p:txBody>
          <a:bodyPr/>
          <a:lstStyle>
            <a:lvl1pPr>
              <a:defRPr sz="4000" b="1" i="0">
                <a:solidFill>
                  <a:schemeClr val="accent2"/>
                </a:solidFill>
                <a:latin typeface="Calibri" charset="0"/>
                <a:ea typeface="Calibri" charset="0"/>
                <a:cs typeface="Calibri" charset="0"/>
              </a:defRPr>
            </a:lvl1pPr>
          </a:lstStyle>
          <a:p>
            <a:r>
              <a:rPr lang="en-US" dirty="0"/>
              <a:t>Learning Objectives</a:t>
            </a:r>
          </a:p>
        </p:txBody>
      </p:sp>
      <p:sp>
        <p:nvSpPr>
          <p:cNvPr id="7" name="LOBL"/>
          <p:cNvSpPr>
            <a:spLocks noGrp="1"/>
          </p:cNvSpPr>
          <p:nvPr>
            <p:ph sz="quarter" idx="16" hasCustomPrompt="1"/>
          </p:nvPr>
        </p:nvSpPr>
        <p:spPr>
          <a:xfrm>
            <a:off x="304800" y="1752600"/>
            <a:ext cx="8534400" cy="4495800"/>
          </a:xfrm>
          <a:prstGeom prst="rect">
            <a:avLst/>
          </a:prstGeom>
        </p:spPr>
        <p:txBody>
          <a:bodyPr/>
          <a:lstStyle>
            <a:lvl1pPr marL="292608" indent="-292608">
              <a:buClr>
                <a:schemeClr val="accent2"/>
              </a:buClr>
              <a:buFont typeface="Arial" charset="0"/>
              <a:buChar char="•"/>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177182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pPr lvl="0"/>
            <a:r>
              <a:rPr lang="en-US" dirty="0"/>
              <a:t>1.1 Periodicity Assumption</a:t>
            </a:r>
          </a:p>
        </p:txBody>
      </p:sp>
      <p:sp>
        <p:nvSpPr>
          <p:cNvPr id="5" name="Content Placeholder 4"/>
          <p:cNvSpPr>
            <a:spLocks noGrp="1"/>
          </p:cNvSpPr>
          <p:nvPr>
            <p:ph sz="quarter" idx="16" hasCustomPrompt="1"/>
          </p:nvPr>
        </p:nvSpPr>
        <p:spPr>
          <a:xfrm>
            <a:off x="304800" y="1752600"/>
            <a:ext cx="8534400" cy="4419600"/>
          </a:xfrm>
          <a:prstGeom prst="rect">
            <a:avLst/>
          </a:prstGeom>
        </p:spPr>
        <p:txBody>
          <a:bodyPr/>
          <a:lstStyle>
            <a:lvl1pPr marL="0" indent="0">
              <a:spcBef>
                <a:spcPts val="1000"/>
              </a:spcBef>
              <a:buNone/>
              <a:defRPr sz="2800" baseline="0"/>
            </a:lvl1pPr>
            <a:lvl2pPr marL="809625" indent="-460375">
              <a:spcBef>
                <a:spcPts val="1000"/>
              </a:spcBef>
              <a:buClr>
                <a:schemeClr val="accent2"/>
              </a:buClr>
              <a:buFont typeface="+mj-lt"/>
              <a:buAutoNum type="alphaLcPeriod"/>
              <a:tabLst/>
              <a:defRPr sz="2800"/>
            </a:lvl2pPr>
            <a:lvl3pPr marL="914400" indent="0">
              <a:buNone/>
              <a:defRPr sz="2800"/>
            </a:lvl3pPr>
            <a:lvl4pPr marL="1371600" indent="0">
              <a:buNone/>
              <a:defRPr sz="2800"/>
            </a:lvl4pPr>
            <a:lvl5pPr marL="1828800" indent="0">
              <a:buNone/>
              <a:defRPr sz="2800"/>
            </a:lvl5pPr>
          </a:lstStyle>
          <a:p>
            <a:pPr lvl="0"/>
            <a:r>
              <a:rPr lang="en-US" dirty="0"/>
              <a:t>Which one of these statements about the accrual basis of accounting is false?</a:t>
            </a:r>
          </a:p>
          <a:p>
            <a:pPr lvl="1"/>
            <a:r>
              <a:rPr lang="en-US" dirty="0"/>
              <a:t>Companies record events that change their financial statements in the period in which events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a:p>
            <a:pPr lvl="1"/>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12438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8704" y="762002"/>
            <a:ext cx="8540496" cy="838198"/>
          </a:xfrm>
        </p:spPr>
        <p:txBody>
          <a:bodyPr/>
          <a:lstStyle/>
          <a:p>
            <a:r>
              <a:rPr lang="en-US" dirty="0"/>
              <a:t>1.1 Periodicity Assumption</a:t>
            </a:r>
          </a:p>
        </p:txBody>
      </p:sp>
      <p:sp>
        <p:nvSpPr>
          <p:cNvPr id="12" name="Question"/>
          <p:cNvSpPr>
            <a:spLocks noGrp="1"/>
          </p:cNvSpPr>
          <p:nvPr>
            <p:ph sz="quarter" idx="15" hasCustomPrompt="1"/>
          </p:nvPr>
        </p:nvSpPr>
        <p:spPr>
          <a:xfrm>
            <a:off x="304800" y="1752600"/>
            <a:ext cx="8534400" cy="4419600"/>
          </a:xfrm>
          <a:prstGeom prst="rect">
            <a:avLst/>
          </a:prstGeom>
        </p:spPr>
        <p:txBody>
          <a:bodyPr/>
          <a:lstStyle>
            <a:lvl1pPr marL="12700" indent="0">
              <a:spcBef>
                <a:spcPts val="1000"/>
              </a:spcBef>
              <a:buNone/>
              <a:tabLst/>
              <a:defRPr sz="2800" b="0" i="0" baseline="0">
                <a:solidFill>
                  <a:schemeClr val="tx1"/>
                </a:solidFill>
                <a:latin typeface="Calibri" charset="0"/>
                <a:ea typeface="Calibri" charset="0"/>
                <a:cs typeface="Calibri" charset="0"/>
              </a:defRPr>
            </a:lvl1pPr>
            <a:lvl2pPr marL="803275" indent="-450850">
              <a:spcBef>
                <a:spcPts val="1000"/>
              </a:spcBef>
              <a:buFont typeface="+mj-lt"/>
              <a:buNone/>
              <a:tabLst/>
              <a:defRPr sz="2800" b="0" i="0" baseline="0">
                <a:solidFill>
                  <a:schemeClr val="tx1"/>
                </a:solidFill>
                <a:latin typeface="Calibri" charset="0"/>
                <a:ea typeface="Calibri" charset="0"/>
                <a:cs typeface="Calibri" charset="0"/>
              </a:defRPr>
            </a:lvl2pPr>
            <a:lvl3pPr marL="803275" indent="-790575">
              <a:buNone/>
              <a:tabLst/>
              <a:defRPr sz="2800" b="0" i="0">
                <a:latin typeface="Calibri" charset="0"/>
                <a:ea typeface="Calibri" charset="0"/>
                <a:cs typeface="Calibri"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events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523935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8351"/>
            <a:ext cx="8534400" cy="831850"/>
          </a:xfrm>
        </p:spPr>
        <p:txBody>
          <a:bodyPr/>
          <a:lstStyle/>
          <a:p>
            <a:r>
              <a:rPr lang="en-US"/>
              <a:t>Language</a:t>
            </a:r>
            <a:endParaRPr lang="en-US" dirty="0"/>
          </a:p>
        </p:txBody>
      </p:sp>
      <p:sp>
        <p:nvSpPr>
          <p:cNvPr id="7" name="Definition of Key Term"/>
          <p:cNvSpPr>
            <a:spLocks noGrp="1"/>
          </p:cNvSpPr>
          <p:nvPr>
            <p:ph sz="quarter" idx="15" hasCustomPrompt="1"/>
          </p:nvPr>
        </p:nvSpPr>
        <p:spPr>
          <a:xfrm>
            <a:off x="304800" y="1752600"/>
            <a:ext cx="8534400" cy="4114800"/>
          </a:xfrm>
          <a:prstGeom prst="rect">
            <a:avLst/>
          </a:prstGeom>
        </p:spPr>
        <p:txBody>
          <a:bodyPr/>
          <a:lstStyle>
            <a:lvl1pPr marL="292608" indent="-292608">
              <a:spcBef>
                <a:spcPts val="1000"/>
              </a:spcBef>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Calibri" charset="0"/>
                <a:ea typeface="Calibri" charset="0"/>
                <a:cs typeface="Calibri"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7006093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914401"/>
            <a:ext cx="8534400" cy="685799"/>
          </a:xfrm>
        </p:spPr>
        <p:txBody>
          <a:bodyPr/>
          <a:lstStyle>
            <a:lvl1pPr>
              <a:defRPr baseline="0"/>
            </a:lvl1pPr>
          </a:lstStyle>
          <a:p>
            <a:r>
              <a:rPr lang="en-US" dirty="0"/>
              <a:t>Anatomy and Physiology Defined</a:t>
            </a:r>
          </a:p>
        </p:txBody>
      </p:sp>
      <p:sp>
        <p:nvSpPr>
          <p:cNvPr id="7" name="Definition of Key Term"/>
          <p:cNvSpPr>
            <a:spLocks noGrp="1"/>
          </p:cNvSpPr>
          <p:nvPr>
            <p:ph sz="quarter" idx="15" hasCustomPrompt="1"/>
          </p:nvPr>
        </p:nvSpPr>
        <p:spPr>
          <a:xfrm>
            <a:off x="304800" y="1905000"/>
            <a:ext cx="8534400" cy="39624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6622711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9" name="TextBox 8">
            <a:extLst>
              <a:ext uri="{FF2B5EF4-FFF2-40B4-BE49-F238E27FC236}">
                <a16:creationId xmlns:a16="http://schemas.microsoft.com/office/drawing/2014/main" id="{FB501DE6-FC1F-4C0F-B099-C234E3326591}"/>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10" name="Slide Number Placeholder 5">
            <a:extLst>
              <a:ext uri="{FF2B5EF4-FFF2-40B4-BE49-F238E27FC236}">
                <a16:creationId xmlns:a16="http://schemas.microsoft.com/office/drawing/2014/main" id="{4E5A6272-279A-4E71-B650-7305815A41A9}"/>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9771030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752599"/>
            <a:ext cx="8534400" cy="4343399"/>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TextBox 6">
            <a:extLst>
              <a:ext uri="{FF2B5EF4-FFF2-40B4-BE49-F238E27FC236}">
                <a16:creationId xmlns:a16="http://schemas.microsoft.com/office/drawing/2014/main" id="{49F3BC24-D00F-46ED-9B77-96B82B16530C}"/>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8" name="Slide Number Placeholder 5">
            <a:extLst>
              <a:ext uri="{FF2B5EF4-FFF2-40B4-BE49-F238E27FC236}">
                <a16:creationId xmlns:a16="http://schemas.microsoft.com/office/drawing/2014/main" id="{F6CBFB03-72E3-4638-BD49-DEAC24330D52}"/>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2539791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22098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7" name="Content Placeholder 6">
            <a:extLst>
              <a:ext uri="{FF2B5EF4-FFF2-40B4-BE49-F238E27FC236}">
                <a16:creationId xmlns:a16="http://schemas.microsoft.com/office/drawing/2014/main" id="{52B1A8B2-2771-405C-ADB7-8F62B695734A}"/>
              </a:ext>
            </a:extLst>
          </p:cNvPr>
          <p:cNvSpPr>
            <a:spLocks noGrp="1"/>
          </p:cNvSpPr>
          <p:nvPr>
            <p:ph sz="quarter" idx="17"/>
          </p:nvPr>
        </p:nvSpPr>
        <p:spPr>
          <a:xfrm>
            <a:off x="304800" y="4191000"/>
            <a:ext cx="8458200" cy="1752600"/>
          </a:xfrm>
          <a:prstGeom prst="rect">
            <a:avLst/>
          </a:prstGeom>
        </p:spPr>
        <p:txBody>
          <a:bodyPr/>
          <a:lstStyle>
            <a:lvl1pPr marL="0" indent="0">
              <a:buNone/>
              <a:defRPr/>
            </a:lvl1pPr>
          </a:lstStyle>
          <a:p>
            <a:pPr lvl="0"/>
            <a:endParaRPr lang="en-US" dirty="0"/>
          </a:p>
        </p:txBody>
      </p:sp>
      <p:sp>
        <p:nvSpPr>
          <p:cNvPr id="8" name="TextBox 7">
            <a:extLst>
              <a:ext uri="{FF2B5EF4-FFF2-40B4-BE49-F238E27FC236}">
                <a16:creationId xmlns:a16="http://schemas.microsoft.com/office/drawing/2014/main" id="{726C990E-8B83-4B60-916E-6CE28C3F6DCA}"/>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9" name="Slide Number Placeholder 5">
            <a:extLst>
              <a:ext uri="{FF2B5EF4-FFF2-40B4-BE49-F238E27FC236}">
                <a16:creationId xmlns:a16="http://schemas.microsoft.com/office/drawing/2014/main" id="{00CD5B1C-2CB6-469B-B41C-DBEBB2CEFA2C}"/>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18953155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44513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752600"/>
            <a:ext cx="4114800" cy="44513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8" name="TextBox 7">
            <a:extLst>
              <a:ext uri="{FF2B5EF4-FFF2-40B4-BE49-F238E27FC236}">
                <a16:creationId xmlns:a16="http://schemas.microsoft.com/office/drawing/2014/main" id="{A1108085-6D8E-4689-991B-902943EB6D3D}"/>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9" name="Slide Number Placeholder 5">
            <a:extLst>
              <a:ext uri="{FF2B5EF4-FFF2-40B4-BE49-F238E27FC236}">
                <a16:creationId xmlns:a16="http://schemas.microsoft.com/office/drawing/2014/main" id="{D16373F4-B83A-400A-A60C-3FCC3DFC45A1}"/>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12647604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752600"/>
            <a:ext cx="41148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8" name="TextBox 7">
            <a:extLst>
              <a:ext uri="{FF2B5EF4-FFF2-40B4-BE49-F238E27FC236}">
                <a16:creationId xmlns:a16="http://schemas.microsoft.com/office/drawing/2014/main" id="{F5E6360E-5B6F-4AAB-86ED-9632394E8A31}"/>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10" name="Slide Number Placeholder 5">
            <a:extLst>
              <a:ext uri="{FF2B5EF4-FFF2-40B4-BE49-F238E27FC236}">
                <a16:creationId xmlns:a16="http://schemas.microsoft.com/office/drawing/2014/main" id="{77BBB985-21A2-4C48-B021-545D1D7D91E5}"/>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
        <p:nvSpPr>
          <p:cNvPr id="11" name="Picture Placeholder 10">
            <a:extLst>
              <a:ext uri="{FF2B5EF4-FFF2-40B4-BE49-F238E27FC236}">
                <a16:creationId xmlns:a16="http://schemas.microsoft.com/office/drawing/2014/main" id="{29D4FC28-04C8-4457-A43C-A23B58100CF5}"/>
              </a:ext>
            </a:extLst>
          </p:cNvPr>
          <p:cNvSpPr>
            <a:spLocks noGrp="1"/>
          </p:cNvSpPr>
          <p:nvPr>
            <p:ph type="pic" sz="quarter" idx="19"/>
          </p:nvPr>
        </p:nvSpPr>
        <p:spPr>
          <a:xfrm>
            <a:off x="5970588" y="4419600"/>
            <a:ext cx="1865312" cy="779463"/>
          </a:xfrm>
          <a:prstGeom prst="rect">
            <a:avLst/>
          </a:prstGeom>
        </p:spPr>
        <p:txBody>
          <a:bodyPr/>
          <a:lstStyle/>
          <a:p>
            <a:endParaRPr lang="en-US"/>
          </a:p>
        </p:txBody>
      </p:sp>
    </p:spTree>
    <p:extLst>
      <p:ext uri="{BB962C8B-B14F-4D97-AF65-F5344CB8AC3E}">
        <p14:creationId xmlns:p14="http://schemas.microsoft.com/office/powerpoint/2010/main" val="6132984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838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
        <p:nvSpPr>
          <p:cNvPr id="7" name="Content Placeholder"/>
          <p:cNvSpPr>
            <a:spLocks noGrp="1"/>
          </p:cNvSpPr>
          <p:nvPr>
            <p:ph sz="quarter" idx="17"/>
          </p:nvPr>
        </p:nvSpPr>
        <p:spPr>
          <a:xfrm>
            <a:off x="313265" y="2980267"/>
            <a:ext cx="8534400" cy="838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TextBox 7">
            <a:extLst>
              <a:ext uri="{FF2B5EF4-FFF2-40B4-BE49-F238E27FC236}">
                <a16:creationId xmlns:a16="http://schemas.microsoft.com/office/drawing/2014/main" id="{D6301D86-595C-4C8C-8A69-C187BE494230}"/>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9" name="Slide Number Placeholder 5">
            <a:extLst>
              <a:ext uri="{FF2B5EF4-FFF2-40B4-BE49-F238E27FC236}">
                <a16:creationId xmlns:a16="http://schemas.microsoft.com/office/drawing/2014/main" id="{3969569B-6835-4753-9259-94CFABF9200F}"/>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27128524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5350050"/>
            <a:ext cx="8534400" cy="309975"/>
          </a:xfrm>
          <a:prstGeom prst="rect">
            <a:avLst/>
          </a:prstGeom>
        </p:spPr>
        <p:txBody>
          <a:bodyPr/>
          <a:lstStyle>
            <a:lvl1pPr>
              <a:defRPr sz="2000" b="0" i="0">
                <a:latin typeface="Calibri" charset="0"/>
                <a:ea typeface="Calibri" charset="0"/>
                <a:cs typeface="Calibri" charset="0"/>
              </a:defRPr>
            </a:lvl1pPr>
          </a:lstStyle>
          <a:p>
            <a:pPr lvl="0"/>
            <a:r>
              <a:rPr lang="en-US" sz="2000" dirty="0"/>
              <a:t>Figure Title</a:t>
            </a:r>
          </a:p>
        </p:txBody>
      </p:sp>
      <p:sp>
        <p:nvSpPr>
          <p:cNvPr id="3" name="Content Placeholder 2"/>
          <p:cNvSpPr>
            <a:spLocks noGrp="1"/>
          </p:cNvSpPr>
          <p:nvPr>
            <p:ph idx="1"/>
          </p:nvPr>
        </p:nvSpPr>
        <p:spPr>
          <a:xfrm>
            <a:off x="304800" y="820738"/>
            <a:ext cx="8534400" cy="4452937"/>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8" name="Content Placeholder 7"/>
          <p:cNvSpPr>
            <a:spLocks noGrp="1"/>
          </p:cNvSpPr>
          <p:nvPr>
            <p:ph sz="quarter" idx="13" hasCustomPrompt="1"/>
          </p:nvPr>
        </p:nvSpPr>
        <p:spPr>
          <a:xfrm>
            <a:off x="304800" y="5780675"/>
            <a:ext cx="8534400" cy="467725"/>
          </a:xfrm>
          <a:prstGeom prst="rect">
            <a:avLst/>
          </a:prstGeom>
        </p:spPr>
        <p:txBody>
          <a:bodyPr/>
          <a:lstStyle>
            <a:lvl1pPr marL="0" indent="0">
              <a:buNone/>
              <a:defRPr sz="2000" b="0" i="0">
                <a:latin typeface="Calibri" charset="0"/>
                <a:ea typeface="Calibri" charset="0"/>
                <a:cs typeface="Calibri" charset="0"/>
              </a:defRPr>
            </a:lvl1pPr>
          </a:lstStyle>
          <a:p>
            <a:pPr lvl="0"/>
            <a:r>
              <a:rPr lang="en-US" sz="2000" dirty="0"/>
              <a:t>Figure 4.5 Figure title placeholder</a:t>
            </a:r>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2667376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Slide: Version B">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304800" y="5920581"/>
            <a:ext cx="8534400" cy="435770"/>
          </a:xfrm>
          <a:prstGeom prst="rect">
            <a:avLst/>
          </a:prstGeom>
        </p:spPr>
        <p:txBody>
          <a:bodyPr/>
          <a:lstStyle>
            <a:lvl1pPr algn="ctr">
              <a:defRPr b="0" i="0">
                <a:latin typeface="Calibri" charset="0"/>
                <a:ea typeface="Calibri" charset="0"/>
                <a:cs typeface="Calibri" charset="0"/>
              </a:defRPr>
            </a:lvl1pPr>
          </a:lstStyle>
          <a:p>
            <a:r>
              <a:rPr lang="en-US" dirty="0"/>
              <a:t>Image Title</a:t>
            </a:r>
          </a:p>
        </p:txBody>
      </p:sp>
      <p:sp>
        <p:nvSpPr>
          <p:cNvPr id="3" name="Content Placeholder 2"/>
          <p:cNvSpPr>
            <a:spLocks noGrp="1"/>
          </p:cNvSpPr>
          <p:nvPr>
            <p:ph idx="1"/>
          </p:nvPr>
        </p:nvSpPr>
        <p:spPr>
          <a:xfrm>
            <a:off x="304800" y="820738"/>
            <a:ext cx="8534400" cy="4970462"/>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6.xml"/><Relationship Id="rId7" Type="http://schemas.openxmlformats.org/officeDocument/2006/relationships/theme" Target="../theme/theme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 id="2147483983" r:id="rId3"/>
    <p:sldLayoutId id="2147483984" r:id="rId4"/>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295274" y="777242"/>
            <a:ext cx="8543926" cy="975360"/>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Connector 16"/>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 id="2147483985" r:id="rId12"/>
    <p:sldLayoutId id="2147483986" r:id="rId13"/>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43713"/>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b="1" kern="1200">
          <a:solidFill>
            <a:schemeClr val="accent2"/>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704" y="762002"/>
            <a:ext cx="8540496" cy="9906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Lst>
  <p:hf hdr="0" dt="0"/>
  <p:txStyles>
    <p:titleStyle>
      <a:lvl1pPr algn="l" defTabSz="914400" rtl="0" eaLnBrk="1" latinLnBrk="0" hangingPunct="1">
        <a:lnSpc>
          <a:spcPct val="90000"/>
        </a:lnSpc>
        <a:spcBef>
          <a:spcPct val="0"/>
        </a:spcBef>
        <a:buNone/>
        <a:defRPr sz="4000" b="1"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3970" r:id="rId2"/>
  </p:sldLayoutIdLst>
  <p:hf hdr="0" dt="0"/>
  <p:txStyles>
    <p:titleStyle>
      <a:lvl1pPr algn="l" defTabSz="914400" rtl="0" eaLnBrk="1" latinLnBrk="0" hangingPunct="1">
        <a:lnSpc>
          <a:spcPct val="90000"/>
        </a:lnSpc>
        <a:spcBef>
          <a:spcPct val="0"/>
        </a:spcBef>
        <a:buNone/>
        <a:defRPr sz="4000" b="1"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6512"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81" r:id="rId3"/>
    <p:sldLayoutId id="2147483974" r:id="rId4"/>
    <p:sldLayoutId id="2147483975" r:id="rId5"/>
    <p:sldLayoutId id="2147483982" r:id="rId6"/>
  </p:sldLayoutIdLst>
  <p:hf hdr="0" dt="0"/>
  <p:txStyles>
    <p:titleStyle>
      <a:lvl1pPr algn="l" defTabSz="914400" rtl="0" eaLnBrk="1" latinLnBrk="0" hangingPunct="1">
        <a:lnSpc>
          <a:spcPct val="90000"/>
        </a:lnSpc>
        <a:spcBef>
          <a:spcPct val="0"/>
        </a:spcBef>
        <a:buNone/>
        <a:defRPr sz="4000" b="1"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028950" y="6400800"/>
            <a:ext cx="3086100" cy="365125"/>
          </a:xfrm>
          <a:prstGeom prst="rect">
            <a:avLst/>
          </a:prstGeom>
        </p:spPr>
        <p:txBody>
          <a:bodyPr vert="horz" lIns="91440" tIns="45720" rIns="91440" bIns="45720" rtlCol="0" anchor="ctr"/>
          <a:lstStyle>
            <a:lvl1pPr algn="ctr">
              <a:defRPr sz="1200">
                <a:solidFill>
                  <a:schemeClr val="tx1"/>
                </a:solidFill>
              </a:defRPr>
            </a:lvl1pPr>
          </a:lstStyle>
          <a:p>
            <a:r>
              <a:rPr lang="en-US"/>
              <a:t>Copyright ©2017 John Wiley &amp; Sons, Inc. </a:t>
            </a:r>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solidFill>
              </a:defRPr>
            </a:lvl1pPr>
          </a:lstStyle>
          <a:p>
            <a:fld id="{42181430-7FCB-BA4C-90CE-EB7ACCC9EC50}" type="slidenum">
              <a:rPr lang="en-US" smtClean="0"/>
              <a:pPr/>
              <a:t>‹#›</a:t>
            </a:fld>
            <a:endParaRPr lang="en-US" dirty="0"/>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216900"/>
      </p:ext>
    </p:extLst>
  </p:cSld>
  <p:clrMap bg1="lt1" tx1="dk1" bg2="lt2" tx2="dk2" accent1="accent1" accent2="accent2" accent3="accent3" accent4="accent4" accent5="accent5" accent6="accent6" hlink="hlink" folHlink="folHlink"/>
  <p:sldLayoutIdLst>
    <p:sldLayoutId id="2147483978" r:id="rId1"/>
    <p:sldLayoutId id="2147483979"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education.wiley.com/wpng/api/v1/content/resource/a0d994d8-7529-439c-ab3e-ca901a2bc9e2"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8.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8.xml"/><Relationship Id="rId4" Type="http://schemas.openxmlformats.org/officeDocument/2006/relationships/image" Target="../media/image23.jpeg"/></Relationships>
</file>

<file path=ppt/slides/_rels/slide4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8.xml"/><Relationship Id="rId4" Type="http://schemas.openxmlformats.org/officeDocument/2006/relationships/image" Target="../media/image26.jpeg"/></Relationships>
</file>

<file path=ppt/slides/_rels/slide4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1.jpeg"/><Relationship Id="rId1" Type="http://schemas.openxmlformats.org/officeDocument/2006/relationships/slideLayout" Target="../slideLayouts/slideLayout28.xml"/><Relationship Id="rId4" Type="http://schemas.openxmlformats.org/officeDocument/2006/relationships/image" Target="../media/image30.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7.xml"/></Relationships>
</file>

<file path=ppt/slides/_rels/slide5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7.xml"/></Relationships>
</file>

<file path=ppt/slides/_rels/slide5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chor="ctr"/>
          <a:lstStyle/>
          <a:p>
            <a:r>
              <a:rPr lang="en-US" sz="4800" b="1" dirty="0">
                <a:latin typeface="Calibri" panose="020F0502020204030204" pitchFamily="34" charset="0"/>
                <a:cs typeface="Calibri" panose="020F0502020204030204" pitchFamily="34" charset="0"/>
              </a:rPr>
              <a:t>Principles of Anatomy and Physiology</a:t>
            </a:r>
          </a:p>
        </p:txBody>
      </p:sp>
      <p:sp>
        <p:nvSpPr>
          <p:cNvPr id="4" name="Author"/>
          <p:cNvSpPr>
            <a:spLocks noGrp="1"/>
          </p:cNvSpPr>
          <p:nvPr>
            <p:ph sz="quarter" idx="21"/>
          </p:nvPr>
        </p:nvSpPr>
        <p:spPr>
          <a:prstGeom prst="rect">
            <a:avLst/>
          </a:prstGeom>
        </p:spPr>
        <p:txBody>
          <a:bodyPr/>
          <a:lstStyle/>
          <a:p>
            <a:r>
              <a:rPr lang="sv-SE" dirty="0">
                <a:latin typeface="Calibri" panose="020F0502020204030204" pitchFamily="34" charset="0"/>
                <a:cs typeface="Calibri" panose="020F0502020204030204" pitchFamily="34" charset="0"/>
              </a:rPr>
              <a:t>Gerard Tortora and Bryan Derrickson</a:t>
            </a:r>
          </a:p>
        </p:txBody>
      </p:sp>
      <p:sp>
        <p:nvSpPr>
          <p:cNvPr id="3" name="Edition"/>
          <p:cNvSpPr>
            <a:spLocks noGrp="1"/>
          </p:cNvSpPr>
          <p:nvPr>
            <p:ph sz="quarter" idx="22"/>
          </p:nvPr>
        </p:nvSpPr>
        <p:spPr>
          <a:prstGeom prst="rect">
            <a:avLst/>
          </a:prstGeom>
        </p:spPr>
        <p:txBody>
          <a:bodyPr/>
          <a:lstStyle/>
          <a:p>
            <a:r>
              <a:rPr lang="en-US" dirty="0">
                <a:latin typeface="Calibri" panose="020F0502020204030204" pitchFamily="34" charset="0"/>
                <a:cs typeface="Calibri" panose="020F0502020204030204" pitchFamily="34" charset="0"/>
              </a:rPr>
              <a:t>Sixteenth Edition</a:t>
            </a:r>
          </a:p>
        </p:txBody>
      </p:sp>
      <p:sp>
        <p:nvSpPr>
          <p:cNvPr id="5" name="CN"/>
          <p:cNvSpPr>
            <a:spLocks noGrp="1"/>
          </p:cNvSpPr>
          <p:nvPr>
            <p:ph sz="quarter" idx="19"/>
          </p:nvPr>
        </p:nvSpPr>
        <p:spPr>
          <a:xfrm>
            <a:off x="152400" y="3628572"/>
            <a:ext cx="8839200" cy="533400"/>
          </a:xfrm>
        </p:spPr>
        <p:txBody>
          <a:bodyPr anchor="ctr"/>
          <a:lstStyle/>
          <a:p>
            <a:r>
              <a:rPr lang="en-US" dirty="0">
                <a:latin typeface="Calibri" panose="020F0502020204030204" pitchFamily="34" charset="0"/>
                <a:cs typeface="Calibri" panose="020F0502020204030204" pitchFamily="34" charset="0"/>
              </a:rPr>
              <a:t>Chapter 5</a:t>
            </a:r>
          </a:p>
        </p:txBody>
      </p:sp>
      <p:sp>
        <p:nvSpPr>
          <p:cNvPr id="6" name="CT"/>
          <p:cNvSpPr>
            <a:spLocks noGrp="1"/>
          </p:cNvSpPr>
          <p:nvPr>
            <p:ph sz="quarter" idx="20"/>
          </p:nvPr>
        </p:nvSpPr>
        <p:spPr>
          <a:xfrm>
            <a:off x="152400" y="4366920"/>
            <a:ext cx="8839200" cy="833000"/>
          </a:xfrm>
        </p:spPr>
        <p:txBody>
          <a:bodyPr/>
          <a:lstStyle/>
          <a:p>
            <a:r>
              <a:rPr lang="en-US" altLang="en-US" sz="3600" dirty="0">
                <a:latin typeface="Calibri" panose="020F0502020204030204" pitchFamily="34" charset="0"/>
                <a:cs typeface="Calibri" panose="020F0502020204030204" pitchFamily="34" charset="0"/>
              </a:rPr>
              <a:t>The Integumentary System</a:t>
            </a:r>
          </a:p>
        </p:txBody>
      </p:sp>
      <p:sp>
        <p:nvSpPr>
          <p:cNvPr id="14" name="Content Placeholder 13"/>
          <p:cNvSpPr>
            <a:spLocks noGrp="1"/>
          </p:cNvSpPr>
          <p:nvPr>
            <p:ph sz="quarter" idx="24"/>
          </p:nvPr>
        </p:nvSpPr>
        <p:spPr>
          <a:xfrm>
            <a:off x="152400" y="6003472"/>
            <a:ext cx="8839200" cy="273050"/>
          </a:xfrm>
        </p:spPr>
        <p:txBody>
          <a:bodyPr/>
          <a:lstStyle/>
          <a:p>
            <a:r>
              <a:rPr lang="en-IN" sz="1200" dirty="0">
                <a:solidFill>
                  <a:schemeClr val="bg1"/>
                </a:solidFill>
                <a:latin typeface="Calibri" panose="020F0502020204030204" pitchFamily="34" charset="0"/>
                <a:cs typeface="Calibri" panose="020F0502020204030204" pitchFamily="34" charset="0"/>
              </a:rPr>
              <a:t>This slide deck contains animations. Please disable animations if they cause issues with your device.</a:t>
            </a:r>
          </a:p>
        </p:txBody>
      </p:sp>
      <p:sp>
        <p:nvSpPr>
          <p:cNvPr id="10" name="Content Placeholder 9"/>
          <p:cNvSpPr>
            <a:spLocks noGrp="1"/>
          </p:cNvSpPr>
          <p:nvPr>
            <p:ph sz="quarter" idx="23"/>
          </p:nvPr>
        </p:nvSpPr>
        <p:spPr>
          <a:xfrm>
            <a:off x="1286978" y="6339840"/>
            <a:ext cx="6584482" cy="457200"/>
          </a:xfrm>
          <a:prstGeom prst="rect">
            <a:avLst/>
          </a:prstGeom>
        </p:spPr>
        <p:txBody>
          <a:bodyPr anchor="ctr"/>
          <a:lstStyle/>
          <a:p>
            <a:pPr algn="ctr"/>
            <a:r>
              <a:rPr lang="en-US" sz="1200" dirty="0">
                <a:solidFill>
                  <a:schemeClr val="tx1">
                    <a:tint val="75000"/>
                  </a:schemeClr>
                </a:solidFill>
                <a:latin typeface="Calibri" panose="020F0502020204030204" pitchFamily="34" charset="0"/>
                <a:ea typeface="Times New Roman" charset="0"/>
                <a:cs typeface="Calibri" panose="020F0502020204030204" pitchFamily="34" charset="0"/>
              </a:rPr>
              <a:t>Copyright ©2021 John Wiley &amp; Sons, Inc.</a:t>
            </a:r>
          </a:p>
        </p:txBody>
      </p:sp>
    </p:spTree>
    <p:extLst>
      <p:ext uri="{BB962C8B-B14F-4D97-AF65-F5344CB8AC3E}">
        <p14:creationId xmlns:p14="http://schemas.microsoft.com/office/powerpoint/2010/main" val="3999527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2BE2B-477F-4712-B090-A30BC7976F52}"/>
              </a:ext>
            </a:extLst>
          </p:cNvPr>
          <p:cNvSpPr>
            <a:spLocks noGrp="1"/>
          </p:cNvSpPr>
          <p:nvPr>
            <p:ph type="title"/>
          </p:nvPr>
        </p:nvSpPr>
        <p:spPr/>
        <p:txBody>
          <a:bodyPr/>
          <a:lstStyle/>
          <a:p>
            <a:r>
              <a:rPr lang="en-US" b="1" dirty="0"/>
              <a:t>Introduction</a:t>
            </a:r>
          </a:p>
        </p:txBody>
      </p:sp>
      <p:sp>
        <p:nvSpPr>
          <p:cNvPr id="3" name="Content Placeholder 2">
            <a:extLst>
              <a:ext uri="{FF2B5EF4-FFF2-40B4-BE49-F238E27FC236}">
                <a16:creationId xmlns:a16="http://schemas.microsoft.com/office/drawing/2014/main" id="{D4C830AA-6CC5-4C38-8103-FF183BC12E70}"/>
              </a:ext>
            </a:extLst>
          </p:cNvPr>
          <p:cNvSpPr>
            <a:spLocks noGrp="1"/>
          </p:cNvSpPr>
          <p:nvPr>
            <p:ph sz="quarter" idx="12"/>
          </p:nvPr>
        </p:nvSpPr>
        <p:spPr>
          <a:xfrm>
            <a:off x="304800" y="1752600"/>
            <a:ext cx="8534400" cy="3733800"/>
          </a:xfrm>
        </p:spPr>
        <p:txBody>
          <a:bodyPr/>
          <a:lstStyle/>
          <a:p>
            <a:pPr marL="461963" indent="-461963">
              <a:buSzPct val="100000"/>
              <a:buFont typeface="Arial" panose="020B0604020202020204" pitchFamily="34" charset="0"/>
              <a:buChar char="•"/>
            </a:pPr>
            <a:r>
              <a:rPr lang="en-US" sz="3200" dirty="0"/>
              <a:t>The purpose of the chapter is to:</a:t>
            </a:r>
          </a:p>
          <a:p>
            <a:pPr marL="633413" lvl="1" indent="-461963">
              <a:buSzPct val="100000"/>
              <a:buFont typeface="Arial" panose="020B0604020202020204" pitchFamily="34" charset="0"/>
              <a:buChar char="•"/>
            </a:pPr>
            <a:endParaRPr lang="en-US" dirty="0"/>
          </a:p>
          <a:p>
            <a:pPr marL="633413" lvl="1" indent="-461963">
              <a:buSzPct val="100000"/>
              <a:buFont typeface="Arial" panose="020B0604020202020204" pitchFamily="34" charset="0"/>
              <a:buChar char="•"/>
            </a:pPr>
            <a:r>
              <a:rPr lang="en-US" dirty="0"/>
              <a:t>Describe the structure and functions of the skin </a:t>
            </a:r>
          </a:p>
          <a:p>
            <a:pPr marL="1090613" lvl="2" indent="-461963">
              <a:buSzPct val="100000"/>
              <a:buFont typeface="Arial" panose="020B0604020202020204" pitchFamily="34" charset="0"/>
              <a:buChar char="•"/>
            </a:pPr>
            <a:r>
              <a:rPr lang="en-US" dirty="0"/>
              <a:t>Layers of epidermis and dermis </a:t>
            </a:r>
          </a:p>
          <a:p>
            <a:pPr marL="1090613" lvl="2" indent="-461963">
              <a:buSzPct val="100000"/>
              <a:buFont typeface="Arial" panose="020B0604020202020204" pitchFamily="34" charset="0"/>
              <a:buChar char="•"/>
            </a:pPr>
            <a:r>
              <a:rPr lang="en-US" dirty="0"/>
              <a:t>Types of cells in skin </a:t>
            </a:r>
          </a:p>
          <a:p>
            <a:pPr marL="633413" lvl="1" indent="-461963">
              <a:buSzPct val="100000"/>
              <a:buFont typeface="Arial" panose="020B0604020202020204" pitchFamily="34" charset="0"/>
              <a:buChar char="•"/>
            </a:pPr>
            <a:endParaRPr lang="en-US" dirty="0"/>
          </a:p>
          <a:p>
            <a:pPr marL="633413" lvl="1" indent="-461963">
              <a:buSzPct val="100000"/>
              <a:buFont typeface="Arial" panose="020B0604020202020204" pitchFamily="34" charset="0"/>
              <a:buChar char="•"/>
            </a:pPr>
            <a:r>
              <a:rPr lang="en-US" dirty="0"/>
              <a:t>Distinguish accessory structures and different gland of skin </a:t>
            </a:r>
          </a:p>
          <a:p>
            <a:pPr marL="633413" lvl="1" indent="-461963">
              <a:buSzPct val="100000"/>
              <a:buFont typeface="Arial" panose="020B0604020202020204" pitchFamily="34" charset="0"/>
              <a:buChar char="•"/>
            </a:pPr>
            <a:endParaRPr lang="en-US" dirty="0"/>
          </a:p>
          <a:p>
            <a:pPr marL="633413" lvl="1" indent="-461963">
              <a:buSzPct val="100000"/>
              <a:buFont typeface="Arial" panose="020B0604020202020204" pitchFamily="34" charset="0"/>
              <a:buChar char="•"/>
            </a:pPr>
            <a:r>
              <a:rPr lang="en-US" dirty="0"/>
              <a:t>Describe the anatomy of hair and nails </a:t>
            </a:r>
          </a:p>
        </p:txBody>
      </p:sp>
    </p:spTree>
    <p:extLst>
      <p:ext uri="{BB962C8B-B14F-4D97-AF65-F5344CB8AC3E}">
        <p14:creationId xmlns:p14="http://schemas.microsoft.com/office/powerpoint/2010/main" val="3820016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DD9DE-C1FA-4EAE-ADC3-E58758BCFB8F}"/>
              </a:ext>
            </a:extLst>
          </p:cNvPr>
          <p:cNvSpPr>
            <a:spLocks noGrp="1"/>
          </p:cNvSpPr>
          <p:nvPr>
            <p:ph type="title"/>
          </p:nvPr>
        </p:nvSpPr>
        <p:spPr/>
        <p:txBody>
          <a:bodyPr/>
          <a:lstStyle/>
          <a:p>
            <a:r>
              <a:rPr lang="en-US" dirty="0"/>
              <a:t>Animation</a:t>
            </a:r>
          </a:p>
        </p:txBody>
      </p:sp>
      <p:sp>
        <p:nvSpPr>
          <p:cNvPr id="3" name="Content Placeholder 2">
            <a:extLst>
              <a:ext uri="{FF2B5EF4-FFF2-40B4-BE49-F238E27FC236}">
                <a16:creationId xmlns:a16="http://schemas.microsoft.com/office/drawing/2014/main" id="{4525C0EA-374C-4D26-8A69-A74829BC7B3A}"/>
              </a:ext>
            </a:extLst>
          </p:cNvPr>
          <p:cNvSpPr>
            <a:spLocks noGrp="1"/>
          </p:cNvSpPr>
          <p:nvPr>
            <p:ph sz="quarter" idx="12"/>
          </p:nvPr>
        </p:nvSpPr>
        <p:spPr/>
        <p:txBody>
          <a:bodyPr/>
          <a:lstStyle/>
          <a:p>
            <a:pPr marL="0" indent="0">
              <a:buNone/>
            </a:pPr>
            <a:r>
              <a:rPr lang="en-US" dirty="0">
                <a:hlinkClick r:id="rId3"/>
              </a:rPr>
              <a:t>The Integumentary System</a:t>
            </a:r>
            <a:endParaRPr lang="en-US" dirty="0"/>
          </a:p>
        </p:txBody>
      </p:sp>
    </p:spTree>
    <p:extLst>
      <p:ext uri="{BB962C8B-B14F-4D97-AF65-F5344CB8AC3E}">
        <p14:creationId xmlns:p14="http://schemas.microsoft.com/office/powerpoint/2010/main" val="3824802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99A5B-D869-48A9-B71A-043D711C5BE5}"/>
              </a:ext>
            </a:extLst>
          </p:cNvPr>
          <p:cNvSpPr>
            <a:spLocks noGrp="1"/>
          </p:cNvSpPr>
          <p:nvPr>
            <p:ph type="title"/>
          </p:nvPr>
        </p:nvSpPr>
        <p:spPr/>
        <p:txBody>
          <a:bodyPr/>
          <a:lstStyle/>
          <a:p>
            <a:r>
              <a:rPr lang="en-US" dirty="0"/>
              <a:t>Maintenance of Homeostasis</a:t>
            </a:r>
            <a:endParaRPr lang="en-US" sz="2000" b="0" dirty="0"/>
          </a:p>
        </p:txBody>
      </p:sp>
      <p:pic>
        <p:nvPicPr>
          <p:cNvPr id="9" name="Content Placeholder 8" descr="An illustration shows a page titled, Focus on Homeostasis. An introductory text reads, “Contributions of the Integumentary System for All Body Systems: Skin and hair provide barriers that protect all internal organs from damaging agents in external environment; and sweat glands and skin blood vessels regulate body temperature, needed for proper functioning of other body systems.” An illustration shows an unclad human female body. Several body systems with corresponding illustrations are as follows:&#10;Skeletal System: Skin helps activate vitamin D, needed for proper absorption of dietary calcium and phosphorus to build and maintain bones. A schematic of a human body highlights the skeletal system.&#10;Muscular System: Skin helps provide calcium ions, needed for muscle contraction. A schematic of a human body highlights the muscular system.&#10;Nervous System: Nerve endings in skin and subcutaneous tissue provide input to brain for touch, pressure, thermal, and pain sensations. A schematic of a human body highlights the nervous system.&#10;Endocrine System: Keratinocytes in skin help activate vitamin D to calcitriol, a hormone that aids absorption of dietary calcium and phosphorus. A schematic of a human body highlights the endocrine system.&#10;Cardiovascular System: Local chemical changes in dermis cause widening and narrowing of skin blood vessels, which help adjust blood flow to skin. A schematic of a human body highlights the cardiovascular system.&#10;Lymphatic System and Immunity: Skin is first line of defense in immunity, providing mechanical barriers and chemical secretions that discourage penetration and growth of microbes; Dendritic cells in epidermis participate in immune responses by recognizing and processing foreign antigens; and macrophages in dermis phagocytize microbes that penetrate skin surface. A schematic of a human body highlights the lymphoid system.&#10;Respiratory System: Hairs in nose filter dust particles from inhaled air and stimulation of pain nerve endings in skin may alter breathing rate. A schematic of a human body highlights the respiratory system.&#10;Digestive System: Skin helps activate vitamin D to the hormone calcitriol, which promotes absorption of dietary calcium and phosphorus in small intestine. A schematic of a human body highlights the digestive system.&#10;Urinary System: Kidney cells receive partially activated vitamin D hormone from skin and convert it to calcitriol; and some waste products are excreted from body in sweat, contributing to excretion by urinary system. A schematic of a human body highlights the urinary system.&#10;Genital Systems: Nerve endings in skin and subcutaneous tissue respond to erotic stimuli, thereby contributing to sexual pleasure; Suckling of a baby stimulates nerve endings in skin, leading to milk ejection; Mammary glands (modified sweat glands) produce milk; and skin stretches during pregnancy as fetus enlarges. Two schematics of a human male body and a human female body highlight the reproductive system.">
            <a:extLst>
              <a:ext uri="{FF2B5EF4-FFF2-40B4-BE49-F238E27FC236}">
                <a16:creationId xmlns:a16="http://schemas.microsoft.com/office/drawing/2014/main" id="{64D4B336-89E0-44D3-A17E-BB46B61561D4}"/>
              </a:ext>
            </a:extLst>
          </p:cNvPr>
          <p:cNvPicPr>
            <a:picLocks noGrp="1" noChangeAspect="1"/>
          </p:cNvPicPr>
          <p:nvPr>
            <p:ph sz="quarter" idx="16"/>
          </p:nvPr>
        </p:nvPicPr>
        <p:blipFill>
          <a:blip r:embed="rId2" cstate="print">
            <a:extLst>
              <a:ext uri="{28A0092B-C50C-407E-A947-70E740481C1C}">
                <a14:useLocalDpi xmlns:a14="http://schemas.microsoft.com/office/drawing/2010/main" val="0"/>
              </a:ext>
            </a:extLst>
          </a:blip>
          <a:stretch>
            <a:fillRect/>
          </a:stretch>
        </p:blipFill>
        <p:spPr>
          <a:xfrm>
            <a:off x="1630680" y="1341120"/>
            <a:ext cx="5288280" cy="4968240"/>
          </a:xfrm>
        </p:spPr>
      </p:pic>
    </p:spTree>
    <p:extLst>
      <p:ext uri="{BB962C8B-B14F-4D97-AF65-F5344CB8AC3E}">
        <p14:creationId xmlns:p14="http://schemas.microsoft.com/office/powerpoint/2010/main" val="82646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2F64387-E7F3-4A29-849E-90EF5162252C}"/>
              </a:ext>
            </a:extLst>
          </p:cNvPr>
          <p:cNvSpPr>
            <a:spLocks noGrp="1"/>
          </p:cNvSpPr>
          <p:nvPr>
            <p:ph type="title"/>
          </p:nvPr>
        </p:nvSpPr>
        <p:spPr>
          <a:xfrm>
            <a:off x="304800" y="3082637"/>
            <a:ext cx="8534400" cy="692726"/>
          </a:xfrm>
        </p:spPr>
        <p:txBody>
          <a:bodyPr>
            <a:normAutofit/>
          </a:bodyPr>
          <a:lstStyle/>
          <a:p>
            <a:pPr algn="ctr"/>
            <a:r>
              <a:rPr lang="en-US" dirty="0"/>
              <a:t>Structure of the Skin</a:t>
            </a:r>
          </a:p>
        </p:txBody>
      </p:sp>
    </p:spTree>
    <p:extLst>
      <p:ext uri="{BB962C8B-B14F-4D97-AF65-F5344CB8AC3E}">
        <p14:creationId xmlns:p14="http://schemas.microsoft.com/office/powerpoint/2010/main" val="3003218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BDFA2-1D67-4F21-96B8-423C53E76F2B}"/>
              </a:ext>
            </a:extLst>
          </p:cNvPr>
          <p:cNvSpPr>
            <a:spLocks noGrp="1"/>
          </p:cNvSpPr>
          <p:nvPr>
            <p:ph type="title"/>
          </p:nvPr>
        </p:nvSpPr>
        <p:spPr/>
        <p:txBody>
          <a:bodyPr/>
          <a:lstStyle/>
          <a:p>
            <a:r>
              <a:rPr lang="en-US" dirty="0"/>
              <a:t>Layers of the Skin</a:t>
            </a:r>
            <a:endParaRPr lang="en-US" sz="2000" dirty="0"/>
          </a:p>
        </p:txBody>
      </p:sp>
      <p:sp>
        <p:nvSpPr>
          <p:cNvPr id="3" name="Content Placeholder 2">
            <a:extLst>
              <a:ext uri="{FF2B5EF4-FFF2-40B4-BE49-F238E27FC236}">
                <a16:creationId xmlns:a16="http://schemas.microsoft.com/office/drawing/2014/main" id="{DA7E9C3E-28D1-430E-948D-0B12B698CFD5}"/>
              </a:ext>
            </a:extLst>
          </p:cNvPr>
          <p:cNvSpPr>
            <a:spLocks noGrp="1"/>
          </p:cNvSpPr>
          <p:nvPr>
            <p:ph sz="quarter" idx="16"/>
          </p:nvPr>
        </p:nvSpPr>
        <p:spPr>
          <a:xfrm>
            <a:off x="304800" y="1600201"/>
            <a:ext cx="8141616" cy="4583784"/>
          </a:xfrm>
        </p:spPr>
        <p:txBody>
          <a:bodyPr/>
          <a:lstStyle/>
          <a:p>
            <a:pPr marL="457200" indent="-457200">
              <a:lnSpc>
                <a:spcPct val="100000"/>
              </a:lnSpc>
              <a:spcBef>
                <a:spcPts val="624"/>
              </a:spcBef>
              <a:spcAft>
                <a:spcPts val="600"/>
              </a:spcAft>
              <a:buFont typeface="Arial" panose="020B0604020202020204" pitchFamily="34" charset="0"/>
              <a:buChar char="•"/>
            </a:pPr>
            <a:r>
              <a:rPr lang="en-US" sz="3200" dirty="0">
                <a:latin typeface="Calibri" panose="020F0502020204030204" pitchFamily="34" charset="0"/>
              </a:rPr>
              <a:t>The skin has 2 major layers:</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rPr>
              <a:t>Epidermis – the most superficial layer</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rPr>
              <a:t>Dermis – layer deep to the epidermis</a:t>
            </a:r>
          </a:p>
          <a:p>
            <a:pPr marL="457200" lvl="1" indent="-457200">
              <a:lnSpc>
                <a:spcPct val="100000"/>
              </a:lnSpc>
              <a:spcBef>
                <a:spcPts val="624"/>
              </a:spcBef>
              <a:spcAft>
                <a:spcPts val="600"/>
              </a:spcAft>
              <a:buClr>
                <a:schemeClr val="accent2"/>
              </a:buClr>
              <a:buSzPct val="80000"/>
            </a:pPr>
            <a:endParaRPr lang="en-US" sz="3200" dirty="0">
              <a:latin typeface="Calibri" panose="020F0502020204030204" pitchFamily="34" charset="0"/>
            </a:endParaRPr>
          </a:p>
          <a:p>
            <a:pPr marL="457200" lvl="1" indent="-457200">
              <a:lnSpc>
                <a:spcPct val="100000"/>
              </a:lnSpc>
              <a:spcBef>
                <a:spcPts val="624"/>
              </a:spcBef>
              <a:spcAft>
                <a:spcPts val="600"/>
              </a:spcAft>
              <a:buClr>
                <a:schemeClr val="accent2"/>
              </a:buClr>
              <a:buSzPct val="80000"/>
            </a:pPr>
            <a:r>
              <a:rPr lang="en-US" sz="3200" dirty="0">
                <a:latin typeface="Calibri" panose="020F0502020204030204" pitchFamily="34" charset="0"/>
              </a:rPr>
              <a:t>Hypodermis – also called the subcutaneous (</a:t>
            </a:r>
            <a:r>
              <a:rPr lang="en-US" sz="3200" dirty="0" err="1">
                <a:latin typeface="Calibri" panose="020F0502020204030204" pitchFamily="34" charset="0"/>
              </a:rPr>
              <a:t>subQ</a:t>
            </a:r>
            <a:r>
              <a:rPr lang="en-US" sz="3200" dirty="0">
                <a:latin typeface="Calibri" panose="020F0502020204030204" pitchFamily="34" charset="0"/>
              </a:rPr>
              <a:t>) layer; located deep to the dermis but not a layer of the skin</a:t>
            </a:r>
          </a:p>
          <a:p>
            <a:pPr marL="914400" lvl="2" indent="-457200">
              <a:lnSpc>
                <a:spcPct val="100000"/>
              </a:lnSpc>
              <a:spcBef>
                <a:spcPts val="624"/>
              </a:spcBef>
              <a:spcAft>
                <a:spcPts val="600"/>
              </a:spcAft>
              <a:buClr>
                <a:schemeClr val="accent2"/>
              </a:buClr>
              <a:buSzPct val="80000"/>
            </a:pPr>
            <a:r>
              <a:rPr lang="en-US" sz="2800" dirty="0">
                <a:latin typeface="Calibri" panose="020F0502020204030204" pitchFamily="34" charset="0"/>
              </a:rPr>
              <a:t>Composed of areolar and adipose tissue</a:t>
            </a:r>
          </a:p>
        </p:txBody>
      </p:sp>
    </p:spTree>
    <p:extLst>
      <p:ext uri="{BB962C8B-B14F-4D97-AF65-F5344CB8AC3E}">
        <p14:creationId xmlns:p14="http://schemas.microsoft.com/office/powerpoint/2010/main" val="2474439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87CDE-7724-4B17-8B8A-C7B0CED8DF58}"/>
              </a:ext>
            </a:extLst>
          </p:cNvPr>
          <p:cNvSpPr>
            <a:spLocks noGrp="1"/>
          </p:cNvSpPr>
          <p:nvPr>
            <p:ph type="title"/>
          </p:nvPr>
        </p:nvSpPr>
        <p:spPr>
          <a:xfrm>
            <a:off x="304800" y="453594"/>
            <a:ext cx="8534400" cy="1115643"/>
          </a:xfrm>
        </p:spPr>
        <p:txBody>
          <a:bodyPr>
            <a:noAutofit/>
          </a:bodyPr>
          <a:lstStyle/>
          <a:p>
            <a:r>
              <a:rPr lang="en-US" dirty="0"/>
              <a:t>Components of the Integumentary System </a:t>
            </a:r>
            <a:endParaRPr lang="en-US" sz="2600" b="0" dirty="0"/>
          </a:p>
        </p:txBody>
      </p:sp>
      <p:pic>
        <p:nvPicPr>
          <p:cNvPr id="9" name="Content Placeholder 7" descr="A diagram (a) shows a sectional view of the skin and subcutaneous layer with 3 layers: the subcutaneous layer, the dermis, and the epidermis. The dermis is divided into 2 regions. The papillary region, and the reticular region. The papillary vascular plexus is located in the papillary region just below the epidermis. A vein and an artery, blood vessels embedded in adipose tissue within the subcutaneous layer, extend into the dermis, and the connection between 2 veins is labeled the cutaneous vascular plexus. A sensory nerve and a free nerve ending rise from the subcutaneous layer, through the dermis, and to the edge of the epidermis. A sweat pore originates in the dermis and penetrates the epidermis, while eccrine and apocrine sweat glands are coiled in the dermis beneath 2 sweat pores. The lamellar corpuscle is coiled and extends from the subcutaneous layer, and the arrector pili muscle extends from the bottom of and runs alongside the hair follicle within the dermis. A hair extends from the hair root within the follicle and penetrates the epidermis. The tactile corpuscle is located just below the epidermis and the sebaceous gland is located between the hair follicle and the arrector pili muscle. A hair shaft rises from the surface of the epidermis, and a section of the epidermal surface is lifted to show epidermal ridges. Dermal papillae are located under the ridges, and below these is the capillary loop.">
            <a:extLst>
              <a:ext uri="{FF2B5EF4-FFF2-40B4-BE49-F238E27FC236}">
                <a16:creationId xmlns:a16="http://schemas.microsoft.com/office/drawing/2014/main" id="{EBFAF22A-6112-4217-9887-3F2C9094839B}"/>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1371600" y="1569237"/>
            <a:ext cx="5742308" cy="4724883"/>
          </a:xfrm>
          <a:prstGeom prst="rect">
            <a:avLst/>
          </a:prstGeom>
        </p:spPr>
      </p:pic>
    </p:spTree>
    <p:extLst>
      <p:ext uri="{BB962C8B-B14F-4D97-AF65-F5344CB8AC3E}">
        <p14:creationId xmlns:p14="http://schemas.microsoft.com/office/powerpoint/2010/main" val="520910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2EC8F-43DE-4375-AD4B-2E4D003EA309}"/>
              </a:ext>
            </a:extLst>
          </p:cNvPr>
          <p:cNvSpPr>
            <a:spLocks noGrp="1"/>
          </p:cNvSpPr>
          <p:nvPr>
            <p:ph type="title"/>
          </p:nvPr>
        </p:nvSpPr>
        <p:spPr>
          <a:xfrm>
            <a:off x="304800" y="438321"/>
            <a:ext cx="8534400" cy="1014221"/>
          </a:xfrm>
        </p:spPr>
        <p:txBody>
          <a:bodyPr>
            <a:normAutofit fontScale="90000"/>
          </a:bodyPr>
          <a:lstStyle/>
          <a:p>
            <a:r>
              <a:rPr lang="en-US" sz="4400" dirty="0"/>
              <a:t>Components of the Integumentary System </a:t>
            </a:r>
            <a:endParaRPr lang="en-US" sz="2900" b="0" dirty="0"/>
          </a:p>
        </p:txBody>
      </p:sp>
      <p:pic>
        <p:nvPicPr>
          <p:cNvPr id="7" name="Content Placeholder 37" descr="An L M (b) at 60 times magnification displays a sectional view of the skin. It shows the papillary region of the dermis near the epidermis, the reticular region at roughly the midpoint of the dermis, a sebaceous, or oil, gland, next to a hair follicle, and the hair root within the follicle. The hair extends outward through the epidermis.">
            <a:extLst>
              <a:ext uri="{FF2B5EF4-FFF2-40B4-BE49-F238E27FC236}">
                <a16:creationId xmlns:a16="http://schemas.microsoft.com/office/drawing/2014/main" id="{5C013A31-6993-4A94-9ABE-D2D8A80FCD9D}"/>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304800" y="1818513"/>
            <a:ext cx="4221979" cy="4475607"/>
          </a:xfrm>
        </p:spPr>
      </p:pic>
      <p:pic>
        <p:nvPicPr>
          <p:cNvPr id="10" name="Content Placeholder 39" descr="An L M (c) at 250 times magnification displays a sectional view of dermal papillae, epidermal ridges, and epidermal layers. It shows the stratum corneum, the outermost layer of the skin, the stratum lucidum, the stratum granulosum, the stratum spinosum, the thickest section, and the stratum basale, which forms the epidermal peg. The tactile corpuscle is located within a dermal papilla.">
            <a:extLst>
              <a:ext uri="{FF2B5EF4-FFF2-40B4-BE49-F238E27FC236}">
                <a16:creationId xmlns:a16="http://schemas.microsoft.com/office/drawing/2014/main" id="{F83F288D-229A-4961-96C1-76176C952B4C}"/>
              </a:ext>
            </a:extLst>
          </p:cNvPr>
          <p:cNvPicPr>
            <a:picLocks noGrp="1" noChangeAspect="1"/>
          </p:cNvPicPr>
          <p:nvPr>
            <p:ph sz="quarter" idx="17"/>
          </p:nvPr>
        </p:nvPicPr>
        <p:blipFill>
          <a:blip r:embed="rId3">
            <a:extLst>
              <a:ext uri="{28A0092B-C50C-407E-A947-70E740481C1C}">
                <a14:useLocalDpi xmlns:a14="http://schemas.microsoft.com/office/drawing/2010/main" val="0"/>
              </a:ext>
            </a:extLst>
          </a:blip>
          <a:stretch>
            <a:fillRect/>
          </a:stretch>
        </p:blipFill>
        <p:spPr>
          <a:xfrm>
            <a:off x="4938566" y="1743863"/>
            <a:ext cx="3900634" cy="4475606"/>
          </a:xfrm>
        </p:spPr>
      </p:pic>
    </p:spTree>
    <p:extLst>
      <p:ext uri="{BB962C8B-B14F-4D97-AF65-F5344CB8AC3E}">
        <p14:creationId xmlns:p14="http://schemas.microsoft.com/office/powerpoint/2010/main" val="1319757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D8A381B-5D13-4A5B-B6FD-EB8A59D0F557}"/>
              </a:ext>
            </a:extLst>
          </p:cNvPr>
          <p:cNvSpPr>
            <a:spLocks noGrp="1"/>
          </p:cNvSpPr>
          <p:nvPr>
            <p:ph type="title"/>
          </p:nvPr>
        </p:nvSpPr>
        <p:spPr/>
        <p:txBody>
          <a:bodyPr>
            <a:noAutofit/>
          </a:bodyPr>
          <a:lstStyle/>
          <a:p>
            <a:r>
              <a:rPr lang="en-US" dirty="0"/>
              <a:t>Components of the Integumentary System </a:t>
            </a:r>
            <a:endParaRPr lang="en-US" sz="2600" b="0" dirty="0"/>
          </a:p>
        </p:txBody>
      </p:sp>
      <p:pic>
        <p:nvPicPr>
          <p:cNvPr id="26" name="Content Placeholder 19" descr="An L M (d) at 100 times magnification displays a relationship among epidermal ridges, dermal papillae, and epidermal pegs. The epidermal ridges are present on the top surface of the skin. The epithelial extensions projecting into the underlying connective tissue are labeled epidermal peg and are lined by layer of dermal papilla. ">
            <a:extLst>
              <a:ext uri="{FF2B5EF4-FFF2-40B4-BE49-F238E27FC236}">
                <a16:creationId xmlns:a16="http://schemas.microsoft.com/office/drawing/2014/main" id="{1C31ADF6-4EFF-46AE-A541-F947C6E62C0F}"/>
              </a:ext>
            </a:extLst>
          </p:cNvPr>
          <p:cNvPicPr>
            <a:picLocks noGrp="1" noChangeAspect="1"/>
          </p:cNvPicPr>
          <p:nvPr>
            <p:ph sz="quarter" idx="16"/>
          </p:nvPr>
        </p:nvPicPr>
        <p:blipFill>
          <a:blip r:embed="rId2" cstate="print">
            <a:extLst>
              <a:ext uri="{28A0092B-C50C-407E-A947-70E740481C1C}">
                <a14:useLocalDpi xmlns:a14="http://schemas.microsoft.com/office/drawing/2010/main" val="0"/>
              </a:ext>
            </a:extLst>
          </a:blip>
          <a:stretch>
            <a:fillRect/>
          </a:stretch>
        </p:blipFill>
        <p:spPr>
          <a:xfrm>
            <a:off x="847205" y="2069176"/>
            <a:ext cx="3029989" cy="2186247"/>
          </a:xfrm>
          <a:prstGeom prst="rect">
            <a:avLst/>
          </a:prstGeom>
        </p:spPr>
      </p:pic>
      <p:pic>
        <p:nvPicPr>
          <p:cNvPr id="27" name="Content Placeholder 21" descr="An enlarged photo (e) shows epidermal ridges and sweat pores on the surface of a finger.">
            <a:extLst>
              <a:ext uri="{FF2B5EF4-FFF2-40B4-BE49-F238E27FC236}">
                <a16:creationId xmlns:a16="http://schemas.microsoft.com/office/drawing/2014/main" id="{3D29D18B-F98E-4E0E-AC63-9985ED2E14CA}"/>
              </a:ext>
            </a:extLst>
          </p:cNvPr>
          <p:cNvPicPr>
            <a:picLocks noGrp="1" noChangeAspect="1"/>
          </p:cNvPicPr>
          <p:nvPr>
            <p:ph sz="quarter" idx="17"/>
          </p:nvPr>
        </p:nvPicPr>
        <p:blipFill>
          <a:blip r:embed="rId3" cstate="print">
            <a:extLst>
              <a:ext uri="{28A0092B-C50C-407E-A947-70E740481C1C}">
                <a14:useLocalDpi xmlns:a14="http://schemas.microsoft.com/office/drawing/2010/main" val="0"/>
              </a:ext>
            </a:extLst>
          </a:blip>
          <a:stretch>
            <a:fillRect/>
          </a:stretch>
        </p:blipFill>
        <p:spPr>
          <a:xfrm>
            <a:off x="5135880" y="2173085"/>
            <a:ext cx="3291840" cy="1978429"/>
          </a:xfrm>
          <a:prstGeom prst="rect">
            <a:avLst/>
          </a:prstGeom>
        </p:spPr>
      </p:pic>
      <p:pic>
        <p:nvPicPr>
          <p:cNvPr id="28" name="Content Placeholder 25" descr="An S E M shows the layers of the epidermis and the dermis. The epidermis appears smoother and layered, while the dermis appears rougher, with many overlapping pockets of space.">
            <a:extLst>
              <a:ext uri="{FF2B5EF4-FFF2-40B4-BE49-F238E27FC236}">
                <a16:creationId xmlns:a16="http://schemas.microsoft.com/office/drawing/2014/main" id="{BDEFD652-378C-46A9-9068-0EA77FBFA863}"/>
              </a:ext>
            </a:extLst>
          </p:cNvPr>
          <p:cNvPicPr>
            <a:picLocks noGrp="1" noChangeAspect="1"/>
          </p:cNvPicPr>
          <p:nvPr>
            <p:ph sz="quarter" idx="18"/>
          </p:nvPr>
        </p:nvPicPr>
        <p:blipFill>
          <a:blip r:embed="rId4" cstate="print">
            <a:extLst>
              <a:ext uri="{28A0092B-C50C-407E-A947-70E740481C1C}">
                <a14:useLocalDpi xmlns:a14="http://schemas.microsoft.com/office/drawing/2010/main" val="0"/>
              </a:ext>
            </a:extLst>
          </a:blip>
          <a:stretch>
            <a:fillRect/>
          </a:stretch>
        </p:blipFill>
        <p:spPr>
          <a:xfrm>
            <a:off x="3115964" y="4251456"/>
            <a:ext cx="3287305" cy="1998833"/>
          </a:xfrm>
          <a:prstGeom prst="rect">
            <a:avLst/>
          </a:prstGeom>
        </p:spPr>
      </p:pic>
    </p:spTree>
    <p:extLst>
      <p:ext uri="{BB962C8B-B14F-4D97-AF65-F5344CB8AC3E}">
        <p14:creationId xmlns:p14="http://schemas.microsoft.com/office/powerpoint/2010/main" val="878640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EA6EF-D451-4AE6-8F04-AB837754E23C}"/>
              </a:ext>
            </a:extLst>
          </p:cNvPr>
          <p:cNvSpPr>
            <a:spLocks noGrp="1"/>
          </p:cNvSpPr>
          <p:nvPr>
            <p:ph type="title"/>
          </p:nvPr>
        </p:nvSpPr>
        <p:spPr/>
        <p:txBody>
          <a:bodyPr/>
          <a:lstStyle/>
          <a:p>
            <a:r>
              <a:rPr lang="en-US" dirty="0"/>
              <a:t>The Epidermis </a:t>
            </a:r>
            <a:endParaRPr lang="en-US" sz="2600" b="0" dirty="0"/>
          </a:p>
        </p:txBody>
      </p:sp>
      <p:sp>
        <p:nvSpPr>
          <p:cNvPr id="3" name="Content Placeholder 2">
            <a:extLst>
              <a:ext uri="{FF2B5EF4-FFF2-40B4-BE49-F238E27FC236}">
                <a16:creationId xmlns:a16="http://schemas.microsoft.com/office/drawing/2014/main" id="{7FE4247E-1489-445A-90E4-877125E58126}"/>
              </a:ext>
            </a:extLst>
          </p:cNvPr>
          <p:cNvSpPr>
            <a:spLocks noGrp="1"/>
          </p:cNvSpPr>
          <p:nvPr>
            <p:ph sz="quarter" idx="16"/>
          </p:nvPr>
        </p:nvSpPr>
        <p:spPr>
          <a:xfrm>
            <a:off x="304800" y="1356361"/>
            <a:ext cx="8534400" cy="4739638"/>
          </a:xfrm>
        </p:spPr>
        <p:txBody>
          <a:bodyPr/>
          <a:lstStyle/>
          <a:p>
            <a:pPr marL="457200" indent="-457200">
              <a:lnSpc>
                <a:spcPct val="100000"/>
              </a:lnSpc>
              <a:spcBef>
                <a:spcPts val="624"/>
              </a:spcBef>
              <a:spcAft>
                <a:spcPts val="600"/>
              </a:spcAft>
              <a:buFont typeface="Arial" panose="020B0604020202020204" pitchFamily="34" charset="0"/>
              <a:buChar char="•"/>
            </a:pPr>
            <a:r>
              <a:rPr lang="en-US" sz="3200" dirty="0">
                <a:latin typeface="Calibri" panose="020F0502020204030204" pitchFamily="34" charset="0"/>
              </a:rPr>
              <a:t>Four major types of cells </a:t>
            </a:r>
          </a:p>
          <a:p>
            <a:pPr marL="1143000" lvl="1" indent="-457200">
              <a:lnSpc>
                <a:spcPct val="100000"/>
              </a:lnSpc>
              <a:spcBef>
                <a:spcPts val="624"/>
              </a:spcBef>
              <a:spcAft>
                <a:spcPts val="600"/>
              </a:spcAft>
              <a:buFont typeface="Arial" panose="020B0604020202020204" pitchFamily="34" charset="0"/>
              <a:buChar char="•"/>
            </a:pPr>
            <a:r>
              <a:rPr lang="en-US" sz="2800" dirty="0">
                <a:latin typeface="Calibri" panose="020F0502020204030204" pitchFamily="34" charset="0"/>
              </a:rPr>
              <a:t>Keratinocytes </a:t>
            </a:r>
          </a:p>
          <a:p>
            <a:pPr marL="1600200" lvl="2" indent="-457200">
              <a:lnSpc>
                <a:spcPct val="100000"/>
              </a:lnSpc>
              <a:spcBef>
                <a:spcPts val="624"/>
              </a:spcBef>
              <a:spcAft>
                <a:spcPts val="600"/>
              </a:spcAft>
              <a:buFont typeface="Arial" panose="020B0604020202020204" pitchFamily="34" charset="0"/>
              <a:buChar char="•"/>
            </a:pPr>
            <a:r>
              <a:rPr lang="en-US" sz="2400" dirty="0">
                <a:latin typeface="Calibri" panose="020F0502020204030204" pitchFamily="34" charset="0"/>
              </a:rPr>
              <a:t>Produce fibrous protein keratin </a:t>
            </a:r>
          </a:p>
          <a:p>
            <a:pPr marL="1143000" lvl="1" indent="-457200">
              <a:lnSpc>
                <a:spcPct val="100000"/>
              </a:lnSpc>
              <a:spcBef>
                <a:spcPts val="624"/>
              </a:spcBef>
              <a:spcAft>
                <a:spcPts val="600"/>
              </a:spcAft>
              <a:buFont typeface="Arial" panose="020B0604020202020204" pitchFamily="34" charset="0"/>
              <a:buChar char="•"/>
            </a:pPr>
            <a:r>
              <a:rPr lang="en-US" sz="2800" dirty="0">
                <a:latin typeface="Calibri" panose="020F0502020204030204" pitchFamily="34" charset="0"/>
              </a:rPr>
              <a:t>Melanocytes </a:t>
            </a:r>
          </a:p>
          <a:p>
            <a:pPr marL="1600200" lvl="2" indent="-457200">
              <a:lnSpc>
                <a:spcPct val="100000"/>
              </a:lnSpc>
              <a:spcBef>
                <a:spcPts val="624"/>
              </a:spcBef>
              <a:spcAft>
                <a:spcPts val="600"/>
              </a:spcAft>
              <a:buFont typeface="Arial" panose="020B0604020202020204" pitchFamily="34" charset="0"/>
              <a:buChar char="•"/>
            </a:pPr>
            <a:r>
              <a:rPr lang="en-US" sz="2400" dirty="0">
                <a:latin typeface="Calibri" panose="020F0502020204030204" pitchFamily="34" charset="0"/>
              </a:rPr>
              <a:t>Produce melanin </a:t>
            </a:r>
          </a:p>
          <a:p>
            <a:pPr marL="1143000" lvl="1" indent="-457200">
              <a:lnSpc>
                <a:spcPct val="100000"/>
              </a:lnSpc>
              <a:spcBef>
                <a:spcPts val="624"/>
              </a:spcBef>
              <a:spcAft>
                <a:spcPts val="600"/>
              </a:spcAft>
              <a:buFont typeface="Arial" panose="020B0604020202020204" pitchFamily="34" charset="0"/>
              <a:buChar char="•"/>
            </a:pPr>
            <a:r>
              <a:rPr lang="en-US" sz="2800" dirty="0">
                <a:latin typeface="Calibri" panose="020F0502020204030204" pitchFamily="34" charset="0"/>
              </a:rPr>
              <a:t>Intradermal macrophages (Langerhans cells)</a:t>
            </a:r>
          </a:p>
          <a:p>
            <a:pPr marL="1600200" lvl="2" indent="-457200">
              <a:lnSpc>
                <a:spcPct val="100000"/>
              </a:lnSpc>
              <a:spcBef>
                <a:spcPts val="624"/>
              </a:spcBef>
              <a:spcAft>
                <a:spcPts val="600"/>
              </a:spcAft>
              <a:buFont typeface="Arial" panose="020B0604020202020204" pitchFamily="34" charset="0"/>
              <a:buChar char="•"/>
            </a:pPr>
            <a:r>
              <a:rPr lang="en-US" sz="2400" dirty="0">
                <a:latin typeface="Calibri" panose="020F0502020204030204" pitchFamily="34" charset="0"/>
              </a:rPr>
              <a:t>Helps activate immune system </a:t>
            </a:r>
          </a:p>
          <a:p>
            <a:pPr marL="1143000" lvl="1" indent="-457200">
              <a:lnSpc>
                <a:spcPct val="100000"/>
              </a:lnSpc>
              <a:spcBef>
                <a:spcPts val="624"/>
              </a:spcBef>
              <a:spcAft>
                <a:spcPts val="600"/>
              </a:spcAft>
              <a:buFont typeface="Arial" panose="020B0604020202020204" pitchFamily="34" charset="0"/>
              <a:buChar char="•"/>
            </a:pPr>
            <a:r>
              <a:rPr lang="en-US" sz="2800" dirty="0">
                <a:latin typeface="Calibri" panose="020F0502020204030204" pitchFamily="34" charset="0"/>
              </a:rPr>
              <a:t>Tactile epithelial cells (Merkel cells)</a:t>
            </a:r>
          </a:p>
          <a:p>
            <a:pPr marL="1600200" lvl="2" indent="-457200">
              <a:lnSpc>
                <a:spcPct val="100000"/>
              </a:lnSpc>
              <a:spcBef>
                <a:spcPts val="624"/>
              </a:spcBef>
              <a:spcAft>
                <a:spcPts val="600"/>
              </a:spcAft>
              <a:buFont typeface="Arial" panose="020B0604020202020204" pitchFamily="34" charset="0"/>
              <a:buChar char="•"/>
            </a:pPr>
            <a:r>
              <a:rPr lang="en-US" sz="2400" dirty="0">
                <a:latin typeface="Calibri" panose="020F0502020204030204" pitchFamily="34" charset="0"/>
              </a:rPr>
              <a:t>Touch receptors </a:t>
            </a:r>
          </a:p>
          <a:p>
            <a:pPr lvl="1" indent="0">
              <a:lnSpc>
                <a:spcPct val="100000"/>
              </a:lnSpc>
              <a:spcBef>
                <a:spcPts val="624"/>
              </a:spcBef>
              <a:spcAft>
                <a:spcPts val="600"/>
              </a:spcAft>
              <a:buNone/>
            </a:pPr>
            <a:endParaRPr lang="en-US" sz="2200" dirty="0">
              <a:latin typeface="Calibri" panose="020F0502020204030204" pitchFamily="34" charset="0"/>
            </a:endParaRPr>
          </a:p>
        </p:txBody>
      </p:sp>
    </p:spTree>
    <p:extLst>
      <p:ext uri="{BB962C8B-B14F-4D97-AF65-F5344CB8AC3E}">
        <p14:creationId xmlns:p14="http://schemas.microsoft.com/office/powerpoint/2010/main" val="501273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EA6EF-D451-4AE6-8F04-AB837754E23C}"/>
              </a:ext>
            </a:extLst>
          </p:cNvPr>
          <p:cNvSpPr>
            <a:spLocks noGrp="1"/>
          </p:cNvSpPr>
          <p:nvPr>
            <p:ph type="title"/>
          </p:nvPr>
        </p:nvSpPr>
        <p:spPr/>
        <p:txBody>
          <a:bodyPr/>
          <a:lstStyle/>
          <a:p>
            <a:r>
              <a:rPr lang="en-US" dirty="0"/>
              <a:t>The Epidermis </a:t>
            </a:r>
            <a:endParaRPr lang="en-US" sz="2600" b="0" dirty="0"/>
          </a:p>
        </p:txBody>
      </p:sp>
      <p:pic>
        <p:nvPicPr>
          <p:cNvPr id="10" name="Content Placeholder 7" descr="A four-part diagram shows the 4 types of cells that comprise the epidermis. Diagram (a) shows a keratinocyte; diagram (b) shows a melanocyte; diagram (c) shows a dendritic cell; and diagram (d) shows a tactile epithelial cell in contact with non-encapsulated sensory corpuscle. Diagram (a): Peaks cover the surface of a keratinocyte, which contains keratin fibers. Diagram (b): A melanocyte is rounded, has long slender projections, and contains melanin granules. Diagram (c): A dendritic cell is round and has short rounded projections. Diagram (d): A tactile epithelial is rounded, has short rounded projections, and rests in the non-encapsulated sensory corpuscle disc of a sensory neuron.">
            <a:extLst>
              <a:ext uri="{FF2B5EF4-FFF2-40B4-BE49-F238E27FC236}">
                <a16:creationId xmlns:a16="http://schemas.microsoft.com/office/drawing/2014/main" id="{425FFE75-FEA8-4FB9-B7C0-1068AB24522D}"/>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143000" y="1417320"/>
            <a:ext cx="6537960" cy="4892040"/>
          </a:xfrm>
          <a:prstGeom prst="rect">
            <a:avLst/>
          </a:prstGeom>
        </p:spPr>
      </p:pic>
    </p:spTree>
    <p:extLst>
      <p:ext uri="{BB962C8B-B14F-4D97-AF65-F5344CB8AC3E}">
        <p14:creationId xmlns:p14="http://schemas.microsoft.com/office/powerpoint/2010/main" val="2907699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1D53-3FE2-4DCB-BC6F-D2BC082BDF2F}"/>
              </a:ext>
            </a:extLst>
          </p:cNvPr>
          <p:cNvSpPr>
            <a:spLocks noGrp="1"/>
          </p:cNvSpPr>
          <p:nvPr>
            <p:ph type="title"/>
          </p:nvPr>
        </p:nvSpPr>
        <p:spPr/>
        <p:txBody>
          <a:bodyPr/>
          <a:lstStyle/>
          <a:p>
            <a:r>
              <a:rPr lang="en-US" dirty="0"/>
              <a:t>The Epidermis </a:t>
            </a:r>
            <a:endParaRPr lang="en-US" sz="2600" b="0" dirty="0"/>
          </a:p>
        </p:txBody>
      </p:sp>
      <p:sp>
        <p:nvSpPr>
          <p:cNvPr id="3" name="Content Placeholder 2">
            <a:extLst>
              <a:ext uri="{FF2B5EF4-FFF2-40B4-BE49-F238E27FC236}">
                <a16:creationId xmlns:a16="http://schemas.microsoft.com/office/drawing/2014/main" id="{5DB525D7-084F-4AE3-8CBE-D353F11C179D}"/>
              </a:ext>
            </a:extLst>
          </p:cNvPr>
          <p:cNvSpPr>
            <a:spLocks noGrp="1"/>
          </p:cNvSpPr>
          <p:nvPr>
            <p:ph sz="quarter" idx="16"/>
          </p:nvPr>
        </p:nvSpPr>
        <p:spPr>
          <a:xfrm>
            <a:off x="304800" y="1427357"/>
            <a:ext cx="8534400" cy="4668642"/>
          </a:xfrm>
        </p:spPr>
        <p:txBody>
          <a:bodyPr/>
          <a:lstStyle/>
          <a:p>
            <a:pPr marL="457200" indent="-457200">
              <a:lnSpc>
                <a:spcPct val="100000"/>
              </a:lnSpc>
              <a:spcBef>
                <a:spcPts val="624"/>
              </a:spcBef>
              <a:spcAft>
                <a:spcPts val="600"/>
              </a:spcAft>
              <a:buFont typeface="Arial" panose="020B0604020202020204" pitchFamily="34" charset="0"/>
              <a:buChar char="•"/>
            </a:pPr>
            <a:r>
              <a:rPr lang="en-US" sz="3200" dirty="0">
                <a:latin typeface="Calibri" panose="020F0502020204030204" pitchFamily="34" charset="0"/>
              </a:rPr>
              <a:t>Types of skin:</a:t>
            </a:r>
          </a:p>
          <a:p>
            <a:pPr marL="1143000" lvl="1" indent="-457200">
              <a:lnSpc>
                <a:spcPct val="100000"/>
              </a:lnSpc>
              <a:spcBef>
                <a:spcPts val="624"/>
              </a:spcBef>
              <a:spcAft>
                <a:spcPts val="600"/>
              </a:spcAft>
              <a:buFont typeface="Arial" panose="020B0604020202020204" pitchFamily="34" charset="0"/>
              <a:buChar char="•"/>
            </a:pPr>
            <a:r>
              <a:rPr lang="en-US" sz="2800" dirty="0">
                <a:latin typeface="Calibri" panose="020F0502020204030204" pitchFamily="34" charset="0"/>
              </a:rPr>
              <a:t>Thin skin </a:t>
            </a:r>
          </a:p>
          <a:p>
            <a:pPr marL="1600200" lvl="2" indent="-457200">
              <a:lnSpc>
                <a:spcPct val="100000"/>
              </a:lnSpc>
              <a:spcBef>
                <a:spcPts val="624"/>
              </a:spcBef>
              <a:spcAft>
                <a:spcPts val="600"/>
              </a:spcAft>
              <a:buFont typeface="Arial" panose="020B0604020202020204" pitchFamily="34" charset="0"/>
              <a:buChar char="•"/>
            </a:pPr>
            <a:r>
              <a:rPr lang="en-US" sz="2400" dirty="0">
                <a:latin typeface="Calibri" panose="020F0502020204030204" pitchFamily="34" charset="0"/>
              </a:rPr>
              <a:t>Has hair </a:t>
            </a:r>
          </a:p>
          <a:p>
            <a:pPr marL="1600200" lvl="2" indent="-457200">
              <a:lnSpc>
                <a:spcPct val="100000"/>
              </a:lnSpc>
              <a:spcBef>
                <a:spcPts val="624"/>
              </a:spcBef>
              <a:spcAft>
                <a:spcPts val="600"/>
              </a:spcAft>
              <a:buFont typeface="Arial" panose="020B0604020202020204" pitchFamily="34" charset="0"/>
              <a:buChar char="•"/>
            </a:pPr>
            <a:r>
              <a:rPr lang="en-US" sz="2400" dirty="0">
                <a:latin typeface="Calibri" panose="020F0502020204030204" pitchFamily="34" charset="0"/>
              </a:rPr>
              <a:t>Covers all body regions except the palms, palmar surfaces of digits, and soles </a:t>
            </a:r>
          </a:p>
          <a:p>
            <a:pPr marL="1143000" lvl="1" indent="-457200">
              <a:lnSpc>
                <a:spcPct val="100000"/>
              </a:lnSpc>
              <a:spcBef>
                <a:spcPts val="624"/>
              </a:spcBef>
              <a:spcAft>
                <a:spcPts val="600"/>
              </a:spcAft>
              <a:buFont typeface="Arial" panose="020B0604020202020204" pitchFamily="34" charset="0"/>
              <a:buChar char="•"/>
            </a:pPr>
            <a:endParaRPr lang="en-US" sz="2800" dirty="0">
              <a:latin typeface="Calibri" panose="020F0502020204030204" pitchFamily="34" charset="0"/>
            </a:endParaRPr>
          </a:p>
          <a:p>
            <a:pPr marL="1143000" lvl="1" indent="-457200">
              <a:lnSpc>
                <a:spcPct val="100000"/>
              </a:lnSpc>
              <a:spcBef>
                <a:spcPts val="624"/>
              </a:spcBef>
              <a:spcAft>
                <a:spcPts val="600"/>
              </a:spcAft>
              <a:buFont typeface="Arial" panose="020B0604020202020204" pitchFamily="34" charset="0"/>
              <a:buChar char="•"/>
            </a:pPr>
            <a:r>
              <a:rPr lang="en-US" sz="2800" dirty="0">
                <a:latin typeface="Calibri" panose="020F0502020204030204" pitchFamily="34" charset="0"/>
              </a:rPr>
              <a:t>Thick skin </a:t>
            </a:r>
          </a:p>
          <a:p>
            <a:pPr marL="1600200" lvl="2" indent="-457200">
              <a:lnSpc>
                <a:spcPct val="100000"/>
              </a:lnSpc>
              <a:spcBef>
                <a:spcPts val="624"/>
              </a:spcBef>
              <a:spcAft>
                <a:spcPts val="600"/>
              </a:spcAft>
              <a:buFont typeface="Arial" panose="020B0604020202020204" pitchFamily="34" charset="0"/>
              <a:buChar char="•"/>
            </a:pPr>
            <a:r>
              <a:rPr lang="en-US" sz="2400" dirty="0">
                <a:latin typeface="Calibri" panose="020F0502020204030204" pitchFamily="34" charset="0"/>
              </a:rPr>
              <a:t>Does not have hair </a:t>
            </a:r>
          </a:p>
          <a:p>
            <a:pPr marL="1600200" lvl="2" indent="-457200">
              <a:lnSpc>
                <a:spcPct val="100000"/>
              </a:lnSpc>
              <a:spcBef>
                <a:spcPts val="624"/>
              </a:spcBef>
              <a:spcAft>
                <a:spcPts val="600"/>
              </a:spcAft>
              <a:buFont typeface="Arial" panose="020B0604020202020204" pitchFamily="34" charset="0"/>
              <a:buChar char="•"/>
            </a:pPr>
            <a:r>
              <a:rPr lang="en-US" sz="2400" dirty="0">
                <a:latin typeface="Calibri" panose="020F0502020204030204" pitchFamily="34" charset="0"/>
              </a:rPr>
              <a:t>Covers palms, palmar surfaces of digits, and soles </a:t>
            </a:r>
          </a:p>
          <a:p>
            <a:pPr lvl="2" indent="0">
              <a:lnSpc>
                <a:spcPct val="100000"/>
              </a:lnSpc>
              <a:spcBef>
                <a:spcPts val="624"/>
              </a:spcBef>
              <a:spcAft>
                <a:spcPts val="600"/>
              </a:spcAft>
              <a:buNone/>
            </a:pPr>
            <a:endParaRPr lang="en-US" dirty="0">
              <a:latin typeface="Calibri" panose="020F0502020204030204" pitchFamily="34" charset="0"/>
            </a:endParaRPr>
          </a:p>
        </p:txBody>
      </p:sp>
    </p:spTree>
    <p:extLst>
      <p:ext uri="{BB962C8B-B14F-4D97-AF65-F5344CB8AC3E}">
        <p14:creationId xmlns:p14="http://schemas.microsoft.com/office/powerpoint/2010/main" val="2519120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FCE004-6D77-4476-A628-A828AF2E20DA}"/>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560B5227-3824-492B-A060-5BCC25B53BA4}"/>
              </a:ext>
            </a:extLst>
          </p:cNvPr>
          <p:cNvPicPr>
            <a:picLocks noGrp="1" noChangeAspect="1"/>
          </p:cNvPicPr>
          <p:nvPr>
            <p:ph sz="quarter" idx="16"/>
          </p:nvPr>
        </p:nvPicPr>
        <p:blipFill>
          <a:blip r:embed="rId2"/>
          <a:stretch>
            <a:fillRect/>
          </a:stretch>
        </p:blipFill>
        <p:spPr>
          <a:xfrm>
            <a:off x="304800" y="579120"/>
            <a:ext cx="8244840" cy="5777230"/>
          </a:xfrm>
          <a:prstGeom prst="rect">
            <a:avLst/>
          </a:prstGeom>
        </p:spPr>
      </p:pic>
      <p:sp>
        <p:nvSpPr>
          <p:cNvPr id="4" name="Slide Number Placeholder 3">
            <a:extLst>
              <a:ext uri="{FF2B5EF4-FFF2-40B4-BE49-F238E27FC236}">
                <a16:creationId xmlns:a16="http://schemas.microsoft.com/office/drawing/2014/main" id="{955811A6-656D-414E-89AC-6A2F9AAFC4B9}"/>
              </a:ext>
            </a:extLst>
          </p:cNvPr>
          <p:cNvSpPr>
            <a:spLocks noGrp="1"/>
          </p:cNvSpPr>
          <p:nvPr>
            <p:ph type="sldNum" sz="quarter" idx="4294967295"/>
          </p:nvPr>
        </p:nvSpPr>
        <p:spPr>
          <a:xfrm>
            <a:off x="6762750" y="6356350"/>
            <a:ext cx="2381250" cy="365125"/>
          </a:xfrm>
        </p:spPr>
        <p:txBody>
          <a:bodyPr/>
          <a:lstStyle/>
          <a:p>
            <a:fld id="{67B19427-F580-D146-B60E-4CADEE75497F}" type="slidenum">
              <a:rPr lang="en-US" smtClean="0"/>
              <a:pPr/>
              <a:t>13</a:t>
            </a:fld>
            <a:endParaRPr lang="en-US" dirty="0"/>
          </a:p>
        </p:txBody>
      </p:sp>
      <p:sp>
        <p:nvSpPr>
          <p:cNvPr id="5" name="Footer Placeholder 4">
            <a:extLst>
              <a:ext uri="{FF2B5EF4-FFF2-40B4-BE49-F238E27FC236}">
                <a16:creationId xmlns:a16="http://schemas.microsoft.com/office/drawing/2014/main" id="{E8497ED7-F327-4E4A-887A-EB41F4624E40}"/>
              </a:ext>
            </a:extLst>
          </p:cNvPr>
          <p:cNvSpPr>
            <a:spLocks noGrp="1"/>
          </p:cNvSpPr>
          <p:nvPr>
            <p:ph type="ftr" sz="quarter" idx="4294967295"/>
          </p:nvPr>
        </p:nvSpPr>
        <p:spPr>
          <a:xfrm>
            <a:off x="0" y="6356350"/>
            <a:ext cx="3086100" cy="365125"/>
          </a:xfrm>
        </p:spPr>
        <p:txBody>
          <a:bodyPr/>
          <a:lstStyle/>
          <a:p>
            <a:r>
              <a:rPr lang="en-US"/>
              <a:t>Copyright ©2017 John Wiley &amp; Sons, Inc. </a:t>
            </a:r>
            <a:endParaRPr lang="en-US" dirty="0"/>
          </a:p>
        </p:txBody>
      </p:sp>
    </p:spTree>
    <p:extLst>
      <p:ext uri="{BB962C8B-B14F-4D97-AF65-F5344CB8AC3E}">
        <p14:creationId xmlns:p14="http://schemas.microsoft.com/office/powerpoint/2010/main" val="202279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1D53-3FE2-4DCB-BC6F-D2BC082BDF2F}"/>
              </a:ext>
            </a:extLst>
          </p:cNvPr>
          <p:cNvSpPr>
            <a:spLocks noGrp="1"/>
          </p:cNvSpPr>
          <p:nvPr>
            <p:ph type="title"/>
          </p:nvPr>
        </p:nvSpPr>
        <p:spPr/>
        <p:txBody>
          <a:bodyPr/>
          <a:lstStyle/>
          <a:p>
            <a:r>
              <a:rPr lang="en-US" dirty="0"/>
              <a:t>The Epidermis </a:t>
            </a:r>
            <a:endParaRPr lang="en-US" sz="2600" b="0" dirty="0"/>
          </a:p>
        </p:txBody>
      </p:sp>
      <p:sp>
        <p:nvSpPr>
          <p:cNvPr id="3" name="Content Placeholder 2">
            <a:extLst>
              <a:ext uri="{FF2B5EF4-FFF2-40B4-BE49-F238E27FC236}">
                <a16:creationId xmlns:a16="http://schemas.microsoft.com/office/drawing/2014/main" id="{5DB525D7-084F-4AE3-8CBE-D353F11C179D}"/>
              </a:ext>
            </a:extLst>
          </p:cNvPr>
          <p:cNvSpPr>
            <a:spLocks noGrp="1"/>
          </p:cNvSpPr>
          <p:nvPr>
            <p:ph sz="quarter" idx="16"/>
          </p:nvPr>
        </p:nvSpPr>
        <p:spPr>
          <a:xfrm>
            <a:off x="304800" y="1752599"/>
            <a:ext cx="8534400" cy="4343399"/>
          </a:xfrm>
        </p:spPr>
        <p:txBody>
          <a:bodyPr/>
          <a:lstStyle/>
          <a:p>
            <a:pPr marL="457200" indent="-457200">
              <a:lnSpc>
                <a:spcPct val="100000"/>
              </a:lnSpc>
              <a:spcBef>
                <a:spcPts val="624"/>
              </a:spcBef>
              <a:spcAft>
                <a:spcPts val="600"/>
              </a:spcAft>
              <a:buFont typeface="Arial" panose="020B0604020202020204" pitchFamily="34" charset="0"/>
              <a:buChar char="•"/>
            </a:pPr>
            <a:r>
              <a:rPr lang="en-US" sz="3200" dirty="0">
                <a:latin typeface="Calibri" panose="020F0502020204030204" pitchFamily="34" charset="0"/>
              </a:rPr>
              <a:t>The epidermis is composed of four layers in thin skin and five layers in thick skin. They are (from deep to superficial):</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rPr>
              <a:t>The </a:t>
            </a:r>
            <a:r>
              <a:rPr lang="en-US" sz="2800" b="1" dirty="0">
                <a:latin typeface="Calibri" panose="020F0502020204030204" pitchFamily="34" charset="0"/>
              </a:rPr>
              <a:t>stratum </a:t>
            </a:r>
            <a:r>
              <a:rPr lang="en-US" sz="2800" b="1" dirty="0" err="1">
                <a:latin typeface="Calibri" panose="020F0502020204030204" pitchFamily="34" charset="0"/>
              </a:rPr>
              <a:t>basale</a:t>
            </a:r>
            <a:r>
              <a:rPr lang="en-US" sz="2800" b="1" dirty="0">
                <a:latin typeface="Calibri" panose="020F0502020204030204" pitchFamily="34" charset="0"/>
              </a:rPr>
              <a:t> </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rPr>
              <a:t>The </a:t>
            </a:r>
            <a:r>
              <a:rPr lang="en-US" sz="2800" b="1" dirty="0">
                <a:latin typeface="Calibri" panose="020F0502020204030204" pitchFamily="34" charset="0"/>
              </a:rPr>
              <a:t>stratum spinosum</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rPr>
              <a:t>The </a:t>
            </a:r>
            <a:r>
              <a:rPr lang="en-US" sz="2800" b="1" dirty="0">
                <a:latin typeface="Calibri" panose="020F0502020204030204" pitchFamily="34" charset="0"/>
              </a:rPr>
              <a:t>stratum granulosum</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rPr>
              <a:t>The </a:t>
            </a:r>
            <a:r>
              <a:rPr lang="en-US" sz="2800" b="1" dirty="0">
                <a:latin typeface="Calibri" panose="020F0502020204030204" pitchFamily="34" charset="0"/>
              </a:rPr>
              <a:t>stratum lucidum</a:t>
            </a:r>
            <a:r>
              <a:rPr lang="en-US" sz="2800" dirty="0">
                <a:latin typeface="Calibri" panose="020F0502020204030204" pitchFamily="34" charset="0"/>
              </a:rPr>
              <a:t> (only present in thick skin)</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rPr>
              <a:t>The </a:t>
            </a:r>
            <a:r>
              <a:rPr lang="en-US" sz="2800" b="1" dirty="0">
                <a:latin typeface="Calibri" panose="020F0502020204030204" pitchFamily="34" charset="0"/>
              </a:rPr>
              <a:t>stratum corneum</a:t>
            </a:r>
          </a:p>
        </p:txBody>
      </p:sp>
    </p:spTree>
    <p:extLst>
      <p:ext uri="{BB962C8B-B14F-4D97-AF65-F5344CB8AC3E}">
        <p14:creationId xmlns:p14="http://schemas.microsoft.com/office/powerpoint/2010/main" val="2394102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D1782-74D4-4A83-99CC-BEAEE3AB4CC9}"/>
              </a:ext>
            </a:extLst>
          </p:cNvPr>
          <p:cNvSpPr>
            <a:spLocks noGrp="1"/>
          </p:cNvSpPr>
          <p:nvPr>
            <p:ph type="title"/>
          </p:nvPr>
        </p:nvSpPr>
        <p:spPr>
          <a:xfrm>
            <a:off x="304800" y="440454"/>
            <a:ext cx="8534400" cy="664865"/>
          </a:xfrm>
        </p:spPr>
        <p:txBody>
          <a:bodyPr>
            <a:normAutofit/>
          </a:bodyPr>
          <a:lstStyle/>
          <a:p>
            <a:r>
              <a:rPr lang="en-US" dirty="0"/>
              <a:t>The Epidermis </a:t>
            </a:r>
            <a:endParaRPr lang="en-US" sz="2600" b="0" i="1" dirty="0"/>
          </a:p>
        </p:txBody>
      </p:sp>
      <p:pic>
        <p:nvPicPr>
          <p:cNvPr id="9" name="Content Placeholder 8" descr="A diagram illustrates layers of the epidermis. There are 4 principal cell types and 5 layers in the epidermis of thick skin. From superficial to deep, the five layers are the stratum corneum, stratum lucidum, stratum granulosum, stratum spinosum, and stratum basale. Dead keratinocytes are superficial to the stratum corneum. Lamellar granules fill the cells of the stratum granulosum, and keratinocytes surround an intradermal macrophage in the stratum spinosum. A tactile epithelial cell rests in the non-encapsulated sensory corpuscle disc of a sensory neuron in the dermis, and is embedded in the stratum basale. A melanocyte is also embedded in the stratum basale.">
            <a:extLst>
              <a:ext uri="{FF2B5EF4-FFF2-40B4-BE49-F238E27FC236}">
                <a16:creationId xmlns:a16="http://schemas.microsoft.com/office/drawing/2014/main" id="{7FCB35BC-6180-472E-90FD-3CAE65E659B0}"/>
              </a:ext>
            </a:extLst>
          </p:cNvPr>
          <p:cNvPicPr>
            <a:picLocks noGrp="1" noChangeAspect="1"/>
          </p:cNvPicPr>
          <p:nvPr>
            <p:ph sz="quarter" idx="17"/>
          </p:nvPr>
        </p:nvPicPr>
        <p:blipFill>
          <a:blip r:embed="rId3">
            <a:extLst>
              <a:ext uri="{28A0092B-C50C-407E-A947-70E740481C1C}">
                <a14:useLocalDpi xmlns:a14="http://schemas.microsoft.com/office/drawing/2010/main" val="0"/>
              </a:ext>
            </a:extLst>
          </a:blip>
          <a:stretch>
            <a:fillRect/>
          </a:stretch>
        </p:blipFill>
        <p:spPr>
          <a:xfrm>
            <a:off x="1554480" y="1105319"/>
            <a:ext cx="5775959" cy="5204041"/>
          </a:xfrm>
        </p:spPr>
      </p:pic>
    </p:spTree>
    <p:extLst>
      <p:ext uri="{BB962C8B-B14F-4D97-AF65-F5344CB8AC3E}">
        <p14:creationId xmlns:p14="http://schemas.microsoft.com/office/powerpoint/2010/main" val="2196717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3C11420-B0C2-4332-86D6-7E50398638F3}"/>
              </a:ext>
            </a:extLst>
          </p:cNvPr>
          <p:cNvSpPr>
            <a:spLocks noGrp="1"/>
          </p:cNvSpPr>
          <p:nvPr>
            <p:ph type="title"/>
          </p:nvPr>
        </p:nvSpPr>
        <p:spPr/>
        <p:txBody>
          <a:bodyPr/>
          <a:lstStyle/>
          <a:p>
            <a:endParaRPr lang="en-US"/>
          </a:p>
        </p:txBody>
      </p:sp>
      <p:pic>
        <p:nvPicPr>
          <p:cNvPr id="11" name="Content Placeholder 10">
            <a:extLst>
              <a:ext uri="{FF2B5EF4-FFF2-40B4-BE49-F238E27FC236}">
                <a16:creationId xmlns:a16="http://schemas.microsoft.com/office/drawing/2014/main" id="{85161BE8-EF75-472A-A6A1-E28315BD3CC6}"/>
              </a:ext>
            </a:extLst>
          </p:cNvPr>
          <p:cNvPicPr>
            <a:picLocks noGrp="1" noChangeAspect="1"/>
          </p:cNvPicPr>
          <p:nvPr>
            <p:ph sz="quarter" idx="16"/>
          </p:nvPr>
        </p:nvPicPr>
        <p:blipFill>
          <a:blip r:embed="rId2"/>
          <a:stretch>
            <a:fillRect/>
          </a:stretch>
        </p:blipFill>
        <p:spPr>
          <a:xfrm>
            <a:off x="548640" y="762001"/>
            <a:ext cx="7680960" cy="5594349"/>
          </a:xfrm>
          <a:prstGeom prst="rect">
            <a:avLst/>
          </a:prstGeom>
        </p:spPr>
      </p:pic>
      <p:sp>
        <p:nvSpPr>
          <p:cNvPr id="6" name="Slide Number Placeholder 5">
            <a:extLst>
              <a:ext uri="{FF2B5EF4-FFF2-40B4-BE49-F238E27FC236}">
                <a16:creationId xmlns:a16="http://schemas.microsoft.com/office/drawing/2014/main" id="{9408237E-E3FF-43F0-BC7E-909F273DBA26}"/>
              </a:ext>
            </a:extLst>
          </p:cNvPr>
          <p:cNvSpPr>
            <a:spLocks noGrp="1"/>
          </p:cNvSpPr>
          <p:nvPr>
            <p:ph type="sldNum" sz="quarter" idx="4294967295"/>
          </p:nvPr>
        </p:nvSpPr>
        <p:spPr>
          <a:xfrm>
            <a:off x="6762750" y="6356350"/>
            <a:ext cx="2381250" cy="365125"/>
          </a:xfrm>
        </p:spPr>
        <p:txBody>
          <a:bodyPr/>
          <a:lstStyle/>
          <a:p>
            <a:fld id="{67B19427-F580-D146-B60E-4CADEE75497F}" type="slidenum">
              <a:rPr lang="en-US" smtClean="0"/>
              <a:pPr/>
              <a:t>16</a:t>
            </a:fld>
            <a:endParaRPr lang="en-US" dirty="0"/>
          </a:p>
        </p:txBody>
      </p:sp>
      <p:sp>
        <p:nvSpPr>
          <p:cNvPr id="7" name="Footer Placeholder 6">
            <a:extLst>
              <a:ext uri="{FF2B5EF4-FFF2-40B4-BE49-F238E27FC236}">
                <a16:creationId xmlns:a16="http://schemas.microsoft.com/office/drawing/2014/main" id="{392FFDFE-14A6-4504-B8CE-A2AEA8DD3F27}"/>
              </a:ext>
            </a:extLst>
          </p:cNvPr>
          <p:cNvSpPr>
            <a:spLocks noGrp="1"/>
          </p:cNvSpPr>
          <p:nvPr>
            <p:ph type="ftr" sz="quarter" idx="4294967295"/>
          </p:nvPr>
        </p:nvSpPr>
        <p:spPr>
          <a:xfrm>
            <a:off x="0" y="6356350"/>
            <a:ext cx="3086100" cy="365125"/>
          </a:xfrm>
        </p:spPr>
        <p:txBody>
          <a:bodyPr/>
          <a:lstStyle/>
          <a:p>
            <a:r>
              <a:rPr lang="en-US"/>
              <a:t>Copyright ©2017 John Wiley &amp; Sons, Inc. </a:t>
            </a:r>
            <a:endParaRPr lang="en-US" dirty="0"/>
          </a:p>
        </p:txBody>
      </p:sp>
    </p:spTree>
    <p:extLst>
      <p:ext uri="{BB962C8B-B14F-4D97-AF65-F5344CB8AC3E}">
        <p14:creationId xmlns:p14="http://schemas.microsoft.com/office/powerpoint/2010/main" val="1519856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010CB-A559-449F-8F5E-B66253394DC4}"/>
              </a:ext>
            </a:extLst>
          </p:cNvPr>
          <p:cNvSpPr>
            <a:spLocks noGrp="1"/>
          </p:cNvSpPr>
          <p:nvPr>
            <p:ph type="title"/>
          </p:nvPr>
        </p:nvSpPr>
        <p:spPr/>
        <p:txBody>
          <a:bodyPr/>
          <a:lstStyle/>
          <a:p>
            <a:r>
              <a:rPr lang="en-US" dirty="0"/>
              <a:t>Dermis </a:t>
            </a:r>
          </a:p>
        </p:txBody>
      </p:sp>
      <p:sp>
        <p:nvSpPr>
          <p:cNvPr id="3" name="Content Placeholder 2">
            <a:extLst>
              <a:ext uri="{FF2B5EF4-FFF2-40B4-BE49-F238E27FC236}">
                <a16:creationId xmlns:a16="http://schemas.microsoft.com/office/drawing/2014/main" id="{4B2C56DE-555E-4793-8700-3A4E3ABE889C}"/>
              </a:ext>
            </a:extLst>
          </p:cNvPr>
          <p:cNvSpPr>
            <a:spLocks noGrp="1"/>
          </p:cNvSpPr>
          <p:nvPr>
            <p:ph sz="quarter" idx="16"/>
          </p:nvPr>
        </p:nvSpPr>
        <p:spPr>
          <a:xfrm>
            <a:off x="304800" y="1432561"/>
            <a:ext cx="8686800" cy="4663438"/>
          </a:xfrm>
        </p:spPr>
        <p:txBody>
          <a:bodyPr/>
          <a:lstStyle/>
          <a:p>
            <a:pPr marL="457200" indent="-457200">
              <a:buFont typeface="Arial" panose="020B0604020202020204" pitchFamily="34" charset="0"/>
              <a:buChar char="•"/>
            </a:pPr>
            <a:r>
              <a:rPr lang="en-US" sz="3200" dirty="0"/>
              <a:t>Two layers</a:t>
            </a:r>
          </a:p>
          <a:p>
            <a:pPr marL="1143000" lvl="1" indent="-457200">
              <a:buFont typeface="Arial" panose="020B0604020202020204" pitchFamily="34" charset="0"/>
              <a:buChar char="•"/>
            </a:pPr>
            <a:r>
              <a:rPr lang="en-US" sz="2800" dirty="0"/>
              <a:t>Papillary </a:t>
            </a:r>
          </a:p>
          <a:p>
            <a:pPr marL="1600200" lvl="2" indent="-457200">
              <a:buFont typeface="Arial" panose="020B0604020202020204" pitchFamily="34" charset="0"/>
              <a:buChar char="•"/>
            </a:pPr>
            <a:r>
              <a:rPr lang="en-US" sz="2400" dirty="0"/>
              <a:t>Superficial; areolar connective tissue </a:t>
            </a:r>
          </a:p>
          <a:p>
            <a:pPr marL="1600200" lvl="2" indent="-457200">
              <a:buFont typeface="Arial" panose="020B0604020202020204" pitchFamily="34" charset="0"/>
              <a:buChar char="•"/>
            </a:pPr>
            <a:r>
              <a:rPr lang="en-US" sz="2400" dirty="0"/>
              <a:t>Dermal papillae contain:</a:t>
            </a:r>
          </a:p>
          <a:p>
            <a:pPr marL="2057400" lvl="3" indent="-457200">
              <a:buFont typeface="Arial" panose="020B0604020202020204" pitchFamily="34" charset="0"/>
              <a:buChar char="•"/>
            </a:pPr>
            <a:r>
              <a:rPr lang="en-US" sz="2200" dirty="0"/>
              <a:t>Capillary loops, Meissner’s corpuscles, free nerve endings </a:t>
            </a:r>
          </a:p>
          <a:p>
            <a:pPr marL="1143000" lvl="1" indent="-457200">
              <a:buFont typeface="Arial" panose="020B0604020202020204" pitchFamily="34" charset="0"/>
              <a:buChar char="•"/>
            </a:pPr>
            <a:r>
              <a:rPr lang="en-US" sz="2800" dirty="0"/>
              <a:t>Reticular  </a:t>
            </a:r>
          </a:p>
          <a:p>
            <a:pPr marL="1600200" lvl="2" indent="-457200">
              <a:buFont typeface="Arial" panose="020B0604020202020204" pitchFamily="34" charset="0"/>
              <a:buChar char="•"/>
            </a:pPr>
            <a:r>
              <a:rPr lang="en-US" sz="2400" dirty="0"/>
              <a:t>Deep; dense irregular connective tissue </a:t>
            </a:r>
          </a:p>
          <a:p>
            <a:pPr marL="1600200" lvl="2" indent="-457200">
              <a:buFont typeface="Arial" panose="020B0604020202020204" pitchFamily="34" charset="0"/>
              <a:buChar char="•"/>
            </a:pPr>
            <a:r>
              <a:rPr lang="en-US" sz="2400" dirty="0"/>
              <a:t>Pacinian corpuscles </a:t>
            </a:r>
          </a:p>
          <a:p>
            <a:pPr marL="457200" indent="-457200">
              <a:buFont typeface="Arial" panose="020B0604020202020204" pitchFamily="34" charset="0"/>
              <a:buChar char="•"/>
            </a:pPr>
            <a:r>
              <a:rPr lang="en-US" dirty="0"/>
              <a:t>Abundant blood supply – nutrients diffuse to deep layers of epidermis; waste diffused from epidermis </a:t>
            </a:r>
          </a:p>
        </p:txBody>
      </p:sp>
    </p:spTree>
    <p:extLst>
      <p:ext uri="{BB962C8B-B14F-4D97-AF65-F5344CB8AC3E}">
        <p14:creationId xmlns:p14="http://schemas.microsoft.com/office/powerpoint/2010/main" val="1157420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86227-0182-461C-9B93-839A52FE1E69}"/>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E88F7A82-E7A6-448D-BD3F-B648677B946D}"/>
              </a:ext>
            </a:extLst>
          </p:cNvPr>
          <p:cNvPicPr>
            <a:picLocks noGrp="1" noChangeAspect="1"/>
          </p:cNvPicPr>
          <p:nvPr>
            <p:ph sz="quarter" idx="16"/>
          </p:nvPr>
        </p:nvPicPr>
        <p:blipFill>
          <a:blip r:embed="rId2"/>
          <a:stretch>
            <a:fillRect/>
          </a:stretch>
        </p:blipFill>
        <p:spPr>
          <a:xfrm>
            <a:off x="701040" y="762001"/>
            <a:ext cx="7238999" cy="5516879"/>
          </a:xfrm>
          <a:prstGeom prst="rect">
            <a:avLst/>
          </a:prstGeom>
        </p:spPr>
      </p:pic>
    </p:spTree>
    <p:extLst>
      <p:ext uri="{BB962C8B-B14F-4D97-AF65-F5344CB8AC3E}">
        <p14:creationId xmlns:p14="http://schemas.microsoft.com/office/powerpoint/2010/main" val="763910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2EC8F-43DE-4375-AD4B-2E4D003EA309}"/>
              </a:ext>
            </a:extLst>
          </p:cNvPr>
          <p:cNvSpPr>
            <a:spLocks noGrp="1"/>
          </p:cNvSpPr>
          <p:nvPr>
            <p:ph type="title"/>
          </p:nvPr>
        </p:nvSpPr>
        <p:spPr/>
        <p:txBody>
          <a:bodyPr/>
          <a:lstStyle/>
          <a:p>
            <a:r>
              <a:rPr lang="en-US" dirty="0"/>
              <a:t>Skin Pigments</a:t>
            </a:r>
          </a:p>
        </p:txBody>
      </p:sp>
      <p:sp>
        <p:nvSpPr>
          <p:cNvPr id="3" name="Content Placeholder 2">
            <a:extLst>
              <a:ext uri="{FF2B5EF4-FFF2-40B4-BE49-F238E27FC236}">
                <a16:creationId xmlns:a16="http://schemas.microsoft.com/office/drawing/2014/main" id="{37FFBF5A-57D4-4664-8560-7A631D15ADF8}"/>
              </a:ext>
            </a:extLst>
          </p:cNvPr>
          <p:cNvSpPr>
            <a:spLocks noGrp="1"/>
          </p:cNvSpPr>
          <p:nvPr>
            <p:ph sz="quarter" idx="16"/>
          </p:nvPr>
        </p:nvSpPr>
        <p:spPr>
          <a:xfrm>
            <a:off x="304800" y="1447801"/>
            <a:ext cx="8534400" cy="4648198"/>
          </a:xfrm>
        </p:spPr>
        <p:txBody>
          <a:bodyPr/>
          <a:lstStyle/>
          <a:p>
            <a:pPr marL="461963" indent="-461963">
              <a:buClr>
                <a:schemeClr val="accent2"/>
              </a:buClr>
              <a:buSzPct val="100000"/>
              <a:buFont typeface="Arial" panose="020B0604020202020204" pitchFamily="34" charset="0"/>
              <a:buChar char="•"/>
            </a:pPr>
            <a:r>
              <a:rPr lang="en-US" sz="3200" dirty="0">
                <a:latin typeface="Calibri" panose="020F0502020204030204" pitchFamily="34" charset="0"/>
              </a:rPr>
              <a:t>Melanin - produced by melanocytes in the stratum </a:t>
            </a:r>
            <a:r>
              <a:rPr lang="en-US" sz="3200" dirty="0" err="1">
                <a:latin typeface="Calibri" panose="020F0502020204030204" pitchFamily="34" charset="0"/>
              </a:rPr>
              <a:t>basale</a:t>
            </a:r>
            <a:endParaRPr lang="en-US" sz="3200" dirty="0">
              <a:latin typeface="Calibri" panose="020F0502020204030204" pitchFamily="34" charset="0"/>
            </a:endParaRPr>
          </a:p>
          <a:p>
            <a:pPr marL="976312" lvl="1" indent="-514350">
              <a:spcBef>
                <a:spcPts val="1000"/>
              </a:spcBef>
              <a:buClr>
                <a:schemeClr val="accent2"/>
              </a:buClr>
              <a:buSzPct val="80000"/>
              <a:buFont typeface="Courier New" panose="02070309020205020404" pitchFamily="49" charset="0"/>
              <a:buChar char="o"/>
            </a:pPr>
            <a:r>
              <a:rPr lang="en-US" sz="2800" dirty="0">
                <a:latin typeface="Calibri" panose="020F0502020204030204" pitchFamily="34" charset="0"/>
              </a:rPr>
              <a:t>Pheomelanin (yellow to red)</a:t>
            </a:r>
          </a:p>
          <a:p>
            <a:pPr marL="976312" lvl="1" indent="-514350">
              <a:spcBef>
                <a:spcPts val="1000"/>
              </a:spcBef>
              <a:buClr>
                <a:schemeClr val="accent2"/>
              </a:buClr>
              <a:buSzPct val="80000"/>
              <a:buFont typeface="Courier New" panose="02070309020205020404" pitchFamily="49" charset="0"/>
              <a:buChar char="o"/>
            </a:pPr>
            <a:r>
              <a:rPr lang="en-US" sz="2800" dirty="0">
                <a:latin typeface="Calibri" panose="020F0502020204030204" pitchFamily="34" charset="0"/>
              </a:rPr>
              <a:t>Eumelanin (brown to black)</a:t>
            </a:r>
          </a:p>
          <a:p>
            <a:pPr marL="461963" indent="-461963">
              <a:buClr>
                <a:schemeClr val="accent2"/>
              </a:buClr>
              <a:buSzPct val="100000"/>
              <a:buFont typeface="Arial" panose="020B0604020202020204" pitchFamily="34" charset="0"/>
              <a:buChar char="•"/>
            </a:pPr>
            <a:endParaRPr lang="en-US" sz="3200" dirty="0">
              <a:latin typeface="Calibri" panose="020F0502020204030204" pitchFamily="34" charset="0"/>
            </a:endParaRPr>
          </a:p>
          <a:p>
            <a:pPr marL="461963" indent="-461963">
              <a:buClr>
                <a:schemeClr val="accent2"/>
              </a:buClr>
              <a:buSzPct val="100000"/>
              <a:buFont typeface="Arial" panose="020B0604020202020204" pitchFamily="34" charset="0"/>
              <a:buChar char="•"/>
            </a:pPr>
            <a:r>
              <a:rPr lang="en-US" sz="3200" dirty="0">
                <a:latin typeface="Calibri" panose="020F0502020204030204" pitchFamily="34" charset="0"/>
              </a:rPr>
              <a:t>Hemoglobin – red pigment in red blood cells</a:t>
            </a:r>
          </a:p>
          <a:p>
            <a:pPr marL="461963" indent="-461963">
              <a:buClr>
                <a:schemeClr val="accent2"/>
              </a:buClr>
              <a:buSzPct val="100000"/>
              <a:buFont typeface="Arial" panose="020B0604020202020204" pitchFamily="34" charset="0"/>
              <a:buChar char="•"/>
            </a:pPr>
            <a:endParaRPr lang="en-US" sz="3200" dirty="0">
              <a:latin typeface="Calibri" panose="020F0502020204030204" pitchFamily="34" charset="0"/>
            </a:endParaRPr>
          </a:p>
          <a:p>
            <a:pPr marL="461963" indent="-461963">
              <a:buClr>
                <a:schemeClr val="accent2"/>
              </a:buClr>
              <a:buSzPct val="100000"/>
              <a:buFont typeface="Arial" panose="020B0604020202020204" pitchFamily="34" charset="0"/>
              <a:buChar char="•"/>
            </a:pPr>
            <a:r>
              <a:rPr lang="en-US" sz="3200" dirty="0">
                <a:latin typeface="Calibri" panose="020F0502020204030204" pitchFamily="34" charset="0"/>
              </a:rPr>
              <a:t>Carotene – yellow-orange pigment stored in the stratum corneum and adipose tissue</a:t>
            </a:r>
          </a:p>
        </p:txBody>
      </p:sp>
    </p:spTree>
    <p:extLst>
      <p:ext uri="{BB962C8B-B14F-4D97-AF65-F5344CB8AC3E}">
        <p14:creationId xmlns:p14="http://schemas.microsoft.com/office/powerpoint/2010/main" val="3796894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9F4C-8F25-4920-8D67-B5C4450D4C7A}"/>
              </a:ext>
            </a:extLst>
          </p:cNvPr>
          <p:cNvSpPr>
            <a:spLocks noGrp="1"/>
          </p:cNvSpPr>
          <p:nvPr>
            <p:ph type="title"/>
          </p:nvPr>
        </p:nvSpPr>
        <p:spPr>
          <a:xfrm>
            <a:off x="304799" y="462973"/>
            <a:ext cx="8534400" cy="1014221"/>
          </a:xfrm>
        </p:spPr>
        <p:txBody>
          <a:bodyPr>
            <a:noAutofit/>
          </a:bodyPr>
          <a:lstStyle/>
          <a:p>
            <a:r>
              <a:rPr lang="en-US" dirty="0"/>
              <a:t>Clinical Connection: Albinism and Vitiligo</a:t>
            </a:r>
          </a:p>
        </p:txBody>
      </p:sp>
      <p:sp>
        <p:nvSpPr>
          <p:cNvPr id="3" name="Content Placeholder 2">
            <a:extLst>
              <a:ext uri="{FF2B5EF4-FFF2-40B4-BE49-F238E27FC236}">
                <a16:creationId xmlns:a16="http://schemas.microsoft.com/office/drawing/2014/main" id="{0A0F6C98-AAC4-43E3-BFBC-02FF1C1AE960}"/>
              </a:ext>
            </a:extLst>
          </p:cNvPr>
          <p:cNvSpPr>
            <a:spLocks noGrp="1"/>
          </p:cNvSpPr>
          <p:nvPr>
            <p:ph sz="quarter" idx="16"/>
          </p:nvPr>
        </p:nvSpPr>
        <p:spPr>
          <a:xfrm>
            <a:off x="304799" y="1752600"/>
            <a:ext cx="8236300" cy="4376895"/>
          </a:xfrm>
        </p:spPr>
        <p:txBody>
          <a:bodyPr/>
          <a:lstStyle/>
          <a:p>
            <a:pPr marL="457200" lvl="1" indent="-457200">
              <a:lnSpc>
                <a:spcPct val="100000"/>
              </a:lnSpc>
              <a:spcBef>
                <a:spcPts val="624"/>
              </a:spcBef>
              <a:spcAft>
                <a:spcPts val="600"/>
              </a:spcAft>
              <a:buClr>
                <a:schemeClr val="accent2"/>
              </a:buClr>
              <a:buSzPct val="100000"/>
            </a:pPr>
            <a:r>
              <a:rPr lang="en-US" sz="3200" dirty="0">
                <a:latin typeface="Calibri" panose="020F0502020204030204" pitchFamily="34" charset="0"/>
              </a:rPr>
              <a:t>Albinism</a:t>
            </a:r>
          </a:p>
          <a:p>
            <a:pPr marL="914400" lvl="2" indent="-457200">
              <a:lnSpc>
                <a:spcPct val="100000"/>
              </a:lnSpc>
              <a:spcBef>
                <a:spcPts val="624"/>
              </a:spcBef>
              <a:spcAft>
                <a:spcPts val="600"/>
              </a:spcAft>
              <a:buClr>
                <a:schemeClr val="accent2"/>
              </a:buClr>
              <a:buSzPct val="100000"/>
            </a:pPr>
            <a:r>
              <a:rPr lang="en-US" sz="2800" dirty="0">
                <a:latin typeface="Calibri" panose="020F0502020204030204" pitchFamily="34" charset="0"/>
              </a:rPr>
              <a:t>Genetic trait characterized by complete or partial absence of pigment in skin, hair, and eyes </a:t>
            </a:r>
          </a:p>
          <a:p>
            <a:pPr marL="1371600" lvl="3" indent="-457200">
              <a:lnSpc>
                <a:spcPct val="100000"/>
              </a:lnSpc>
              <a:spcBef>
                <a:spcPts val="624"/>
              </a:spcBef>
              <a:spcAft>
                <a:spcPts val="600"/>
              </a:spcAft>
              <a:buClr>
                <a:schemeClr val="accent2"/>
              </a:buClr>
              <a:buSzPct val="100000"/>
            </a:pPr>
            <a:r>
              <a:rPr lang="en-US" sz="2400" dirty="0">
                <a:latin typeface="Calibri" panose="020F0502020204030204" pitchFamily="34" charset="0"/>
              </a:rPr>
              <a:t>Due to enzyme involved with melanin production </a:t>
            </a:r>
          </a:p>
          <a:p>
            <a:pPr marL="457200" lvl="1" indent="-457200">
              <a:lnSpc>
                <a:spcPct val="100000"/>
              </a:lnSpc>
              <a:spcBef>
                <a:spcPts val="624"/>
              </a:spcBef>
              <a:spcAft>
                <a:spcPts val="600"/>
              </a:spcAft>
              <a:buClr>
                <a:schemeClr val="accent2"/>
              </a:buClr>
              <a:buSzPct val="100000"/>
            </a:pPr>
            <a:r>
              <a:rPr lang="en-US" sz="3200" dirty="0">
                <a:latin typeface="Calibri" panose="020F0502020204030204" pitchFamily="34" charset="0"/>
              </a:rPr>
              <a:t>Vitiligo </a:t>
            </a:r>
          </a:p>
          <a:p>
            <a:pPr marL="914400" lvl="2" indent="-457200">
              <a:lnSpc>
                <a:spcPct val="100000"/>
              </a:lnSpc>
              <a:spcBef>
                <a:spcPts val="624"/>
              </a:spcBef>
              <a:spcAft>
                <a:spcPts val="600"/>
              </a:spcAft>
              <a:buClr>
                <a:schemeClr val="accent2"/>
              </a:buClr>
              <a:buSzPct val="100000"/>
            </a:pPr>
            <a:r>
              <a:rPr lang="en-US" sz="2800" dirty="0">
                <a:latin typeface="Calibri" panose="020F0502020204030204" pitchFamily="34" charset="0"/>
              </a:rPr>
              <a:t>Results in depigmentation patches in the skin </a:t>
            </a:r>
          </a:p>
          <a:p>
            <a:pPr marL="1371600" lvl="3" indent="-457200">
              <a:lnSpc>
                <a:spcPct val="100000"/>
              </a:lnSpc>
              <a:spcBef>
                <a:spcPts val="624"/>
              </a:spcBef>
              <a:spcAft>
                <a:spcPts val="600"/>
              </a:spcAft>
              <a:buClr>
                <a:schemeClr val="accent2"/>
              </a:buClr>
              <a:buSzPct val="100000"/>
            </a:pPr>
            <a:r>
              <a:rPr lang="en-US" sz="2400" dirty="0">
                <a:latin typeface="Calibri" panose="020F0502020204030204" pitchFamily="34" charset="0"/>
              </a:rPr>
              <a:t>Exact cause is unknown; most likely due to combination of genetic factors coupled with a disfunction of the immune system </a:t>
            </a:r>
          </a:p>
        </p:txBody>
      </p:sp>
    </p:spTree>
    <p:extLst>
      <p:ext uri="{BB962C8B-B14F-4D97-AF65-F5344CB8AC3E}">
        <p14:creationId xmlns:p14="http://schemas.microsoft.com/office/powerpoint/2010/main" val="1151333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8E78A-E278-49B4-88F6-BCCED0A09C63}"/>
              </a:ext>
            </a:extLst>
          </p:cNvPr>
          <p:cNvSpPr>
            <a:spLocks noGrp="1"/>
          </p:cNvSpPr>
          <p:nvPr>
            <p:ph type="title"/>
          </p:nvPr>
        </p:nvSpPr>
        <p:spPr/>
        <p:txBody>
          <a:bodyPr/>
          <a:lstStyle/>
          <a:p>
            <a:r>
              <a:rPr lang="en-US" dirty="0"/>
              <a:t>Hypodermis </a:t>
            </a:r>
          </a:p>
        </p:txBody>
      </p:sp>
      <p:sp>
        <p:nvSpPr>
          <p:cNvPr id="3" name="Content Placeholder 2">
            <a:extLst>
              <a:ext uri="{FF2B5EF4-FFF2-40B4-BE49-F238E27FC236}">
                <a16:creationId xmlns:a16="http://schemas.microsoft.com/office/drawing/2014/main" id="{48BE95FA-5BA6-4E43-A431-CFDE0B0BFAFA}"/>
              </a:ext>
            </a:extLst>
          </p:cNvPr>
          <p:cNvSpPr>
            <a:spLocks noGrp="1"/>
          </p:cNvSpPr>
          <p:nvPr>
            <p:ph sz="quarter" idx="16"/>
          </p:nvPr>
        </p:nvSpPr>
        <p:spPr/>
        <p:txBody>
          <a:bodyPr/>
          <a:lstStyle/>
          <a:p>
            <a:pPr marL="457200" indent="-457200">
              <a:buFont typeface="Arial" panose="020B0604020202020204" pitchFamily="34" charset="0"/>
              <a:buChar char="•"/>
            </a:pPr>
            <a:r>
              <a:rPr lang="en-US" sz="3200" dirty="0"/>
              <a:t>The subcutaneous layer </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Attaches skin to underlying tissues and organs </a:t>
            </a:r>
          </a:p>
        </p:txBody>
      </p:sp>
      <p:pic>
        <p:nvPicPr>
          <p:cNvPr id="7" name="Content Placeholder 6">
            <a:extLst>
              <a:ext uri="{FF2B5EF4-FFF2-40B4-BE49-F238E27FC236}">
                <a16:creationId xmlns:a16="http://schemas.microsoft.com/office/drawing/2014/main" id="{1317B741-3F6F-4489-8177-A435ED2815BA}"/>
              </a:ext>
            </a:extLst>
          </p:cNvPr>
          <p:cNvPicPr>
            <a:picLocks noGrp="1" noChangeAspect="1"/>
          </p:cNvPicPr>
          <p:nvPr>
            <p:ph sz="quarter" idx="17"/>
          </p:nvPr>
        </p:nvPicPr>
        <p:blipFill>
          <a:blip r:embed="rId2"/>
          <a:stretch>
            <a:fillRect/>
          </a:stretch>
        </p:blipFill>
        <p:spPr>
          <a:xfrm>
            <a:off x="4070195" y="1204332"/>
            <a:ext cx="4769005" cy="4917384"/>
          </a:xfrm>
          <a:prstGeom prst="rect">
            <a:avLst/>
          </a:prstGeom>
        </p:spPr>
      </p:pic>
      <p:sp>
        <p:nvSpPr>
          <p:cNvPr id="5" name="Slide Number Placeholder 4">
            <a:extLst>
              <a:ext uri="{FF2B5EF4-FFF2-40B4-BE49-F238E27FC236}">
                <a16:creationId xmlns:a16="http://schemas.microsoft.com/office/drawing/2014/main" id="{0AC6354B-3C62-4814-B51D-67578148A27F}"/>
              </a:ext>
            </a:extLst>
          </p:cNvPr>
          <p:cNvSpPr>
            <a:spLocks noGrp="1"/>
          </p:cNvSpPr>
          <p:nvPr>
            <p:ph type="sldNum" sz="quarter" idx="10"/>
          </p:nvPr>
        </p:nvSpPr>
        <p:spPr/>
        <p:txBody>
          <a:bodyPr/>
          <a:lstStyle/>
          <a:p>
            <a:fld id="{67B19427-F580-D146-B60E-4CADEE75497F}" type="slidenum">
              <a:rPr lang="en-US" smtClean="0"/>
              <a:pPr/>
              <a:t>21</a:t>
            </a:fld>
            <a:endParaRPr lang="en-US" dirty="0"/>
          </a:p>
        </p:txBody>
      </p:sp>
      <p:sp>
        <p:nvSpPr>
          <p:cNvPr id="6" name="Footer Placeholder 5">
            <a:extLst>
              <a:ext uri="{FF2B5EF4-FFF2-40B4-BE49-F238E27FC236}">
                <a16:creationId xmlns:a16="http://schemas.microsoft.com/office/drawing/2014/main" id="{E10EC461-6039-45D0-A031-DF1F621449B8}"/>
              </a:ext>
            </a:extLst>
          </p:cNvPr>
          <p:cNvSpPr>
            <a:spLocks noGrp="1"/>
          </p:cNvSpPr>
          <p:nvPr>
            <p:ph type="ftr" sz="quarter" idx="11"/>
          </p:nvPr>
        </p:nvSpPr>
        <p:spPr/>
        <p:txBody>
          <a:bodyPr/>
          <a:lstStyle/>
          <a:p>
            <a:r>
              <a:rPr lang="en-US"/>
              <a:t>Copyright ©2017 John Wiley &amp; Sons, Inc. </a:t>
            </a:r>
            <a:endParaRPr lang="en-US" dirty="0"/>
          </a:p>
        </p:txBody>
      </p:sp>
    </p:spTree>
    <p:extLst>
      <p:ext uri="{BB962C8B-B14F-4D97-AF65-F5344CB8AC3E}">
        <p14:creationId xmlns:p14="http://schemas.microsoft.com/office/powerpoint/2010/main" val="496458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830B0F3-60D8-4456-B04B-F92BEC3EBBDD}"/>
              </a:ext>
            </a:extLst>
          </p:cNvPr>
          <p:cNvSpPr>
            <a:spLocks noGrp="1"/>
          </p:cNvSpPr>
          <p:nvPr>
            <p:ph type="title"/>
          </p:nvPr>
        </p:nvSpPr>
        <p:spPr>
          <a:xfrm>
            <a:off x="304800" y="2933700"/>
            <a:ext cx="8534400" cy="990600"/>
          </a:xfrm>
        </p:spPr>
        <p:txBody>
          <a:bodyPr/>
          <a:lstStyle/>
          <a:p>
            <a:pPr algn="ctr"/>
            <a:r>
              <a:rPr lang="en-US" b="1" dirty="0"/>
              <a:t>Accessory Structures of the Skin</a:t>
            </a:r>
          </a:p>
        </p:txBody>
      </p:sp>
    </p:spTree>
    <p:extLst>
      <p:ext uri="{BB962C8B-B14F-4D97-AF65-F5344CB8AC3E}">
        <p14:creationId xmlns:p14="http://schemas.microsoft.com/office/powerpoint/2010/main" val="2026500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E1F56-84EA-4C57-A2DE-0BF59D509D70}"/>
              </a:ext>
            </a:extLst>
          </p:cNvPr>
          <p:cNvSpPr>
            <a:spLocks noGrp="1"/>
          </p:cNvSpPr>
          <p:nvPr>
            <p:ph type="title"/>
          </p:nvPr>
        </p:nvSpPr>
        <p:spPr>
          <a:xfrm>
            <a:off x="228600" y="475367"/>
            <a:ext cx="8534400" cy="838199"/>
          </a:xfrm>
        </p:spPr>
        <p:txBody>
          <a:bodyPr/>
          <a:lstStyle/>
          <a:p>
            <a:r>
              <a:rPr lang="en-US" dirty="0"/>
              <a:t>Hair </a:t>
            </a:r>
            <a:endParaRPr lang="en-US" sz="2600" b="0" dirty="0"/>
          </a:p>
        </p:txBody>
      </p:sp>
      <p:sp>
        <p:nvSpPr>
          <p:cNvPr id="3" name="Content Placeholder 2">
            <a:extLst>
              <a:ext uri="{FF2B5EF4-FFF2-40B4-BE49-F238E27FC236}">
                <a16:creationId xmlns:a16="http://schemas.microsoft.com/office/drawing/2014/main" id="{74BEF2DD-AD3B-45D5-8DCC-AC63786DC64E}"/>
              </a:ext>
            </a:extLst>
          </p:cNvPr>
          <p:cNvSpPr>
            <a:spLocks noGrp="1"/>
          </p:cNvSpPr>
          <p:nvPr>
            <p:ph sz="quarter" idx="16"/>
          </p:nvPr>
        </p:nvSpPr>
        <p:spPr>
          <a:xfrm>
            <a:off x="304800" y="1313566"/>
            <a:ext cx="8382000" cy="5069066"/>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Present on most body surfaces except the nipples, the palms, palmar surfaces of fingers, the soles, plantar surfaces of the toes, labia minora and prepuce of penis</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Composed of dead, keratinized epidermal cells bonded by extracellular proteins</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Genetic and hormonal influences determine the thickness and distribution of our hair</a:t>
            </a:r>
          </a:p>
        </p:txBody>
      </p:sp>
    </p:spTree>
    <p:extLst>
      <p:ext uri="{BB962C8B-B14F-4D97-AF65-F5344CB8AC3E}">
        <p14:creationId xmlns:p14="http://schemas.microsoft.com/office/powerpoint/2010/main" val="29945012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50E28-6BAB-4B68-83EB-9DB6BD16B735}"/>
              </a:ext>
            </a:extLst>
          </p:cNvPr>
          <p:cNvSpPr>
            <a:spLocks noGrp="1"/>
          </p:cNvSpPr>
          <p:nvPr>
            <p:ph type="title"/>
          </p:nvPr>
        </p:nvSpPr>
        <p:spPr>
          <a:xfrm>
            <a:off x="304800" y="450504"/>
            <a:ext cx="8534400" cy="838199"/>
          </a:xfrm>
        </p:spPr>
        <p:txBody>
          <a:bodyPr/>
          <a:lstStyle/>
          <a:p>
            <a:r>
              <a:rPr lang="en-US" dirty="0"/>
              <a:t>Hair </a:t>
            </a:r>
            <a:endParaRPr lang="en-US" sz="2600" b="0" dirty="0"/>
          </a:p>
        </p:txBody>
      </p:sp>
      <p:sp>
        <p:nvSpPr>
          <p:cNvPr id="3" name="Content Placeholder 2">
            <a:extLst>
              <a:ext uri="{FF2B5EF4-FFF2-40B4-BE49-F238E27FC236}">
                <a16:creationId xmlns:a16="http://schemas.microsoft.com/office/drawing/2014/main" id="{AF99521A-99A5-4D3F-9694-39ACD732D5FA}"/>
              </a:ext>
            </a:extLst>
          </p:cNvPr>
          <p:cNvSpPr>
            <a:spLocks noGrp="1"/>
          </p:cNvSpPr>
          <p:nvPr>
            <p:ph sz="quarter" idx="16"/>
          </p:nvPr>
        </p:nvSpPr>
        <p:spPr>
          <a:xfrm>
            <a:off x="172822" y="1059367"/>
            <a:ext cx="4700833" cy="4879518"/>
          </a:xfrm>
        </p:spPr>
        <p:txBody>
          <a:bodyPr/>
          <a:lstStyle/>
          <a:p>
            <a:pPr marL="457200" indent="-457200">
              <a:buFont typeface="Arial" panose="020B0604020202020204" pitchFamily="34" charset="0"/>
              <a:buChar char="•"/>
            </a:pPr>
            <a:r>
              <a:rPr lang="en-US" sz="3200" dirty="0">
                <a:latin typeface="Calibri" panose="020F0502020204030204" pitchFamily="34" charset="0"/>
              </a:rPr>
              <a:t>The parts of a hair include: </a:t>
            </a:r>
          </a:p>
          <a:p>
            <a:pPr marL="1143000" lvl="1" indent="-457200">
              <a:buClr>
                <a:schemeClr val="accent2"/>
              </a:buClr>
              <a:buSzPct val="100000"/>
              <a:buFont typeface="Arial" panose="020B0604020202020204" pitchFamily="34" charset="0"/>
              <a:buChar char="•"/>
            </a:pPr>
            <a:r>
              <a:rPr lang="en-US" sz="2800" dirty="0">
                <a:latin typeface="Calibri" panose="020F0502020204030204" pitchFamily="34" charset="0"/>
              </a:rPr>
              <a:t>The shaft (above the skin surface)</a:t>
            </a:r>
          </a:p>
          <a:p>
            <a:pPr marL="1143000" lvl="1" indent="-457200">
              <a:buClr>
                <a:schemeClr val="accent2"/>
              </a:buClr>
              <a:buSzPct val="100000"/>
              <a:buFont typeface="Arial" panose="020B0604020202020204" pitchFamily="34" charset="0"/>
              <a:buChar char="•"/>
            </a:pPr>
            <a:r>
              <a:rPr lang="en-US" sz="2800" dirty="0">
                <a:latin typeface="Calibri" panose="020F0502020204030204" pitchFamily="34" charset="0"/>
              </a:rPr>
              <a:t>The follicle (below the level of the skin)</a:t>
            </a:r>
          </a:p>
          <a:p>
            <a:pPr marL="1143000" lvl="1" indent="-457200">
              <a:buClr>
                <a:schemeClr val="accent2"/>
              </a:buClr>
              <a:buSzPct val="100000"/>
              <a:buFont typeface="Arial" panose="020B0604020202020204" pitchFamily="34" charset="0"/>
              <a:buChar char="•"/>
            </a:pPr>
            <a:r>
              <a:rPr lang="en-US" sz="2800" dirty="0">
                <a:latin typeface="Calibri" panose="020F0502020204030204" pitchFamily="34" charset="0"/>
              </a:rPr>
              <a:t>A root that penetrates into the dermis</a:t>
            </a:r>
          </a:p>
          <a:p>
            <a:pPr marL="1682496" lvl="3" indent="-457200">
              <a:buClr>
                <a:schemeClr val="accent2"/>
              </a:buClr>
              <a:buSzPct val="80000"/>
              <a:buFont typeface="Courier New" panose="02070309020205020404" pitchFamily="49" charset="0"/>
              <a:buChar char="o"/>
            </a:pPr>
            <a:r>
              <a:rPr lang="en-US" sz="2400" dirty="0">
                <a:latin typeface="Calibri" panose="020F0502020204030204" pitchFamily="34" charset="0"/>
              </a:rPr>
              <a:t>Epithelial root sheath</a:t>
            </a:r>
          </a:p>
          <a:p>
            <a:pPr marL="1682496" lvl="3" indent="-457200">
              <a:buClr>
                <a:schemeClr val="accent2"/>
              </a:buClr>
              <a:buSzPct val="80000"/>
              <a:buFont typeface="Courier New" panose="02070309020205020404" pitchFamily="49" charset="0"/>
              <a:buChar char="o"/>
            </a:pPr>
            <a:r>
              <a:rPr lang="en-US" sz="2400" dirty="0">
                <a:latin typeface="Calibri" panose="020F0502020204030204" pitchFamily="34" charset="0"/>
              </a:rPr>
              <a:t>Dermal root sheath</a:t>
            </a:r>
          </a:p>
        </p:txBody>
      </p:sp>
      <p:pic>
        <p:nvPicPr>
          <p:cNvPr id="8" name="Content Placeholder 7" descr="An S E M (b) at 70 times magnification displays the shingle-like cuticle cells of several hair shafts interspersed among epidermal cells, forming uneven surfaces and folds. ">
            <a:extLst>
              <a:ext uri="{FF2B5EF4-FFF2-40B4-BE49-F238E27FC236}">
                <a16:creationId xmlns:a16="http://schemas.microsoft.com/office/drawing/2014/main" id="{61025B80-8AA6-450B-8536-CA0E3CAFD462}"/>
              </a:ext>
            </a:extLst>
          </p:cNvPr>
          <p:cNvPicPr>
            <a:picLocks noGrp="1" noChangeAspect="1"/>
          </p:cNvPicPr>
          <p:nvPr>
            <p:ph sz="quarter" idx="18"/>
          </p:nvPr>
        </p:nvPicPr>
        <p:blipFill>
          <a:blip r:embed="rId2">
            <a:extLst>
              <a:ext uri="{28A0092B-C50C-407E-A947-70E740481C1C}">
                <a14:useLocalDpi xmlns:a14="http://schemas.microsoft.com/office/drawing/2010/main" val="0"/>
              </a:ext>
            </a:extLst>
          </a:blip>
          <a:stretch>
            <a:fillRect/>
          </a:stretch>
        </p:blipFill>
        <p:spPr>
          <a:xfrm>
            <a:off x="4783120" y="1053921"/>
            <a:ext cx="4242759" cy="4879518"/>
          </a:xfrm>
          <a:prstGeom prst="rect">
            <a:avLst/>
          </a:prstGeom>
        </p:spPr>
      </p:pic>
    </p:spTree>
    <p:extLst>
      <p:ext uri="{BB962C8B-B14F-4D97-AF65-F5344CB8AC3E}">
        <p14:creationId xmlns:p14="http://schemas.microsoft.com/office/powerpoint/2010/main" val="1889723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80642-A2D3-4D55-A4F7-C5A05B82CC38}"/>
              </a:ext>
            </a:extLst>
          </p:cNvPr>
          <p:cNvSpPr>
            <a:spLocks noGrp="1"/>
          </p:cNvSpPr>
          <p:nvPr>
            <p:ph type="title"/>
          </p:nvPr>
        </p:nvSpPr>
        <p:spPr>
          <a:xfrm>
            <a:off x="304800" y="502921"/>
            <a:ext cx="8534400" cy="589899"/>
          </a:xfrm>
        </p:spPr>
        <p:txBody>
          <a:bodyPr>
            <a:normAutofit fontScale="90000"/>
          </a:bodyPr>
          <a:lstStyle/>
          <a:p>
            <a:r>
              <a:rPr lang="en-US" dirty="0"/>
              <a:t>Hair </a:t>
            </a:r>
            <a:endParaRPr lang="en-US" sz="2600" b="0" dirty="0"/>
          </a:p>
        </p:txBody>
      </p:sp>
      <p:pic>
        <p:nvPicPr>
          <p:cNvPr id="6" name="Content Placeholder 7" descr="A four-part illustration shows parts of the hair and surrounding structures. Part (a) is a three-dimensional diagram of the skin that shows hair and surrounding structures. Within the skin, the hair bulb is a rounded structure with the papilla of the hair at its base, through which blood vessels enter. The hair root plexus covers the upper portion of the bulb, adjacent to the sebaceous gland. The arrector pili muscle attaches near the base of the hair bulb and extends outward. Eccrine sweat glands and apocrine sweat glands are interspersed within the skin near the hair bulb. The hair root connects the hair bulb to the hair shaft, which extends out through the skin. Part (b) is an S E M at 70 times magnification that displays the shingle-like cuticle cells of several hair shafts interspersed among epidermal cells, forming uneven surfaces and folds. Part (c) diagram shows a frontal section of the hair root. At the base of the hair bulb, blood vessels enter the papilla of the hair, a small opening in the bulb. The hair matrix forms the inner edge of the papilla of the hair, interspersed with melanocytes. The hair bulb and hair root consist of multiple layers, from innermost to outermost as follows. Medulla, cortex, cuticle of the hair, internal root sheath, external root sheath, and dermal root sheath. The internal and external root sheaths constitute the epithelial root sheath. Part (d) diagram shows a transverse section of the hair root, with the same layers shown as concentric circles of varying thicknesses.">
            <a:extLst>
              <a:ext uri="{FF2B5EF4-FFF2-40B4-BE49-F238E27FC236}">
                <a16:creationId xmlns:a16="http://schemas.microsoft.com/office/drawing/2014/main" id="{52A4DEF3-46CD-403C-9D0D-EB5C42B1BBD7}"/>
              </a:ext>
            </a:extLst>
          </p:cNvPr>
          <p:cNvPicPr>
            <a:picLocks noGrp="1" noChangeAspect="1"/>
          </p:cNvPicPr>
          <p:nvPr>
            <p:ph sz="quarter" idx="16"/>
          </p:nvPr>
        </p:nvPicPr>
        <p:blipFill>
          <a:blip r:embed="rId2" cstate="print">
            <a:extLst>
              <a:ext uri="{28A0092B-C50C-407E-A947-70E740481C1C}">
                <a14:useLocalDpi xmlns:a14="http://schemas.microsoft.com/office/drawing/2010/main" val="0"/>
              </a:ext>
            </a:extLst>
          </a:blip>
          <a:stretch>
            <a:fillRect/>
          </a:stretch>
        </p:blipFill>
        <p:spPr>
          <a:xfrm>
            <a:off x="944880" y="1092820"/>
            <a:ext cx="6568439" cy="5174165"/>
          </a:xfrm>
          <a:prstGeom prst="rect">
            <a:avLst/>
          </a:prstGeom>
        </p:spPr>
      </p:pic>
    </p:spTree>
    <p:extLst>
      <p:ext uri="{BB962C8B-B14F-4D97-AF65-F5344CB8AC3E}">
        <p14:creationId xmlns:p14="http://schemas.microsoft.com/office/powerpoint/2010/main" val="2506100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377E1-7EFD-41CE-8CB1-068C549363C4}"/>
              </a:ext>
            </a:extLst>
          </p:cNvPr>
          <p:cNvSpPr>
            <a:spLocks noGrp="1"/>
          </p:cNvSpPr>
          <p:nvPr>
            <p:ph type="title"/>
          </p:nvPr>
        </p:nvSpPr>
        <p:spPr>
          <a:xfrm>
            <a:off x="304800" y="469767"/>
            <a:ext cx="8534400" cy="838199"/>
          </a:xfrm>
        </p:spPr>
        <p:txBody>
          <a:bodyPr/>
          <a:lstStyle/>
          <a:p>
            <a:r>
              <a:rPr lang="en-US" dirty="0"/>
              <a:t>Hair Growth</a:t>
            </a:r>
          </a:p>
        </p:txBody>
      </p:sp>
      <p:sp>
        <p:nvSpPr>
          <p:cNvPr id="3" name="Content Placeholder 2">
            <a:extLst>
              <a:ext uri="{FF2B5EF4-FFF2-40B4-BE49-F238E27FC236}">
                <a16:creationId xmlns:a16="http://schemas.microsoft.com/office/drawing/2014/main" id="{718A3ACC-ABCF-469F-9FB0-131E6614C7E6}"/>
              </a:ext>
            </a:extLst>
          </p:cNvPr>
          <p:cNvSpPr>
            <a:spLocks noGrp="1"/>
          </p:cNvSpPr>
          <p:nvPr>
            <p:ph sz="quarter" idx="16"/>
          </p:nvPr>
        </p:nvSpPr>
        <p:spPr>
          <a:xfrm>
            <a:off x="304800" y="1582917"/>
            <a:ext cx="8169897" cy="4431384"/>
          </a:xfrm>
        </p:spPr>
        <p:txBody>
          <a:bodyPr/>
          <a:lstStyle/>
          <a:p>
            <a:pPr marL="457200" indent="-457200">
              <a:lnSpc>
                <a:spcPct val="100000"/>
              </a:lnSpc>
              <a:spcBef>
                <a:spcPts val="624"/>
              </a:spcBef>
              <a:spcAft>
                <a:spcPts val="600"/>
              </a:spcAft>
              <a:buFont typeface="Arial" panose="020B0604020202020204" pitchFamily="34" charset="0"/>
              <a:buChar char="•"/>
            </a:pPr>
            <a:r>
              <a:rPr lang="en-US" sz="3200" dirty="0">
                <a:latin typeface="+mn-lt"/>
              </a:rPr>
              <a:t>Hair growth stages are: </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mn-lt"/>
              </a:rPr>
              <a:t>Growth stage – cells of matrix divide </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endParaRPr lang="en-US" sz="2800" dirty="0">
              <a:latin typeface="+mn-lt"/>
            </a:endParaRP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mn-lt"/>
              </a:rPr>
              <a:t>Regression stage – hair moves away from blood supply in papillary and follicle atrophies</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endParaRPr lang="en-US" sz="2800" dirty="0">
              <a:latin typeface="+mn-lt"/>
            </a:endParaRP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mn-lt"/>
              </a:rPr>
              <a:t>Resting stage – old hair root falls out; new growth begins </a:t>
            </a:r>
          </a:p>
        </p:txBody>
      </p:sp>
    </p:spTree>
    <p:extLst>
      <p:ext uri="{BB962C8B-B14F-4D97-AF65-F5344CB8AC3E}">
        <p14:creationId xmlns:p14="http://schemas.microsoft.com/office/powerpoint/2010/main" val="1132347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377E1-7EFD-41CE-8CB1-068C549363C4}"/>
              </a:ext>
            </a:extLst>
          </p:cNvPr>
          <p:cNvSpPr>
            <a:spLocks noGrp="1"/>
          </p:cNvSpPr>
          <p:nvPr>
            <p:ph type="title"/>
          </p:nvPr>
        </p:nvSpPr>
        <p:spPr>
          <a:xfrm>
            <a:off x="304800" y="469767"/>
            <a:ext cx="8534400" cy="838199"/>
          </a:xfrm>
        </p:spPr>
        <p:txBody>
          <a:bodyPr/>
          <a:lstStyle/>
          <a:p>
            <a:r>
              <a:rPr lang="en-US" dirty="0"/>
              <a:t>Types of Hairs</a:t>
            </a:r>
          </a:p>
        </p:txBody>
      </p:sp>
      <p:sp>
        <p:nvSpPr>
          <p:cNvPr id="3" name="Content Placeholder 2">
            <a:extLst>
              <a:ext uri="{FF2B5EF4-FFF2-40B4-BE49-F238E27FC236}">
                <a16:creationId xmlns:a16="http://schemas.microsoft.com/office/drawing/2014/main" id="{718A3ACC-ABCF-469F-9FB0-131E6614C7E6}"/>
              </a:ext>
            </a:extLst>
          </p:cNvPr>
          <p:cNvSpPr>
            <a:spLocks noGrp="1"/>
          </p:cNvSpPr>
          <p:nvPr>
            <p:ph sz="quarter" idx="16"/>
          </p:nvPr>
        </p:nvSpPr>
        <p:spPr>
          <a:xfrm>
            <a:off x="304800" y="1582917"/>
            <a:ext cx="8169897" cy="4431384"/>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Lanugo – cover the fetus</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sz="3200" dirty="0"/>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Terminal – long, coarse, heavily pigmented hairs</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sz="3200" dirty="0"/>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Vellus – short, fine, pale hairs </a:t>
            </a:r>
          </a:p>
        </p:txBody>
      </p:sp>
    </p:spTree>
    <p:extLst>
      <p:ext uri="{BB962C8B-B14F-4D97-AF65-F5344CB8AC3E}">
        <p14:creationId xmlns:p14="http://schemas.microsoft.com/office/powerpoint/2010/main" val="37980245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377E1-7EFD-41CE-8CB1-068C549363C4}"/>
              </a:ext>
            </a:extLst>
          </p:cNvPr>
          <p:cNvSpPr>
            <a:spLocks noGrp="1"/>
          </p:cNvSpPr>
          <p:nvPr>
            <p:ph type="title"/>
          </p:nvPr>
        </p:nvSpPr>
        <p:spPr>
          <a:xfrm>
            <a:off x="304800" y="424599"/>
            <a:ext cx="8534400" cy="838199"/>
          </a:xfrm>
        </p:spPr>
        <p:txBody>
          <a:bodyPr/>
          <a:lstStyle/>
          <a:p>
            <a:r>
              <a:rPr lang="en-US" dirty="0"/>
              <a:t>Hair Color</a:t>
            </a:r>
          </a:p>
        </p:txBody>
      </p:sp>
      <p:sp>
        <p:nvSpPr>
          <p:cNvPr id="3" name="Content Placeholder 2">
            <a:extLst>
              <a:ext uri="{FF2B5EF4-FFF2-40B4-BE49-F238E27FC236}">
                <a16:creationId xmlns:a16="http://schemas.microsoft.com/office/drawing/2014/main" id="{718A3ACC-ABCF-469F-9FB0-131E6614C7E6}"/>
              </a:ext>
            </a:extLst>
          </p:cNvPr>
          <p:cNvSpPr>
            <a:spLocks noGrp="1"/>
          </p:cNvSpPr>
          <p:nvPr>
            <p:ph sz="quarter" idx="16"/>
          </p:nvPr>
        </p:nvSpPr>
        <p:spPr>
          <a:xfrm>
            <a:off x="304800" y="1262798"/>
            <a:ext cx="8656320" cy="4751503"/>
          </a:xfrm>
        </p:spPr>
        <p:txBody>
          <a:bodyPr/>
          <a:lstStyle/>
          <a:p>
            <a:pPr marL="457200" indent="-457200">
              <a:lnSpc>
                <a:spcPct val="100000"/>
              </a:lnSpc>
              <a:spcBef>
                <a:spcPts val="624"/>
              </a:spcBef>
              <a:spcAft>
                <a:spcPts val="600"/>
              </a:spcAft>
              <a:buFont typeface="Arial" panose="020B0604020202020204" pitchFamily="34" charset="0"/>
              <a:buChar char="•"/>
            </a:pPr>
            <a:r>
              <a:rPr lang="en-US" sz="3200" dirty="0">
                <a:latin typeface="+mn-lt"/>
              </a:rPr>
              <a:t>Hair color is primarily due to the amount and type of melanin present in the keratinized cells of the hair</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t>Dark-colored hair – mostly eumelanin </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t>Blond and red hair – variants of </a:t>
            </a:r>
            <a:r>
              <a:rPr lang="en-US" sz="2800" dirty="0" err="1"/>
              <a:t>phenomelanin</a:t>
            </a:r>
            <a:endParaRPr lang="en-US" sz="2800" dirty="0"/>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t>Gray hair – progressive decline in melanin production</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t>White hair – lack of melanin; accumulation of air bubbles in shaft</a:t>
            </a:r>
          </a:p>
        </p:txBody>
      </p:sp>
    </p:spTree>
    <p:extLst>
      <p:ext uri="{BB962C8B-B14F-4D97-AF65-F5344CB8AC3E}">
        <p14:creationId xmlns:p14="http://schemas.microsoft.com/office/powerpoint/2010/main" val="8439405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377E1-7EFD-41CE-8CB1-068C549363C4}"/>
              </a:ext>
            </a:extLst>
          </p:cNvPr>
          <p:cNvSpPr>
            <a:spLocks noGrp="1"/>
          </p:cNvSpPr>
          <p:nvPr>
            <p:ph type="title"/>
          </p:nvPr>
        </p:nvSpPr>
        <p:spPr>
          <a:xfrm>
            <a:off x="304800" y="469767"/>
            <a:ext cx="8534400" cy="838199"/>
          </a:xfrm>
        </p:spPr>
        <p:txBody>
          <a:bodyPr/>
          <a:lstStyle/>
          <a:p>
            <a:r>
              <a:rPr lang="en-US" dirty="0"/>
              <a:t>Skin Glands </a:t>
            </a:r>
            <a:endParaRPr lang="en-US" sz="2600" b="0" dirty="0"/>
          </a:p>
        </p:txBody>
      </p:sp>
      <p:sp>
        <p:nvSpPr>
          <p:cNvPr id="3" name="Content Placeholder 2">
            <a:extLst>
              <a:ext uri="{FF2B5EF4-FFF2-40B4-BE49-F238E27FC236}">
                <a16:creationId xmlns:a16="http://schemas.microsoft.com/office/drawing/2014/main" id="{718A3ACC-ABCF-469F-9FB0-131E6614C7E6}"/>
              </a:ext>
            </a:extLst>
          </p:cNvPr>
          <p:cNvSpPr>
            <a:spLocks noGrp="1"/>
          </p:cNvSpPr>
          <p:nvPr>
            <p:ph sz="quarter" idx="16"/>
          </p:nvPr>
        </p:nvSpPr>
        <p:spPr>
          <a:xfrm>
            <a:off x="304800" y="1066800"/>
            <a:ext cx="8534400" cy="4947501"/>
          </a:xfrm>
        </p:spPr>
        <p:txBody>
          <a:bodyPr/>
          <a:lstStyle/>
          <a:p>
            <a:pPr marL="457200" indent="-457200">
              <a:lnSpc>
                <a:spcPct val="100000"/>
              </a:lnSpc>
              <a:spcBef>
                <a:spcPts val="624"/>
              </a:spcBef>
              <a:buFont typeface="Arial" panose="020B0604020202020204" pitchFamily="34" charset="0"/>
              <a:buChar char="•"/>
            </a:pPr>
            <a:r>
              <a:rPr lang="en-US" sz="3200" dirty="0">
                <a:latin typeface="Calibri" panose="020F0502020204030204" pitchFamily="34" charset="0"/>
              </a:rPr>
              <a:t>The skin contains 3 types of glands</a:t>
            </a:r>
          </a:p>
          <a:p>
            <a:pPr marL="1143000" lvl="1" indent="-457200">
              <a:lnSpc>
                <a:spcPct val="100000"/>
              </a:lnSpc>
              <a:spcBef>
                <a:spcPts val="624"/>
              </a:spcBef>
              <a:buClr>
                <a:schemeClr val="accent2"/>
              </a:buClr>
              <a:buSzPct val="100000"/>
              <a:buFont typeface="Arial" panose="020B0604020202020204" pitchFamily="34" charset="0"/>
              <a:buChar char="•"/>
            </a:pPr>
            <a:r>
              <a:rPr lang="en-US" sz="2800" b="1" dirty="0">
                <a:latin typeface="Calibri" panose="020F0502020204030204" pitchFamily="34" charset="0"/>
              </a:rPr>
              <a:t>Sebaceous (oil) glands</a:t>
            </a:r>
            <a:r>
              <a:rPr lang="en-US" sz="2800" dirty="0">
                <a:latin typeface="Calibri" panose="020F0502020204030204" pitchFamily="34" charset="0"/>
              </a:rPr>
              <a:t> are connected to hair follicles</a:t>
            </a:r>
          </a:p>
          <a:p>
            <a:pPr marL="1143000" lvl="1" indent="-457200">
              <a:lnSpc>
                <a:spcPct val="100000"/>
              </a:lnSpc>
              <a:spcBef>
                <a:spcPts val="624"/>
              </a:spcBef>
              <a:buClr>
                <a:schemeClr val="accent2"/>
              </a:buClr>
              <a:buSzPct val="100000"/>
              <a:buFont typeface="Arial" panose="020B0604020202020204" pitchFamily="34" charset="0"/>
              <a:buChar char="•"/>
            </a:pPr>
            <a:r>
              <a:rPr lang="en-US" sz="2800" b="1" dirty="0">
                <a:latin typeface="Calibri" panose="020F0502020204030204" pitchFamily="34" charset="0"/>
              </a:rPr>
              <a:t>Sudoriferous glands </a:t>
            </a:r>
            <a:r>
              <a:rPr lang="en-US" sz="2800" dirty="0">
                <a:latin typeface="Calibri" panose="020F0502020204030204" pitchFamily="34" charset="0"/>
              </a:rPr>
              <a:t>are sweat glands</a:t>
            </a:r>
          </a:p>
          <a:p>
            <a:pPr marL="1833563" lvl="3" indent="-461963">
              <a:lnSpc>
                <a:spcPct val="100000"/>
              </a:lnSpc>
              <a:spcBef>
                <a:spcPts val="624"/>
              </a:spcBef>
              <a:buClr>
                <a:schemeClr val="accent2"/>
              </a:buClr>
              <a:buSzPct val="80000"/>
              <a:buFont typeface="Courier New" panose="02070309020205020404" pitchFamily="49" charset="0"/>
              <a:buChar char="o"/>
            </a:pPr>
            <a:r>
              <a:rPr lang="en-US" sz="2400" b="1" dirty="0">
                <a:latin typeface="Calibri" panose="020F0502020204030204" pitchFamily="34" charset="0"/>
              </a:rPr>
              <a:t>Eccrine </a:t>
            </a:r>
            <a:r>
              <a:rPr lang="en-US" sz="2400" dirty="0">
                <a:latin typeface="Calibri" panose="020F0502020204030204" pitchFamily="34" charset="0"/>
              </a:rPr>
              <a:t>are the most numerous</a:t>
            </a:r>
          </a:p>
          <a:p>
            <a:pPr marL="2290763" lvl="4" indent="-461963">
              <a:lnSpc>
                <a:spcPct val="100000"/>
              </a:lnSpc>
              <a:spcBef>
                <a:spcPts val="624"/>
              </a:spcBef>
              <a:buClr>
                <a:schemeClr val="accent2"/>
              </a:buClr>
              <a:buSzPct val="80000"/>
              <a:buFont typeface="Courier New" panose="02070309020205020404" pitchFamily="49" charset="0"/>
              <a:buChar char="o"/>
            </a:pPr>
            <a:r>
              <a:rPr lang="en-US" sz="2000" dirty="0">
                <a:latin typeface="Calibri" panose="020F0502020204030204" pitchFamily="34" charset="0"/>
              </a:rPr>
              <a:t>Ducts connect to pores </a:t>
            </a:r>
          </a:p>
          <a:p>
            <a:pPr marL="2290763" lvl="4" indent="-461963">
              <a:lnSpc>
                <a:spcPct val="100000"/>
              </a:lnSpc>
              <a:spcBef>
                <a:spcPts val="624"/>
              </a:spcBef>
              <a:buClr>
                <a:schemeClr val="accent2"/>
              </a:buClr>
              <a:buSzPct val="80000"/>
              <a:buFont typeface="Courier New" panose="02070309020205020404" pitchFamily="49" charset="0"/>
              <a:buChar char="o"/>
            </a:pPr>
            <a:r>
              <a:rPr lang="en-US" sz="2000" dirty="0">
                <a:latin typeface="Calibri" panose="020F0502020204030204" pitchFamily="34" charset="0"/>
              </a:rPr>
              <a:t>Function in thermoregulation </a:t>
            </a:r>
          </a:p>
          <a:p>
            <a:pPr marL="1833563" lvl="3" indent="-461963">
              <a:lnSpc>
                <a:spcPct val="100000"/>
              </a:lnSpc>
              <a:spcBef>
                <a:spcPts val="624"/>
              </a:spcBef>
              <a:buClr>
                <a:schemeClr val="accent2"/>
              </a:buClr>
              <a:buSzPct val="80000"/>
              <a:buFont typeface="Courier New" panose="02070309020205020404" pitchFamily="49" charset="0"/>
              <a:buChar char="o"/>
            </a:pPr>
            <a:r>
              <a:rPr lang="en-US" sz="2400" b="1" dirty="0">
                <a:latin typeface="Calibri" panose="020F0502020204030204" pitchFamily="34" charset="0"/>
              </a:rPr>
              <a:t>Apocrine </a:t>
            </a:r>
            <a:r>
              <a:rPr lang="en-US" sz="2400" dirty="0">
                <a:latin typeface="Calibri" panose="020F0502020204030204" pitchFamily="34" charset="0"/>
              </a:rPr>
              <a:t>are located mainly in hairy skin areas</a:t>
            </a:r>
          </a:p>
          <a:p>
            <a:pPr marL="2290763" lvl="4" indent="-461963">
              <a:lnSpc>
                <a:spcPct val="100000"/>
              </a:lnSpc>
              <a:spcBef>
                <a:spcPts val="624"/>
              </a:spcBef>
              <a:buClr>
                <a:schemeClr val="accent2"/>
              </a:buClr>
              <a:buSzPct val="80000"/>
              <a:buFont typeface="Courier New" panose="02070309020205020404" pitchFamily="49" charset="0"/>
              <a:buChar char="o"/>
            </a:pPr>
            <a:r>
              <a:rPr lang="en-US" sz="2000" dirty="0">
                <a:latin typeface="Calibri" panose="020F0502020204030204" pitchFamily="34" charset="0"/>
              </a:rPr>
              <a:t>Ducts connect to hair follicles </a:t>
            </a:r>
          </a:p>
          <a:p>
            <a:pPr marL="2290763" lvl="4" indent="-461963">
              <a:lnSpc>
                <a:spcPct val="100000"/>
              </a:lnSpc>
              <a:spcBef>
                <a:spcPts val="624"/>
              </a:spcBef>
              <a:buClr>
                <a:schemeClr val="accent2"/>
              </a:buClr>
              <a:buSzPct val="80000"/>
              <a:buFont typeface="Courier New" panose="02070309020205020404" pitchFamily="49" charset="0"/>
              <a:buChar char="o"/>
            </a:pPr>
            <a:r>
              <a:rPr lang="en-US" sz="2000" dirty="0">
                <a:latin typeface="Calibri" panose="020F0502020204030204" pitchFamily="34" charset="0"/>
              </a:rPr>
              <a:t>Axillary and pubic regions </a:t>
            </a:r>
          </a:p>
          <a:p>
            <a:pPr marL="1143000" lvl="1" indent="-457200">
              <a:lnSpc>
                <a:spcPct val="100000"/>
              </a:lnSpc>
              <a:spcBef>
                <a:spcPts val="624"/>
              </a:spcBef>
              <a:buClr>
                <a:schemeClr val="accent2"/>
              </a:buClr>
              <a:buSzPct val="100000"/>
              <a:buFont typeface="Arial" panose="020B0604020202020204" pitchFamily="34" charset="0"/>
              <a:buChar char="•"/>
            </a:pPr>
            <a:r>
              <a:rPr lang="en-US" sz="2800" b="1" dirty="0">
                <a:latin typeface="Calibri" panose="020F0502020204030204" pitchFamily="34" charset="0"/>
              </a:rPr>
              <a:t>Ceruminous glands</a:t>
            </a:r>
            <a:r>
              <a:rPr lang="en-US" sz="2800" dirty="0">
                <a:latin typeface="Calibri" panose="020F0502020204030204" pitchFamily="34" charset="0"/>
              </a:rPr>
              <a:t> are modified sweat glands located in the ear canal</a:t>
            </a:r>
          </a:p>
        </p:txBody>
      </p:sp>
    </p:spTree>
    <p:extLst>
      <p:ext uri="{BB962C8B-B14F-4D97-AF65-F5344CB8AC3E}">
        <p14:creationId xmlns:p14="http://schemas.microsoft.com/office/powerpoint/2010/main" val="77984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11B7305-2759-4118-9659-A6CCD89C5D96}"/>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3FACA320-C894-4829-BBF1-07D520090F9D}"/>
              </a:ext>
            </a:extLst>
          </p:cNvPr>
          <p:cNvPicPr>
            <a:picLocks noGrp="1" noChangeAspect="1"/>
          </p:cNvPicPr>
          <p:nvPr>
            <p:ph sz="quarter" idx="16"/>
          </p:nvPr>
        </p:nvPicPr>
        <p:blipFill>
          <a:blip r:embed="rId2"/>
          <a:stretch>
            <a:fillRect/>
          </a:stretch>
        </p:blipFill>
        <p:spPr>
          <a:xfrm>
            <a:off x="502920" y="762001"/>
            <a:ext cx="7909560" cy="5594349"/>
          </a:xfrm>
          <a:prstGeom prst="rect">
            <a:avLst/>
          </a:prstGeom>
        </p:spPr>
      </p:pic>
      <p:sp>
        <p:nvSpPr>
          <p:cNvPr id="5" name="Slide Number Placeholder 4">
            <a:extLst>
              <a:ext uri="{FF2B5EF4-FFF2-40B4-BE49-F238E27FC236}">
                <a16:creationId xmlns:a16="http://schemas.microsoft.com/office/drawing/2014/main" id="{DDDAC7C5-F5F4-4B79-9DFF-C95ABB7761C1}"/>
              </a:ext>
            </a:extLst>
          </p:cNvPr>
          <p:cNvSpPr>
            <a:spLocks noGrp="1"/>
          </p:cNvSpPr>
          <p:nvPr>
            <p:ph type="sldNum" sz="quarter" idx="4294967295"/>
          </p:nvPr>
        </p:nvSpPr>
        <p:spPr>
          <a:xfrm>
            <a:off x="6762750" y="6356350"/>
            <a:ext cx="2381250" cy="365125"/>
          </a:xfrm>
        </p:spPr>
        <p:txBody>
          <a:bodyPr/>
          <a:lstStyle/>
          <a:p>
            <a:fld id="{67B19427-F580-D146-B60E-4CADEE75497F}" type="slidenum">
              <a:rPr lang="en-US" smtClean="0"/>
              <a:pPr/>
              <a:t>30</a:t>
            </a:fld>
            <a:endParaRPr lang="en-US" dirty="0"/>
          </a:p>
        </p:txBody>
      </p:sp>
      <p:sp>
        <p:nvSpPr>
          <p:cNvPr id="6" name="Footer Placeholder 5">
            <a:extLst>
              <a:ext uri="{FF2B5EF4-FFF2-40B4-BE49-F238E27FC236}">
                <a16:creationId xmlns:a16="http://schemas.microsoft.com/office/drawing/2014/main" id="{B29B5E42-E72A-4D72-97E2-059482B07FC9}"/>
              </a:ext>
            </a:extLst>
          </p:cNvPr>
          <p:cNvSpPr>
            <a:spLocks noGrp="1"/>
          </p:cNvSpPr>
          <p:nvPr>
            <p:ph type="ftr" sz="quarter" idx="4294967295"/>
          </p:nvPr>
        </p:nvSpPr>
        <p:spPr>
          <a:xfrm>
            <a:off x="0" y="6356350"/>
            <a:ext cx="3086100" cy="365125"/>
          </a:xfrm>
        </p:spPr>
        <p:txBody>
          <a:bodyPr/>
          <a:lstStyle/>
          <a:p>
            <a:r>
              <a:rPr lang="en-US"/>
              <a:t>Copyright ©2017 John Wiley &amp; Sons, Inc. </a:t>
            </a:r>
            <a:endParaRPr lang="en-US" dirty="0"/>
          </a:p>
        </p:txBody>
      </p:sp>
    </p:spTree>
    <p:extLst>
      <p:ext uri="{BB962C8B-B14F-4D97-AF65-F5344CB8AC3E}">
        <p14:creationId xmlns:p14="http://schemas.microsoft.com/office/powerpoint/2010/main" val="2000457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61B31-2F5D-41B3-BC7D-9393EADE74F2}"/>
              </a:ext>
            </a:extLst>
          </p:cNvPr>
          <p:cNvSpPr>
            <a:spLocks noGrp="1"/>
          </p:cNvSpPr>
          <p:nvPr>
            <p:ph type="title"/>
          </p:nvPr>
        </p:nvSpPr>
        <p:spPr/>
        <p:txBody>
          <a:bodyPr/>
          <a:lstStyle/>
          <a:p>
            <a:r>
              <a:rPr lang="en-US" dirty="0"/>
              <a:t>Nails </a:t>
            </a:r>
            <a:endParaRPr lang="en-US" sz="2600" b="0" dirty="0"/>
          </a:p>
        </p:txBody>
      </p:sp>
      <p:sp>
        <p:nvSpPr>
          <p:cNvPr id="3" name="Content Placeholder 2">
            <a:extLst>
              <a:ext uri="{FF2B5EF4-FFF2-40B4-BE49-F238E27FC236}">
                <a16:creationId xmlns:a16="http://schemas.microsoft.com/office/drawing/2014/main" id="{55CD81CC-9C60-48AC-B465-ABEC0654E9E6}"/>
              </a:ext>
            </a:extLst>
          </p:cNvPr>
          <p:cNvSpPr>
            <a:spLocks noGrp="1"/>
          </p:cNvSpPr>
          <p:nvPr>
            <p:ph sz="quarter" idx="16"/>
          </p:nvPr>
        </p:nvSpPr>
        <p:spPr>
          <a:xfrm>
            <a:off x="304800" y="1600201"/>
            <a:ext cx="8382000" cy="685800"/>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Nails are made of keratinized epidermal cells </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sz="3200" dirty="0"/>
          </a:p>
        </p:txBody>
      </p:sp>
      <p:pic>
        <p:nvPicPr>
          <p:cNvPr id="10" name="Content Placeholder 7" descr="A diagram (a) shows a dorsal view of a fingernail. The nail root is deep to the eponychium and the lunula is the half-moon shaped section of the nail at the edge of the eponychium. The nail body, or plate, fills most of the space in the nail bed, and the free edge is the part of the nail body that may extend past the distal end of the digit. ">
            <a:extLst>
              <a:ext uri="{FF2B5EF4-FFF2-40B4-BE49-F238E27FC236}">
                <a16:creationId xmlns:a16="http://schemas.microsoft.com/office/drawing/2014/main" id="{3E4B9ED2-0045-40C0-8105-095C9AB8EAEE}"/>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2118360" y="2286000"/>
            <a:ext cx="4145279" cy="3992879"/>
          </a:xfrm>
          <a:prstGeom prst="rect">
            <a:avLst/>
          </a:prstGeom>
        </p:spPr>
      </p:pic>
    </p:spTree>
    <p:extLst>
      <p:ext uri="{BB962C8B-B14F-4D97-AF65-F5344CB8AC3E}">
        <p14:creationId xmlns:p14="http://schemas.microsoft.com/office/powerpoint/2010/main" val="13891549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D72E5-98E9-4B05-991A-13422A47BD2E}"/>
              </a:ext>
            </a:extLst>
          </p:cNvPr>
          <p:cNvSpPr>
            <a:spLocks noGrp="1"/>
          </p:cNvSpPr>
          <p:nvPr>
            <p:ph type="title"/>
          </p:nvPr>
        </p:nvSpPr>
        <p:spPr/>
        <p:txBody>
          <a:bodyPr/>
          <a:lstStyle/>
          <a:p>
            <a:r>
              <a:rPr lang="en-US" dirty="0"/>
              <a:t>Nails </a:t>
            </a:r>
            <a:endParaRPr lang="en-US" sz="2600" b="0" dirty="0"/>
          </a:p>
        </p:txBody>
      </p:sp>
      <p:pic>
        <p:nvPicPr>
          <p:cNvPr id="6" name="Content Placeholder 5">
            <a:extLst>
              <a:ext uri="{FF2B5EF4-FFF2-40B4-BE49-F238E27FC236}">
                <a16:creationId xmlns:a16="http://schemas.microsoft.com/office/drawing/2014/main" id="{64A2A44E-4225-431B-851F-BA5D0D7AAA28}"/>
              </a:ext>
            </a:extLst>
          </p:cNvPr>
          <p:cNvPicPr>
            <a:picLocks noGrp="1" noChangeAspect="1"/>
          </p:cNvPicPr>
          <p:nvPr>
            <p:ph sz="quarter" idx="16"/>
          </p:nvPr>
        </p:nvPicPr>
        <p:blipFill>
          <a:blip r:embed="rId2"/>
          <a:stretch>
            <a:fillRect/>
          </a:stretch>
        </p:blipFill>
        <p:spPr>
          <a:xfrm>
            <a:off x="609600" y="1386840"/>
            <a:ext cx="8016240" cy="4876800"/>
          </a:xfrm>
          <a:prstGeom prst="rect">
            <a:avLst/>
          </a:prstGeom>
        </p:spPr>
      </p:pic>
    </p:spTree>
    <p:extLst>
      <p:ext uri="{BB962C8B-B14F-4D97-AF65-F5344CB8AC3E}">
        <p14:creationId xmlns:p14="http://schemas.microsoft.com/office/powerpoint/2010/main" val="3941917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830B0F3-60D8-4456-B04B-F92BEC3EBBDD}"/>
              </a:ext>
            </a:extLst>
          </p:cNvPr>
          <p:cNvSpPr>
            <a:spLocks noGrp="1"/>
          </p:cNvSpPr>
          <p:nvPr>
            <p:ph type="title"/>
          </p:nvPr>
        </p:nvSpPr>
        <p:spPr>
          <a:xfrm>
            <a:off x="304800" y="2933700"/>
            <a:ext cx="8534400" cy="714473"/>
          </a:xfrm>
        </p:spPr>
        <p:txBody>
          <a:bodyPr/>
          <a:lstStyle/>
          <a:p>
            <a:pPr algn="ctr"/>
            <a:r>
              <a:rPr lang="en-US" b="1" dirty="0"/>
              <a:t>Functions of Skin</a:t>
            </a:r>
          </a:p>
        </p:txBody>
      </p:sp>
    </p:spTree>
    <p:extLst>
      <p:ext uri="{BB962C8B-B14F-4D97-AF65-F5344CB8AC3E}">
        <p14:creationId xmlns:p14="http://schemas.microsoft.com/office/powerpoint/2010/main" val="302406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F7463-37CF-428E-9D83-ADF6820BC256}"/>
              </a:ext>
            </a:extLst>
          </p:cNvPr>
          <p:cNvSpPr>
            <a:spLocks noGrp="1"/>
          </p:cNvSpPr>
          <p:nvPr>
            <p:ph type="title"/>
          </p:nvPr>
        </p:nvSpPr>
        <p:spPr>
          <a:xfrm>
            <a:off x="304800" y="469764"/>
            <a:ext cx="8534400" cy="838199"/>
          </a:xfrm>
        </p:spPr>
        <p:txBody>
          <a:bodyPr>
            <a:normAutofit/>
          </a:bodyPr>
          <a:lstStyle/>
          <a:p>
            <a:r>
              <a:rPr lang="en-US" dirty="0"/>
              <a:t>Functions of the Skin</a:t>
            </a:r>
            <a:endParaRPr lang="en-US" sz="2200" b="0" dirty="0"/>
          </a:p>
        </p:txBody>
      </p:sp>
      <p:sp>
        <p:nvSpPr>
          <p:cNvPr id="3" name="Content Placeholder 2">
            <a:extLst>
              <a:ext uri="{FF2B5EF4-FFF2-40B4-BE49-F238E27FC236}">
                <a16:creationId xmlns:a16="http://schemas.microsoft.com/office/drawing/2014/main" id="{B4BCD7C5-59B1-4CFA-9C14-4D3415E4C95B}"/>
              </a:ext>
            </a:extLst>
          </p:cNvPr>
          <p:cNvSpPr>
            <a:spLocks noGrp="1"/>
          </p:cNvSpPr>
          <p:nvPr>
            <p:ph sz="quarter" idx="16"/>
          </p:nvPr>
        </p:nvSpPr>
        <p:spPr>
          <a:xfrm>
            <a:off x="304800" y="1564063"/>
            <a:ext cx="8320726" cy="4487945"/>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Thermoregulation</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sz="2800" dirty="0"/>
              <a:t>Sweat – evaporative cooling </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sz="2800" dirty="0"/>
              <a:t>Blood flow to dermis </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sz="3200" dirty="0"/>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Blood reservoir </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sz="2800" dirty="0"/>
              <a:t>8 – 10% of total blood flow due to abundant blood vessels in dermis </a:t>
            </a:r>
          </a:p>
          <a:p>
            <a:pPr>
              <a:lnSpc>
                <a:spcPct val="100000"/>
              </a:lnSpc>
              <a:spcBef>
                <a:spcPts val="624"/>
              </a:spcBef>
              <a:spcAft>
                <a:spcPts val="600"/>
              </a:spcAft>
              <a:buClr>
                <a:schemeClr val="accent2"/>
              </a:buClr>
              <a:buSzPct val="100000"/>
            </a:pPr>
            <a:endParaRPr lang="en-US" dirty="0"/>
          </a:p>
        </p:txBody>
      </p:sp>
    </p:spTree>
    <p:extLst>
      <p:ext uri="{BB962C8B-B14F-4D97-AF65-F5344CB8AC3E}">
        <p14:creationId xmlns:p14="http://schemas.microsoft.com/office/powerpoint/2010/main" val="28993428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F7463-37CF-428E-9D83-ADF6820BC256}"/>
              </a:ext>
            </a:extLst>
          </p:cNvPr>
          <p:cNvSpPr>
            <a:spLocks noGrp="1"/>
          </p:cNvSpPr>
          <p:nvPr>
            <p:ph type="title"/>
          </p:nvPr>
        </p:nvSpPr>
        <p:spPr>
          <a:xfrm>
            <a:off x="304800" y="469764"/>
            <a:ext cx="8534400" cy="838199"/>
          </a:xfrm>
        </p:spPr>
        <p:txBody>
          <a:bodyPr>
            <a:normAutofit/>
          </a:bodyPr>
          <a:lstStyle/>
          <a:p>
            <a:r>
              <a:rPr lang="en-US" dirty="0"/>
              <a:t>Functions of the Skin</a:t>
            </a:r>
            <a:endParaRPr lang="en-US" sz="2200" b="0" dirty="0"/>
          </a:p>
        </p:txBody>
      </p:sp>
      <p:sp>
        <p:nvSpPr>
          <p:cNvPr id="3" name="Content Placeholder 2">
            <a:extLst>
              <a:ext uri="{FF2B5EF4-FFF2-40B4-BE49-F238E27FC236}">
                <a16:creationId xmlns:a16="http://schemas.microsoft.com/office/drawing/2014/main" id="{B4BCD7C5-59B1-4CFA-9C14-4D3415E4C95B}"/>
              </a:ext>
            </a:extLst>
          </p:cNvPr>
          <p:cNvSpPr>
            <a:spLocks noGrp="1"/>
          </p:cNvSpPr>
          <p:nvPr>
            <p:ph sz="quarter" idx="16"/>
          </p:nvPr>
        </p:nvSpPr>
        <p:spPr>
          <a:xfrm>
            <a:off x="304800" y="1021081"/>
            <a:ext cx="8671560" cy="5030928"/>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Protection</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dirty="0"/>
              <a:t>Keratin</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dirty="0"/>
              <a:t>Lipids released by lamellar granules </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dirty="0"/>
              <a:t>Sebum </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dirty="0"/>
              <a:t>Acidic sweat </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dirty="0"/>
              <a:t>Melanin </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dirty="0"/>
              <a:t>Macrophages </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Cutaneous sensations</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dirty="0"/>
              <a:t>Tactile sensations – touch, pressure, vibration, tickle </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dirty="0"/>
              <a:t>Thermal sensation – warm, cool </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dirty="0"/>
              <a:t>Pain </a:t>
            </a:r>
          </a:p>
        </p:txBody>
      </p:sp>
    </p:spTree>
    <p:extLst>
      <p:ext uri="{BB962C8B-B14F-4D97-AF65-F5344CB8AC3E}">
        <p14:creationId xmlns:p14="http://schemas.microsoft.com/office/powerpoint/2010/main" val="16161898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F7463-37CF-428E-9D83-ADF6820BC256}"/>
              </a:ext>
            </a:extLst>
          </p:cNvPr>
          <p:cNvSpPr>
            <a:spLocks noGrp="1"/>
          </p:cNvSpPr>
          <p:nvPr>
            <p:ph type="title"/>
          </p:nvPr>
        </p:nvSpPr>
        <p:spPr>
          <a:xfrm>
            <a:off x="304800" y="469764"/>
            <a:ext cx="8534400" cy="838199"/>
          </a:xfrm>
        </p:spPr>
        <p:txBody>
          <a:bodyPr>
            <a:normAutofit/>
          </a:bodyPr>
          <a:lstStyle/>
          <a:p>
            <a:r>
              <a:rPr lang="en-US" dirty="0"/>
              <a:t>Functions of the Skin</a:t>
            </a:r>
            <a:endParaRPr lang="en-US" sz="2200" b="0" dirty="0"/>
          </a:p>
        </p:txBody>
      </p:sp>
      <p:sp>
        <p:nvSpPr>
          <p:cNvPr id="3" name="Content Placeholder 2">
            <a:extLst>
              <a:ext uri="{FF2B5EF4-FFF2-40B4-BE49-F238E27FC236}">
                <a16:creationId xmlns:a16="http://schemas.microsoft.com/office/drawing/2014/main" id="{B4BCD7C5-59B1-4CFA-9C14-4D3415E4C95B}"/>
              </a:ext>
            </a:extLst>
          </p:cNvPr>
          <p:cNvSpPr>
            <a:spLocks noGrp="1"/>
          </p:cNvSpPr>
          <p:nvPr>
            <p:ph sz="quarter" idx="16"/>
          </p:nvPr>
        </p:nvSpPr>
        <p:spPr>
          <a:xfrm>
            <a:off x="304800" y="1112519"/>
            <a:ext cx="8671560" cy="4939489"/>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Excretion and absorption</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sz="2800" dirty="0"/>
              <a:t>Elimination of substances from the body and passage of materials from external environment into body cells </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sz="2800" dirty="0"/>
              <a:t>Transdermal drug administration </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Synthesis of Vitamin D</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sz="2800" dirty="0"/>
              <a:t>UV light activates precursor molecule (calcitriol) that allows vitamin D to be produced </a:t>
            </a:r>
          </a:p>
          <a:p>
            <a:pPr marL="1604963" lvl="2" indent="-461963">
              <a:lnSpc>
                <a:spcPct val="100000"/>
              </a:lnSpc>
              <a:spcBef>
                <a:spcPts val="624"/>
              </a:spcBef>
              <a:spcAft>
                <a:spcPts val="600"/>
              </a:spcAft>
              <a:buClr>
                <a:schemeClr val="accent2"/>
              </a:buClr>
              <a:buSzPct val="100000"/>
              <a:buFont typeface="Arial" panose="020B0604020202020204" pitchFamily="34" charset="0"/>
              <a:buChar char="•"/>
            </a:pPr>
            <a:r>
              <a:rPr lang="en-US" sz="2400" dirty="0"/>
              <a:t>Vitamin D aids in absorption of calcium in GI tract </a:t>
            </a:r>
          </a:p>
        </p:txBody>
      </p:sp>
    </p:spTree>
    <p:extLst>
      <p:ext uri="{BB962C8B-B14F-4D97-AF65-F5344CB8AC3E}">
        <p14:creationId xmlns:p14="http://schemas.microsoft.com/office/powerpoint/2010/main" val="33465681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830B0F3-60D8-4456-B04B-F92BEC3EBBDD}"/>
              </a:ext>
            </a:extLst>
          </p:cNvPr>
          <p:cNvSpPr>
            <a:spLocks noGrp="1"/>
          </p:cNvSpPr>
          <p:nvPr>
            <p:ph type="title"/>
          </p:nvPr>
        </p:nvSpPr>
        <p:spPr>
          <a:xfrm>
            <a:off x="304800" y="2933700"/>
            <a:ext cx="8534400" cy="714473"/>
          </a:xfrm>
        </p:spPr>
        <p:txBody>
          <a:bodyPr/>
          <a:lstStyle/>
          <a:p>
            <a:pPr algn="ctr"/>
            <a:r>
              <a:rPr lang="en-US" b="1" dirty="0"/>
              <a:t>Wound Healing </a:t>
            </a:r>
          </a:p>
        </p:txBody>
      </p:sp>
    </p:spTree>
    <p:extLst>
      <p:ext uri="{BB962C8B-B14F-4D97-AF65-F5344CB8AC3E}">
        <p14:creationId xmlns:p14="http://schemas.microsoft.com/office/powerpoint/2010/main" val="11839069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EFCC-7CAA-4C86-AC15-DA6FCA8BDF78}"/>
              </a:ext>
            </a:extLst>
          </p:cNvPr>
          <p:cNvSpPr>
            <a:spLocks noGrp="1"/>
          </p:cNvSpPr>
          <p:nvPr>
            <p:ph type="title"/>
          </p:nvPr>
        </p:nvSpPr>
        <p:spPr>
          <a:xfrm>
            <a:off x="260022" y="475767"/>
            <a:ext cx="8534400" cy="838199"/>
          </a:xfrm>
        </p:spPr>
        <p:txBody>
          <a:bodyPr>
            <a:normAutofit/>
          </a:bodyPr>
          <a:lstStyle/>
          <a:p>
            <a:r>
              <a:rPr lang="en-US" dirty="0"/>
              <a:t>Epidermal Wound Healing</a:t>
            </a:r>
            <a:endParaRPr lang="en-US" sz="2200" b="0" dirty="0"/>
          </a:p>
        </p:txBody>
      </p:sp>
      <p:sp>
        <p:nvSpPr>
          <p:cNvPr id="4" name="Content Placeholder 3">
            <a:extLst>
              <a:ext uri="{FF2B5EF4-FFF2-40B4-BE49-F238E27FC236}">
                <a16:creationId xmlns:a16="http://schemas.microsoft.com/office/drawing/2014/main" id="{A6356C4B-659B-4E45-9B2F-6ADD9479C9E9}"/>
              </a:ext>
            </a:extLst>
          </p:cNvPr>
          <p:cNvSpPr>
            <a:spLocks noGrp="1"/>
          </p:cNvSpPr>
          <p:nvPr>
            <p:ph sz="quarter" idx="16"/>
          </p:nvPr>
        </p:nvSpPr>
        <p:spPr>
          <a:xfrm>
            <a:off x="304800" y="1537997"/>
            <a:ext cx="8140046" cy="838199"/>
          </a:xfrm>
        </p:spPr>
        <p:txBody>
          <a:bodyPr/>
          <a:lstStyle/>
          <a:p>
            <a:r>
              <a:rPr lang="en-US" dirty="0"/>
              <a:t>Occurs when superficial wounds affect only the epidermis</a:t>
            </a:r>
          </a:p>
        </p:txBody>
      </p:sp>
      <p:pic>
        <p:nvPicPr>
          <p:cNvPr id="13" name="Content Placeholder 7" descr="Diagrams (a) and (b) illustrate epidermal wound healing. Diagram (a) shows division of stratum basale cells and migration across a wound. The dividing basal cells are located just above the basement membrane, and detached, enlarged basal epithelial cells migrate across a wound. Diagram (b) shows the epidermis thickening over a wound.">
            <a:extLst>
              <a:ext uri="{FF2B5EF4-FFF2-40B4-BE49-F238E27FC236}">
                <a16:creationId xmlns:a16="http://schemas.microsoft.com/office/drawing/2014/main" id="{4C6A00DA-9F1F-47BF-9598-3398E9653452}"/>
              </a:ext>
            </a:extLst>
          </p:cNvPr>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260022" y="2600226"/>
            <a:ext cx="8701098" cy="3053813"/>
          </a:xfrm>
          <a:prstGeom prst="rect">
            <a:avLst/>
          </a:prstGeom>
        </p:spPr>
      </p:pic>
    </p:spTree>
    <p:extLst>
      <p:ext uri="{BB962C8B-B14F-4D97-AF65-F5344CB8AC3E}">
        <p14:creationId xmlns:p14="http://schemas.microsoft.com/office/powerpoint/2010/main" val="10902740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EFCC-7CAA-4C86-AC15-DA6FCA8BDF78}"/>
              </a:ext>
            </a:extLst>
          </p:cNvPr>
          <p:cNvSpPr>
            <a:spLocks noGrp="1"/>
          </p:cNvSpPr>
          <p:nvPr>
            <p:ph type="title"/>
          </p:nvPr>
        </p:nvSpPr>
        <p:spPr>
          <a:xfrm>
            <a:off x="260022" y="475767"/>
            <a:ext cx="8534400" cy="838199"/>
          </a:xfrm>
        </p:spPr>
        <p:txBody>
          <a:bodyPr>
            <a:normAutofit/>
          </a:bodyPr>
          <a:lstStyle/>
          <a:p>
            <a:r>
              <a:rPr lang="en-US" dirty="0"/>
              <a:t>Deep Wound Healing </a:t>
            </a:r>
            <a:endParaRPr lang="en-US" sz="2600" b="0" dirty="0"/>
          </a:p>
        </p:txBody>
      </p:sp>
      <p:sp>
        <p:nvSpPr>
          <p:cNvPr id="4" name="Content Placeholder 3">
            <a:extLst>
              <a:ext uri="{FF2B5EF4-FFF2-40B4-BE49-F238E27FC236}">
                <a16:creationId xmlns:a16="http://schemas.microsoft.com/office/drawing/2014/main" id="{A6356C4B-659B-4E45-9B2F-6ADD9479C9E9}"/>
              </a:ext>
            </a:extLst>
          </p:cNvPr>
          <p:cNvSpPr>
            <a:spLocks noGrp="1"/>
          </p:cNvSpPr>
          <p:nvPr>
            <p:ph sz="quarter" idx="16"/>
          </p:nvPr>
        </p:nvSpPr>
        <p:spPr>
          <a:xfrm>
            <a:off x="304800" y="1537997"/>
            <a:ext cx="8140046" cy="838199"/>
          </a:xfrm>
        </p:spPr>
        <p:txBody>
          <a:bodyPr/>
          <a:lstStyle/>
          <a:p>
            <a:r>
              <a:rPr lang="en-US" dirty="0"/>
              <a:t>Additional steps occur when an injury extends into the dermis and subcutaneous layer</a:t>
            </a:r>
          </a:p>
        </p:txBody>
      </p:sp>
      <p:pic>
        <p:nvPicPr>
          <p:cNvPr id="7" name="Content Placeholder 8" descr="Diagrams (c) and (d) illustrate the additional steps that occur during deep wound healing, when an injury extends into the dermis and subcutaneous layer. Diagram (c) shows the inflammatory phase. A section of the skin shows a damaged blood vessel, a dilated blood vessel, and the end of a clot in a deep wound. Neutrophils and monocytes, or macrophages, move through the wound, and a blood clot at the surface seals the wound. A fibroblast and collagen fibers are present in the dermis, and the epithelium migrates across the wound. Diagram (d) shows the maturation phase. A section of the skin shows a restored blood vessel in the dermis and a scab on the epidermis. A fibroblast and collagen fibers are present in the dermis, and resurfaced epithelium appears under the scab.">
            <a:extLst>
              <a:ext uri="{FF2B5EF4-FFF2-40B4-BE49-F238E27FC236}">
                <a16:creationId xmlns:a16="http://schemas.microsoft.com/office/drawing/2014/main" id="{B9C94182-063E-45E2-A349-93C90C85D173}"/>
              </a:ext>
            </a:extLst>
          </p:cNvPr>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411480" y="2376197"/>
            <a:ext cx="8033365" cy="3811244"/>
          </a:xfrm>
          <a:prstGeom prst="rect">
            <a:avLst/>
          </a:prstGeom>
        </p:spPr>
      </p:pic>
    </p:spTree>
    <p:extLst>
      <p:ext uri="{BB962C8B-B14F-4D97-AF65-F5344CB8AC3E}">
        <p14:creationId xmlns:p14="http://schemas.microsoft.com/office/powerpoint/2010/main" val="2333914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44053-77DB-4D0F-94B4-5353A9793B66}"/>
              </a:ext>
            </a:extLst>
          </p:cNvPr>
          <p:cNvSpPr>
            <a:spLocks noGrp="1"/>
          </p:cNvSpPr>
          <p:nvPr>
            <p:ph type="title"/>
          </p:nvPr>
        </p:nvSpPr>
        <p:spPr>
          <a:xfrm>
            <a:off x="228600" y="467663"/>
            <a:ext cx="8534400" cy="838199"/>
          </a:xfrm>
        </p:spPr>
        <p:txBody>
          <a:bodyPr>
            <a:normAutofit/>
          </a:bodyPr>
          <a:lstStyle/>
          <a:p>
            <a:r>
              <a:rPr lang="en-US" dirty="0"/>
              <a:t>Deep Wound Healing </a:t>
            </a:r>
            <a:endParaRPr lang="en-US" sz="2600" b="0" dirty="0"/>
          </a:p>
        </p:txBody>
      </p:sp>
      <p:sp>
        <p:nvSpPr>
          <p:cNvPr id="3" name="Content Placeholder 2">
            <a:extLst>
              <a:ext uri="{FF2B5EF4-FFF2-40B4-BE49-F238E27FC236}">
                <a16:creationId xmlns:a16="http://schemas.microsoft.com/office/drawing/2014/main" id="{04372075-32AA-4B07-9EAE-11130CEECA5A}"/>
              </a:ext>
            </a:extLst>
          </p:cNvPr>
          <p:cNvSpPr>
            <a:spLocks noGrp="1"/>
          </p:cNvSpPr>
          <p:nvPr>
            <p:ph sz="quarter" idx="16"/>
          </p:nvPr>
        </p:nvSpPr>
        <p:spPr>
          <a:xfrm>
            <a:off x="295372" y="1127760"/>
            <a:ext cx="8620028" cy="4924249"/>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Inflammatory Phase – clot forms</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sz="3200" dirty="0"/>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Migratory Phase – clot becomes a scab</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sz="3200" dirty="0"/>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Proliferative Phase – growth of epithelial cells beneath scab</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sz="3200" dirty="0"/>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Maturation Phase – scab sloughs off once epidermis restored </a:t>
            </a:r>
          </a:p>
        </p:txBody>
      </p:sp>
    </p:spTree>
    <p:extLst>
      <p:ext uri="{BB962C8B-B14F-4D97-AF65-F5344CB8AC3E}">
        <p14:creationId xmlns:p14="http://schemas.microsoft.com/office/powerpoint/2010/main" val="12594146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830B0F3-60D8-4456-B04B-F92BEC3EBBDD}"/>
              </a:ext>
            </a:extLst>
          </p:cNvPr>
          <p:cNvSpPr>
            <a:spLocks noGrp="1"/>
          </p:cNvSpPr>
          <p:nvPr>
            <p:ph type="title"/>
          </p:nvPr>
        </p:nvSpPr>
        <p:spPr>
          <a:xfrm>
            <a:off x="304800" y="2805615"/>
            <a:ext cx="8534400" cy="1046059"/>
          </a:xfrm>
        </p:spPr>
        <p:txBody>
          <a:bodyPr>
            <a:noAutofit/>
          </a:bodyPr>
          <a:lstStyle/>
          <a:p>
            <a:pPr algn="ctr"/>
            <a:r>
              <a:rPr lang="en-US" b="1" dirty="0"/>
              <a:t>Development of the Integumentary System</a:t>
            </a:r>
          </a:p>
        </p:txBody>
      </p:sp>
    </p:spTree>
    <p:extLst>
      <p:ext uri="{BB962C8B-B14F-4D97-AF65-F5344CB8AC3E}">
        <p14:creationId xmlns:p14="http://schemas.microsoft.com/office/powerpoint/2010/main" val="33137758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E15B6-F21B-407A-A83C-80ED67A93206}"/>
              </a:ext>
            </a:extLst>
          </p:cNvPr>
          <p:cNvSpPr>
            <a:spLocks noGrp="1"/>
          </p:cNvSpPr>
          <p:nvPr>
            <p:ph type="title"/>
          </p:nvPr>
        </p:nvSpPr>
        <p:spPr>
          <a:xfrm>
            <a:off x="304800" y="762001"/>
            <a:ext cx="8697798" cy="838199"/>
          </a:xfrm>
        </p:spPr>
        <p:txBody>
          <a:bodyPr>
            <a:noAutofit/>
          </a:bodyPr>
          <a:lstStyle/>
          <a:p>
            <a:r>
              <a:rPr lang="en-US" dirty="0"/>
              <a:t>Epidermis Develops from Ectoderm</a:t>
            </a:r>
            <a:r>
              <a:rPr lang="en-US" b="0" dirty="0"/>
              <a:t> </a:t>
            </a:r>
            <a:endParaRPr lang="en-US" sz="2600" b="0" dirty="0"/>
          </a:p>
        </p:txBody>
      </p:sp>
      <p:sp>
        <p:nvSpPr>
          <p:cNvPr id="7" name="Content Placeholder 6">
            <a:extLst>
              <a:ext uri="{FF2B5EF4-FFF2-40B4-BE49-F238E27FC236}">
                <a16:creationId xmlns:a16="http://schemas.microsoft.com/office/drawing/2014/main" id="{06F72D14-5E48-4FF9-ADF4-10ABAFB32788}"/>
              </a:ext>
            </a:extLst>
          </p:cNvPr>
          <p:cNvSpPr>
            <a:spLocks noGrp="1"/>
          </p:cNvSpPr>
          <p:nvPr>
            <p:ph sz="quarter" idx="16"/>
          </p:nvPr>
        </p:nvSpPr>
        <p:spPr>
          <a:xfrm>
            <a:off x="304800" y="1414807"/>
            <a:ext cx="8697798" cy="838199"/>
          </a:xfrm>
        </p:spPr>
        <p:txBody>
          <a:bodyPr/>
          <a:lstStyle/>
          <a:p>
            <a:pPr marL="0" lvl="1" indent="0">
              <a:lnSpc>
                <a:spcPct val="100000"/>
              </a:lnSpc>
              <a:spcBef>
                <a:spcPts val="0"/>
              </a:spcBef>
              <a:buNone/>
            </a:pPr>
            <a:r>
              <a:rPr lang="en-US" sz="3200" dirty="0"/>
              <a:t>Nails, hair, and skin glands are epidermal derivatives</a:t>
            </a:r>
          </a:p>
        </p:txBody>
      </p:sp>
      <p:pic>
        <p:nvPicPr>
          <p:cNvPr id="14" name="Content Placeholder 17" descr="A diagram (a) shows development of the integumentary system at four weeks. A section of the skin shows a thin layer of ectoderm above a thicker layer of mesenchyme. ">
            <a:extLst>
              <a:ext uri="{FF2B5EF4-FFF2-40B4-BE49-F238E27FC236}">
                <a16:creationId xmlns:a16="http://schemas.microsoft.com/office/drawing/2014/main" id="{7A652B2A-5FFB-4A2A-8BF2-85F8E4D2D1E5}"/>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1131416" y="2405406"/>
            <a:ext cx="3250276" cy="1450571"/>
          </a:xfrm>
          <a:prstGeom prst="rect">
            <a:avLst/>
          </a:prstGeom>
        </p:spPr>
      </p:pic>
      <p:pic>
        <p:nvPicPr>
          <p:cNvPr id="15" name="Content Placeholder 18" descr="A diagram (b) shows the development of the integumentary system at seventh week. A section of the skin shows a surface layer of periderm above the thin basal layer. ">
            <a:extLst>
              <a:ext uri="{FF2B5EF4-FFF2-40B4-BE49-F238E27FC236}">
                <a16:creationId xmlns:a16="http://schemas.microsoft.com/office/drawing/2014/main" id="{3FA98394-AC62-415C-A9EF-AF7AED7E0BB8}"/>
              </a:ext>
            </a:extLst>
          </p:cNvPr>
          <p:cNvPicPr>
            <a:picLocks noGrp="1" noChangeAspect="1"/>
          </p:cNvPicPr>
          <p:nvPr>
            <p:ph sz="quarter" idx="18"/>
          </p:nvPr>
        </p:nvPicPr>
        <p:blipFill>
          <a:blip r:embed="rId3" cstate="print">
            <a:extLst>
              <a:ext uri="{28A0092B-C50C-407E-A947-70E740481C1C}">
                <a14:useLocalDpi xmlns:a14="http://schemas.microsoft.com/office/drawing/2010/main" val="0"/>
              </a:ext>
            </a:extLst>
          </a:blip>
          <a:stretch>
            <a:fillRect/>
          </a:stretch>
        </p:blipFill>
        <p:spPr>
          <a:xfrm>
            <a:off x="5103043" y="2370256"/>
            <a:ext cx="2984269" cy="1396538"/>
          </a:xfrm>
          <a:prstGeom prst="rect">
            <a:avLst/>
          </a:prstGeom>
        </p:spPr>
      </p:pic>
      <p:pic>
        <p:nvPicPr>
          <p:cNvPr id="16" name="Content Placeholder 19" descr="A diagram (c) shows the development of the integumentary system at eleven weeks. A section of skin shows the intermediate layer and basal layer of the epidermis, and an epidermal ridge extending down into the second layer. The second layer shows the dermal papilla, a melanoblast, and developing collagen and elastic fibers of the dermis. ">
            <a:extLst>
              <a:ext uri="{FF2B5EF4-FFF2-40B4-BE49-F238E27FC236}">
                <a16:creationId xmlns:a16="http://schemas.microsoft.com/office/drawing/2014/main" id="{00DCE43C-8E0D-473E-A3D2-D9A91F8264DC}"/>
              </a:ext>
            </a:extLst>
          </p:cNvPr>
          <p:cNvPicPr>
            <a:picLocks noGrp="1" noChangeAspect="1"/>
          </p:cNvPicPr>
          <p:nvPr>
            <p:ph type="pic" sz="quarter" idx="19"/>
          </p:nvPr>
        </p:nvPicPr>
        <p:blipFill rotWithShape="1">
          <a:blip r:embed="rId4" cstate="print">
            <a:extLst>
              <a:ext uri="{28A0092B-C50C-407E-A947-70E740481C1C}">
                <a14:useLocalDpi xmlns:a14="http://schemas.microsoft.com/office/drawing/2010/main" val="0"/>
              </a:ext>
            </a:extLst>
          </a:blip>
          <a:stretch/>
        </p:blipFill>
        <p:spPr>
          <a:xfrm>
            <a:off x="2896985" y="4143836"/>
            <a:ext cx="3350029" cy="1857895"/>
          </a:xfrm>
          <a:prstGeom prst="rect">
            <a:avLst/>
          </a:prstGeom>
        </p:spPr>
      </p:pic>
    </p:spTree>
    <p:extLst>
      <p:ext uri="{BB962C8B-B14F-4D97-AF65-F5344CB8AC3E}">
        <p14:creationId xmlns:p14="http://schemas.microsoft.com/office/powerpoint/2010/main" val="8023444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E15B6-F21B-407A-A83C-80ED67A93206}"/>
              </a:ext>
            </a:extLst>
          </p:cNvPr>
          <p:cNvSpPr>
            <a:spLocks noGrp="1"/>
          </p:cNvSpPr>
          <p:nvPr>
            <p:ph type="title"/>
          </p:nvPr>
        </p:nvSpPr>
        <p:spPr>
          <a:xfrm>
            <a:off x="304800" y="762001"/>
            <a:ext cx="8726078" cy="838199"/>
          </a:xfrm>
        </p:spPr>
        <p:txBody>
          <a:bodyPr>
            <a:noAutofit/>
          </a:bodyPr>
          <a:lstStyle/>
          <a:p>
            <a:r>
              <a:rPr lang="en-US" dirty="0"/>
              <a:t>Epidermis Develops from Ectoderm </a:t>
            </a:r>
            <a:endParaRPr lang="en-US" sz="2600" b="0" dirty="0"/>
          </a:p>
        </p:txBody>
      </p:sp>
      <p:pic>
        <p:nvPicPr>
          <p:cNvPr id="10" name="Content Placeholder 10" descr="A diagram (d) shows the development of the integumentary system at 12 weeks. A bud of developing sudoriferous gland appears in the basal layer of the epidermis, and a hair bud is beginning to form at the epidermal ridge. ">
            <a:extLst>
              <a:ext uri="{FF2B5EF4-FFF2-40B4-BE49-F238E27FC236}">
                <a16:creationId xmlns:a16="http://schemas.microsoft.com/office/drawing/2014/main" id="{4A44F00E-A816-452B-AFA2-A005B8661C6D}"/>
              </a:ext>
            </a:extLst>
          </p:cNvPr>
          <p:cNvPicPr>
            <a:picLocks noGrp="1" noChangeAspect="1"/>
          </p:cNvPicPr>
          <p:nvPr>
            <p:ph type="pic" sz="quarter" idx="19"/>
          </p:nvPr>
        </p:nvPicPr>
        <p:blipFill rotWithShape="1">
          <a:blip r:embed="rId2" cstate="print">
            <a:extLst>
              <a:ext uri="{28A0092B-C50C-407E-A947-70E740481C1C}">
                <a14:useLocalDpi xmlns:a14="http://schemas.microsoft.com/office/drawing/2010/main" val="0"/>
              </a:ext>
            </a:extLst>
          </a:blip>
          <a:stretch/>
        </p:blipFill>
        <p:spPr>
          <a:xfrm>
            <a:off x="654654" y="1957355"/>
            <a:ext cx="3297611" cy="1714070"/>
          </a:xfrm>
          <a:prstGeom prst="rect">
            <a:avLst/>
          </a:prstGeom>
        </p:spPr>
      </p:pic>
      <p:pic>
        <p:nvPicPr>
          <p:cNvPr id="17" name="Content Placeholder 11" descr="A diagram (e) shows the development of the integumentary system at 14 weeks. A developing sudoriferous gland appears in one epidermal ridge, and a developing sebaceous gland and hair bulb in another. ">
            <a:extLst>
              <a:ext uri="{FF2B5EF4-FFF2-40B4-BE49-F238E27FC236}">
                <a16:creationId xmlns:a16="http://schemas.microsoft.com/office/drawing/2014/main" id="{A87D6DB4-6FBB-48AE-BB59-56F7110B7F7B}"/>
              </a:ext>
            </a:extLst>
          </p:cNvPr>
          <p:cNvPicPr>
            <a:picLocks noGrp="1" noChangeAspect="1"/>
          </p:cNvPicPr>
          <p:nvPr>
            <p:ph sz="quarter" idx="16"/>
          </p:nvPr>
        </p:nvPicPr>
        <p:blipFill rotWithShape="1">
          <a:blip r:embed="rId3" cstate="print">
            <a:extLst>
              <a:ext uri="{28A0092B-C50C-407E-A947-70E740481C1C}">
                <a14:useLocalDpi xmlns:a14="http://schemas.microsoft.com/office/drawing/2010/main" val="0"/>
              </a:ext>
            </a:extLst>
          </a:blip>
          <a:stretch/>
        </p:blipFill>
        <p:spPr>
          <a:xfrm>
            <a:off x="4760379" y="1832021"/>
            <a:ext cx="3291840" cy="2148840"/>
          </a:xfrm>
          <a:prstGeom prst="rect">
            <a:avLst/>
          </a:prstGeom>
        </p:spPr>
      </p:pic>
      <p:pic>
        <p:nvPicPr>
          <p:cNvPr id="18" name="Content Placeholder 12" descr="A diagram (f) shows the development of the integumentary system at 16 weeks. A sebaceous gland is developing around a hair shaft, and the papilla of the hair is visible. ">
            <a:extLst>
              <a:ext uri="{FF2B5EF4-FFF2-40B4-BE49-F238E27FC236}">
                <a16:creationId xmlns:a16="http://schemas.microsoft.com/office/drawing/2014/main" id="{2711AED1-CD4B-4AE9-8960-AE8C24A33880}"/>
              </a:ext>
            </a:extLst>
          </p:cNvPr>
          <p:cNvPicPr>
            <a:picLocks noGrp="1" noChangeAspect="1"/>
          </p:cNvPicPr>
          <p:nvPr>
            <p:ph sz="quarter" idx="17"/>
          </p:nvPr>
        </p:nvPicPr>
        <p:blipFill rotWithShape="1">
          <a:blip r:embed="rId4" cstate="print">
            <a:extLst>
              <a:ext uri="{28A0092B-C50C-407E-A947-70E740481C1C}">
                <a14:useLocalDpi xmlns:a14="http://schemas.microsoft.com/office/drawing/2010/main" val="0"/>
              </a:ext>
            </a:extLst>
          </a:blip>
          <a:stretch/>
        </p:blipFill>
        <p:spPr>
          <a:xfrm>
            <a:off x="2972763" y="4097989"/>
            <a:ext cx="2610196" cy="2148840"/>
          </a:xfrm>
          <a:prstGeom prst="rect">
            <a:avLst/>
          </a:prstGeom>
        </p:spPr>
      </p:pic>
    </p:spTree>
    <p:extLst>
      <p:ext uri="{BB962C8B-B14F-4D97-AF65-F5344CB8AC3E}">
        <p14:creationId xmlns:p14="http://schemas.microsoft.com/office/powerpoint/2010/main" val="277284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E15B6-F21B-407A-A83C-80ED67A93206}"/>
              </a:ext>
            </a:extLst>
          </p:cNvPr>
          <p:cNvSpPr>
            <a:spLocks noGrp="1"/>
          </p:cNvSpPr>
          <p:nvPr>
            <p:ph type="title"/>
          </p:nvPr>
        </p:nvSpPr>
        <p:spPr>
          <a:xfrm>
            <a:off x="304800" y="762001"/>
            <a:ext cx="8716652" cy="838199"/>
          </a:xfrm>
        </p:spPr>
        <p:txBody>
          <a:bodyPr>
            <a:noAutofit/>
          </a:bodyPr>
          <a:lstStyle/>
          <a:p>
            <a:r>
              <a:rPr lang="en-US" dirty="0"/>
              <a:t>Epidermis Develops from Ectoderm </a:t>
            </a:r>
            <a:endParaRPr lang="en-US" sz="2600" b="0" dirty="0"/>
          </a:p>
        </p:txBody>
      </p:sp>
      <p:pic>
        <p:nvPicPr>
          <p:cNvPr id="10" name="Content Placeholder 8" descr="A diagram (g) shows the development of the integumentary system at 18 weeks. The secretory portion of a sudoriferous gland in the dermis appears just proximal to the subcutaneous layer, and blood vessels are developing in the dermis proximal to the hair bulb and papilla of the hair. A hair shaft extends from the hair bulb and protrudes from the epidermis. The hair bulb and hair shaft are surrounded by the epithelial and dermal root sheaths, near a developing sebaceous gland and the arrector pili muscle. A duct of the sudoriferous gland ends in a sweat pore at the surface of the epidermis.">
            <a:extLst>
              <a:ext uri="{FF2B5EF4-FFF2-40B4-BE49-F238E27FC236}">
                <a16:creationId xmlns:a16="http://schemas.microsoft.com/office/drawing/2014/main" id="{A7C189CF-43F8-4BE9-A9A8-6718872A0189}"/>
              </a:ext>
            </a:extLst>
          </p:cNvPr>
          <p:cNvPicPr>
            <a:picLocks noGrp="1" noChangeAspect="1"/>
          </p:cNvPicPr>
          <p:nvPr>
            <p:ph type="pic" sz="quarter" idx="19"/>
          </p:nvPr>
        </p:nvPicPr>
        <p:blipFill rotWithShape="1">
          <a:blip r:embed="rId2" cstate="print">
            <a:extLst>
              <a:ext uri="{28A0092B-C50C-407E-A947-70E740481C1C}">
                <a14:useLocalDpi xmlns:a14="http://schemas.microsoft.com/office/drawing/2010/main" val="0"/>
              </a:ext>
            </a:extLst>
          </a:blip>
          <a:stretch/>
        </p:blipFill>
        <p:spPr>
          <a:xfrm>
            <a:off x="2711203" y="1600200"/>
            <a:ext cx="3811385" cy="2477193"/>
          </a:xfrm>
          <a:prstGeom prst="rect">
            <a:avLst/>
          </a:prstGeom>
        </p:spPr>
      </p:pic>
      <p:pic>
        <p:nvPicPr>
          <p:cNvPr id="13" name="Content Placeholder 11" descr="A diagram (h) shows the development of the integumentary system at birth. A section of thick skin shows the distinction between the epidermis and the dermis and labels the five layers of epidermis, from superficial to deep: stratum corneum, stratum lucidum, stratum granulosum, stratum spinosum, the stratum basale. A melanocyte is embedded in the stratum basale.">
            <a:extLst>
              <a:ext uri="{FF2B5EF4-FFF2-40B4-BE49-F238E27FC236}">
                <a16:creationId xmlns:a16="http://schemas.microsoft.com/office/drawing/2014/main" id="{F2C831EE-D52A-43ED-BFB5-01F1E4886AEC}"/>
              </a:ext>
            </a:extLst>
          </p:cNvPr>
          <p:cNvPicPr>
            <a:picLocks noGrp="1" noChangeAspect="1"/>
          </p:cNvPicPr>
          <p:nvPr>
            <p:ph sz="quarter" idx="16"/>
          </p:nvPr>
        </p:nvPicPr>
        <p:blipFill>
          <a:blip r:embed="rId3" cstate="print">
            <a:extLst>
              <a:ext uri="{28A0092B-C50C-407E-A947-70E740481C1C}">
                <a14:useLocalDpi xmlns:a14="http://schemas.microsoft.com/office/drawing/2010/main" val="0"/>
              </a:ext>
            </a:extLst>
          </a:blip>
          <a:stretch>
            <a:fillRect/>
          </a:stretch>
        </p:blipFill>
        <p:spPr>
          <a:xfrm>
            <a:off x="2779783" y="4224943"/>
            <a:ext cx="3674225" cy="2065713"/>
          </a:xfrm>
          <a:prstGeom prst="rect">
            <a:avLst/>
          </a:prstGeom>
        </p:spPr>
      </p:pic>
    </p:spTree>
    <p:extLst>
      <p:ext uri="{BB962C8B-B14F-4D97-AF65-F5344CB8AC3E}">
        <p14:creationId xmlns:p14="http://schemas.microsoft.com/office/powerpoint/2010/main" val="13903940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E15B6-F21B-407A-A83C-80ED67A93206}"/>
              </a:ext>
            </a:extLst>
          </p:cNvPr>
          <p:cNvSpPr>
            <a:spLocks noGrp="1"/>
          </p:cNvSpPr>
          <p:nvPr>
            <p:ph type="title"/>
          </p:nvPr>
        </p:nvSpPr>
        <p:spPr/>
        <p:txBody>
          <a:bodyPr>
            <a:noAutofit/>
          </a:bodyPr>
          <a:lstStyle/>
          <a:p>
            <a:r>
              <a:rPr lang="en-US" dirty="0"/>
              <a:t>Dermis Develops from Mesoderm</a:t>
            </a:r>
            <a:endParaRPr lang="en-US" sz="2600" dirty="0"/>
          </a:p>
        </p:txBody>
      </p:sp>
      <p:sp>
        <p:nvSpPr>
          <p:cNvPr id="7" name="Content Placeholder 6">
            <a:extLst>
              <a:ext uri="{FF2B5EF4-FFF2-40B4-BE49-F238E27FC236}">
                <a16:creationId xmlns:a16="http://schemas.microsoft.com/office/drawing/2014/main" id="{06F72D14-5E48-4FF9-ADF4-10ABAFB32788}"/>
              </a:ext>
            </a:extLst>
          </p:cNvPr>
          <p:cNvSpPr>
            <a:spLocks noGrp="1"/>
          </p:cNvSpPr>
          <p:nvPr>
            <p:ph sz="quarter" idx="16"/>
          </p:nvPr>
        </p:nvSpPr>
        <p:spPr>
          <a:xfrm>
            <a:off x="304800" y="1600200"/>
            <a:ext cx="7029254" cy="728709"/>
          </a:xfrm>
        </p:spPr>
        <p:txBody>
          <a:bodyPr/>
          <a:lstStyle/>
          <a:p>
            <a:pPr marL="0" lvl="1" indent="0">
              <a:lnSpc>
                <a:spcPct val="100000"/>
              </a:lnSpc>
              <a:spcBef>
                <a:spcPts val="0"/>
              </a:spcBef>
              <a:buNone/>
            </a:pPr>
            <a:r>
              <a:rPr lang="en-US" sz="3200" dirty="0"/>
              <a:t>Mesoderm gives rise to mesenchyme</a:t>
            </a:r>
          </a:p>
        </p:txBody>
      </p:sp>
      <p:pic>
        <p:nvPicPr>
          <p:cNvPr id="9" name="Content Placeholder 31" descr="A diagram (a) shows development of the integumentary system at four weeks. A section of the skin shows a thin layer of ectoderm above a thicker layer of mesenchyme. ">
            <a:extLst>
              <a:ext uri="{FF2B5EF4-FFF2-40B4-BE49-F238E27FC236}">
                <a16:creationId xmlns:a16="http://schemas.microsoft.com/office/drawing/2014/main" id="{3414FEB3-90A9-42A7-B734-C6F627A9D9F8}"/>
              </a:ext>
            </a:extLst>
          </p:cNvPr>
          <p:cNvPicPr>
            <a:picLocks noGrp="1" noChangeAspect="1"/>
          </p:cNvPicPr>
          <p:nvPr>
            <p:ph type="pic" sz="quarter" idx="19"/>
          </p:nvPr>
        </p:nvPicPr>
        <p:blipFill rotWithShape="1">
          <a:blip r:embed="rId2" cstate="print">
            <a:extLst>
              <a:ext uri="{28A0092B-C50C-407E-A947-70E740481C1C}">
                <a14:useLocalDpi xmlns:a14="http://schemas.microsoft.com/office/drawing/2010/main" val="0"/>
              </a:ext>
            </a:extLst>
          </a:blip>
          <a:stretch/>
        </p:blipFill>
        <p:spPr>
          <a:xfrm>
            <a:off x="446481" y="2410691"/>
            <a:ext cx="3250276" cy="1450571"/>
          </a:xfrm>
          <a:prstGeom prst="rect">
            <a:avLst/>
          </a:prstGeom>
        </p:spPr>
      </p:pic>
      <p:pic>
        <p:nvPicPr>
          <p:cNvPr id="12" name="Content Placeholder 32" descr="A diagram (c) shows the development of the integumentary system at eleven weeks. A section of skin shows the intermediate layer and basal layer of the epidermis, and an epidermal ridge extending down into the second layer. The second layer shows the dermal papilla, a melanoblast, and developing collagen and elastic fibers of the dermis. ">
            <a:extLst>
              <a:ext uri="{FF2B5EF4-FFF2-40B4-BE49-F238E27FC236}">
                <a16:creationId xmlns:a16="http://schemas.microsoft.com/office/drawing/2014/main" id="{0569AEA7-A78B-4424-9889-ACD3C788D213}"/>
              </a:ext>
            </a:extLst>
          </p:cNvPr>
          <p:cNvPicPr>
            <a:picLocks noGrp="1" noChangeAspect="1"/>
          </p:cNvPicPr>
          <p:nvPr>
            <p:ph sz="quarter" idx="17"/>
          </p:nvPr>
        </p:nvPicPr>
        <p:blipFill>
          <a:blip r:embed="rId3" cstate="print">
            <a:extLst>
              <a:ext uri="{28A0092B-C50C-407E-A947-70E740481C1C}">
                <a14:useLocalDpi xmlns:a14="http://schemas.microsoft.com/office/drawing/2010/main" val="0"/>
              </a:ext>
            </a:extLst>
          </a:blip>
          <a:stretch>
            <a:fillRect/>
          </a:stretch>
        </p:blipFill>
        <p:spPr>
          <a:xfrm>
            <a:off x="4737725" y="2398114"/>
            <a:ext cx="3258589" cy="1808018"/>
          </a:xfrm>
          <a:prstGeom prst="rect">
            <a:avLst/>
          </a:prstGeom>
        </p:spPr>
      </p:pic>
      <p:pic>
        <p:nvPicPr>
          <p:cNvPr id="17" name="Content Placeholder 33" descr="A diagram (h) shows the development of the integumentary system at birth. A section of thick skin shows the distinction between the epidermis and the dermis and labels the five layers of epidermis, from superficial to deep: stratum corneum, stratum lucidum, stratum granulosum, stratum spinosum, the stratum basale. A melanocyte is embedded in the stratum basale.">
            <a:extLst>
              <a:ext uri="{FF2B5EF4-FFF2-40B4-BE49-F238E27FC236}">
                <a16:creationId xmlns:a16="http://schemas.microsoft.com/office/drawing/2014/main" id="{1F7F0C74-0DCA-4B15-8E5F-7D6139FF7A8C}"/>
              </a:ext>
            </a:extLst>
          </p:cNvPr>
          <p:cNvPicPr>
            <a:picLocks noGrp="1" noChangeAspect="1"/>
          </p:cNvPicPr>
          <p:nvPr>
            <p:ph sz="quarter" idx="18"/>
          </p:nvPr>
        </p:nvPicPr>
        <p:blipFill>
          <a:blip r:embed="rId4" cstate="print">
            <a:extLst>
              <a:ext uri="{28A0092B-C50C-407E-A947-70E740481C1C}">
                <a14:useLocalDpi xmlns:a14="http://schemas.microsoft.com/office/drawing/2010/main" val="0"/>
              </a:ext>
            </a:extLst>
          </a:blip>
          <a:stretch>
            <a:fillRect/>
          </a:stretch>
        </p:blipFill>
        <p:spPr>
          <a:xfrm>
            <a:off x="2490461" y="4275337"/>
            <a:ext cx="3453560" cy="1949713"/>
          </a:xfrm>
          <a:prstGeom prst="rect">
            <a:avLst/>
          </a:prstGeom>
        </p:spPr>
      </p:pic>
    </p:spTree>
    <p:extLst>
      <p:ext uri="{BB962C8B-B14F-4D97-AF65-F5344CB8AC3E}">
        <p14:creationId xmlns:p14="http://schemas.microsoft.com/office/powerpoint/2010/main" val="13172768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830B0F3-60D8-4456-B04B-F92BEC3EBBDD}"/>
              </a:ext>
            </a:extLst>
          </p:cNvPr>
          <p:cNvSpPr>
            <a:spLocks noGrp="1"/>
          </p:cNvSpPr>
          <p:nvPr>
            <p:ph type="title"/>
          </p:nvPr>
        </p:nvSpPr>
        <p:spPr>
          <a:xfrm>
            <a:off x="304800" y="2805616"/>
            <a:ext cx="8534400" cy="748290"/>
          </a:xfrm>
        </p:spPr>
        <p:txBody>
          <a:bodyPr>
            <a:noAutofit/>
          </a:bodyPr>
          <a:lstStyle/>
          <a:p>
            <a:pPr algn="ctr"/>
            <a:r>
              <a:rPr lang="en-US" b="1" dirty="0"/>
              <a:t>Aging</a:t>
            </a:r>
          </a:p>
        </p:txBody>
      </p:sp>
    </p:spTree>
    <p:extLst>
      <p:ext uri="{BB962C8B-B14F-4D97-AF65-F5344CB8AC3E}">
        <p14:creationId xmlns:p14="http://schemas.microsoft.com/office/powerpoint/2010/main" val="24514548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44053-77DB-4D0F-94B4-5353A9793B66}"/>
              </a:ext>
            </a:extLst>
          </p:cNvPr>
          <p:cNvSpPr>
            <a:spLocks noGrp="1"/>
          </p:cNvSpPr>
          <p:nvPr>
            <p:ph type="title"/>
          </p:nvPr>
        </p:nvSpPr>
        <p:spPr>
          <a:xfrm>
            <a:off x="228600" y="467663"/>
            <a:ext cx="8534400" cy="838199"/>
          </a:xfrm>
        </p:spPr>
        <p:txBody>
          <a:bodyPr>
            <a:normAutofit/>
          </a:bodyPr>
          <a:lstStyle/>
          <a:p>
            <a:r>
              <a:rPr lang="en-US" dirty="0"/>
              <a:t>Age-Associated Changes</a:t>
            </a:r>
            <a:endParaRPr lang="en-US" sz="2600" b="0" dirty="0"/>
          </a:p>
        </p:txBody>
      </p:sp>
      <p:sp>
        <p:nvSpPr>
          <p:cNvPr id="3" name="Content Placeholder 2">
            <a:extLst>
              <a:ext uri="{FF2B5EF4-FFF2-40B4-BE49-F238E27FC236}">
                <a16:creationId xmlns:a16="http://schemas.microsoft.com/office/drawing/2014/main" id="{04372075-32AA-4B07-9EAE-11130CEECA5A}"/>
              </a:ext>
            </a:extLst>
          </p:cNvPr>
          <p:cNvSpPr>
            <a:spLocks noGrp="1"/>
          </p:cNvSpPr>
          <p:nvPr>
            <p:ph sz="quarter" idx="16"/>
          </p:nvPr>
        </p:nvSpPr>
        <p:spPr>
          <a:xfrm>
            <a:off x="295372" y="1305863"/>
            <a:ext cx="8665747" cy="4746146"/>
          </a:xfrm>
        </p:spPr>
        <p:txBody>
          <a:bodyPr/>
          <a:lstStyle/>
          <a:p>
            <a:pPr marL="461963" indent="-461963">
              <a:lnSpc>
                <a:spcPct val="100000"/>
              </a:lnSpc>
              <a:spcBef>
                <a:spcPts val="624"/>
              </a:spcBef>
              <a:buClr>
                <a:schemeClr val="accent2"/>
              </a:buClr>
              <a:buSzPct val="100000"/>
              <a:buFont typeface="Arial" panose="020B0604020202020204" pitchFamily="34" charset="0"/>
              <a:buChar char="•"/>
            </a:pPr>
            <a:r>
              <a:rPr lang="en-US" sz="3200" dirty="0"/>
              <a:t>Wrinkles</a:t>
            </a:r>
          </a:p>
          <a:p>
            <a:pPr marL="461963" indent="-461963">
              <a:lnSpc>
                <a:spcPct val="100000"/>
              </a:lnSpc>
              <a:spcBef>
                <a:spcPts val="624"/>
              </a:spcBef>
              <a:buClr>
                <a:schemeClr val="accent2"/>
              </a:buClr>
              <a:buSzPct val="100000"/>
              <a:buFont typeface="Arial" panose="020B0604020202020204" pitchFamily="34" charset="0"/>
              <a:buChar char="•"/>
            </a:pPr>
            <a:r>
              <a:rPr lang="en-US" sz="3200" dirty="0"/>
              <a:t>Dehydration and cracking</a:t>
            </a:r>
          </a:p>
          <a:p>
            <a:pPr marL="461963" indent="-461963">
              <a:lnSpc>
                <a:spcPct val="100000"/>
              </a:lnSpc>
              <a:spcBef>
                <a:spcPts val="624"/>
              </a:spcBef>
              <a:buClr>
                <a:schemeClr val="accent2"/>
              </a:buClr>
              <a:buSzPct val="100000"/>
              <a:buFont typeface="Arial" panose="020B0604020202020204" pitchFamily="34" charset="0"/>
              <a:buChar char="•"/>
            </a:pPr>
            <a:r>
              <a:rPr lang="en-US" sz="3200" dirty="0"/>
              <a:t>Sweat production decreases</a:t>
            </a:r>
          </a:p>
          <a:p>
            <a:pPr marL="461963" indent="-461963">
              <a:lnSpc>
                <a:spcPct val="100000"/>
              </a:lnSpc>
              <a:spcBef>
                <a:spcPts val="624"/>
              </a:spcBef>
              <a:buClr>
                <a:schemeClr val="accent2"/>
              </a:buClr>
              <a:buSzPct val="100000"/>
              <a:buFont typeface="Arial" panose="020B0604020202020204" pitchFamily="34" charset="0"/>
              <a:buChar char="•"/>
            </a:pPr>
            <a:r>
              <a:rPr lang="en-US" sz="3200" dirty="0"/>
              <a:t>The numbers of functional melanocytes decrease which results in gray hair and atypical skin pigmentation</a:t>
            </a:r>
          </a:p>
          <a:p>
            <a:pPr marL="461963" indent="-461963">
              <a:lnSpc>
                <a:spcPct val="100000"/>
              </a:lnSpc>
              <a:spcBef>
                <a:spcPts val="624"/>
              </a:spcBef>
              <a:buClr>
                <a:schemeClr val="accent2"/>
              </a:buClr>
              <a:buSzPct val="100000"/>
              <a:buFont typeface="Arial" panose="020B0604020202020204" pitchFamily="34" charset="0"/>
              <a:buChar char="•"/>
            </a:pPr>
            <a:r>
              <a:rPr lang="en-US" sz="3200" dirty="0"/>
              <a:t>Subcutaneous fat is lost and skin thickness decreases</a:t>
            </a:r>
          </a:p>
          <a:p>
            <a:pPr marL="461963" indent="-461963">
              <a:lnSpc>
                <a:spcPct val="100000"/>
              </a:lnSpc>
              <a:spcBef>
                <a:spcPts val="624"/>
              </a:spcBef>
              <a:buClr>
                <a:schemeClr val="accent2"/>
              </a:buClr>
              <a:buSzPct val="100000"/>
              <a:buFont typeface="Arial" panose="020B0604020202020204" pitchFamily="34" charset="0"/>
              <a:buChar char="•"/>
            </a:pPr>
            <a:r>
              <a:rPr lang="en-US" sz="3200" dirty="0"/>
              <a:t>Nails may become more brittle</a:t>
            </a:r>
          </a:p>
        </p:txBody>
      </p:sp>
    </p:spTree>
    <p:extLst>
      <p:ext uri="{BB962C8B-B14F-4D97-AF65-F5344CB8AC3E}">
        <p14:creationId xmlns:p14="http://schemas.microsoft.com/office/powerpoint/2010/main" val="33844169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44053-77DB-4D0F-94B4-5353A9793B66}"/>
              </a:ext>
            </a:extLst>
          </p:cNvPr>
          <p:cNvSpPr>
            <a:spLocks noGrp="1"/>
          </p:cNvSpPr>
          <p:nvPr>
            <p:ph type="title"/>
          </p:nvPr>
        </p:nvSpPr>
        <p:spPr>
          <a:xfrm>
            <a:off x="228600" y="467663"/>
            <a:ext cx="8534400" cy="838199"/>
          </a:xfrm>
        </p:spPr>
        <p:txBody>
          <a:bodyPr>
            <a:normAutofit/>
          </a:bodyPr>
          <a:lstStyle/>
          <a:p>
            <a:r>
              <a:rPr lang="en-US" dirty="0"/>
              <a:t>Clinical Connection: Skin Cancer </a:t>
            </a:r>
            <a:endParaRPr lang="en-US" sz="2600" b="0" dirty="0"/>
          </a:p>
        </p:txBody>
      </p:sp>
      <p:sp>
        <p:nvSpPr>
          <p:cNvPr id="3" name="Content Placeholder 2">
            <a:extLst>
              <a:ext uri="{FF2B5EF4-FFF2-40B4-BE49-F238E27FC236}">
                <a16:creationId xmlns:a16="http://schemas.microsoft.com/office/drawing/2014/main" id="{04372075-32AA-4B07-9EAE-11130CEECA5A}"/>
              </a:ext>
            </a:extLst>
          </p:cNvPr>
          <p:cNvSpPr>
            <a:spLocks noGrp="1"/>
          </p:cNvSpPr>
          <p:nvPr>
            <p:ph sz="quarter" idx="16"/>
          </p:nvPr>
        </p:nvSpPr>
        <p:spPr>
          <a:xfrm>
            <a:off x="295373" y="1630051"/>
            <a:ext cx="8273592" cy="4421957"/>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Excessive exposure to ultraviolet light (from the sun or tanning salons) is the most common cause of skin cancer</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sz="3200" dirty="0"/>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The three major types are basal cell carcinoma (78%), squamous cell carcinoma (20%) and malignant melanoma (2%)</a:t>
            </a:r>
          </a:p>
        </p:txBody>
      </p:sp>
    </p:spTree>
    <p:extLst>
      <p:ext uri="{BB962C8B-B14F-4D97-AF65-F5344CB8AC3E}">
        <p14:creationId xmlns:p14="http://schemas.microsoft.com/office/powerpoint/2010/main" val="7045809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B1564-EC8A-4994-8A73-F43B3A06ED85}"/>
              </a:ext>
            </a:extLst>
          </p:cNvPr>
          <p:cNvSpPr>
            <a:spLocks noGrp="1"/>
          </p:cNvSpPr>
          <p:nvPr>
            <p:ph type="title"/>
          </p:nvPr>
        </p:nvSpPr>
        <p:spPr>
          <a:xfrm>
            <a:off x="229384" y="460342"/>
            <a:ext cx="8534400" cy="838199"/>
          </a:xfrm>
        </p:spPr>
        <p:txBody>
          <a:bodyPr/>
          <a:lstStyle/>
          <a:p>
            <a:r>
              <a:rPr lang="en-US" dirty="0"/>
              <a:t>Clinical Connection: Skin Cancer </a:t>
            </a:r>
            <a:endParaRPr lang="en-US" sz="2600" b="0" dirty="0"/>
          </a:p>
        </p:txBody>
      </p:sp>
      <p:pic>
        <p:nvPicPr>
          <p:cNvPr id="9" name="Content Placeholder 7" descr="A collection of photos shows 4 types of skin cancer. Photo (a) shows a normal nevus, or mole. A raised mole is about the size of a pencil eraser and is an even brown in color. Photo (b) shows basal cell carcinoma. A raised mole with crusty, ragged edges and a small growth beside it. Photo (c) shows squamous cell carcinoma. A raised and inflamed growth on the skin. Photo (d) shows malignant melanoma. A flat mole is colored in black and varying shades of brown.">
            <a:extLst>
              <a:ext uri="{FF2B5EF4-FFF2-40B4-BE49-F238E27FC236}">
                <a16:creationId xmlns:a16="http://schemas.microsoft.com/office/drawing/2014/main" id="{E10493CF-0A16-4041-9711-7ADCC13F6C27}"/>
              </a:ext>
            </a:extLst>
          </p:cNvPr>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1556748" y="1155093"/>
            <a:ext cx="6030505" cy="5038017"/>
          </a:xfrm>
          <a:prstGeom prst="rect">
            <a:avLst/>
          </a:prstGeom>
        </p:spPr>
      </p:pic>
    </p:spTree>
    <p:extLst>
      <p:ext uri="{BB962C8B-B14F-4D97-AF65-F5344CB8AC3E}">
        <p14:creationId xmlns:p14="http://schemas.microsoft.com/office/powerpoint/2010/main" val="12231253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44053-77DB-4D0F-94B4-5353A9793B66}"/>
              </a:ext>
            </a:extLst>
          </p:cNvPr>
          <p:cNvSpPr>
            <a:spLocks noGrp="1"/>
          </p:cNvSpPr>
          <p:nvPr>
            <p:ph type="title"/>
          </p:nvPr>
        </p:nvSpPr>
        <p:spPr>
          <a:xfrm>
            <a:off x="228600" y="467663"/>
            <a:ext cx="8534400" cy="838199"/>
          </a:xfrm>
        </p:spPr>
        <p:txBody>
          <a:bodyPr>
            <a:normAutofit/>
          </a:bodyPr>
          <a:lstStyle/>
          <a:p>
            <a:r>
              <a:rPr lang="en-US" dirty="0"/>
              <a:t>Clinical Connection: Skin Cancer </a:t>
            </a:r>
            <a:endParaRPr lang="en-US" sz="2600" b="0" dirty="0"/>
          </a:p>
        </p:txBody>
      </p:sp>
      <p:sp>
        <p:nvSpPr>
          <p:cNvPr id="3" name="Content Placeholder 2">
            <a:extLst>
              <a:ext uri="{FF2B5EF4-FFF2-40B4-BE49-F238E27FC236}">
                <a16:creationId xmlns:a16="http://schemas.microsoft.com/office/drawing/2014/main" id="{04372075-32AA-4B07-9EAE-11130CEECA5A}"/>
              </a:ext>
            </a:extLst>
          </p:cNvPr>
          <p:cNvSpPr>
            <a:spLocks noGrp="1"/>
          </p:cNvSpPr>
          <p:nvPr>
            <p:ph sz="quarter" idx="16"/>
          </p:nvPr>
        </p:nvSpPr>
        <p:spPr>
          <a:xfrm>
            <a:off x="295373" y="1630051"/>
            <a:ext cx="8273592" cy="4421957"/>
          </a:xfrm>
        </p:spPr>
        <p:txBody>
          <a:bodyPr/>
          <a:lstStyle/>
          <a:p>
            <a:pPr marL="457200" indent="-457200">
              <a:lnSpc>
                <a:spcPct val="100000"/>
              </a:lnSpc>
              <a:spcBef>
                <a:spcPts val="624"/>
              </a:spcBef>
              <a:spcAft>
                <a:spcPts val="600"/>
              </a:spcAft>
              <a:buFont typeface="Arial" panose="020B0604020202020204" pitchFamily="34" charset="0"/>
              <a:buChar char="•"/>
            </a:pPr>
            <a:r>
              <a:rPr lang="en-US" sz="3200" dirty="0">
                <a:latin typeface="Calibri" panose="020F0502020204030204" pitchFamily="34" charset="0"/>
              </a:rPr>
              <a:t>Early warning signs of malignant melanoma</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rPr>
              <a:t>A – asymmetry</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rPr>
              <a:t>B – border is irregular</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rPr>
              <a:t>C – color is uneven</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rPr>
              <a:t>D – diameter is &gt;6mm (pencil eraser)</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rPr>
              <a:t>E – evolving and changing in size and shape</a:t>
            </a:r>
          </a:p>
        </p:txBody>
      </p:sp>
    </p:spTree>
    <p:extLst>
      <p:ext uri="{BB962C8B-B14F-4D97-AF65-F5344CB8AC3E}">
        <p14:creationId xmlns:p14="http://schemas.microsoft.com/office/powerpoint/2010/main" val="7153602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44053-77DB-4D0F-94B4-5353A9793B66}"/>
              </a:ext>
            </a:extLst>
          </p:cNvPr>
          <p:cNvSpPr>
            <a:spLocks noGrp="1"/>
          </p:cNvSpPr>
          <p:nvPr>
            <p:ph type="title"/>
          </p:nvPr>
        </p:nvSpPr>
        <p:spPr>
          <a:xfrm>
            <a:off x="228600" y="467663"/>
            <a:ext cx="8534400" cy="838199"/>
          </a:xfrm>
        </p:spPr>
        <p:txBody>
          <a:bodyPr>
            <a:normAutofit/>
          </a:bodyPr>
          <a:lstStyle/>
          <a:p>
            <a:r>
              <a:rPr lang="en-US" dirty="0"/>
              <a:t>Clinical Connection: Burns</a:t>
            </a:r>
            <a:endParaRPr lang="en-US" sz="2600" b="0" dirty="0"/>
          </a:p>
        </p:txBody>
      </p:sp>
      <p:sp>
        <p:nvSpPr>
          <p:cNvPr id="3" name="Content Placeholder 2">
            <a:extLst>
              <a:ext uri="{FF2B5EF4-FFF2-40B4-BE49-F238E27FC236}">
                <a16:creationId xmlns:a16="http://schemas.microsoft.com/office/drawing/2014/main" id="{04372075-32AA-4B07-9EAE-11130CEECA5A}"/>
              </a:ext>
            </a:extLst>
          </p:cNvPr>
          <p:cNvSpPr>
            <a:spLocks noGrp="1"/>
          </p:cNvSpPr>
          <p:nvPr>
            <p:ph sz="quarter" idx="16"/>
          </p:nvPr>
        </p:nvSpPr>
        <p:spPr>
          <a:xfrm>
            <a:off x="295373" y="1630051"/>
            <a:ext cx="8273592" cy="4421957"/>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A </a:t>
            </a:r>
            <a:r>
              <a:rPr lang="en-US" sz="3200" b="1" dirty="0"/>
              <a:t>burn </a:t>
            </a:r>
            <a:r>
              <a:rPr lang="en-US" sz="3200" dirty="0"/>
              <a:t>is tissue damage caused by excessive heat, electricity, radioactivity, or corrosive chemicals that denature (break down) the proteins in the skin cells</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sz="3200" dirty="0"/>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t>Burns are graded according to their severity</a:t>
            </a:r>
          </a:p>
        </p:txBody>
      </p:sp>
    </p:spTree>
    <p:extLst>
      <p:ext uri="{BB962C8B-B14F-4D97-AF65-F5344CB8AC3E}">
        <p14:creationId xmlns:p14="http://schemas.microsoft.com/office/powerpoint/2010/main" val="14734805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37B24-74FA-488C-925A-7CD3943C6EBE}"/>
              </a:ext>
            </a:extLst>
          </p:cNvPr>
          <p:cNvSpPr>
            <a:spLocks noGrp="1"/>
          </p:cNvSpPr>
          <p:nvPr>
            <p:ph type="title"/>
          </p:nvPr>
        </p:nvSpPr>
        <p:spPr>
          <a:xfrm>
            <a:off x="219959" y="460343"/>
            <a:ext cx="8534400" cy="838199"/>
          </a:xfrm>
        </p:spPr>
        <p:txBody>
          <a:bodyPr/>
          <a:lstStyle/>
          <a:p>
            <a:r>
              <a:rPr lang="en-US" dirty="0"/>
              <a:t>Clinical Connection: Burns </a:t>
            </a:r>
            <a:endParaRPr lang="en-US" sz="2600" b="0" dirty="0"/>
          </a:p>
        </p:txBody>
      </p:sp>
      <p:pic>
        <p:nvPicPr>
          <p:cNvPr id="9" name="Content Placeholder 7" descr="Three sets of photos with corresponding diagrams show levels of burns. Set (a) shows a first-degree burn. A photo shows a sunburn, and a diagram highlights the epidermis in a section of skin to show that only this layer is affected. Set (b) shows a second-degree burn. A photo shows a blistering burn, and a diagram highlights the epidermis and the dermis to show that these layers are affected. Set (c) shows a third-degree burn. A photo shows black burns with brown edges and blisters, and a diagram highlights the epidermis, dermis, and subcutaneous layers to show that all layers are affected.">
            <a:extLst>
              <a:ext uri="{FF2B5EF4-FFF2-40B4-BE49-F238E27FC236}">
                <a16:creationId xmlns:a16="http://schemas.microsoft.com/office/drawing/2014/main" id="{A4459598-3945-416B-9C13-43D3B28D1F8F}"/>
              </a:ext>
            </a:extLst>
          </p:cNvPr>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1365990" y="1406459"/>
            <a:ext cx="6412021" cy="4497575"/>
          </a:xfrm>
          <a:prstGeom prst="rect">
            <a:avLst/>
          </a:prstGeom>
        </p:spPr>
      </p:pic>
    </p:spTree>
    <p:extLst>
      <p:ext uri="{BB962C8B-B14F-4D97-AF65-F5344CB8AC3E}">
        <p14:creationId xmlns:p14="http://schemas.microsoft.com/office/powerpoint/2010/main" val="39311589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D89D8-3C6C-4DCE-B035-5AFAC827574C}"/>
              </a:ext>
            </a:extLst>
          </p:cNvPr>
          <p:cNvSpPr>
            <a:spLocks noGrp="1"/>
          </p:cNvSpPr>
          <p:nvPr>
            <p:ph type="title"/>
          </p:nvPr>
        </p:nvSpPr>
        <p:spPr>
          <a:xfrm>
            <a:off x="219957" y="460342"/>
            <a:ext cx="8534400" cy="838199"/>
          </a:xfrm>
        </p:spPr>
        <p:txBody>
          <a:bodyPr/>
          <a:lstStyle/>
          <a:p>
            <a:r>
              <a:rPr lang="en-US" dirty="0"/>
              <a:t>Clinical Connection: Burns </a:t>
            </a:r>
            <a:endParaRPr lang="en-US" sz="2600" b="0" dirty="0"/>
          </a:p>
        </p:txBody>
      </p:sp>
      <p:sp>
        <p:nvSpPr>
          <p:cNvPr id="3" name="Content Placeholder 2">
            <a:extLst>
              <a:ext uri="{FF2B5EF4-FFF2-40B4-BE49-F238E27FC236}">
                <a16:creationId xmlns:a16="http://schemas.microsoft.com/office/drawing/2014/main" id="{0EA76ADA-5975-45EF-835B-E5CA34079EB7}"/>
              </a:ext>
            </a:extLst>
          </p:cNvPr>
          <p:cNvSpPr>
            <a:spLocks noGrp="1"/>
          </p:cNvSpPr>
          <p:nvPr>
            <p:ph sz="quarter" idx="16"/>
          </p:nvPr>
        </p:nvSpPr>
        <p:spPr/>
        <p:txBody>
          <a:bodyPr/>
          <a:lstStyle/>
          <a:p>
            <a:pPr>
              <a:lnSpc>
                <a:spcPct val="100000"/>
              </a:lnSpc>
            </a:pPr>
            <a:r>
              <a:rPr lang="en-US" sz="3200" dirty="0"/>
              <a:t>The rule of nines is used to estimate the surface area of an adult affected by a burn</a:t>
            </a:r>
          </a:p>
        </p:txBody>
      </p:sp>
      <p:pic>
        <p:nvPicPr>
          <p:cNvPr id="7" name="Content Placeholder 7" descr="A diagram shows an anterior view of a female in the anatomical position. Sections of the body are highlighted to illustrate the rule of nines. The diagram provides anterior and total percentages for burns in various areas of the body, along with comparisons to percentages for children. Percentages by body region are as follows. The anterior head and neck account for 4.5 percent. The anterior and posterior head and neck together account for 9 percent, or 18 percent in a child. The anterior shoulders, arms, forearms, and hands, account for 4.5 percent each on the left and right sides, or 9 percent combined. The anterior and posterior shoulders, arms, forearms, and hands together account for 18 percent. This percentage is the same for a child. The anterior trunk accounts for 18 percent. The anterior and posterior trunk together account for 36 percent. This percentage is the same for a child. The perineum accounts for 1 percent. This percentage is the same for a child. The anterior thighs, legs, and feet account for 9 percent each on the left and right sides, or 18 percent combined. The anterior and posterior thighs, legs, and feet together account for 36 percent, or 14 percent in a child.">
            <a:extLst>
              <a:ext uri="{FF2B5EF4-FFF2-40B4-BE49-F238E27FC236}">
                <a16:creationId xmlns:a16="http://schemas.microsoft.com/office/drawing/2014/main" id="{5989AD82-DE2A-4EFD-ACB4-200EB9EC0988}"/>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4590854" y="1606245"/>
            <a:ext cx="4106487" cy="4380807"/>
          </a:xfrm>
          <a:prstGeom prst="rect">
            <a:avLst/>
          </a:prstGeom>
        </p:spPr>
      </p:pic>
    </p:spTree>
    <p:extLst>
      <p:ext uri="{BB962C8B-B14F-4D97-AF65-F5344CB8AC3E}">
        <p14:creationId xmlns:p14="http://schemas.microsoft.com/office/powerpoint/2010/main" val="11835347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D89D8-3C6C-4DCE-B035-5AFAC827574C}"/>
              </a:ext>
            </a:extLst>
          </p:cNvPr>
          <p:cNvSpPr>
            <a:spLocks noGrp="1"/>
          </p:cNvSpPr>
          <p:nvPr>
            <p:ph type="title"/>
          </p:nvPr>
        </p:nvSpPr>
        <p:spPr/>
        <p:txBody>
          <a:bodyPr/>
          <a:lstStyle/>
          <a:p>
            <a:r>
              <a:rPr lang="en-US" dirty="0"/>
              <a:t>Clinical Connection: Pressure Ulcers</a:t>
            </a:r>
            <a:endParaRPr lang="en-US" sz="2600" dirty="0"/>
          </a:p>
        </p:txBody>
      </p:sp>
      <p:sp>
        <p:nvSpPr>
          <p:cNvPr id="3" name="Content Placeholder 2">
            <a:extLst>
              <a:ext uri="{FF2B5EF4-FFF2-40B4-BE49-F238E27FC236}">
                <a16:creationId xmlns:a16="http://schemas.microsoft.com/office/drawing/2014/main" id="{0EA76ADA-5975-45EF-835B-E5CA34079EB7}"/>
              </a:ext>
            </a:extLst>
          </p:cNvPr>
          <p:cNvSpPr>
            <a:spLocks noGrp="1"/>
          </p:cNvSpPr>
          <p:nvPr>
            <p:ph sz="quarter" idx="16"/>
          </p:nvPr>
        </p:nvSpPr>
        <p:spPr>
          <a:xfrm>
            <a:off x="304800" y="1478280"/>
            <a:ext cx="4450080" cy="4725670"/>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dirty="0"/>
              <a:t>With age, there is an increased susceptibility to pressure ulcers (“bed sores”)</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dirty="0"/>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dirty="0"/>
              <a:t>When shedding of epithelium caused by a deficiency of blood flow to tissues occurs, pressure ulcers can develop</a:t>
            </a:r>
          </a:p>
        </p:txBody>
      </p:sp>
      <p:pic>
        <p:nvPicPr>
          <p:cNvPr id="8" name="Content Placeholder 7" descr="A photo shows a pressure ulcer on the heel. The epidermis is absent in a circular area in the center of the heel, and the exposed dermis is black. Pus lines the edges of the epidermis that surround the ulcer.">
            <a:extLst>
              <a:ext uri="{FF2B5EF4-FFF2-40B4-BE49-F238E27FC236}">
                <a16:creationId xmlns:a16="http://schemas.microsoft.com/office/drawing/2014/main" id="{830449A3-C142-4D74-89DA-9F8EBDBBC6E9}"/>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4953001" y="1950720"/>
            <a:ext cx="3886200" cy="3627120"/>
          </a:xfrm>
          <a:prstGeom prst="rect">
            <a:avLst/>
          </a:prstGeom>
        </p:spPr>
      </p:pic>
    </p:spTree>
    <p:extLst>
      <p:ext uri="{BB962C8B-B14F-4D97-AF65-F5344CB8AC3E}">
        <p14:creationId xmlns:p14="http://schemas.microsoft.com/office/powerpoint/2010/main" val="12676821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Copyright</a:t>
            </a:r>
          </a:p>
        </p:txBody>
      </p:sp>
      <p:sp>
        <p:nvSpPr>
          <p:cNvPr id="3" name="Content Placeholder 2"/>
          <p:cNvSpPr>
            <a:spLocks noGrp="1"/>
          </p:cNvSpPr>
          <p:nvPr>
            <p:ph sz="quarter" idx="16"/>
          </p:nvPr>
        </p:nvSpPr>
        <p:spPr>
          <a:xfrm>
            <a:off x="304800" y="1752600"/>
            <a:ext cx="8534400" cy="3429000"/>
          </a:xfrm>
        </p:spPr>
        <p:txBody>
          <a:bodyPr/>
          <a:lstStyle/>
          <a:p>
            <a:r>
              <a:rPr lang="en-US" sz="2400" b="1" dirty="0"/>
              <a:t>Copyright © 2021 John Wiley &amp; Sons, Inc.</a:t>
            </a:r>
          </a:p>
          <a:p>
            <a:pPr>
              <a:lnSpc>
                <a:spcPct val="150000"/>
              </a:lnSpc>
            </a:pPr>
            <a:r>
              <a:rPr lang="en-US" sz="1800" dirty="0"/>
              <a:t>All rights reserved. Reproduction or translation of this work beyond that permitted in Section 117 of the 1976 United States Copyright Act without the express written permission of the copyright owner is unlawful. Request for further information should be addressed to the Permissions Department, John Wiley &amp; Sons, Inc. The purchaser may make back-up copies for his/her own use only and not for distribution or resale. The Publisher assumes no responsibility for errors, omissions, or damages caused by the use of these programs or from the use of the information contained herein.</a:t>
            </a:r>
          </a:p>
        </p:txBody>
      </p:sp>
    </p:spTree>
    <p:extLst>
      <p:ext uri="{BB962C8B-B14F-4D97-AF65-F5344CB8AC3E}">
        <p14:creationId xmlns:p14="http://schemas.microsoft.com/office/powerpoint/2010/main" val="13856248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4bb1a6f6a37846e759f335af07b6f9d3376d58a"/>
</p:tagLst>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E01F302C440524FA31D7DCD25615BF1" ma:contentTypeVersion="7" ma:contentTypeDescription="Create a new document." ma:contentTypeScope="" ma:versionID="70c2503ec15103d2cca162ccd324bd4f">
  <xsd:schema xmlns:xsd="http://www.w3.org/2001/XMLSchema" xmlns:xs="http://www.w3.org/2001/XMLSchema" xmlns:p="http://schemas.microsoft.com/office/2006/metadata/properties" xmlns:ns2="e88296c4-2d3a-4b5e-b7cc-73362ec365d5" targetNamespace="http://schemas.microsoft.com/office/2006/metadata/properties" ma:root="true" ma:fieldsID="1ee8fd890c3ab4027bd76155cf630935" ns2:_="">
    <xsd:import namespace="e88296c4-2d3a-4b5e-b7cc-73362ec365d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8296c4-2d3a-4b5e-b7cc-73362ec365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88F1D47-4251-47E8-ACDB-2528FF86B6CA}">
  <ds:schemaRefs>
    <ds:schemaRef ds:uri="http://schemas.microsoft.com/sharepoint/v3/contenttype/forms"/>
  </ds:schemaRefs>
</ds:datastoreItem>
</file>

<file path=customXml/itemProps2.xml><?xml version="1.0" encoding="utf-8"?>
<ds:datastoreItem xmlns:ds="http://schemas.openxmlformats.org/officeDocument/2006/customXml" ds:itemID="{B73547F3-B1F9-490E-97AD-FFD46758FE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8296c4-2d3a-4b5e-b7cc-73362ec365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1C71EB-81EB-430C-AADD-7391148CA65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23943</TotalTime>
  <Words>1388</Words>
  <Application>Microsoft Office PowerPoint</Application>
  <PresentationFormat>On-screen Show (4:3)</PresentationFormat>
  <Paragraphs>228</Paragraphs>
  <Slides>55</Slides>
  <Notes>4</Notes>
  <HiddenSlides>0</HiddenSlides>
  <MMClips>0</MMClips>
  <ScaleCrop>false</ScaleCrop>
  <HeadingPairs>
    <vt:vector size="6" baseType="variant">
      <vt:variant>
        <vt:lpstr>Fonts Used</vt:lpstr>
      </vt:variant>
      <vt:variant>
        <vt:i4>7</vt:i4>
      </vt:variant>
      <vt:variant>
        <vt:lpstr>Theme</vt:lpstr>
      </vt:variant>
      <vt:variant>
        <vt:i4>7</vt:i4>
      </vt:variant>
      <vt:variant>
        <vt:lpstr>Slide Titles</vt:lpstr>
      </vt:variant>
      <vt:variant>
        <vt:i4>55</vt:i4>
      </vt:variant>
    </vt:vector>
  </HeadingPairs>
  <TitlesOfParts>
    <vt:vector size="69" baseType="lpstr">
      <vt:lpstr>Arial</vt:lpstr>
      <vt:lpstr>Calibri</vt:lpstr>
      <vt:lpstr>Calibri </vt:lpstr>
      <vt:lpstr>Calibri Light</vt:lpstr>
      <vt:lpstr>Courier New</vt:lpstr>
      <vt:lpstr>Source Sans Pro</vt:lpstr>
      <vt:lpstr>Times New Roman</vt:lpstr>
      <vt:lpstr>Opener</vt:lpstr>
      <vt:lpstr>Chapter Outline</vt:lpstr>
      <vt:lpstr>Learning Objectives</vt:lpstr>
      <vt:lpstr>Concept Check Question</vt:lpstr>
      <vt:lpstr>Key Term</vt:lpstr>
      <vt:lpstr>Section</vt:lpstr>
      <vt:lpstr>Image Slide Master</vt:lpstr>
      <vt:lpstr>Principles of Anatomy and Physiology</vt:lpstr>
      <vt:lpstr>Introduction</vt:lpstr>
      <vt:lpstr>Animation</vt:lpstr>
      <vt:lpstr>Maintenance of Homeostasis</vt:lpstr>
      <vt:lpstr>Structure of the Skin</vt:lpstr>
      <vt:lpstr>Layers of the Skin</vt:lpstr>
      <vt:lpstr>Components of the Integumentary System </vt:lpstr>
      <vt:lpstr>Components of the Integumentary System </vt:lpstr>
      <vt:lpstr>Components of the Integumentary System </vt:lpstr>
      <vt:lpstr>The Epidermis </vt:lpstr>
      <vt:lpstr>The Epidermis </vt:lpstr>
      <vt:lpstr>The Epidermis </vt:lpstr>
      <vt:lpstr>PowerPoint Presentation</vt:lpstr>
      <vt:lpstr>The Epidermis </vt:lpstr>
      <vt:lpstr>The Epidermis </vt:lpstr>
      <vt:lpstr>PowerPoint Presentation</vt:lpstr>
      <vt:lpstr>Dermis </vt:lpstr>
      <vt:lpstr>PowerPoint Presentation</vt:lpstr>
      <vt:lpstr>Skin Pigments</vt:lpstr>
      <vt:lpstr>Clinical Connection: Albinism and Vitiligo</vt:lpstr>
      <vt:lpstr>Hypodermis </vt:lpstr>
      <vt:lpstr>Accessory Structures of the Skin</vt:lpstr>
      <vt:lpstr>Hair </vt:lpstr>
      <vt:lpstr>Hair </vt:lpstr>
      <vt:lpstr>Hair </vt:lpstr>
      <vt:lpstr>Hair Growth</vt:lpstr>
      <vt:lpstr>Types of Hairs</vt:lpstr>
      <vt:lpstr>Hair Color</vt:lpstr>
      <vt:lpstr>Skin Glands </vt:lpstr>
      <vt:lpstr>PowerPoint Presentation</vt:lpstr>
      <vt:lpstr>Nails </vt:lpstr>
      <vt:lpstr>Nails </vt:lpstr>
      <vt:lpstr>Functions of Skin</vt:lpstr>
      <vt:lpstr>Functions of the Skin</vt:lpstr>
      <vt:lpstr>Functions of the Skin</vt:lpstr>
      <vt:lpstr>Functions of the Skin</vt:lpstr>
      <vt:lpstr>Wound Healing </vt:lpstr>
      <vt:lpstr>Epidermal Wound Healing</vt:lpstr>
      <vt:lpstr>Deep Wound Healing </vt:lpstr>
      <vt:lpstr>Deep Wound Healing </vt:lpstr>
      <vt:lpstr>Development of the Integumentary System</vt:lpstr>
      <vt:lpstr>Epidermis Develops from Ectoderm </vt:lpstr>
      <vt:lpstr>Epidermis Develops from Ectoderm </vt:lpstr>
      <vt:lpstr>Epidermis Develops from Ectoderm </vt:lpstr>
      <vt:lpstr>Dermis Develops from Mesoderm</vt:lpstr>
      <vt:lpstr>Aging</vt:lpstr>
      <vt:lpstr>Age-Associated Changes</vt:lpstr>
      <vt:lpstr>Clinical Connection: Skin Cancer </vt:lpstr>
      <vt:lpstr>Clinical Connection: Skin Cancer </vt:lpstr>
      <vt:lpstr>Clinical Connection: Skin Cancer </vt:lpstr>
      <vt:lpstr>Clinical Connection: Burns</vt:lpstr>
      <vt:lpstr>Clinical Connection: Burns </vt:lpstr>
      <vt:lpstr>Clinical Connection: Burns </vt:lpstr>
      <vt:lpstr>Clinical Connection: Pressure Ulcers</vt:lpstr>
      <vt:lpstr>Copyright</vt:lpstr>
    </vt:vector>
  </TitlesOfParts>
  <Manager/>
  <Company>John Wiley &amp; Sons,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 5 The Integumentary System</dc:title>
  <dc:subject/>
  <dc:creator>Gerard Tortora/Bryan Derrickson</dc:creator>
  <cp:keywords/>
  <dc:description/>
  <cp:lastModifiedBy>Jill</cp:lastModifiedBy>
  <cp:revision>1466</cp:revision>
  <cp:lastPrinted>2017-04-26T13:25:47Z</cp:lastPrinted>
  <dcterms:created xsi:type="dcterms:W3CDTF">2017-04-21T14:49:46Z</dcterms:created>
  <dcterms:modified xsi:type="dcterms:W3CDTF">2021-05-28T20:45:00Z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0x0101000E01F302C440524FA31D7DCD25615BF1</vt:lpwstr>
  </property>
</Properties>
</file>