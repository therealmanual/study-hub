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6.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114"/>
  </p:notesMasterIdLst>
  <p:sldIdLst>
    <p:sldId id="496" r:id="rId11"/>
    <p:sldId id="305" r:id="rId12"/>
    <p:sldId id="497" r:id="rId13"/>
    <p:sldId id="261" r:id="rId14"/>
    <p:sldId id="498" r:id="rId15"/>
    <p:sldId id="499" r:id="rId16"/>
    <p:sldId id="500" r:id="rId17"/>
    <p:sldId id="501" r:id="rId18"/>
    <p:sldId id="502" r:id="rId19"/>
    <p:sldId id="503" r:id="rId20"/>
    <p:sldId id="504" r:id="rId21"/>
    <p:sldId id="505" r:id="rId22"/>
    <p:sldId id="583" r:id="rId23"/>
    <p:sldId id="508" r:id="rId24"/>
    <p:sldId id="584" r:id="rId25"/>
    <p:sldId id="509" r:id="rId26"/>
    <p:sldId id="506" r:id="rId27"/>
    <p:sldId id="507" r:id="rId28"/>
    <p:sldId id="512" r:id="rId29"/>
    <p:sldId id="524" r:id="rId30"/>
    <p:sldId id="585" r:id="rId31"/>
    <p:sldId id="510" r:id="rId32"/>
    <p:sldId id="522" r:id="rId33"/>
    <p:sldId id="511" r:id="rId34"/>
    <p:sldId id="523" r:id="rId35"/>
    <p:sldId id="513" r:id="rId36"/>
    <p:sldId id="586" r:id="rId37"/>
    <p:sldId id="514" r:id="rId38"/>
    <p:sldId id="515" r:id="rId39"/>
    <p:sldId id="587" r:id="rId40"/>
    <p:sldId id="516" r:id="rId41"/>
    <p:sldId id="517" r:id="rId42"/>
    <p:sldId id="525" r:id="rId43"/>
    <p:sldId id="518" r:id="rId44"/>
    <p:sldId id="588" r:id="rId45"/>
    <p:sldId id="519" r:id="rId46"/>
    <p:sldId id="520" r:id="rId47"/>
    <p:sldId id="526" r:id="rId48"/>
    <p:sldId id="536" r:id="rId49"/>
    <p:sldId id="527" r:id="rId50"/>
    <p:sldId id="528" r:id="rId51"/>
    <p:sldId id="537" r:id="rId52"/>
    <p:sldId id="538" r:id="rId53"/>
    <p:sldId id="529" r:id="rId54"/>
    <p:sldId id="530" r:id="rId55"/>
    <p:sldId id="539" r:id="rId56"/>
    <p:sldId id="540" r:id="rId57"/>
    <p:sldId id="531" r:id="rId58"/>
    <p:sldId id="532" r:id="rId59"/>
    <p:sldId id="589" r:id="rId60"/>
    <p:sldId id="533" r:id="rId61"/>
    <p:sldId id="534" r:id="rId62"/>
    <p:sldId id="535" r:id="rId63"/>
    <p:sldId id="541" r:id="rId64"/>
    <p:sldId id="521" r:id="rId65"/>
    <p:sldId id="542" r:id="rId66"/>
    <p:sldId id="554" r:id="rId67"/>
    <p:sldId id="543" r:id="rId68"/>
    <p:sldId id="544" r:id="rId69"/>
    <p:sldId id="545" r:id="rId70"/>
    <p:sldId id="546" r:id="rId71"/>
    <p:sldId id="555" r:id="rId72"/>
    <p:sldId id="547" r:id="rId73"/>
    <p:sldId id="548" r:id="rId74"/>
    <p:sldId id="556" r:id="rId75"/>
    <p:sldId id="557" r:id="rId76"/>
    <p:sldId id="590" r:id="rId77"/>
    <p:sldId id="549" r:id="rId78"/>
    <p:sldId id="551" r:id="rId79"/>
    <p:sldId id="550" r:id="rId80"/>
    <p:sldId id="552" r:id="rId81"/>
    <p:sldId id="559" r:id="rId82"/>
    <p:sldId id="558" r:id="rId83"/>
    <p:sldId id="591" r:id="rId84"/>
    <p:sldId id="553" r:id="rId85"/>
    <p:sldId id="560" r:id="rId86"/>
    <p:sldId id="582" r:id="rId87"/>
    <p:sldId id="577" r:id="rId88"/>
    <p:sldId id="561" r:id="rId89"/>
    <p:sldId id="592" r:id="rId90"/>
    <p:sldId id="562" r:id="rId91"/>
    <p:sldId id="563" r:id="rId92"/>
    <p:sldId id="564" r:id="rId93"/>
    <p:sldId id="565" r:id="rId94"/>
    <p:sldId id="566" r:id="rId95"/>
    <p:sldId id="578" r:id="rId96"/>
    <p:sldId id="567" r:id="rId97"/>
    <p:sldId id="568" r:id="rId98"/>
    <p:sldId id="593" r:id="rId99"/>
    <p:sldId id="569" r:id="rId100"/>
    <p:sldId id="570" r:id="rId101"/>
    <p:sldId id="572" r:id="rId102"/>
    <p:sldId id="571" r:id="rId103"/>
    <p:sldId id="573" r:id="rId104"/>
    <p:sldId id="574" r:id="rId105"/>
    <p:sldId id="594" r:id="rId106"/>
    <p:sldId id="575" r:id="rId107"/>
    <p:sldId id="595" r:id="rId108"/>
    <p:sldId id="576" r:id="rId109"/>
    <p:sldId id="579" r:id="rId110"/>
    <p:sldId id="580" r:id="rId111"/>
    <p:sldId id="581" r:id="rId112"/>
    <p:sldId id="323" r:id="rId113"/>
  </p:sldIdLst>
  <p:sldSz cx="9144000" cy="6858000" type="screen4x3"/>
  <p:notesSz cx="7315200" cy="9601200"/>
  <p:custDataLst>
    <p:tags r:id="rId1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pos="2880">
          <p15:clr>
            <a:srgbClr val="A4A3A4"/>
          </p15:clr>
        </p15:guide>
        <p15:guide id="3" pos="5664" userDrawn="1">
          <p15:clr>
            <a:srgbClr val="A4A3A4"/>
          </p15:clr>
        </p15:guide>
        <p15:guide id="4" pos="192" userDrawn="1">
          <p15:clr>
            <a:srgbClr val="A4A3A4"/>
          </p15:clr>
        </p15:guide>
        <p15:guide id="5" pos="4464" userDrawn="1">
          <p15:clr>
            <a:srgbClr val="A4A3A4"/>
          </p15:clr>
        </p15:guide>
        <p15:guide id="6" pos="163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 id="4" name="CD" initials="CD" lastIdx="3" clrIdx="4">
    <p:extLst>
      <p:ext uri="{19B8F6BF-5375-455C-9EA6-DF929625EA0E}">
        <p15:presenceInfo xmlns:p15="http://schemas.microsoft.com/office/powerpoint/2012/main" userId="C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D5D6"/>
    <a:srgbClr val="E4E5E3"/>
    <a:srgbClr val="EAEAE9"/>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60" autoAdjust="0"/>
    <p:restoredTop sz="83069" autoAdjust="0"/>
  </p:normalViewPr>
  <p:slideViewPr>
    <p:cSldViewPr snapToGrid="0">
      <p:cViewPr varScale="1">
        <p:scale>
          <a:sx n="75" d="100"/>
          <a:sy n="75" d="100"/>
        </p:scale>
        <p:origin x="1386" y="66"/>
      </p:cViewPr>
      <p:guideLst>
        <p:guide orient="horz" pos="1200"/>
        <p:guide pos="2880"/>
        <p:guide pos="5664"/>
        <p:guide pos="192"/>
        <p:guide pos="4464"/>
        <p:guide pos="1632"/>
      </p:guideLst>
    </p:cSldViewPr>
  </p:slideViewPr>
  <p:outlineViewPr>
    <p:cViewPr>
      <p:scale>
        <a:sx n="33" d="100"/>
        <a:sy n="33" d="100"/>
      </p:scale>
      <p:origin x="0" y="-28956"/>
    </p:cViewPr>
  </p:outlineViewPr>
  <p:notesTextViewPr>
    <p:cViewPr>
      <p:scale>
        <a:sx n="66" d="100"/>
        <a:sy n="66" d="100"/>
      </p:scale>
      <p:origin x="0" y="0"/>
    </p:cViewPr>
  </p:notesTextViewPr>
  <p:sorterViewPr>
    <p:cViewPr varScale="1">
      <p:scale>
        <a:sx n="1" d="1"/>
        <a:sy n="1" d="1"/>
      </p:scale>
      <p:origin x="0" y="-6378"/>
    </p:cViewPr>
  </p:sorterViewPr>
  <p:notesViewPr>
    <p:cSldViewPr snapToGrid="0">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117" Type="http://schemas.openxmlformats.org/officeDocument/2006/relationships/presProps" Target="presProps.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12" Type="http://schemas.openxmlformats.org/officeDocument/2006/relationships/slide" Target="slides/slide102.xml"/><Relationship Id="rId16" Type="http://schemas.openxmlformats.org/officeDocument/2006/relationships/slide" Target="slides/slide6.xml"/><Relationship Id="rId107" Type="http://schemas.openxmlformats.org/officeDocument/2006/relationships/slide" Target="slides/slide97.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slide" Target="slides/slide64.xml"/><Relationship Id="rId79" Type="http://schemas.openxmlformats.org/officeDocument/2006/relationships/slide" Target="slides/slide69.xml"/><Relationship Id="rId87" Type="http://schemas.openxmlformats.org/officeDocument/2006/relationships/slide" Target="slides/slide77.xml"/><Relationship Id="rId102" Type="http://schemas.openxmlformats.org/officeDocument/2006/relationships/slide" Target="slides/slide92.xml"/><Relationship Id="rId110" Type="http://schemas.openxmlformats.org/officeDocument/2006/relationships/slide" Target="slides/slide100.xml"/><Relationship Id="rId115" Type="http://schemas.openxmlformats.org/officeDocument/2006/relationships/tags" Target="tags/tag1.xml"/><Relationship Id="rId5" Type="http://schemas.openxmlformats.org/officeDocument/2006/relationships/slideMaster" Target="slideMasters/slideMaster2.xml"/><Relationship Id="rId61" Type="http://schemas.openxmlformats.org/officeDocument/2006/relationships/slide" Target="slides/slide51.xml"/><Relationship Id="rId82" Type="http://schemas.openxmlformats.org/officeDocument/2006/relationships/slide" Target="slides/slide72.xml"/><Relationship Id="rId90" Type="http://schemas.openxmlformats.org/officeDocument/2006/relationships/slide" Target="slides/slide80.xml"/><Relationship Id="rId95" Type="http://schemas.openxmlformats.org/officeDocument/2006/relationships/slide" Target="slides/slide85.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100" Type="http://schemas.openxmlformats.org/officeDocument/2006/relationships/slide" Target="slides/slide90.xml"/><Relationship Id="rId105" Type="http://schemas.openxmlformats.org/officeDocument/2006/relationships/slide" Target="slides/slide95.xml"/><Relationship Id="rId113" Type="http://schemas.openxmlformats.org/officeDocument/2006/relationships/slide" Target="slides/slide103.xml"/><Relationship Id="rId118"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slide" Target="slides/slide75.xml"/><Relationship Id="rId93" Type="http://schemas.openxmlformats.org/officeDocument/2006/relationships/slide" Target="slides/slide83.xml"/><Relationship Id="rId98" Type="http://schemas.openxmlformats.org/officeDocument/2006/relationships/slide" Target="slides/slide88.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103" Type="http://schemas.openxmlformats.org/officeDocument/2006/relationships/slide" Target="slides/slide93.xml"/><Relationship Id="rId108" Type="http://schemas.openxmlformats.org/officeDocument/2006/relationships/slide" Target="slides/slide98.xml"/><Relationship Id="rId116" Type="http://schemas.openxmlformats.org/officeDocument/2006/relationships/commentAuthors" Target="commentAuthor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slide" Target="slides/slide81.xml"/><Relationship Id="rId96" Type="http://schemas.openxmlformats.org/officeDocument/2006/relationships/slide" Target="slides/slide86.xml"/><Relationship Id="rId111" Type="http://schemas.openxmlformats.org/officeDocument/2006/relationships/slide" Target="slides/slide10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6" Type="http://schemas.openxmlformats.org/officeDocument/2006/relationships/slide" Target="slides/slide96.xml"/><Relationship Id="rId114" Type="http://schemas.openxmlformats.org/officeDocument/2006/relationships/notesMaster" Target="notesMasters/notesMaster1.xml"/><Relationship Id="rId119"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slide" Target="slides/slide84.xml"/><Relationship Id="rId99" Type="http://schemas.openxmlformats.org/officeDocument/2006/relationships/slide" Target="slides/slide89.xml"/><Relationship Id="rId101" Type="http://schemas.openxmlformats.org/officeDocument/2006/relationships/slide" Target="slides/slide9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109" Type="http://schemas.openxmlformats.org/officeDocument/2006/relationships/slide" Target="slides/slide9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slide" Target="slides/slide94.xml"/><Relationship Id="rId120" Type="http://schemas.openxmlformats.org/officeDocument/2006/relationships/tableStyles" Target="tableStyles.xml"/><Relationship Id="rId7" Type="http://schemas.openxmlformats.org/officeDocument/2006/relationships/slideMaster" Target="slideMasters/slideMaster4.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customXml" Target="../customXml/item2.xml"/><Relationship Id="rId29"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5/23/2021</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1</a:t>
            </a:fld>
            <a:endParaRPr lang="en-US" dirty="0"/>
          </a:p>
        </p:txBody>
      </p:sp>
    </p:spTree>
    <p:extLst>
      <p:ext uri="{BB962C8B-B14F-4D97-AF65-F5344CB8AC3E}">
        <p14:creationId xmlns:p14="http://schemas.microsoft.com/office/powerpoint/2010/main" val="357969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103</a:t>
            </a:fld>
            <a:endParaRPr lang="en-US" dirty="0"/>
          </a:p>
        </p:txBody>
      </p:sp>
    </p:spTree>
    <p:extLst>
      <p:ext uri="{BB962C8B-B14F-4D97-AF65-F5344CB8AC3E}">
        <p14:creationId xmlns:p14="http://schemas.microsoft.com/office/powerpoint/2010/main" val="952343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828800"/>
            <a:ext cx="8839200" cy="4572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4343400"/>
            <a:ext cx="8839200" cy="23622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838200"/>
            <a:ext cx="8839200" cy="2189672"/>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105400"/>
            <a:ext cx="8839200" cy="6858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9596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755648"/>
            <a:ext cx="88392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267200"/>
            <a:ext cx="88392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1568918" y="6248400"/>
            <a:ext cx="6584482"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152400" y="6092825"/>
            <a:ext cx="88392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535784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F5D095A-BE6A-47A1-8722-8C6BB720CC13}"/>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DEFECBCA-CFAF-4829-AEAC-1A3EFCAE9F2B}"/>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786427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5633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856488"/>
          </a:xfrm>
          <a:prstGeom prst="rect">
            <a:avLst/>
          </a:prstGeom>
        </p:spPr>
        <p:txBody>
          <a:bodyPr/>
          <a:lstStyle>
            <a:lvl1pPr>
              <a:defRPr sz="4000" b="1"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856488"/>
          </a:xfrm>
          <a:prstGeom prst="rect">
            <a:avLst/>
          </a:prstGeom>
        </p:spPr>
        <p:txBody>
          <a:bodyPr/>
          <a:lstStyle>
            <a:lvl1pPr>
              <a:defRPr sz="4000" b="1"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8704" y="762002"/>
            <a:ext cx="8540496" cy="838198"/>
          </a:xfrm>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1"/>
            <a:ext cx="8534400" cy="831850"/>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6857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B501DE6-FC1F-4C0F-B099-C234E332659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4E5A6272-279A-4E71-B650-7305815A41A9}"/>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977103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599"/>
            <a:ext cx="8534400" cy="43433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TextBox 6">
            <a:extLst>
              <a:ext uri="{FF2B5EF4-FFF2-40B4-BE49-F238E27FC236}">
                <a16:creationId xmlns:a16="http://schemas.microsoft.com/office/drawing/2014/main" id="{49F3BC24-D00F-46ED-9B77-96B82B16530C}"/>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8" name="Slide Number Placeholder 5">
            <a:extLst>
              <a:ext uri="{FF2B5EF4-FFF2-40B4-BE49-F238E27FC236}">
                <a16:creationId xmlns:a16="http://schemas.microsoft.com/office/drawing/2014/main" id="{F6CBFB03-72E3-4638-BD49-DEAC24330D52}"/>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539791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22098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52B1A8B2-2771-405C-ADB7-8F62B695734A}"/>
              </a:ext>
            </a:extLst>
          </p:cNvPr>
          <p:cNvSpPr>
            <a:spLocks noGrp="1"/>
          </p:cNvSpPr>
          <p:nvPr>
            <p:ph sz="quarter" idx="17"/>
          </p:nvPr>
        </p:nvSpPr>
        <p:spPr>
          <a:xfrm>
            <a:off x="304800" y="4191000"/>
            <a:ext cx="8458200" cy="1752600"/>
          </a:xfrm>
          <a:prstGeom prst="rect">
            <a:avLst/>
          </a:prstGeom>
        </p:spPr>
        <p:txBody>
          <a:bodyPr/>
          <a:lstStyle>
            <a:lvl1pPr marL="0" indent="0">
              <a:buNone/>
              <a:defRPr/>
            </a:lvl1pPr>
          </a:lstStyle>
          <a:p>
            <a:pPr lvl="0"/>
            <a:endParaRPr lang="en-US" dirty="0"/>
          </a:p>
        </p:txBody>
      </p:sp>
      <p:sp>
        <p:nvSpPr>
          <p:cNvPr id="8" name="TextBox 7">
            <a:extLst>
              <a:ext uri="{FF2B5EF4-FFF2-40B4-BE49-F238E27FC236}">
                <a16:creationId xmlns:a16="http://schemas.microsoft.com/office/drawing/2014/main" id="{726C990E-8B83-4B60-916E-6CE28C3F6DCA}"/>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00CD5B1C-2CB6-469B-B41C-DBEBB2CEFA2C}"/>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
        <p:nvSpPr>
          <p:cNvPr id="10" name="Picture Placeholder 9">
            <a:extLst>
              <a:ext uri="{FF2B5EF4-FFF2-40B4-BE49-F238E27FC236}">
                <a16:creationId xmlns:a16="http://schemas.microsoft.com/office/drawing/2014/main" id="{A4F6A455-70F4-449B-B99B-70B2DB1B8C64}"/>
              </a:ext>
            </a:extLst>
          </p:cNvPr>
          <p:cNvSpPr>
            <a:spLocks noGrp="1"/>
          </p:cNvSpPr>
          <p:nvPr>
            <p:ph type="pic" sz="quarter" idx="18"/>
          </p:nvPr>
        </p:nvSpPr>
        <p:spPr>
          <a:xfrm>
            <a:off x="6483350" y="2817813"/>
            <a:ext cx="2152650" cy="914400"/>
          </a:xfrm>
          <a:prstGeom prst="rect">
            <a:avLst/>
          </a:prstGeom>
        </p:spPr>
        <p:txBody>
          <a:bodyPr/>
          <a:lstStyle/>
          <a:p>
            <a:endParaRPr lang="en-US" dirty="0"/>
          </a:p>
        </p:txBody>
      </p:sp>
      <p:sp>
        <p:nvSpPr>
          <p:cNvPr id="12" name="Table Placeholder 11">
            <a:extLst>
              <a:ext uri="{FF2B5EF4-FFF2-40B4-BE49-F238E27FC236}">
                <a16:creationId xmlns:a16="http://schemas.microsoft.com/office/drawing/2014/main" id="{387B5FFC-9D4C-4E39-AC78-E1ADED8F405D}"/>
              </a:ext>
            </a:extLst>
          </p:cNvPr>
          <p:cNvSpPr>
            <a:spLocks noGrp="1"/>
          </p:cNvSpPr>
          <p:nvPr>
            <p:ph type="tbl" sz="quarter" idx="19"/>
          </p:nvPr>
        </p:nvSpPr>
        <p:spPr>
          <a:xfrm>
            <a:off x="6219825" y="3962400"/>
            <a:ext cx="2055813" cy="1209675"/>
          </a:xfrm>
          <a:prstGeom prst="rect">
            <a:avLst/>
          </a:prstGeom>
        </p:spPr>
        <p:txBody>
          <a:bodyPr/>
          <a:lstStyle/>
          <a:p>
            <a:endParaRPr lang="en-US"/>
          </a:p>
        </p:txBody>
      </p:sp>
      <p:sp>
        <p:nvSpPr>
          <p:cNvPr id="14" name="Picture Placeholder 13">
            <a:extLst>
              <a:ext uri="{FF2B5EF4-FFF2-40B4-BE49-F238E27FC236}">
                <a16:creationId xmlns:a16="http://schemas.microsoft.com/office/drawing/2014/main" id="{753A07BB-92A0-4B4A-AEF8-F8A914B2DFAE}"/>
              </a:ext>
            </a:extLst>
          </p:cNvPr>
          <p:cNvSpPr>
            <a:spLocks noGrp="1"/>
          </p:cNvSpPr>
          <p:nvPr>
            <p:ph type="pic" sz="quarter" idx="20"/>
          </p:nvPr>
        </p:nvSpPr>
        <p:spPr>
          <a:xfrm>
            <a:off x="2941637" y="4591050"/>
            <a:ext cx="2790825" cy="914400"/>
          </a:xfrm>
          <a:prstGeom prst="rect">
            <a:avLst/>
          </a:prstGeom>
        </p:spPr>
        <p:txBody>
          <a:bodyPr/>
          <a:lstStyle/>
          <a:p>
            <a:endParaRPr lang="en-US"/>
          </a:p>
        </p:txBody>
      </p:sp>
    </p:spTree>
    <p:extLst>
      <p:ext uri="{BB962C8B-B14F-4D97-AF65-F5344CB8AC3E}">
        <p14:creationId xmlns:p14="http://schemas.microsoft.com/office/powerpoint/2010/main" val="18953155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A1108085-6D8E-4689-991B-902943EB6D3D}"/>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D16373F4-B83A-400A-A60C-3FCC3DFC45A1}"/>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264760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F5E6360E-5B6F-4AAB-86ED-9632394E8A3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77BBB985-21A2-4C48-B021-545D1D7D91E5}"/>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6132984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
        <p:nvSpPr>
          <p:cNvPr id="7" name="Content Placeholder"/>
          <p:cNvSpPr>
            <a:spLocks noGrp="1"/>
          </p:cNvSpPr>
          <p:nvPr>
            <p:ph sz="quarter" idx="17"/>
          </p:nvPr>
        </p:nvSpPr>
        <p:spPr>
          <a:xfrm>
            <a:off x="313265" y="2980267"/>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TextBox 7">
            <a:extLst>
              <a:ext uri="{FF2B5EF4-FFF2-40B4-BE49-F238E27FC236}">
                <a16:creationId xmlns:a16="http://schemas.microsoft.com/office/drawing/2014/main" id="{D6301D86-595C-4C8C-8A69-C187BE494230}"/>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3969569B-6835-4753-9259-94CFABF9200F}"/>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7128524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F5D095A-BE6A-47A1-8722-8C6BB720CC13}"/>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DEFECBCA-CFAF-4829-AEAC-1A3EFCAE9F2B}"/>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4644172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83" r:id="rId3"/>
    <p:sldLayoutId id="2147483984" r:id="rId4"/>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b="1"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1" r:id="rId3"/>
    <p:sldLayoutId id="2147483974" r:id="rId4"/>
    <p:sldLayoutId id="2147483975" r:id="rId5"/>
    <p:sldLayoutId id="2147483982" r:id="rId6"/>
    <p:sldLayoutId id="2147483985" r:id="rId7"/>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©2017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dirty="0"/>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hyperlink" Target="https://education.wiley.com/wpng/api/v1/content/resource/194961a9-ff0d-46b5-b1d8-b2153263d562" TargetMode="Externa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hyperlink" Target="https://education.wiley.com/wpng/api/v1/content/resource/7539a630-9e9f-4f78-9689-a1b71594369d" TargetMode="External"/><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hyperlink" Target="https://education.wiley.com/wpng/api/v1/content/resource/4f55b796-7573-4d0a-9c6a-a96db2244a53" TargetMode="Externa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5.xml"/></Relationships>
</file>

<file path=ppt/slides/_rels/slide8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94.xml.rels><?xml version="1.0" encoding="UTF-8" standalone="yes"?>
<Relationships xmlns="http://schemas.openxmlformats.org/package/2006/relationships"><Relationship Id="rId2" Type="http://schemas.openxmlformats.org/officeDocument/2006/relationships/hyperlink" Target="https://education.wiley.com/wpng/api/v1/content/resource/be6e7d4d-46ca-46b6-8df2-ed6a4628f6cf" TargetMode="External"/><Relationship Id="rId1" Type="http://schemas.openxmlformats.org/officeDocument/2006/relationships/slideLayout" Target="../slideLayouts/slideLayout2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800" b="1" dirty="0">
                <a:latin typeface="Calibri" panose="020F0502020204030204" pitchFamily="34" charset="0"/>
                <a:cs typeface="Calibri" panose="020F0502020204030204" pitchFamily="34" charset="0"/>
              </a:rPr>
              <a:t>Principles of Anatomy and Physiology</a:t>
            </a:r>
          </a:p>
        </p:txBody>
      </p:sp>
      <p:sp>
        <p:nvSpPr>
          <p:cNvPr id="4" name="Author"/>
          <p:cNvSpPr>
            <a:spLocks noGrp="1"/>
          </p:cNvSpPr>
          <p:nvPr>
            <p:ph sz="quarter" idx="21"/>
          </p:nvPr>
        </p:nvSpPr>
        <p:spPr>
          <a:prstGeom prst="rect">
            <a:avLst/>
          </a:prstGeom>
        </p:spPr>
        <p:txBody>
          <a:bodyPr/>
          <a:lstStyle/>
          <a:p>
            <a:r>
              <a:rPr lang="sv-SE" dirty="0">
                <a:latin typeface="Calibri" panose="020F0502020204030204" pitchFamily="34" charset="0"/>
                <a:cs typeface="Calibri" panose="020F0502020204030204" pitchFamily="34" charset="0"/>
              </a:rPr>
              <a:t>Gerard Tortora and Bryan Derrickson</a:t>
            </a:r>
          </a:p>
        </p:txBody>
      </p:sp>
      <p:sp>
        <p:nvSpPr>
          <p:cNvPr id="3" name="Edition"/>
          <p:cNvSpPr>
            <a:spLocks noGrp="1"/>
          </p:cNvSpPr>
          <p:nvPr>
            <p:ph sz="quarter" idx="22"/>
          </p:nvPr>
        </p:nvSpPr>
        <p:spPr>
          <a:prstGeom prst="rect">
            <a:avLst/>
          </a:prstGeom>
        </p:spPr>
        <p:txBody>
          <a:bodyPr/>
          <a:lstStyle/>
          <a:p>
            <a:r>
              <a:rPr lang="en-US" dirty="0">
                <a:latin typeface="Calibri" panose="020F0502020204030204" pitchFamily="34" charset="0"/>
                <a:cs typeface="Calibri" panose="020F0502020204030204" pitchFamily="34" charset="0"/>
              </a:rPr>
              <a:t>Sixteenth Edition</a:t>
            </a:r>
          </a:p>
        </p:txBody>
      </p:sp>
      <p:sp>
        <p:nvSpPr>
          <p:cNvPr id="5" name="CN"/>
          <p:cNvSpPr>
            <a:spLocks noGrp="1"/>
          </p:cNvSpPr>
          <p:nvPr>
            <p:ph sz="quarter" idx="19"/>
          </p:nvPr>
        </p:nvSpPr>
        <p:spPr>
          <a:xfrm>
            <a:off x="152400" y="3628572"/>
            <a:ext cx="8839200" cy="533400"/>
          </a:xfrm>
        </p:spPr>
        <p:txBody>
          <a:bodyPr anchor="ctr"/>
          <a:lstStyle/>
          <a:p>
            <a:r>
              <a:rPr lang="en-US" dirty="0">
                <a:latin typeface="Calibri" panose="020F0502020204030204" pitchFamily="34" charset="0"/>
                <a:cs typeface="Calibri" panose="020F0502020204030204" pitchFamily="34" charset="0"/>
              </a:rPr>
              <a:t>Chapter 2</a:t>
            </a:r>
          </a:p>
        </p:txBody>
      </p:sp>
      <p:sp>
        <p:nvSpPr>
          <p:cNvPr id="6" name="CT"/>
          <p:cNvSpPr>
            <a:spLocks noGrp="1"/>
          </p:cNvSpPr>
          <p:nvPr>
            <p:ph sz="quarter" idx="20"/>
          </p:nvPr>
        </p:nvSpPr>
        <p:spPr>
          <a:xfrm>
            <a:off x="152400" y="4366920"/>
            <a:ext cx="8839200" cy="833000"/>
          </a:xfrm>
        </p:spPr>
        <p:txBody>
          <a:bodyPr/>
          <a:lstStyle/>
          <a:p>
            <a:r>
              <a:rPr lang="en-US" altLang="en-US" sz="3600" dirty="0">
                <a:latin typeface="Calibri" panose="020F0502020204030204" pitchFamily="34" charset="0"/>
                <a:cs typeface="Calibri" panose="020F0502020204030204" pitchFamily="34" charset="0"/>
              </a:rPr>
              <a:t>The Chemical Level of Organization</a:t>
            </a:r>
          </a:p>
        </p:txBody>
      </p:sp>
      <p:sp>
        <p:nvSpPr>
          <p:cNvPr id="14" name="Content Placeholder 13"/>
          <p:cNvSpPr>
            <a:spLocks noGrp="1"/>
          </p:cNvSpPr>
          <p:nvPr>
            <p:ph sz="quarter" idx="24"/>
          </p:nvPr>
        </p:nvSpPr>
        <p:spPr>
          <a:xfrm>
            <a:off x="152400" y="6003472"/>
            <a:ext cx="8839200" cy="273050"/>
          </a:xfrm>
        </p:spPr>
        <p:txBody>
          <a:bodyPr/>
          <a:lstStyle/>
          <a:p>
            <a:r>
              <a:rPr lang="en-IN" sz="1200" dirty="0">
                <a:solidFill>
                  <a:schemeClr val="bg1"/>
                </a:solidFill>
                <a:latin typeface="Calibri" panose="020F0502020204030204" pitchFamily="34" charset="0"/>
                <a:cs typeface="Calibri" panose="020F0502020204030204" pitchFamily="34" charset="0"/>
              </a:rPr>
              <a:t>This slide deck contains animations. Please disable animations if they cause issues with your device.</a:t>
            </a:r>
          </a:p>
        </p:txBody>
      </p:sp>
      <p:sp>
        <p:nvSpPr>
          <p:cNvPr id="10" name="Content Placeholder 9"/>
          <p:cNvSpPr>
            <a:spLocks noGrp="1"/>
          </p:cNvSpPr>
          <p:nvPr>
            <p:ph sz="quarter" idx="23"/>
          </p:nvPr>
        </p:nvSpPr>
        <p:spPr>
          <a:xfrm>
            <a:off x="1286978" y="6339840"/>
            <a:ext cx="6584482" cy="457200"/>
          </a:xfrm>
          <a:prstGeom prst="rect">
            <a:avLst/>
          </a:prstGeom>
        </p:spPr>
        <p:txBody>
          <a:bodyPr anchor="ctr"/>
          <a:lstStyle/>
          <a:p>
            <a:pPr algn="ctr"/>
            <a:r>
              <a:rPr lang="en-US" sz="1200" dirty="0">
                <a:solidFill>
                  <a:schemeClr val="tx1">
                    <a:tint val="75000"/>
                  </a:schemeClr>
                </a:solidFill>
                <a:latin typeface="Calibri" panose="020F0502020204030204" pitchFamily="34" charset="0"/>
                <a:ea typeface="Times New Roman" charset="0"/>
                <a:cs typeface="Calibri" panose="020F0502020204030204" pitchFamily="34" charset="0"/>
              </a:rPr>
              <a:t>Copyright ©2021 John Wiley &amp; Sons, Inc.</a:t>
            </a:r>
          </a:p>
        </p:txBody>
      </p:sp>
    </p:spTree>
    <p:extLst>
      <p:ext uri="{BB962C8B-B14F-4D97-AF65-F5344CB8AC3E}">
        <p14:creationId xmlns:p14="http://schemas.microsoft.com/office/powerpoint/2010/main" val="399952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2BE2B-477F-4712-B090-A30BC7976F52}"/>
              </a:ext>
            </a:extLst>
          </p:cNvPr>
          <p:cNvSpPr>
            <a:spLocks noGrp="1"/>
          </p:cNvSpPr>
          <p:nvPr>
            <p:ph type="title"/>
          </p:nvPr>
        </p:nvSpPr>
        <p:spPr/>
        <p:txBody>
          <a:bodyPr/>
          <a:lstStyle/>
          <a:p>
            <a:r>
              <a:rPr lang="en-US" b="1" dirty="0">
                <a:latin typeface="Calibri" panose="020F0502020204030204" pitchFamily="34" charset="0"/>
                <a:cs typeface="Calibri" panose="020F0502020204030204" pitchFamily="34" charset="0"/>
              </a:rPr>
              <a:t>Introduction</a:t>
            </a:r>
          </a:p>
        </p:txBody>
      </p:sp>
      <p:sp>
        <p:nvSpPr>
          <p:cNvPr id="3" name="Content Placeholder 2">
            <a:extLst>
              <a:ext uri="{FF2B5EF4-FFF2-40B4-BE49-F238E27FC236}">
                <a16:creationId xmlns:a16="http://schemas.microsoft.com/office/drawing/2014/main" id="{D4C830AA-6CC5-4C38-8103-FF183BC12E70}"/>
              </a:ext>
            </a:extLst>
          </p:cNvPr>
          <p:cNvSpPr>
            <a:spLocks noGrp="1"/>
          </p:cNvSpPr>
          <p:nvPr>
            <p:ph sz="quarter" idx="12"/>
          </p:nvPr>
        </p:nvSpPr>
        <p:spPr>
          <a:xfrm>
            <a:off x="304800" y="1752600"/>
            <a:ext cx="8534400" cy="3733800"/>
          </a:xfrm>
        </p:spPr>
        <p:txBody>
          <a:bodyPr/>
          <a:lstStyle/>
          <a:p>
            <a:pPr marL="0" indent="0">
              <a:buNone/>
            </a:pPr>
            <a:r>
              <a:rPr lang="en-US" sz="3200" dirty="0">
                <a:latin typeface="Calibri" panose="020F0502020204030204" pitchFamily="34" charset="0"/>
                <a:cs typeface="Calibri" panose="020F0502020204030204" pitchFamily="34" charset="0"/>
              </a:rPr>
              <a:t>The purpose of this chapter is to:</a:t>
            </a:r>
          </a:p>
          <a:p>
            <a:pPr marL="1179576" lvl="1" indent="-457200">
              <a:spcBef>
                <a:spcPts val="1000"/>
              </a:spcBef>
              <a:buClr>
                <a:schemeClr val="accent2"/>
              </a:buClr>
              <a:buSzPct val="99000"/>
            </a:pPr>
            <a:r>
              <a:rPr lang="en-US" dirty="0">
                <a:latin typeface="Calibri" panose="020F0502020204030204" pitchFamily="34" charset="0"/>
                <a:cs typeface="Calibri" panose="020F0502020204030204" pitchFamily="34" charset="0"/>
              </a:rPr>
              <a:t>Introduce the language and fundamental concepts of chemistry</a:t>
            </a:r>
          </a:p>
          <a:p>
            <a:pPr marL="1179576" lvl="1" indent="-457200">
              <a:spcBef>
                <a:spcPts val="1000"/>
              </a:spcBef>
              <a:buClr>
                <a:schemeClr val="accent2"/>
              </a:buClr>
              <a:buSzPct val="99000"/>
            </a:pPr>
            <a:r>
              <a:rPr lang="en-US" dirty="0">
                <a:latin typeface="Calibri" panose="020F0502020204030204" pitchFamily="34" charset="0"/>
                <a:cs typeface="Calibri" panose="020F0502020204030204" pitchFamily="34" charset="0"/>
              </a:rPr>
              <a:t>Discuss how matter is organized</a:t>
            </a:r>
          </a:p>
          <a:p>
            <a:pPr marL="1179576" lvl="1" indent="-457200">
              <a:spcBef>
                <a:spcPts val="1000"/>
              </a:spcBef>
              <a:buClr>
                <a:schemeClr val="accent2"/>
              </a:buClr>
              <a:buSzPct val="99000"/>
            </a:pPr>
            <a:r>
              <a:rPr lang="en-US" dirty="0">
                <a:latin typeface="Calibri" panose="020F0502020204030204" pitchFamily="34" charset="0"/>
                <a:cs typeface="Calibri" panose="020F0502020204030204" pitchFamily="34" charset="0"/>
              </a:rPr>
              <a:t>Discuss how chemical bonds form and how chemical reactions occur</a:t>
            </a:r>
          </a:p>
          <a:p>
            <a:pPr marL="1179576" lvl="1" indent="-457200">
              <a:spcBef>
                <a:spcPts val="1000"/>
              </a:spcBef>
              <a:buClr>
                <a:schemeClr val="accent2"/>
              </a:buClr>
              <a:buSzPct val="99000"/>
            </a:pPr>
            <a:r>
              <a:rPr lang="en-US" dirty="0">
                <a:latin typeface="Calibri" panose="020F0502020204030204" pitchFamily="34" charset="0"/>
                <a:cs typeface="Calibri" panose="020F0502020204030204" pitchFamily="34" charset="0"/>
              </a:rPr>
              <a:t>Compare and contrast organic and inorganic compounds</a:t>
            </a:r>
          </a:p>
        </p:txBody>
      </p:sp>
    </p:spTree>
    <p:extLst>
      <p:ext uri="{BB962C8B-B14F-4D97-AF65-F5344CB8AC3E}">
        <p14:creationId xmlns:p14="http://schemas.microsoft.com/office/powerpoint/2010/main" val="3820016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8567C63-7972-402B-9CC8-92EBB48EA08D}"/>
              </a:ext>
            </a:extLst>
          </p:cNvPr>
          <p:cNvSpPr>
            <a:spLocks noGrp="1"/>
          </p:cNvSpPr>
          <p:nvPr>
            <p:ph type="title"/>
          </p:nvPr>
        </p:nvSpPr>
        <p:spPr>
          <a:xfrm>
            <a:off x="304800" y="3017521"/>
            <a:ext cx="8534400" cy="822959"/>
          </a:xfrm>
        </p:spPr>
        <p:txBody>
          <a:bodyPr/>
          <a:lstStyle/>
          <a:p>
            <a:pPr algn="ctr"/>
            <a:r>
              <a:rPr lang="en-US" b="1" dirty="0">
                <a:latin typeface="Calibri" panose="020F0502020204030204" pitchFamily="34" charset="0"/>
                <a:cs typeface="Calibri" panose="020F0502020204030204" pitchFamily="34" charset="0"/>
              </a:rPr>
              <a:t>How Matter Is Organized</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219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1D53-3FE2-4DCB-BC6F-D2BC082BDF2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Basic Principles of Chemistry</a:t>
            </a:r>
            <a:endParaRPr lang="en-US" sz="2000" b="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DB525D7-084F-4AE3-8CBE-D353F11C179D}"/>
              </a:ext>
            </a:extLst>
          </p:cNvPr>
          <p:cNvSpPr>
            <a:spLocks noGrp="1"/>
          </p:cNvSpPr>
          <p:nvPr>
            <p:ph sz="quarter" idx="16"/>
          </p:nvPr>
        </p:nvSpPr>
        <p:spPr>
          <a:xfrm>
            <a:off x="304800" y="1473200"/>
            <a:ext cx="8534400" cy="4211504"/>
          </a:xfrm>
        </p:spPr>
        <p:txBody>
          <a:bodyPr/>
          <a:lstStyle/>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Chemistry is the science of structure and interactions of matter</a:t>
            </a:r>
          </a:p>
          <a:p>
            <a:pPr marL="457200" indent="-457200">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Matter is anything that has mass and takes up space</a:t>
            </a:r>
          </a:p>
          <a:p>
            <a:pPr marL="457200" indent="-457200">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Mass is the amount of matter in an object, whereas weight is the force of gravity acting on a mass</a:t>
            </a:r>
          </a:p>
        </p:txBody>
      </p:sp>
    </p:spTree>
    <p:extLst>
      <p:ext uri="{BB962C8B-B14F-4D97-AF65-F5344CB8AC3E}">
        <p14:creationId xmlns:p14="http://schemas.microsoft.com/office/powerpoint/2010/main" val="2519120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5BF5-BE6C-42E9-85D8-14535D7BE41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Chemical Elements</a:t>
            </a:r>
          </a:p>
        </p:txBody>
      </p:sp>
      <p:sp>
        <p:nvSpPr>
          <p:cNvPr id="3" name="Content Placeholder 2">
            <a:extLst>
              <a:ext uri="{FF2B5EF4-FFF2-40B4-BE49-F238E27FC236}">
                <a16:creationId xmlns:a16="http://schemas.microsoft.com/office/drawing/2014/main" id="{F6C4A560-367C-45C7-AE6E-6223034DB2A8}"/>
              </a:ext>
            </a:extLst>
          </p:cNvPr>
          <p:cNvSpPr>
            <a:spLocks noGrp="1"/>
          </p:cNvSpPr>
          <p:nvPr>
            <p:ph sz="quarter" idx="16"/>
          </p:nvPr>
        </p:nvSpPr>
        <p:spPr>
          <a:xfrm>
            <a:off x="304800" y="1752600"/>
            <a:ext cx="8534400" cy="4240576"/>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Matter exists in 3 forms: </a:t>
            </a:r>
          </a:p>
          <a:p>
            <a:pPr marL="1179576" lvl="1" indent="-457200">
              <a:spcBef>
                <a:spcPts val="1000"/>
              </a:spcBef>
              <a:buClr>
                <a:schemeClr val="accent2"/>
              </a:buClr>
              <a:buSzPct val="100000"/>
            </a:pPr>
            <a:r>
              <a:rPr lang="en-US" sz="2800" dirty="0">
                <a:latin typeface="Calibri" panose="020F0502020204030204" pitchFamily="34" charset="0"/>
                <a:cs typeface="Calibri" panose="020F0502020204030204" pitchFamily="34" charset="0"/>
              </a:rPr>
              <a:t>Solid</a:t>
            </a:r>
          </a:p>
          <a:p>
            <a:pPr marL="1179576" lvl="1" indent="-457200">
              <a:spcBef>
                <a:spcPts val="1000"/>
              </a:spcBef>
              <a:buClr>
                <a:schemeClr val="accent2"/>
              </a:buClr>
              <a:buSzPct val="100000"/>
            </a:pPr>
            <a:r>
              <a:rPr lang="en-US" sz="2800" dirty="0">
                <a:latin typeface="Calibri" panose="020F0502020204030204" pitchFamily="34" charset="0"/>
                <a:cs typeface="Calibri" panose="020F0502020204030204" pitchFamily="34" charset="0"/>
              </a:rPr>
              <a:t>Liquid </a:t>
            </a:r>
          </a:p>
          <a:p>
            <a:pPr marL="1179576" lvl="1" indent="-457200">
              <a:spcBef>
                <a:spcPts val="1000"/>
              </a:spcBef>
              <a:buClr>
                <a:schemeClr val="accent2"/>
              </a:buClr>
              <a:buSzPct val="100000"/>
            </a:pPr>
            <a:r>
              <a:rPr lang="en-US" sz="2800" dirty="0">
                <a:latin typeface="Calibri" panose="020F0502020204030204" pitchFamily="34" charset="0"/>
                <a:cs typeface="Calibri" panose="020F0502020204030204" pitchFamily="34" charset="0"/>
              </a:rPr>
              <a:t>Gas</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All forms of matter are composed of chemical elements</a:t>
            </a:r>
          </a:p>
        </p:txBody>
      </p:sp>
    </p:spTree>
    <p:extLst>
      <p:ext uri="{BB962C8B-B14F-4D97-AF65-F5344CB8AC3E}">
        <p14:creationId xmlns:p14="http://schemas.microsoft.com/office/powerpoint/2010/main" val="171598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5BF5-BE6C-42E9-85D8-14535D7BE41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Elements</a:t>
            </a:r>
          </a:p>
        </p:txBody>
      </p:sp>
      <p:sp>
        <p:nvSpPr>
          <p:cNvPr id="3" name="Content Placeholder 2">
            <a:extLst>
              <a:ext uri="{FF2B5EF4-FFF2-40B4-BE49-F238E27FC236}">
                <a16:creationId xmlns:a16="http://schemas.microsoft.com/office/drawing/2014/main" id="{F6C4A560-367C-45C7-AE6E-6223034DB2A8}"/>
              </a:ext>
            </a:extLst>
          </p:cNvPr>
          <p:cNvSpPr>
            <a:spLocks noGrp="1"/>
          </p:cNvSpPr>
          <p:nvPr>
            <p:ph sz="quarter" idx="16"/>
          </p:nvPr>
        </p:nvSpPr>
        <p:spPr>
          <a:xfrm>
            <a:off x="304800" y="1752599"/>
            <a:ext cx="8534400" cy="4191001"/>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Elements are given chemical symbols such as: </a:t>
            </a:r>
          </a:p>
          <a:p>
            <a:pPr marL="645300" lvl="1" indent="-342900">
              <a:spcBef>
                <a:spcPts val="1000"/>
              </a:spcBef>
              <a:buClr>
                <a:schemeClr val="accent2"/>
              </a:buClr>
              <a:buSzPct val="100000"/>
            </a:pPr>
            <a:r>
              <a:rPr lang="en-US" dirty="0">
                <a:latin typeface="Calibri" panose="020F0502020204030204" pitchFamily="34" charset="0"/>
                <a:cs typeface="Calibri" panose="020F0502020204030204" pitchFamily="34" charset="0"/>
              </a:rPr>
              <a:t>O = oxygen</a:t>
            </a:r>
          </a:p>
          <a:p>
            <a:pPr marL="645300" lvl="1" indent="-342900">
              <a:spcBef>
                <a:spcPts val="1000"/>
              </a:spcBef>
              <a:buClr>
                <a:schemeClr val="accent2"/>
              </a:buClr>
              <a:buSzPct val="100000"/>
            </a:pPr>
            <a:r>
              <a:rPr lang="en-US" dirty="0">
                <a:latin typeface="Calibri" panose="020F0502020204030204" pitchFamily="34" charset="0"/>
                <a:cs typeface="Calibri" panose="020F0502020204030204" pitchFamily="34" charset="0"/>
              </a:rPr>
              <a:t>C = carbon</a:t>
            </a:r>
          </a:p>
          <a:p>
            <a:pPr marL="645300" lvl="1" indent="-342900">
              <a:spcBef>
                <a:spcPts val="1000"/>
              </a:spcBef>
              <a:buClr>
                <a:schemeClr val="accent2"/>
              </a:buClr>
              <a:buSzPct val="100000"/>
            </a:pPr>
            <a:r>
              <a:rPr lang="en-US" dirty="0">
                <a:latin typeface="Calibri" panose="020F0502020204030204" pitchFamily="34" charset="0"/>
                <a:cs typeface="Calibri" panose="020F0502020204030204" pitchFamily="34" charset="0"/>
              </a:rPr>
              <a:t>H = hydrogen</a:t>
            </a:r>
          </a:p>
          <a:p>
            <a:pPr marL="645300" lvl="1" indent="-342900">
              <a:spcBef>
                <a:spcPts val="1000"/>
              </a:spcBef>
              <a:buClr>
                <a:schemeClr val="accent2"/>
              </a:buClr>
              <a:buSzPct val="100000"/>
            </a:pPr>
            <a:r>
              <a:rPr lang="en-US" dirty="0">
                <a:latin typeface="Calibri" panose="020F0502020204030204" pitchFamily="34" charset="0"/>
                <a:cs typeface="Calibri" panose="020F0502020204030204" pitchFamily="34" charset="0"/>
              </a:rPr>
              <a:t>N = nitrogen</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These elements make up the majority of our bodies</a:t>
            </a:r>
          </a:p>
        </p:txBody>
      </p:sp>
    </p:spTree>
    <p:extLst>
      <p:ext uri="{BB962C8B-B14F-4D97-AF65-F5344CB8AC3E}">
        <p14:creationId xmlns:p14="http://schemas.microsoft.com/office/powerpoint/2010/main" val="2437616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D5194E1-AB4F-4A1B-A9C8-FA5440A5BFC8}"/>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Main Chemical Elements in the Body </a:t>
            </a:r>
            <a:endParaRPr lang="en-US" b="0" dirty="0">
              <a:latin typeface="Calibri" panose="020F0502020204030204" pitchFamily="34" charset="0"/>
              <a:cs typeface="Calibri" panose="020F0502020204030204" pitchFamily="34" charset="0"/>
            </a:endParaRPr>
          </a:p>
        </p:txBody>
      </p:sp>
      <p:graphicFrame>
        <p:nvGraphicFramePr>
          <p:cNvPr id="18" name="Content Placeholder 8" descr="Table is accessible to screenreaders">
            <a:extLst>
              <a:ext uri="{FF2B5EF4-FFF2-40B4-BE49-F238E27FC236}">
                <a16:creationId xmlns:a16="http://schemas.microsoft.com/office/drawing/2014/main" id="{6C83B1AC-FF39-4E9D-9519-FB0D799A162A}"/>
              </a:ext>
            </a:extLst>
          </p:cNvPr>
          <p:cNvGraphicFramePr>
            <a:graphicFrameLocks noGrp="1"/>
          </p:cNvGraphicFramePr>
          <p:nvPr>
            <p:ph type="tbl" sz="quarter" idx="19"/>
            <p:extLst>
              <p:ext uri="{D42A27DB-BD31-4B8C-83A1-F6EECF244321}">
                <p14:modId xmlns:p14="http://schemas.microsoft.com/office/powerpoint/2010/main" val="887095057"/>
              </p:ext>
            </p:extLst>
          </p:nvPr>
        </p:nvGraphicFramePr>
        <p:xfrm>
          <a:off x="304800" y="1660795"/>
          <a:ext cx="8534400" cy="375412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3911464075"/>
                    </a:ext>
                  </a:extLst>
                </a:gridCol>
                <a:gridCol w="1371600">
                  <a:extLst>
                    <a:ext uri="{9D8B030D-6E8A-4147-A177-3AD203B41FA5}">
                      <a16:colId xmlns:a16="http://schemas.microsoft.com/office/drawing/2014/main" val="3998473143"/>
                    </a:ext>
                  </a:extLst>
                </a:gridCol>
                <a:gridCol w="4953000">
                  <a:extLst>
                    <a:ext uri="{9D8B030D-6E8A-4147-A177-3AD203B41FA5}">
                      <a16:colId xmlns:a16="http://schemas.microsoft.com/office/drawing/2014/main" val="4103703232"/>
                    </a:ext>
                  </a:extLst>
                </a:gridCol>
              </a:tblGrid>
              <a:tr h="370840">
                <a:tc>
                  <a:txBody>
                    <a:bodyPr/>
                    <a:lstStyle/>
                    <a:p>
                      <a:r>
                        <a:rPr lang="en-US" dirty="0"/>
                        <a:t>Chemical Element (Symbol)</a:t>
                      </a:r>
                    </a:p>
                  </a:txBody>
                  <a:tcPr anchor="b"/>
                </a:tc>
                <a:tc>
                  <a:txBody>
                    <a:bodyPr/>
                    <a:lstStyle/>
                    <a:p>
                      <a:r>
                        <a:rPr lang="en-US" dirty="0"/>
                        <a:t>% of Total Body Mass</a:t>
                      </a:r>
                    </a:p>
                  </a:txBody>
                  <a:tcPr anchor="b"/>
                </a:tc>
                <a:tc>
                  <a:txBody>
                    <a:bodyPr/>
                    <a:lstStyle/>
                    <a:p>
                      <a:r>
                        <a:rPr lang="en-US" dirty="0"/>
                        <a:t>Significance</a:t>
                      </a:r>
                    </a:p>
                  </a:txBody>
                  <a:tcPr anchor="b"/>
                </a:tc>
                <a:extLst>
                  <a:ext uri="{0D108BD9-81ED-4DB2-BD59-A6C34878D82A}">
                    <a16:rowId xmlns:a16="http://schemas.microsoft.com/office/drawing/2014/main" val="900107311"/>
                  </a:ext>
                </a:extLst>
              </a:tr>
              <a:tr h="370840">
                <a:tc>
                  <a:txBody>
                    <a:bodyPr/>
                    <a:lstStyle/>
                    <a:p>
                      <a:r>
                        <a:rPr lang="en-US" b="1" dirty="0"/>
                        <a:t>Major Elements</a:t>
                      </a:r>
                    </a:p>
                  </a:txBody>
                  <a:tcPr>
                    <a:noFill/>
                  </a:tcPr>
                </a:tc>
                <a:tc>
                  <a:txBody>
                    <a:bodyPr/>
                    <a:lstStyle/>
                    <a:p>
                      <a:pPr algn="ctr"/>
                      <a:r>
                        <a:rPr lang="en-US" dirty="0"/>
                        <a:t>(about 96)</a:t>
                      </a:r>
                    </a:p>
                  </a:txBody>
                  <a:tcPr>
                    <a:noFill/>
                  </a:tcPr>
                </a:tc>
                <a:tc>
                  <a:txBody>
                    <a:bodyPr/>
                    <a:lstStyle/>
                    <a:p>
                      <a:r>
                        <a:rPr lang="en-US" dirty="0">
                          <a:solidFill>
                            <a:schemeClr val="bg1"/>
                          </a:solidFill>
                        </a:rPr>
                        <a:t>Blank</a:t>
                      </a:r>
                    </a:p>
                  </a:txBody>
                  <a:tcPr>
                    <a:noFill/>
                  </a:tcPr>
                </a:tc>
                <a:extLst>
                  <a:ext uri="{0D108BD9-81ED-4DB2-BD59-A6C34878D82A}">
                    <a16:rowId xmlns:a16="http://schemas.microsoft.com/office/drawing/2014/main" val="813971356"/>
                  </a:ext>
                </a:extLst>
              </a:tr>
              <a:tr h="370840">
                <a:tc>
                  <a:txBody>
                    <a:bodyPr/>
                    <a:lstStyle/>
                    <a:p>
                      <a:pPr marL="288925" indent="0"/>
                      <a:r>
                        <a:rPr lang="en-US" b="1" dirty="0"/>
                        <a:t>Oxygen (0)</a:t>
                      </a:r>
                    </a:p>
                  </a:txBody>
                  <a:tcPr>
                    <a:noFill/>
                  </a:tcPr>
                </a:tc>
                <a:tc>
                  <a:txBody>
                    <a:bodyPr/>
                    <a:lstStyle/>
                    <a:p>
                      <a:pPr marL="290513" indent="0" algn="l">
                        <a:tabLst>
                          <a:tab pos="63500" algn="l"/>
                          <a:tab pos="288925" algn="l"/>
                        </a:tabLst>
                      </a:pPr>
                      <a:r>
                        <a:rPr lang="en-US" dirty="0"/>
                        <a:t>65.0</a:t>
                      </a:r>
                    </a:p>
                  </a:txBody>
                  <a:tcPr>
                    <a:noFill/>
                  </a:tcPr>
                </a:tc>
                <a:tc>
                  <a:txBody>
                    <a:bodyPr/>
                    <a:lstStyle/>
                    <a:p>
                      <a:r>
                        <a:rPr lang="en-US" dirty="0"/>
                        <a:t>Part of water and many organic (carbon-containing) molecules; used to generate A</a:t>
                      </a:r>
                      <a:r>
                        <a:rPr lang="en-US" sz="100" dirty="0"/>
                        <a:t> </a:t>
                      </a:r>
                      <a:r>
                        <a:rPr lang="en-US" dirty="0"/>
                        <a:t>T</a:t>
                      </a:r>
                      <a:r>
                        <a:rPr lang="en-US" sz="100" dirty="0"/>
                        <a:t> </a:t>
                      </a:r>
                      <a:r>
                        <a:rPr lang="en-US" dirty="0"/>
                        <a:t>P, a molecule used by cells to temporarily store chemical energy.</a:t>
                      </a:r>
                    </a:p>
                  </a:txBody>
                  <a:tcPr>
                    <a:noFill/>
                  </a:tcPr>
                </a:tc>
                <a:extLst>
                  <a:ext uri="{0D108BD9-81ED-4DB2-BD59-A6C34878D82A}">
                    <a16:rowId xmlns:a16="http://schemas.microsoft.com/office/drawing/2014/main" val="2974378970"/>
                  </a:ext>
                </a:extLst>
              </a:tr>
              <a:tr h="370840">
                <a:tc>
                  <a:txBody>
                    <a:bodyPr/>
                    <a:lstStyle/>
                    <a:p>
                      <a:pPr marL="288925" indent="0"/>
                      <a:r>
                        <a:rPr lang="en-US" b="1" dirty="0"/>
                        <a:t>Carbon (C)</a:t>
                      </a:r>
                    </a:p>
                  </a:txBody>
                  <a:tcPr>
                    <a:noFill/>
                  </a:tcPr>
                </a:tc>
                <a:tc>
                  <a:txBody>
                    <a:bodyPr/>
                    <a:lstStyle/>
                    <a:p>
                      <a:pPr marL="288925" indent="0" algn="l"/>
                      <a:r>
                        <a:rPr lang="en-US" dirty="0"/>
                        <a:t>18.5</a:t>
                      </a:r>
                    </a:p>
                  </a:txBody>
                  <a:tcPr>
                    <a:noFill/>
                  </a:tcPr>
                </a:tc>
                <a:tc>
                  <a:txBody>
                    <a:bodyPr/>
                    <a:lstStyle/>
                    <a:p>
                      <a:r>
                        <a:rPr lang="en-US" dirty="0"/>
                        <a:t>Forms backbone chains and rings of all organic molecules: carbohydrates, lipids (fats), proteins, and nucleic acids (0</a:t>
                      </a:r>
                      <a:r>
                        <a:rPr lang="en-US" sz="100" dirty="0"/>
                        <a:t> </a:t>
                      </a:r>
                      <a:r>
                        <a:rPr lang="en-US" dirty="0"/>
                        <a:t>N</a:t>
                      </a:r>
                      <a:r>
                        <a:rPr lang="en-US" sz="100" dirty="0"/>
                        <a:t> </a:t>
                      </a:r>
                      <a:r>
                        <a:rPr lang="en-US" dirty="0"/>
                        <a:t>A and R</a:t>
                      </a:r>
                      <a:r>
                        <a:rPr lang="en-US" sz="100" dirty="0"/>
                        <a:t> </a:t>
                      </a:r>
                      <a:r>
                        <a:rPr lang="en-US" dirty="0"/>
                        <a:t>N</a:t>
                      </a:r>
                      <a:r>
                        <a:rPr lang="en-US" sz="100" dirty="0"/>
                        <a:t> </a:t>
                      </a:r>
                      <a:r>
                        <a:rPr lang="en-US" dirty="0"/>
                        <a:t>A).</a:t>
                      </a:r>
                    </a:p>
                  </a:txBody>
                  <a:tcPr>
                    <a:noFill/>
                  </a:tcPr>
                </a:tc>
                <a:extLst>
                  <a:ext uri="{0D108BD9-81ED-4DB2-BD59-A6C34878D82A}">
                    <a16:rowId xmlns:a16="http://schemas.microsoft.com/office/drawing/2014/main" val="682509474"/>
                  </a:ext>
                </a:extLst>
              </a:tr>
              <a:tr h="370840">
                <a:tc>
                  <a:txBody>
                    <a:bodyPr/>
                    <a:lstStyle/>
                    <a:p>
                      <a:pPr marL="288925" indent="0"/>
                      <a:r>
                        <a:rPr lang="en-US" b="1" dirty="0"/>
                        <a:t>Hydrogen (H)</a:t>
                      </a:r>
                    </a:p>
                  </a:txBody>
                  <a:tcPr>
                    <a:noFill/>
                  </a:tcPr>
                </a:tc>
                <a:tc>
                  <a:txBody>
                    <a:bodyPr/>
                    <a:lstStyle/>
                    <a:p>
                      <a:pPr marL="336550" indent="0" algn="l"/>
                      <a:r>
                        <a:rPr lang="en-US" dirty="0"/>
                        <a:t>9.5</a:t>
                      </a:r>
                    </a:p>
                  </a:txBody>
                  <a:tcPr>
                    <a:noFill/>
                  </a:tcPr>
                </a:tc>
                <a:tc>
                  <a:txBody>
                    <a:bodyPr/>
                    <a:lstStyle/>
                    <a:p>
                      <a:r>
                        <a:rPr lang="en-US" dirty="0"/>
                        <a:t>Constituent of water and most organic molecules; ionized form (H</a:t>
                      </a:r>
                      <a:r>
                        <a:rPr lang="en-US" baseline="30000" dirty="0"/>
                        <a:t>+</a:t>
                      </a:r>
                      <a:r>
                        <a:rPr lang="en-US" dirty="0"/>
                        <a:t>) makes body fluids more acidic.</a:t>
                      </a:r>
                    </a:p>
                  </a:txBody>
                  <a:tcPr>
                    <a:noFill/>
                  </a:tcPr>
                </a:tc>
                <a:extLst>
                  <a:ext uri="{0D108BD9-81ED-4DB2-BD59-A6C34878D82A}">
                    <a16:rowId xmlns:a16="http://schemas.microsoft.com/office/drawing/2014/main" val="1052016399"/>
                  </a:ext>
                </a:extLst>
              </a:tr>
            </a:tbl>
          </a:graphicData>
        </a:graphic>
      </p:graphicFrame>
    </p:spTree>
    <p:extLst>
      <p:ext uri="{BB962C8B-B14F-4D97-AF65-F5344CB8AC3E}">
        <p14:creationId xmlns:p14="http://schemas.microsoft.com/office/powerpoint/2010/main" val="2351700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D09A5E-628D-4757-9179-2EE507A6D34D}"/>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Main Chemical Elements in the Body </a:t>
            </a:r>
            <a:endParaRPr lang="en-US" b="0" dirty="0">
              <a:latin typeface="Calibri" panose="020F0502020204030204" pitchFamily="34" charset="0"/>
              <a:cs typeface="Calibri" panose="020F0502020204030204" pitchFamily="34" charset="0"/>
            </a:endParaRPr>
          </a:p>
        </p:txBody>
      </p:sp>
      <p:graphicFrame>
        <p:nvGraphicFramePr>
          <p:cNvPr id="11" name="Content Placeholder 5" descr="Table is accessible to screenreaders">
            <a:extLst>
              <a:ext uri="{FF2B5EF4-FFF2-40B4-BE49-F238E27FC236}">
                <a16:creationId xmlns:a16="http://schemas.microsoft.com/office/drawing/2014/main" id="{B793DC87-B7F5-4D89-8A1E-165824948D7F}"/>
              </a:ext>
            </a:extLst>
          </p:cNvPr>
          <p:cNvGraphicFramePr>
            <a:graphicFrameLocks noGrp="1"/>
          </p:cNvGraphicFramePr>
          <p:nvPr>
            <p:ph type="tbl" sz="quarter" idx="19"/>
            <p:extLst>
              <p:ext uri="{D42A27DB-BD31-4B8C-83A1-F6EECF244321}">
                <p14:modId xmlns:p14="http://schemas.microsoft.com/office/powerpoint/2010/main" val="1093170082"/>
              </p:ext>
            </p:extLst>
          </p:nvPr>
        </p:nvGraphicFramePr>
        <p:xfrm>
          <a:off x="304800" y="1632859"/>
          <a:ext cx="8534400" cy="412496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27170753"/>
                    </a:ext>
                  </a:extLst>
                </a:gridCol>
                <a:gridCol w="1371600">
                  <a:extLst>
                    <a:ext uri="{9D8B030D-6E8A-4147-A177-3AD203B41FA5}">
                      <a16:colId xmlns:a16="http://schemas.microsoft.com/office/drawing/2014/main" val="3641783374"/>
                    </a:ext>
                  </a:extLst>
                </a:gridCol>
                <a:gridCol w="4953000">
                  <a:extLst>
                    <a:ext uri="{9D8B030D-6E8A-4147-A177-3AD203B41FA5}">
                      <a16:colId xmlns:a16="http://schemas.microsoft.com/office/drawing/2014/main" val="1200981546"/>
                    </a:ext>
                  </a:extLst>
                </a:gridCol>
              </a:tblGrid>
              <a:tr h="370840">
                <a:tc>
                  <a:txBody>
                    <a:bodyPr/>
                    <a:lstStyle/>
                    <a:p>
                      <a:r>
                        <a:rPr lang="en-US" dirty="0"/>
                        <a:t>Chemical Element (Symbol)</a:t>
                      </a:r>
                    </a:p>
                  </a:txBody>
                  <a:tcPr anchor="b"/>
                </a:tc>
                <a:tc>
                  <a:txBody>
                    <a:bodyPr/>
                    <a:lstStyle/>
                    <a:p>
                      <a:r>
                        <a:rPr lang="en-US" dirty="0"/>
                        <a:t>% of Total Body Mass</a:t>
                      </a:r>
                    </a:p>
                  </a:txBody>
                  <a:tcPr anchor="b"/>
                </a:tc>
                <a:tc>
                  <a:txBody>
                    <a:bodyPr/>
                    <a:lstStyle/>
                    <a:p>
                      <a:r>
                        <a:rPr lang="en-US" dirty="0"/>
                        <a:t>Significance</a:t>
                      </a:r>
                    </a:p>
                  </a:txBody>
                  <a:tcPr anchor="b"/>
                </a:tc>
                <a:extLst>
                  <a:ext uri="{0D108BD9-81ED-4DB2-BD59-A6C34878D82A}">
                    <a16:rowId xmlns:a16="http://schemas.microsoft.com/office/drawing/2014/main" val="1068782513"/>
                  </a:ext>
                </a:extLst>
              </a:tr>
              <a:tr h="370840">
                <a:tc>
                  <a:txBody>
                    <a:bodyPr/>
                    <a:lstStyle/>
                    <a:p>
                      <a:pPr marL="288925" indent="0" algn="l"/>
                      <a:r>
                        <a:rPr lang="en-US" b="1" dirty="0"/>
                        <a:t>Nitrogen (N)</a:t>
                      </a:r>
                    </a:p>
                  </a:txBody>
                  <a:tcPr>
                    <a:noFill/>
                  </a:tcPr>
                </a:tc>
                <a:tc>
                  <a:txBody>
                    <a:bodyPr/>
                    <a:lstStyle/>
                    <a:p>
                      <a:pPr algn="ctr"/>
                      <a:r>
                        <a:rPr lang="en-US" dirty="0"/>
                        <a:t>3.2</a:t>
                      </a:r>
                    </a:p>
                  </a:txBody>
                  <a:tcPr>
                    <a:noFill/>
                  </a:tcPr>
                </a:tc>
                <a:tc>
                  <a:txBody>
                    <a:bodyPr/>
                    <a:lstStyle/>
                    <a:p>
                      <a:r>
                        <a:rPr lang="en-US" dirty="0"/>
                        <a:t>Component of all proteins and nucleic acids.</a:t>
                      </a:r>
                    </a:p>
                  </a:txBody>
                  <a:tcPr>
                    <a:noFill/>
                  </a:tcPr>
                </a:tc>
                <a:extLst>
                  <a:ext uri="{0D108BD9-81ED-4DB2-BD59-A6C34878D82A}">
                    <a16:rowId xmlns:a16="http://schemas.microsoft.com/office/drawing/2014/main" val="3043866253"/>
                  </a:ext>
                </a:extLst>
              </a:tr>
              <a:tr h="370840">
                <a:tc>
                  <a:txBody>
                    <a:bodyPr/>
                    <a:lstStyle/>
                    <a:p>
                      <a:pPr algn="l"/>
                      <a:r>
                        <a:rPr lang="en-US" b="1" dirty="0"/>
                        <a:t>Lesser Elements</a:t>
                      </a:r>
                    </a:p>
                  </a:txBody>
                  <a:tcPr>
                    <a:noFill/>
                  </a:tcPr>
                </a:tc>
                <a:tc>
                  <a:txBody>
                    <a:bodyPr/>
                    <a:lstStyle/>
                    <a:p>
                      <a:pPr algn="ctr"/>
                      <a:r>
                        <a:rPr lang="en-US" dirty="0"/>
                        <a:t>(about 3.6)</a:t>
                      </a:r>
                    </a:p>
                  </a:txBody>
                  <a:tcPr>
                    <a:noFill/>
                  </a:tcPr>
                </a:tc>
                <a:tc>
                  <a:txBody>
                    <a:bodyPr/>
                    <a:lstStyle/>
                    <a:p>
                      <a:endParaRPr lang="en-US" dirty="0">
                        <a:solidFill>
                          <a:schemeClr val="bg1"/>
                        </a:solidFill>
                      </a:endParaRPr>
                    </a:p>
                  </a:txBody>
                  <a:tcPr>
                    <a:noFill/>
                  </a:tcPr>
                </a:tc>
                <a:extLst>
                  <a:ext uri="{0D108BD9-81ED-4DB2-BD59-A6C34878D82A}">
                    <a16:rowId xmlns:a16="http://schemas.microsoft.com/office/drawing/2014/main" val="1447195977"/>
                  </a:ext>
                </a:extLst>
              </a:tr>
              <a:tr h="370840">
                <a:tc>
                  <a:txBody>
                    <a:bodyPr/>
                    <a:lstStyle/>
                    <a:p>
                      <a:pPr marL="288925" indent="0" algn="l"/>
                      <a:r>
                        <a:rPr lang="en-US" b="1" dirty="0"/>
                        <a:t>Calcium (C</a:t>
                      </a:r>
                      <a:r>
                        <a:rPr lang="en-US" sz="100" b="1" dirty="0"/>
                        <a:t> </a:t>
                      </a:r>
                      <a:r>
                        <a:rPr lang="en-US" b="1" dirty="0"/>
                        <a:t>a)</a:t>
                      </a:r>
                    </a:p>
                  </a:txBody>
                  <a:tcPr>
                    <a:noFill/>
                  </a:tcPr>
                </a:tc>
                <a:tc>
                  <a:txBody>
                    <a:bodyPr/>
                    <a:lstStyle/>
                    <a:p>
                      <a:pPr algn="ctr"/>
                      <a:r>
                        <a:rPr lang="en-US" dirty="0"/>
                        <a:t>1.5</a:t>
                      </a:r>
                    </a:p>
                  </a:txBody>
                  <a:tcPr>
                    <a:noFill/>
                  </a:tcPr>
                </a:tc>
                <a:tc>
                  <a:txBody>
                    <a:bodyPr/>
                    <a:lstStyle/>
                    <a:p>
                      <a:r>
                        <a:rPr lang="en-US" dirty="0"/>
                        <a:t>Contributes to hardness of bones and teeth; ionized form (C</a:t>
                      </a:r>
                      <a:r>
                        <a:rPr lang="en-US" sz="100" dirty="0"/>
                        <a:t>  </a:t>
                      </a:r>
                      <a:r>
                        <a:rPr lang="en-US" dirty="0"/>
                        <a:t>a</a:t>
                      </a:r>
                      <a:r>
                        <a:rPr lang="en-US" baseline="30000" dirty="0"/>
                        <a:t>2+</a:t>
                      </a:r>
                      <a:r>
                        <a:rPr lang="en-US" dirty="0"/>
                        <a:t>) needed for blood clotting, release of some hormones, contraction of muscle, and many other processes.</a:t>
                      </a:r>
                    </a:p>
                  </a:txBody>
                  <a:tcPr>
                    <a:noFill/>
                  </a:tcPr>
                </a:tc>
                <a:extLst>
                  <a:ext uri="{0D108BD9-81ED-4DB2-BD59-A6C34878D82A}">
                    <a16:rowId xmlns:a16="http://schemas.microsoft.com/office/drawing/2014/main" val="1276801794"/>
                  </a:ext>
                </a:extLst>
              </a:tr>
              <a:tr h="370840">
                <a:tc>
                  <a:txBody>
                    <a:bodyPr/>
                    <a:lstStyle/>
                    <a:p>
                      <a:pPr marL="288925" indent="0" algn="l"/>
                      <a:r>
                        <a:rPr lang="en-US" b="1" dirty="0"/>
                        <a:t>Phosphorus (P)</a:t>
                      </a:r>
                    </a:p>
                  </a:txBody>
                  <a:tcPr>
                    <a:noFill/>
                  </a:tcPr>
                </a:tc>
                <a:tc>
                  <a:txBody>
                    <a:bodyPr/>
                    <a:lstStyle/>
                    <a:p>
                      <a:pPr algn="ctr"/>
                      <a:r>
                        <a:rPr lang="en-US" dirty="0"/>
                        <a:t>1.0</a:t>
                      </a:r>
                    </a:p>
                  </a:txBody>
                  <a:tcPr>
                    <a:noFill/>
                  </a:tcPr>
                </a:tc>
                <a:tc>
                  <a:txBody>
                    <a:bodyPr/>
                    <a:lstStyle/>
                    <a:p>
                      <a:r>
                        <a:rPr lang="en-US" dirty="0"/>
                        <a:t>Component of nucleic acids and A</a:t>
                      </a:r>
                      <a:r>
                        <a:rPr lang="en-US" sz="100" dirty="0"/>
                        <a:t> </a:t>
                      </a:r>
                      <a:r>
                        <a:rPr lang="en-US" dirty="0"/>
                        <a:t>T</a:t>
                      </a:r>
                      <a:r>
                        <a:rPr lang="en-US" sz="100" dirty="0"/>
                        <a:t> </a:t>
                      </a:r>
                      <a:r>
                        <a:rPr lang="en-US" dirty="0"/>
                        <a:t>P; required for normal bone and tooth structure.</a:t>
                      </a:r>
                    </a:p>
                  </a:txBody>
                  <a:tcPr>
                    <a:noFill/>
                  </a:tcPr>
                </a:tc>
                <a:extLst>
                  <a:ext uri="{0D108BD9-81ED-4DB2-BD59-A6C34878D82A}">
                    <a16:rowId xmlns:a16="http://schemas.microsoft.com/office/drawing/2014/main" val="1221167524"/>
                  </a:ext>
                </a:extLst>
              </a:tr>
              <a:tr h="370840">
                <a:tc>
                  <a:txBody>
                    <a:bodyPr/>
                    <a:lstStyle/>
                    <a:p>
                      <a:pPr marL="288925" indent="0" algn="l"/>
                      <a:r>
                        <a:rPr lang="en-US" b="1" dirty="0"/>
                        <a:t>Potassium (K)</a:t>
                      </a:r>
                    </a:p>
                  </a:txBody>
                  <a:tcPr>
                    <a:noFill/>
                  </a:tcPr>
                </a:tc>
                <a:tc>
                  <a:txBody>
                    <a:bodyPr/>
                    <a:lstStyle/>
                    <a:p>
                      <a:pPr marL="0" indent="465138" algn="l"/>
                      <a:r>
                        <a:rPr lang="en-US" dirty="0"/>
                        <a:t>0.35</a:t>
                      </a:r>
                    </a:p>
                  </a:txBody>
                  <a:tcPr>
                    <a:noFill/>
                  </a:tcPr>
                </a:tc>
                <a:tc>
                  <a:txBody>
                    <a:bodyPr/>
                    <a:lstStyle/>
                    <a:p>
                      <a:r>
                        <a:rPr lang="en-US" dirty="0"/>
                        <a:t>Ionized form (K</a:t>
                      </a:r>
                      <a:r>
                        <a:rPr lang="en-US" baseline="30000" dirty="0"/>
                        <a:t>+</a:t>
                      </a:r>
                      <a:r>
                        <a:rPr lang="en-US" dirty="0"/>
                        <a:t>)</a:t>
                      </a:r>
                      <a:r>
                        <a:rPr lang="en-US" baseline="0" dirty="0"/>
                        <a:t> </a:t>
                      </a:r>
                      <a:r>
                        <a:rPr lang="en-US" dirty="0"/>
                        <a:t>is the most plentiful cation (positively charged particle) in intracellular fluid; needed to generate action potentials.</a:t>
                      </a:r>
                    </a:p>
                  </a:txBody>
                  <a:tcPr>
                    <a:noFill/>
                  </a:tcPr>
                </a:tc>
                <a:extLst>
                  <a:ext uri="{0D108BD9-81ED-4DB2-BD59-A6C34878D82A}">
                    <a16:rowId xmlns:a16="http://schemas.microsoft.com/office/drawing/2014/main" val="3664201691"/>
                  </a:ext>
                </a:extLst>
              </a:tr>
            </a:tbl>
          </a:graphicData>
        </a:graphic>
      </p:graphicFrame>
    </p:spTree>
    <p:extLst>
      <p:ext uri="{BB962C8B-B14F-4D97-AF65-F5344CB8AC3E}">
        <p14:creationId xmlns:p14="http://schemas.microsoft.com/office/powerpoint/2010/main" val="2905960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6D0FAE-2376-4D41-A4EC-7CD9F3BF9294}"/>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Main Chemical Elements in the Body </a:t>
            </a:r>
            <a:endParaRPr lang="en-US" b="0" dirty="0">
              <a:latin typeface="Calibri" panose="020F0502020204030204" pitchFamily="34" charset="0"/>
              <a:cs typeface="Calibri" panose="020F0502020204030204" pitchFamily="34" charset="0"/>
            </a:endParaRPr>
          </a:p>
        </p:txBody>
      </p:sp>
      <p:graphicFrame>
        <p:nvGraphicFramePr>
          <p:cNvPr id="11" name="Content Placeholder 5" descr="Table is accessible to screenreaders">
            <a:extLst>
              <a:ext uri="{FF2B5EF4-FFF2-40B4-BE49-F238E27FC236}">
                <a16:creationId xmlns:a16="http://schemas.microsoft.com/office/drawing/2014/main" id="{DBF0AAF5-8767-44EB-9632-5126217193AD}"/>
              </a:ext>
            </a:extLst>
          </p:cNvPr>
          <p:cNvGraphicFramePr>
            <a:graphicFrameLocks noGrp="1"/>
          </p:cNvGraphicFramePr>
          <p:nvPr>
            <p:ph type="tbl" sz="quarter" idx="19"/>
            <p:extLst>
              <p:ext uri="{D42A27DB-BD31-4B8C-83A1-F6EECF244321}">
                <p14:modId xmlns:p14="http://schemas.microsoft.com/office/powerpoint/2010/main" val="2480238142"/>
              </p:ext>
            </p:extLst>
          </p:nvPr>
        </p:nvGraphicFramePr>
        <p:xfrm>
          <a:off x="304800" y="1664153"/>
          <a:ext cx="8534400" cy="375412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1871609410"/>
                    </a:ext>
                  </a:extLst>
                </a:gridCol>
                <a:gridCol w="1371600">
                  <a:extLst>
                    <a:ext uri="{9D8B030D-6E8A-4147-A177-3AD203B41FA5}">
                      <a16:colId xmlns:a16="http://schemas.microsoft.com/office/drawing/2014/main" val="559755500"/>
                    </a:ext>
                  </a:extLst>
                </a:gridCol>
                <a:gridCol w="4953000">
                  <a:extLst>
                    <a:ext uri="{9D8B030D-6E8A-4147-A177-3AD203B41FA5}">
                      <a16:colId xmlns:a16="http://schemas.microsoft.com/office/drawing/2014/main" val="1291119887"/>
                    </a:ext>
                  </a:extLst>
                </a:gridCol>
              </a:tblGrid>
              <a:tr h="370840">
                <a:tc>
                  <a:txBody>
                    <a:bodyPr/>
                    <a:lstStyle/>
                    <a:p>
                      <a:r>
                        <a:rPr lang="en-US" dirty="0"/>
                        <a:t>Chemical Element (Symbol)</a:t>
                      </a:r>
                    </a:p>
                  </a:txBody>
                  <a:tcPr anchor="b"/>
                </a:tc>
                <a:tc>
                  <a:txBody>
                    <a:bodyPr/>
                    <a:lstStyle/>
                    <a:p>
                      <a:r>
                        <a:rPr lang="en-US" dirty="0"/>
                        <a:t>% of Total Body Mass</a:t>
                      </a:r>
                    </a:p>
                  </a:txBody>
                  <a:tcPr anchor="b"/>
                </a:tc>
                <a:tc>
                  <a:txBody>
                    <a:bodyPr/>
                    <a:lstStyle/>
                    <a:p>
                      <a:r>
                        <a:rPr lang="en-US" dirty="0"/>
                        <a:t>Significance</a:t>
                      </a:r>
                    </a:p>
                  </a:txBody>
                  <a:tcPr anchor="b"/>
                </a:tc>
                <a:extLst>
                  <a:ext uri="{0D108BD9-81ED-4DB2-BD59-A6C34878D82A}">
                    <a16:rowId xmlns:a16="http://schemas.microsoft.com/office/drawing/2014/main" val="2523498534"/>
                  </a:ext>
                </a:extLst>
              </a:tr>
              <a:tr h="370840">
                <a:tc>
                  <a:txBody>
                    <a:bodyPr/>
                    <a:lstStyle/>
                    <a:p>
                      <a:pPr marL="288925" indent="0"/>
                      <a:r>
                        <a:rPr lang="en-US" b="1" dirty="0"/>
                        <a:t>Sulfur (S)</a:t>
                      </a:r>
                    </a:p>
                  </a:txBody>
                  <a:tcPr>
                    <a:noFill/>
                  </a:tcPr>
                </a:tc>
                <a:tc>
                  <a:txBody>
                    <a:bodyPr/>
                    <a:lstStyle/>
                    <a:p>
                      <a:pPr algn="ctr"/>
                      <a:r>
                        <a:rPr lang="en-US" dirty="0"/>
                        <a:t>0.25</a:t>
                      </a:r>
                    </a:p>
                  </a:txBody>
                  <a:tcPr>
                    <a:noFill/>
                  </a:tcPr>
                </a:tc>
                <a:tc>
                  <a:txBody>
                    <a:bodyPr/>
                    <a:lstStyle/>
                    <a:p>
                      <a:r>
                        <a:rPr lang="en-US" dirty="0"/>
                        <a:t>Component of some vitamins and many proteins.</a:t>
                      </a:r>
                    </a:p>
                  </a:txBody>
                  <a:tcPr>
                    <a:noFill/>
                  </a:tcPr>
                </a:tc>
                <a:extLst>
                  <a:ext uri="{0D108BD9-81ED-4DB2-BD59-A6C34878D82A}">
                    <a16:rowId xmlns:a16="http://schemas.microsoft.com/office/drawing/2014/main" val="458209233"/>
                  </a:ext>
                </a:extLst>
              </a:tr>
              <a:tr h="370840">
                <a:tc>
                  <a:txBody>
                    <a:bodyPr/>
                    <a:lstStyle/>
                    <a:p>
                      <a:pPr marL="288925" indent="0"/>
                      <a:r>
                        <a:rPr lang="en-US" b="1" dirty="0"/>
                        <a:t>Sodium (N</a:t>
                      </a:r>
                      <a:r>
                        <a:rPr lang="en-US" sz="100" b="1" dirty="0"/>
                        <a:t> </a:t>
                      </a:r>
                      <a:r>
                        <a:rPr lang="en-US" b="1" dirty="0"/>
                        <a:t>a)</a:t>
                      </a:r>
                    </a:p>
                  </a:txBody>
                  <a:tcPr>
                    <a:noFill/>
                  </a:tcPr>
                </a:tc>
                <a:tc>
                  <a:txBody>
                    <a:bodyPr/>
                    <a:lstStyle/>
                    <a:p>
                      <a:pPr marL="0" indent="401638" algn="l"/>
                      <a:r>
                        <a:rPr lang="en-US" dirty="0"/>
                        <a:t>0.2</a:t>
                      </a:r>
                    </a:p>
                  </a:txBody>
                  <a:tcPr>
                    <a:noFill/>
                  </a:tcPr>
                </a:tc>
                <a:tc>
                  <a:txBody>
                    <a:bodyPr/>
                    <a:lstStyle/>
                    <a:p>
                      <a:r>
                        <a:rPr lang="en-US" dirty="0"/>
                        <a:t>Ionized form (N</a:t>
                      </a:r>
                      <a:r>
                        <a:rPr lang="en-US" sz="100" dirty="0"/>
                        <a:t> </a:t>
                      </a:r>
                      <a:r>
                        <a:rPr lang="en-US" dirty="0"/>
                        <a:t>a</a:t>
                      </a:r>
                      <a:r>
                        <a:rPr lang="en-US" baseline="30000" dirty="0"/>
                        <a:t>+</a:t>
                      </a:r>
                      <a:r>
                        <a:rPr lang="en-US" dirty="0"/>
                        <a:t>) is the most plentiful cation in extracellular fluid; essential for maintaining water balance; needed to generate action potentials.</a:t>
                      </a:r>
                    </a:p>
                  </a:txBody>
                  <a:tcPr>
                    <a:noFill/>
                  </a:tcPr>
                </a:tc>
                <a:extLst>
                  <a:ext uri="{0D108BD9-81ED-4DB2-BD59-A6C34878D82A}">
                    <a16:rowId xmlns:a16="http://schemas.microsoft.com/office/drawing/2014/main" val="1879161691"/>
                  </a:ext>
                </a:extLst>
              </a:tr>
              <a:tr h="370840">
                <a:tc>
                  <a:txBody>
                    <a:bodyPr/>
                    <a:lstStyle/>
                    <a:p>
                      <a:pPr marL="288925" indent="0"/>
                      <a:r>
                        <a:rPr lang="en-US" b="1" dirty="0"/>
                        <a:t>Chlorine (C</a:t>
                      </a:r>
                      <a:r>
                        <a:rPr lang="en-US" sz="100" b="1" dirty="0"/>
                        <a:t> </a:t>
                      </a:r>
                      <a:r>
                        <a:rPr lang="en-US" b="1" dirty="0"/>
                        <a:t>I)</a:t>
                      </a:r>
                    </a:p>
                  </a:txBody>
                  <a:tcPr>
                    <a:noFill/>
                  </a:tcPr>
                </a:tc>
                <a:tc>
                  <a:txBody>
                    <a:bodyPr/>
                    <a:lstStyle/>
                    <a:p>
                      <a:pPr marL="0" indent="401638" algn="l"/>
                      <a:r>
                        <a:rPr lang="en-US" dirty="0"/>
                        <a:t>0.2</a:t>
                      </a:r>
                    </a:p>
                  </a:txBody>
                  <a:tcPr>
                    <a:noFill/>
                  </a:tcPr>
                </a:tc>
                <a:tc>
                  <a:txBody>
                    <a:bodyPr/>
                    <a:lstStyle/>
                    <a:p>
                      <a:r>
                        <a:rPr lang="en-US" dirty="0"/>
                        <a:t>Ionized form (C</a:t>
                      </a:r>
                      <a:r>
                        <a:rPr lang="en-US" sz="100" dirty="0"/>
                        <a:t> </a:t>
                      </a:r>
                      <a:r>
                        <a:rPr lang="en-US" dirty="0"/>
                        <a:t>I</a:t>
                      </a:r>
                      <a:r>
                        <a:rPr lang="en-US" baseline="30000" dirty="0"/>
                        <a:t>−</a:t>
                      </a:r>
                      <a:r>
                        <a:rPr lang="en-US" dirty="0"/>
                        <a:t>) is the most plentiful anion (negatively charged particle) in extracellular fluid; essential for maintaining water balance.</a:t>
                      </a:r>
                    </a:p>
                  </a:txBody>
                  <a:tcPr>
                    <a:noFill/>
                  </a:tcPr>
                </a:tc>
                <a:extLst>
                  <a:ext uri="{0D108BD9-81ED-4DB2-BD59-A6C34878D82A}">
                    <a16:rowId xmlns:a16="http://schemas.microsoft.com/office/drawing/2014/main" val="4017859180"/>
                  </a:ext>
                </a:extLst>
              </a:tr>
              <a:tr h="370840">
                <a:tc>
                  <a:txBody>
                    <a:bodyPr/>
                    <a:lstStyle/>
                    <a:p>
                      <a:pPr marL="288925" indent="0"/>
                      <a:r>
                        <a:rPr lang="en-US" b="1" dirty="0"/>
                        <a:t>Magnesium (M</a:t>
                      </a:r>
                      <a:r>
                        <a:rPr lang="en-US" sz="100" b="1" dirty="0"/>
                        <a:t> </a:t>
                      </a:r>
                      <a:r>
                        <a:rPr lang="en-US" b="1" dirty="0"/>
                        <a:t>g)</a:t>
                      </a:r>
                    </a:p>
                  </a:txBody>
                  <a:tcPr>
                    <a:noFill/>
                  </a:tcPr>
                </a:tc>
                <a:tc>
                  <a:txBody>
                    <a:bodyPr/>
                    <a:lstStyle/>
                    <a:p>
                      <a:pPr marL="0" indent="401638" algn="l">
                        <a:tabLst>
                          <a:tab pos="401638" algn="l"/>
                        </a:tabLst>
                      </a:pPr>
                      <a:r>
                        <a:rPr lang="en-US" dirty="0"/>
                        <a:t>0.1</a:t>
                      </a:r>
                    </a:p>
                  </a:txBody>
                  <a:tcPr>
                    <a:noFill/>
                  </a:tcPr>
                </a:tc>
                <a:tc>
                  <a:txBody>
                    <a:bodyPr/>
                    <a:lstStyle/>
                    <a:p>
                      <a:r>
                        <a:rPr lang="en-US" dirty="0"/>
                        <a:t>Ionized form (M</a:t>
                      </a:r>
                      <a:r>
                        <a:rPr lang="en-US" sz="100" dirty="0"/>
                        <a:t> </a:t>
                      </a:r>
                      <a:r>
                        <a:rPr lang="en-US" dirty="0"/>
                        <a:t>g</a:t>
                      </a:r>
                      <a:r>
                        <a:rPr lang="en-US" baseline="30000" dirty="0"/>
                        <a:t>2+</a:t>
                      </a:r>
                      <a:r>
                        <a:rPr lang="en-US" dirty="0"/>
                        <a:t>) needed for action of many enzymes (molecules that increase the rate of chemical reactions in organisms).</a:t>
                      </a:r>
                    </a:p>
                  </a:txBody>
                  <a:tcPr>
                    <a:noFill/>
                  </a:tcPr>
                </a:tc>
                <a:extLst>
                  <a:ext uri="{0D108BD9-81ED-4DB2-BD59-A6C34878D82A}">
                    <a16:rowId xmlns:a16="http://schemas.microsoft.com/office/drawing/2014/main" val="1128878017"/>
                  </a:ext>
                </a:extLst>
              </a:tr>
            </a:tbl>
          </a:graphicData>
        </a:graphic>
      </p:graphicFrame>
    </p:spTree>
    <p:extLst>
      <p:ext uri="{BB962C8B-B14F-4D97-AF65-F5344CB8AC3E}">
        <p14:creationId xmlns:p14="http://schemas.microsoft.com/office/powerpoint/2010/main" val="1661177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CB4353-B714-41B8-A772-8CB5C3B00862}"/>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Main Chemical Elements in the Body </a:t>
            </a:r>
            <a:endParaRPr lang="en-US" b="0" dirty="0">
              <a:latin typeface="Calibri" panose="020F0502020204030204" pitchFamily="34" charset="0"/>
              <a:cs typeface="Calibri" panose="020F0502020204030204" pitchFamily="34" charset="0"/>
            </a:endParaRPr>
          </a:p>
        </p:txBody>
      </p:sp>
      <p:graphicFrame>
        <p:nvGraphicFramePr>
          <p:cNvPr id="11" name="Content Placeholder 5" descr="Table is accessible to screenreaders">
            <a:extLst>
              <a:ext uri="{FF2B5EF4-FFF2-40B4-BE49-F238E27FC236}">
                <a16:creationId xmlns:a16="http://schemas.microsoft.com/office/drawing/2014/main" id="{E76BA530-DA7D-429E-9A1F-140C0616CE66}"/>
              </a:ext>
            </a:extLst>
          </p:cNvPr>
          <p:cNvGraphicFramePr>
            <a:graphicFrameLocks noGrp="1"/>
          </p:cNvGraphicFramePr>
          <p:nvPr>
            <p:ph type="tbl" sz="quarter" idx="19"/>
            <p:extLst>
              <p:ext uri="{D42A27DB-BD31-4B8C-83A1-F6EECF244321}">
                <p14:modId xmlns:p14="http://schemas.microsoft.com/office/powerpoint/2010/main" val="3337268569"/>
              </p:ext>
            </p:extLst>
          </p:nvPr>
        </p:nvGraphicFramePr>
        <p:xfrm>
          <a:off x="304800" y="1709057"/>
          <a:ext cx="8534400" cy="15544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470436759"/>
                    </a:ext>
                  </a:extLst>
                </a:gridCol>
                <a:gridCol w="1371600">
                  <a:extLst>
                    <a:ext uri="{9D8B030D-6E8A-4147-A177-3AD203B41FA5}">
                      <a16:colId xmlns:a16="http://schemas.microsoft.com/office/drawing/2014/main" val="426968958"/>
                    </a:ext>
                  </a:extLst>
                </a:gridCol>
                <a:gridCol w="4953000">
                  <a:extLst>
                    <a:ext uri="{9D8B030D-6E8A-4147-A177-3AD203B41FA5}">
                      <a16:colId xmlns:a16="http://schemas.microsoft.com/office/drawing/2014/main" val="3479844781"/>
                    </a:ext>
                  </a:extLst>
                </a:gridCol>
              </a:tblGrid>
              <a:tr h="370840">
                <a:tc>
                  <a:txBody>
                    <a:bodyPr/>
                    <a:lstStyle/>
                    <a:p>
                      <a:r>
                        <a:rPr lang="en-US" dirty="0"/>
                        <a:t>Chemical Element (Symbol)</a:t>
                      </a:r>
                    </a:p>
                  </a:txBody>
                  <a:tcPr anchor="b"/>
                </a:tc>
                <a:tc>
                  <a:txBody>
                    <a:bodyPr/>
                    <a:lstStyle/>
                    <a:p>
                      <a:r>
                        <a:rPr lang="en-US" dirty="0"/>
                        <a:t>% of Total Body Mass</a:t>
                      </a:r>
                    </a:p>
                  </a:txBody>
                  <a:tcPr anchor="b"/>
                </a:tc>
                <a:tc>
                  <a:txBody>
                    <a:bodyPr/>
                    <a:lstStyle/>
                    <a:p>
                      <a:r>
                        <a:rPr lang="en-US" dirty="0"/>
                        <a:t>Significance</a:t>
                      </a:r>
                    </a:p>
                  </a:txBody>
                  <a:tcPr anchor="b"/>
                </a:tc>
                <a:extLst>
                  <a:ext uri="{0D108BD9-81ED-4DB2-BD59-A6C34878D82A}">
                    <a16:rowId xmlns:a16="http://schemas.microsoft.com/office/drawing/2014/main" val="171912210"/>
                  </a:ext>
                </a:extLst>
              </a:tr>
              <a:tr h="370840">
                <a:tc>
                  <a:txBody>
                    <a:bodyPr/>
                    <a:lstStyle/>
                    <a:p>
                      <a:pPr marL="288925" indent="0"/>
                      <a:r>
                        <a:rPr lang="en-US" b="1" dirty="0"/>
                        <a:t>Iron (F</a:t>
                      </a:r>
                      <a:r>
                        <a:rPr lang="en-US" sz="100" b="1" dirty="0"/>
                        <a:t> </a:t>
                      </a:r>
                      <a:r>
                        <a:rPr lang="en-US" b="1" dirty="0"/>
                        <a:t>e)</a:t>
                      </a:r>
                    </a:p>
                  </a:txBody>
                  <a:tcPr>
                    <a:noFill/>
                  </a:tcPr>
                </a:tc>
                <a:tc>
                  <a:txBody>
                    <a:bodyPr/>
                    <a:lstStyle/>
                    <a:p>
                      <a:pPr algn="ctr"/>
                      <a:r>
                        <a:rPr lang="en-US" dirty="0"/>
                        <a:t>0.005</a:t>
                      </a:r>
                    </a:p>
                  </a:txBody>
                  <a:tcPr>
                    <a:noFill/>
                  </a:tcPr>
                </a:tc>
                <a:tc>
                  <a:txBody>
                    <a:bodyPr/>
                    <a:lstStyle/>
                    <a:p>
                      <a:r>
                        <a:rPr lang="en-US" dirty="0"/>
                        <a:t>Ionized forms (F</a:t>
                      </a:r>
                      <a:r>
                        <a:rPr lang="en-US" sz="100" dirty="0"/>
                        <a:t> </a:t>
                      </a:r>
                      <a:r>
                        <a:rPr lang="en-US" dirty="0"/>
                        <a:t>e</a:t>
                      </a:r>
                      <a:r>
                        <a:rPr lang="en-US" baseline="30000" dirty="0"/>
                        <a:t>2+</a:t>
                      </a:r>
                      <a:r>
                        <a:rPr lang="en-US" dirty="0"/>
                        <a:t> and F</a:t>
                      </a:r>
                      <a:r>
                        <a:rPr lang="en-US" sz="100" dirty="0"/>
                        <a:t>  </a:t>
                      </a:r>
                      <a:r>
                        <a:rPr lang="en-US" dirty="0"/>
                        <a:t>e</a:t>
                      </a:r>
                      <a:r>
                        <a:rPr lang="en-US" baseline="30000" dirty="0"/>
                        <a:t>3+</a:t>
                      </a:r>
                      <a:r>
                        <a:rPr lang="en-US" dirty="0"/>
                        <a:t>) are part of hemoglobin (oxygen-carrying protein in red blood cells) and some enzymes.</a:t>
                      </a:r>
                    </a:p>
                  </a:txBody>
                  <a:tcPr>
                    <a:noFill/>
                  </a:tcPr>
                </a:tc>
                <a:extLst>
                  <a:ext uri="{0D108BD9-81ED-4DB2-BD59-A6C34878D82A}">
                    <a16:rowId xmlns:a16="http://schemas.microsoft.com/office/drawing/2014/main" val="4193763741"/>
                  </a:ext>
                </a:extLst>
              </a:tr>
            </a:tbl>
          </a:graphicData>
        </a:graphic>
      </p:graphicFrame>
    </p:spTree>
    <p:extLst>
      <p:ext uri="{BB962C8B-B14F-4D97-AF65-F5344CB8AC3E}">
        <p14:creationId xmlns:p14="http://schemas.microsoft.com/office/powerpoint/2010/main" val="3259889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76DDF9-67A1-4E72-8FBD-36AF2AF2D0F5}"/>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Main Chemical Elements in the Body </a:t>
            </a:r>
            <a:endParaRPr lang="en-US" b="0" dirty="0">
              <a:latin typeface="Calibri" panose="020F0502020204030204" pitchFamily="34" charset="0"/>
              <a:cs typeface="Calibri" panose="020F0502020204030204" pitchFamily="34" charset="0"/>
            </a:endParaRPr>
          </a:p>
        </p:txBody>
      </p:sp>
      <p:graphicFrame>
        <p:nvGraphicFramePr>
          <p:cNvPr id="11" name="Content Placeholder 9" descr="Table is accessible to screenreaders">
            <a:extLst>
              <a:ext uri="{FF2B5EF4-FFF2-40B4-BE49-F238E27FC236}">
                <a16:creationId xmlns:a16="http://schemas.microsoft.com/office/drawing/2014/main" id="{98F9B333-8472-490A-B048-6A485182C08F}"/>
              </a:ext>
            </a:extLst>
          </p:cNvPr>
          <p:cNvGraphicFramePr>
            <a:graphicFrameLocks noGrp="1"/>
          </p:cNvGraphicFramePr>
          <p:nvPr>
            <p:ph type="tbl" sz="quarter" idx="19"/>
            <p:extLst>
              <p:ext uri="{D42A27DB-BD31-4B8C-83A1-F6EECF244321}">
                <p14:modId xmlns:p14="http://schemas.microsoft.com/office/powerpoint/2010/main" val="3068646201"/>
              </p:ext>
            </p:extLst>
          </p:nvPr>
        </p:nvGraphicFramePr>
        <p:xfrm>
          <a:off x="266700" y="1763889"/>
          <a:ext cx="8610600" cy="18288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506431540"/>
                    </a:ext>
                  </a:extLst>
                </a:gridCol>
                <a:gridCol w="1371600">
                  <a:extLst>
                    <a:ext uri="{9D8B030D-6E8A-4147-A177-3AD203B41FA5}">
                      <a16:colId xmlns:a16="http://schemas.microsoft.com/office/drawing/2014/main" val="3545543270"/>
                    </a:ext>
                  </a:extLst>
                </a:gridCol>
                <a:gridCol w="5029200">
                  <a:extLst>
                    <a:ext uri="{9D8B030D-6E8A-4147-A177-3AD203B41FA5}">
                      <a16:colId xmlns:a16="http://schemas.microsoft.com/office/drawing/2014/main" val="2634825716"/>
                    </a:ext>
                  </a:extLst>
                </a:gridCol>
              </a:tblGrid>
              <a:tr h="370840">
                <a:tc>
                  <a:txBody>
                    <a:bodyPr/>
                    <a:lstStyle/>
                    <a:p>
                      <a:r>
                        <a:rPr lang="en-US" dirty="0"/>
                        <a:t>Chemical Element (Symbol)</a:t>
                      </a:r>
                    </a:p>
                  </a:txBody>
                  <a:tcPr anchor="b"/>
                </a:tc>
                <a:tc>
                  <a:txBody>
                    <a:bodyPr/>
                    <a:lstStyle/>
                    <a:p>
                      <a:r>
                        <a:rPr lang="en-US" dirty="0"/>
                        <a:t>% of Total Body Mass</a:t>
                      </a:r>
                    </a:p>
                  </a:txBody>
                  <a:tcPr anchor="b"/>
                </a:tc>
                <a:tc>
                  <a:txBody>
                    <a:bodyPr/>
                    <a:lstStyle/>
                    <a:p>
                      <a:r>
                        <a:rPr lang="en-US" dirty="0"/>
                        <a:t>Significance</a:t>
                      </a:r>
                    </a:p>
                  </a:txBody>
                  <a:tcPr anchor="b"/>
                </a:tc>
                <a:extLst>
                  <a:ext uri="{0D108BD9-81ED-4DB2-BD59-A6C34878D82A}">
                    <a16:rowId xmlns:a16="http://schemas.microsoft.com/office/drawing/2014/main" val="80634344"/>
                  </a:ext>
                </a:extLst>
              </a:tr>
              <a:tr h="370840">
                <a:tc>
                  <a:txBody>
                    <a:bodyPr/>
                    <a:lstStyle/>
                    <a:p>
                      <a:pPr marL="288925" indent="0"/>
                      <a:r>
                        <a:rPr lang="en-US" b="1" dirty="0"/>
                        <a:t>Trace Elements</a:t>
                      </a:r>
                    </a:p>
                  </a:txBody>
                  <a:tcPr>
                    <a:noFill/>
                  </a:tcPr>
                </a:tc>
                <a:tc>
                  <a:txBody>
                    <a:bodyPr/>
                    <a:lstStyle/>
                    <a:p>
                      <a:r>
                        <a:rPr lang="en-US" dirty="0"/>
                        <a:t>(about 0.4)</a:t>
                      </a:r>
                    </a:p>
                  </a:txBody>
                  <a:tcPr>
                    <a:noFill/>
                  </a:tcPr>
                </a:tc>
                <a:tc>
                  <a:txBody>
                    <a:bodyPr/>
                    <a:lstStyle/>
                    <a:p>
                      <a:r>
                        <a:rPr lang="en-US" dirty="0"/>
                        <a:t>Aluminum (A</a:t>
                      </a:r>
                      <a:r>
                        <a:rPr lang="en-US" sz="100" dirty="0"/>
                        <a:t> </a:t>
                      </a:r>
                      <a:r>
                        <a:rPr lang="en-US" dirty="0"/>
                        <a:t>l), boron (B), chromium (C</a:t>
                      </a:r>
                      <a:r>
                        <a:rPr lang="en-US" sz="100" dirty="0"/>
                        <a:t> </a:t>
                      </a:r>
                      <a:r>
                        <a:rPr lang="en-US" dirty="0"/>
                        <a:t>r),</a:t>
                      </a:r>
                      <a:r>
                        <a:rPr lang="en-US" baseline="0" dirty="0"/>
                        <a:t> </a:t>
                      </a:r>
                      <a:r>
                        <a:rPr lang="en-US" dirty="0"/>
                        <a:t>cobalt (Co), copper (C</a:t>
                      </a:r>
                      <a:r>
                        <a:rPr lang="en-US" sz="100" dirty="0"/>
                        <a:t> </a:t>
                      </a:r>
                      <a:r>
                        <a:rPr lang="en-US" dirty="0"/>
                        <a:t>u), fluorine (F), iodine (I),</a:t>
                      </a:r>
                      <a:r>
                        <a:rPr lang="en-US" baseline="0" dirty="0"/>
                        <a:t> </a:t>
                      </a:r>
                      <a:r>
                        <a:rPr lang="en-US" dirty="0"/>
                        <a:t>manganese (M</a:t>
                      </a:r>
                      <a:r>
                        <a:rPr lang="en-US" sz="100" dirty="0"/>
                        <a:t> </a:t>
                      </a:r>
                      <a:r>
                        <a:rPr lang="en-US" dirty="0"/>
                        <a:t>n), molybdenum (M</a:t>
                      </a:r>
                      <a:r>
                        <a:rPr lang="en-US" sz="100" dirty="0"/>
                        <a:t> </a:t>
                      </a:r>
                      <a:r>
                        <a:rPr lang="en-US" dirty="0"/>
                        <a:t>o), selenium (Se), silicon (S</a:t>
                      </a:r>
                      <a:r>
                        <a:rPr lang="en-US" sz="100" dirty="0"/>
                        <a:t> </a:t>
                      </a:r>
                      <a:r>
                        <a:rPr lang="en-US" dirty="0"/>
                        <a:t>i), tin (S</a:t>
                      </a:r>
                      <a:r>
                        <a:rPr lang="en-US" sz="100" dirty="0"/>
                        <a:t> </a:t>
                      </a:r>
                      <a:r>
                        <a:rPr lang="en-US" dirty="0"/>
                        <a:t>n), vanadium (V), and zinc (Zn).</a:t>
                      </a:r>
                    </a:p>
                  </a:txBody>
                  <a:tcPr>
                    <a:noFill/>
                  </a:tcPr>
                </a:tc>
                <a:extLst>
                  <a:ext uri="{0D108BD9-81ED-4DB2-BD59-A6C34878D82A}">
                    <a16:rowId xmlns:a16="http://schemas.microsoft.com/office/drawing/2014/main" val="3594730511"/>
                  </a:ext>
                </a:extLst>
              </a:tr>
            </a:tbl>
          </a:graphicData>
        </a:graphic>
      </p:graphicFrame>
      <p:pic>
        <p:nvPicPr>
          <p:cNvPr id="13" name="Picture Placeholder 12" descr="A pie chart shows the percentage of each type of chemical element in the body. About 96 percent of the total chemical elements present in the body are major elements; about 3.6 percent are lesser elements; and about 0.4 percent are trace elements.">
            <a:extLst>
              <a:ext uri="{FF2B5EF4-FFF2-40B4-BE49-F238E27FC236}">
                <a16:creationId xmlns:a16="http://schemas.microsoft.com/office/drawing/2014/main" id="{048BD458-D47E-417D-B212-6256C1F2701B}"/>
              </a:ext>
            </a:extLst>
          </p:cNvPr>
          <p:cNvPicPr>
            <a:picLocks noGrp="1" noChangeAspect="1"/>
          </p:cNvPicPr>
          <p:nvPr>
            <p:ph type="pic" sz="quarter" idx="20"/>
          </p:nvPr>
        </p:nvPicPr>
        <p:blipFill rotWithShape="1">
          <a:blip r:embed="rId2"/>
          <a:stretch/>
        </p:blipFill>
        <p:spPr>
          <a:xfrm>
            <a:off x="2456505" y="3756378"/>
            <a:ext cx="4230991" cy="2274005"/>
          </a:xfrm>
          <a:prstGeom prst="rect">
            <a:avLst/>
          </a:prstGeom>
        </p:spPr>
      </p:pic>
    </p:spTree>
    <p:extLst>
      <p:ext uri="{BB962C8B-B14F-4D97-AF65-F5344CB8AC3E}">
        <p14:creationId xmlns:p14="http://schemas.microsoft.com/office/powerpoint/2010/main" val="200196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A050C0-899F-48BF-88CA-71AE464A52F0}"/>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Atoms</a:t>
            </a:r>
          </a:p>
        </p:txBody>
      </p:sp>
      <p:sp>
        <p:nvSpPr>
          <p:cNvPr id="5" name="Content Placeholder 4">
            <a:extLst>
              <a:ext uri="{FF2B5EF4-FFF2-40B4-BE49-F238E27FC236}">
                <a16:creationId xmlns:a16="http://schemas.microsoft.com/office/drawing/2014/main" id="{F38859F8-8C1B-4060-8C6E-3611A8DF0737}"/>
              </a:ext>
            </a:extLst>
          </p:cNvPr>
          <p:cNvSpPr>
            <a:spLocks noGrp="1"/>
          </p:cNvSpPr>
          <p:nvPr>
            <p:ph sz="quarter" idx="16"/>
          </p:nvPr>
        </p:nvSpPr>
        <p:spPr>
          <a:xfrm>
            <a:off x="304800" y="1409700"/>
            <a:ext cx="8648700" cy="2019300"/>
          </a:xfrm>
        </p:spPr>
        <p:txBody>
          <a:bodyPr/>
          <a:lstStyle/>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Chemical elements are composed of units of matter of the same type called atoms</a:t>
            </a:r>
          </a:p>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Atoms are the smallest units of matter that retain the properties and characteristics of an element</a:t>
            </a:r>
            <a:endParaRPr lang="en-IN" sz="3200" dirty="0">
              <a:latin typeface="Calibri" panose="020F0502020204030204" pitchFamily="34" charset="0"/>
              <a:cs typeface="Calibri" panose="020F0502020204030204" pitchFamily="34" charset="0"/>
            </a:endParaRPr>
          </a:p>
        </p:txBody>
      </p:sp>
      <p:pic>
        <p:nvPicPr>
          <p:cNvPr id="11" name="Content Placeholder 8" descr="Two diagrams, a and b, show two types of electron models and compare the sizes of protons, neutrons, and electrons. Diagram a, an electron cloud model, shows an atom surrounded by a cloud that represents its electrons. Diagram b, an electron shell model, shows an atom surrounded by two rings. The inner ring contains 2 diametrically opposed electrons, and the outer ring contains 4 diametrically opposed electrons. Protons, P superscript positive, appear slightly larger than neutrons, N superscript zero. These comprise the nucleus of an atom. the surrounding electrons, e superscript negative, are much smaller.">
            <a:extLst>
              <a:ext uri="{FF2B5EF4-FFF2-40B4-BE49-F238E27FC236}">
                <a16:creationId xmlns:a16="http://schemas.microsoft.com/office/drawing/2014/main" id="{F947FECD-226C-4E5A-BEE5-C4B7966CFAD3}"/>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2095500" y="3514896"/>
            <a:ext cx="4406900" cy="2746203"/>
          </a:xfrm>
          <a:prstGeom prst="rect">
            <a:avLst/>
          </a:prstGeom>
        </p:spPr>
      </p:pic>
    </p:spTree>
    <p:extLst>
      <p:ext uri="{BB962C8B-B14F-4D97-AF65-F5344CB8AC3E}">
        <p14:creationId xmlns:p14="http://schemas.microsoft.com/office/powerpoint/2010/main" val="2184764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A050C0-899F-48BF-88CA-71AE464A52F0}"/>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Atomic Structure </a:t>
            </a:r>
          </a:p>
        </p:txBody>
      </p:sp>
      <p:sp>
        <p:nvSpPr>
          <p:cNvPr id="5" name="Content Placeholder 4">
            <a:extLst>
              <a:ext uri="{FF2B5EF4-FFF2-40B4-BE49-F238E27FC236}">
                <a16:creationId xmlns:a16="http://schemas.microsoft.com/office/drawing/2014/main" id="{F38859F8-8C1B-4060-8C6E-3611A8DF0737}"/>
              </a:ext>
            </a:extLst>
          </p:cNvPr>
          <p:cNvSpPr>
            <a:spLocks noGrp="1"/>
          </p:cNvSpPr>
          <p:nvPr>
            <p:ph sz="quarter" idx="16"/>
          </p:nvPr>
        </p:nvSpPr>
        <p:spPr/>
        <p:txBody>
          <a:bodyPr/>
          <a:lstStyle/>
          <a:p>
            <a:pPr marL="292608" indent="-292608">
              <a:buClr>
                <a:schemeClr val="accent2"/>
              </a:buClr>
              <a:buSzPct val="100000"/>
              <a:buFont typeface="Arial" panose="020B0604020202020204" pitchFamily="34" charset="0"/>
              <a:buChar char="•"/>
            </a:pPr>
            <a:r>
              <a:rPr lang="en-IN" dirty="0">
                <a:latin typeface="Calibri" panose="020F0502020204030204" pitchFamily="34" charset="0"/>
                <a:cs typeface="Calibri" panose="020F0502020204030204" pitchFamily="34" charset="0"/>
              </a:rPr>
              <a:t>Central nucleus</a:t>
            </a:r>
          </a:p>
          <a:p>
            <a:pPr marL="978408" lvl="1" indent="-292608">
              <a:buClr>
                <a:schemeClr val="accent2"/>
              </a:buClr>
              <a:buSzPct val="100000"/>
              <a:buFont typeface="Arial" panose="020B0604020202020204" pitchFamily="34" charset="0"/>
              <a:buChar char="•"/>
            </a:pPr>
            <a:r>
              <a:rPr lang="en-IN" dirty="0">
                <a:latin typeface="Calibri" panose="020F0502020204030204" pitchFamily="34" charset="0"/>
                <a:cs typeface="Calibri" panose="020F0502020204030204" pitchFamily="34" charset="0"/>
              </a:rPr>
              <a:t>Protons – positively charged </a:t>
            </a:r>
          </a:p>
          <a:p>
            <a:pPr marL="978408" lvl="1" indent="-292608">
              <a:buClr>
                <a:schemeClr val="accent2"/>
              </a:buClr>
              <a:buSzPct val="100000"/>
              <a:buFont typeface="Arial" panose="020B0604020202020204" pitchFamily="34" charset="0"/>
              <a:buChar char="•"/>
            </a:pPr>
            <a:r>
              <a:rPr lang="en-IN" dirty="0">
                <a:latin typeface="Calibri" panose="020F0502020204030204" pitchFamily="34" charset="0"/>
                <a:cs typeface="Calibri" panose="020F0502020204030204" pitchFamily="34" charset="0"/>
              </a:rPr>
              <a:t>Neutrons – no charge  </a:t>
            </a:r>
          </a:p>
          <a:p>
            <a:pPr marL="292608" indent="-292608">
              <a:buClr>
                <a:schemeClr val="accent2"/>
              </a:buClr>
              <a:buSzPct val="100000"/>
              <a:buFont typeface="Arial" panose="020B0604020202020204" pitchFamily="34" charset="0"/>
              <a:buChar char="•"/>
            </a:pPr>
            <a:r>
              <a:rPr lang="en-IN" dirty="0">
                <a:latin typeface="Calibri" panose="020F0502020204030204" pitchFamily="34" charset="0"/>
                <a:cs typeface="Calibri" panose="020F0502020204030204" pitchFamily="34" charset="0"/>
              </a:rPr>
              <a:t>Electrons </a:t>
            </a:r>
          </a:p>
          <a:p>
            <a:pPr marL="978408" lvl="1" indent="-292608">
              <a:buClr>
                <a:schemeClr val="accent2"/>
              </a:buClr>
              <a:buSzPct val="100000"/>
              <a:buFont typeface="Arial" panose="020B0604020202020204" pitchFamily="34" charset="0"/>
              <a:buChar char="•"/>
            </a:pPr>
            <a:r>
              <a:rPr lang="en-IN" dirty="0">
                <a:latin typeface="Calibri" panose="020F0502020204030204" pitchFamily="34" charset="0"/>
                <a:cs typeface="Calibri" panose="020F0502020204030204" pitchFamily="34" charset="0"/>
              </a:rPr>
              <a:t>Negatively charged </a:t>
            </a:r>
          </a:p>
          <a:p>
            <a:pPr marL="978408" lvl="1" indent="-292608">
              <a:buClr>
                <a:schemeClr val="accent2"/>
              </a:buClr>
              <a:buSzPct val="100000"/>
              <a:buFont typeface="Arial" panose="020B0604020202020204" pitchFamily="34" charset="0"/>
              <a:buChar char="•"/>
            </a:pPr>
            <a:r>
              <a:rPr lang="en-IN" dirty="0">
                <a:latin typeface="Calibri" panose="020F0502020204030204" pitchFamily="34" charset="0"/>
                <a:cs typeface="Calibri" panose="020F0502020204030204" pitchFamily="34" charset="0"/>
              </a:rPr>
              <a:t>Orbit around nucleus </a:t>
            </a:r>
          </a:p>
          <a:p>
            <a:pPr lvl="1" indent="0">
              <a:buClr>
                <a:schemeClr val="accent2"/>
              </a:buClr>
              <a:buSzPct val="100000"/>
              <a:buNone/>
            </a:pPr>
            <a:endParaRPr lang="en-IN" dirty="0">
              <a:latin typeface="Calibri" panose="020F0502020204030204" pitchFamily="34" charset="0"/>
              <a:cs typeface="Calibri" panose="020F0502020204030204" pitchFamily="34" charset="0"/>
            </a:endParaRPr>
          </a:p>
        </p:txBody>
      </p:sp>
      <p:pic>
        <p:nvPicPr>
          <p:cNvPr id="11" name="Content Placeholder 8" descr="Two diagrams, a and b, show two types of electron models and compare the sizes of protons, neutrons, and electrons. Diagram a, an electron cloud model, shows an atom surrounded by a cloud that represents its electrons. Diagram b, an electron shell model, shows an atom surrounded by two rings. The inner ring contains 2 diametrically opposed electrons, and the outer ring contains 4 diametrically opposed electrons. Protons, P superscript positive, appear slightly larger than neutrons, N superscript zero. These comprise the nucleus of an atom. the surrounding electrons, e superscript negative, are much smaller.">
            <a:extLst>
              <a:ext uri="{FF2B5EF4-FFF2-40B4-BE49-F238E27FC236}">
                <a16:creationId xmlns:a16="http://schemas.microsoft.com/office/drawing/2014/main" id="{F947FECD-226C-4E5A-BEE5-C4B7966CFAD3}"/>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4241800" y="2006600"/>
            <a:ext cx="4737100" cy="3606800"/>
          </a:xfrm>
          <a:prstGeom prst="rect">
            <a:avLst/>
          </a:prstGeom>
        </p:spPr>
      </p:pic>
    </p:spTree>
    <p:extLst>
      <p:ext uri="{BB962C8B-B14F-4D97-AF65-F5344CB8AC3E}">
        <p14:creationId xmlns:p14="http://schemas.microsoft.com/office/powerpoint/2010/main" val="601686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A050C0-899F-48BF-88CA-71AE464A52F0}"/>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Atomic Number and Mass Number</a:t>
            </a:r>
          </a:p>
        </p:txBody>
      </p:sp>
      <p:sp>
        <p:nvSpPr>
          <p:cNvPr id="5" name="Content Placeholder 4">
            <a:extLst>
              <a:ext uri="{FF2B5EF4-FFF2-40B4-BE49-F238E27FC236}">
                <a16:creationId xmlns:a16="http://schemas.microsoft.com/office/drawing/2014/main" id="{F38859F8-8C1B-4060-8C6E-3611A8DF0737}"/>
              </a:ext>
            </a:extLst>
          </p:cNvPr>
          <p:cNvSpPr>
            <a:spLocks noGrp="1"/>
          </p:cNvSpPr>
          <p:nvPr>
            <p:ph sz="quarter" idx="16"/>
          </p:nvPr>
        </p:nvSpPr>
        <p:spPr>
          <a:xfrm>
            <a:off x="304800" y="1429789"/>
            <a:ext cx="4114800" cy="4774161"/>
          </a:xfrm>
        </p:spPr>
        <p:txBody>
          <a:bodyPr/>
          <a:lstStyle/>
          <a:p>
            <a:pPr marL="292608" indent="-292608">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Atomic number is the number of protons in the nucleus of an atom</a:t>
            </a:r>
          </a:p>
          <a:p>
            <a:pPr marL="292608" indent="-292608">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Mass number is the number of protons and neutrons in an atom</a:t>
            </a:r>
          </a:p>
          <a:p>
            <a:pPr marL="645300" lvl="1" indent="-342900">
              <a:spcBef>
                <a:spcPts val="1000"/>
              </a:spcBef>
              <a:buClr>
                <a:schemeClr val="accent2"/>
              </a:buClr>
              <a:buSzPct val="80000"/>
              <a:buFont typeface="Courier New" panose="02070309020205020404" pitchFamily="49" charset="0"/>
              <a:buChar char="o"/>
            </a:pPr>
            <a:r>
              <a:rPr lang="en-US" sz="2600" dirty="0">
                <a:latin typeface="Calibri" panose="020F0502020204030204" pitchFamily="34" charset="0"/>
                <a:cs typeface="Calibri" panose="020F0502020204030204" pitchFamily="34" charset="0"/>
              </a:rPr>
              <a:t>Isotopes</a:t>
            </a:r>
          </a:p>
          <a:p>
            <a:pPr marL="1102500" lvl="2" indent="-342900">
              <a:spcBef>
                <a:spcPts val="1000"/>
              </a:spcBef>
              <a:buClr>
                <a:schemeClr val="accent2"/>
              </a:buClr>
              <a:buSzPct val="80000"/>
              <a:buFont typeface="Courier New" panose="02070309020205020404" pitchFamily="49" charset="0"/>
              <a:buChar char="o"/>
            </a:pPr>
            <a:r>
              <a:rPr lang="en-US" sz="2200" dirty="0">
                <a:latin typeface="Calibri" panose="020F0502020204030204" pitchFamily="34" charset="0"/>
                <a:cs typeface="Calibri" panose="020F0502020204030204" pitchFamily="34" charset="0"/>
              </a:rPr>
              <a:t>Atoms that have the same atomic number but differ in their number of neutrons (have different atomic masses)</a:t>
            </a:r>
          </a:p>
        </p:txBody>
      </p:sp>
      <p:pic>
        <p:nvPicPr>
          <p:cNvPr id="7" name="Content Placeholder 7" descr="A diagram shows a carbon atom with two electron shells along with its atomic number, mass number, and atomic mass. The inner ring of the carbon atom has 2 diametrically opposed electrons, and the outer ring has 4 diametrically opposed electrons. The nucleus is labeled 6 P plus, and 6 N zero. The atomic number equals 6, the mass number equals 12 or 13, and the atomic mass equals 12.01.">
            <a:extLst>
              <a:ext uri="{FF2B5EF4-FFF2-40B4-BE49-F238E27FC236}">
                <a16:creationId xmlns:a16="http://schemas.microsoft.com/office/drawing/2014/main" id="{C649EF7D-D635-4D68-A026-1B02AC9872C2}"/>
              </a:ext>
            </a:extLst>
          </p:cNvPr>
          <p:cNvPicPr>
            <a:picLocks noGrp="1" noChangeAspect="1"/>
          </p:cNvPicPr>
          <p:nvPr>
            <p:ph sz="quarter" idx="17"/>
          </p:nvPr>
        </p:nvPicPr>
        <p:blipFill>
          <a:blip r:embed="rId2"/>
          <a:stretch>
            <a:fillRect/>
          </a:stretch>
        </p:blipFill>
        <p:spPr>
          <a:xfrm>
            <a:off x="4419600" y="1727200"/>
            <a:ext cx="4419600" cy="4017083"/>
          </a:xfrm>
          <a:prstGeom prst="rect">
            <a:avLst/>
          </a:prstGeom>
        </p:spPr>
      </p:pic>
    </p:spTree>
    <p:extLst>
      <p:ext uri="{BB962C8B-B14F-4D97-AF65-F5344CB8AC3E}">
        <p14:creationId xmlns:p14="http://schemas.microsoft.com/office/powerpoint/2010/main" val="416781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A050C0-899F-48BF-88CA-71AE464A52F0}"/>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Radioactive Isotopes </a:t>
            </a:r>
          </a:p>
        </p:txBody>
      </p:sp>
      <p:sp>
        <p:nvSpPr>
          <p:cNvPr id="6" name="Content Placeholder 5">
            <a:extLst>
              <a:ext uri="{FF2B5EF4-FFF2-40B4-BE49-F238E27FC236}">
                <a16:creationId xmlns:a16="http://schemas.microsoft.com/office/drawing/2014/main" id="{54D7AB0F-8334-45CF-B6F2-95CBA51CDE5B}"/>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Are unstable and break down/decay </a:t>
            </a:r>
          </a:p>
          <a:p>
            <a:pPr marL="1143000" lvl="1" indent="-457200">
              <a:buFont typeface="Arial" panose="020B0604020202020204" pitchFamily="34" charset="0"/>
              <a:buChar char="•"/>
            </a:pPr>
            <a:r>
              <a:rPr lang="en-US" sz="2800" dirty="0"/>
              <a:t>Radioactive decay releases large amount of radiation energy </a:t>
            </a:r>
          </a:p>
          <a:p>
            <a:pPr marL="1600200" lvl="2" indent="-457200">
              <a:buFont typeface="Arial" panose="020B0604020202020204" pitchFamily="34" charset="0"/>
              <a:buChar char="•"/>
            </a:pPr>
            <a:r>
              <a:rPr lang="en-US" sz="2400" dirty="0"/>
              <a:t>Depending on isotope, this radiation can be very damaging to cells </a:t>
            </a:r>
          </a:p>
          <a:p>
            <a:pPr marL="1143000" lvl="1" indent="-457200">
              <a:buFont typeface="Arial" panose="020B0604020202020204" pitchFamily="34" charset="0"/>
              <a:buChar char="•"/>
            </a:pPr>
            <a:endParaRPr lang="en-US" sz="2800" dirty="0"/>
          </a:p>
          <a:p>
            <a:pPr marL="1143000" lvl="1" indent="-457200">
              <a:buFont typeface="Arial" panose="020B0604020202020204" pitchFamily="34" charset="0"/>
              <a:buChar char="•"/>
            </a:pPr>
            <a:r>
              <a:rPr lang="en-US" sz="2800" dirty="0"/>
              <a:t>Decay is measured in half-lives </a:t>
            </a:r>
          </a:p>
          <a:p>
            <a:pPr marL="1600200" lvl="2" indent="-457200">
              <a:buFont typeface="Arial" panose="020B0604020202020204" pitchFamily="34" charset="0"/>
              <a:buChar char="•"/>
            </a:pPr>
            <a:r>
              <a:rPr lang="en-US" sz="2400" dirty="0"/>
              <a:t>Amount of time it takes for ½ of the starting amount of the isotope to break down into a more stable form </a:t>
            </a:r>
          </a:p>
        </p:txBody>
      </p:sp>
    </p:spTree>
    <p:extLst>
      <p:ext uri="{BB962C8B-B14F-4D97-AF65-F5344CB8AC3E}">
        <p14:creationId xmlns:p14="http://schemas.microsoft.com/office/powerpoint/2010/main" val="2606631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5BF5-BE6C-42E9-85D8-14535D7BE41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Atomic Mass</a:t>
            </a:r>
          </a:p>
        </p:txBody>
      </p:sp>
      <p:sp>
        <p:nvSpPr>
          <p:cNvPr id="3" name="Content Placeholder 2">
            <a:extLst>
              <a:ext uri="{FF2B5EF4-FFF2-40B4-BE49-F238E27FC236}">
                <a16:creationId xmlns:a16="http://schemas.microsoft.com/office/drawing/2014/main" id="{F6C4A560-367C-45C7-AE6E-6223034DB2A8}"/>
              </a:ext>
            </a:extLst>
          </p:cNvPr>
          <p:cNvSpPr>
            <a:spLocks noGrp="1"/>
          </p:cNvSpPr>
          <p:nvPr>
            <p:ph sz="quarter" idx="16"/>
          </p:nvPr>
        </p:nvSpPr>
        <p:spPr>
          <a:xfrm>
            <a:off x="304800" y="1752599"/>
            <a:ext cx="8534400" cy="4343400"/>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Atomic mass assumes the mass of a: </a:t>
            </a:r>
          </a:p>
          <a:p>
            <a:pPr marL="645300" lvl="1" indent="-342900">
              <a:spcBef>
                <a:spcPts val="1000"/>
              </a:spcBef>
              <a:buClr>
                <a:schemeClr val="accent2"/>
              </a:buClr>
            </a:pPr>
            <a:r>
              <a:rPr lang="en-US" sz="2800" dirty="0">
                <a:latin typeface="Calibri" panose="020F0502020204030204" pitchFamily="34" charset="0"/>
                <a:cs typeface="Calibri" panose="020F0502020204030204" pitchFamily="34" charset="0"/>
              </a:rPr>
              <a:t>Neutron = 1.008 </a:t>
            </a:r>
            <a:r>
              <a:rPr lang="en-US" sz="2800" dirty="0" err="1">
                <a:latin typeface="Calibri" panose="020F0502020204030204" pitchFamily="34" charset="0"/>
                <a:cs typeface="Calibri" panose="020F0502020204030204" pitchFamily="34" charset="0"/>
              </a:rPr>
              <a:t>daltons</a:t>
            </a:r>
            <a:endParaRPr lang="en-US" sz="2800" dirty="0">
              <a:latin typeface="Calibri" panose="020F0502020204030204" pitchFamily="34" charset="0"/>
              <a:cs typeface="Calibri" panose="020F0502020204030204" pitchFamily="34" charset="0"/>
            </a:endParaRPr>
          </a:p>
          <a:p>
            <a:pPr marL="645300" lvl="1" indent="-342900">
              <a:spcBef>
                <a:spcPts val="1000"/>
              </a:spcBef>
              <a:buClr>
                <a:schemeClr val="accent2"/>
              </a:buClr>
            </a:pPr>
            <a:r>
              <a:rPr lang="en-US" sz="2800" dirty="0">
                <a:latin typeface="Calibri" panose="020F0502020204030204" pitchFamily="34" charset="0"/>
                <a:cs typeface="Calibri" panose="020F0502020204030204" pitchFamily="34" charset="0"/>
              </a:rPr>
              <a:t>Proton = 1.007 </a:t>
            </a:r>
            <a:r>
              <a:rPr lang="en-US" sz="2800" dirty="0" err="1">
                <a:latin typeface="Calibri" panose="020F0502020204030204" pitchFamily="34" charset="0"/>
                <a:cs typeface="Calibri" panose="020F0502020204030204" pitchFamily="34" charset="0"/>
              </a:rPr>
              <a:t>daltons</a:t>
            </a:r>
            <a:endParaRPr lang="en-US" sz="2800" dirty="0">
              <a:latin typeface="Calibri" panose="020F0502020204030204" pitchFamily="34" charset="0"/>
              <a:cs typeface="Calibri" panose="020F0502020204030204" pitchFamily="34" charset="0"/>
            </a:endParaRPr>
          </a:p>
          <a:p>
            <a:pPr marL="645300" lvl="1" indent="-342900">
              <a:spcBef>
                <a:spcPts val="1000"/>
              </a:spcBef>
              <a:buClr>
                <a:schemeClr val="accent2"/>
              </a:buClr>
            </a:pPr>
            <a:r>
              <a:rPr lang="en-US" sz="2800" dirty="0">
                <a:latin typeface="Calibri" panose="020F0502020204030204" pitchFamily="34" charset="0"/>
                <a:cs typeface="Calibri" panose="020F0502020204030204" pitchFamily="34" charset="0"/>
              </a:rPr>
              <a:t>Electron = 0.0005 </a:t>
            </a:r>
            <a:r>
              <a:rPr lang="en-US" sz="2800" dirty="0" err="1">
                <a:latin typeface="Calibri" panose="020F0502020204030204" pitchFamily="34" charset="0"/>
                <a:cs typeface="Calibri" panose="020F0502020204030204" pitchFamily="34" charset="0"/>
              </a:rPr>
              <a:t>daltons</a:t>
            </a:r>
            <a:endParaRPr lang="en-US" sz="2800" dirty="0">
              <a:latin typeface="Calibri" panose="020F0502020204030204" pitchFamily="34" charset="0"/>
              <a:cs typeface="Calibri" panose="020F0502020204030204" pitchFamily="34" charset="0"/>
            </a:endParaRPr>
          </a:p>
          <a:p>
            <a:pPr marL="457200" lvl="1" indent="-457200">
              <a:spcBef>
                <a:spcPts val="1000"/>
              </a:spcBef>
            </a:pPr>
            <a:endParaRPr lang="en-US" sz="3200" dirty="0">
              <a:latin typeface="Calibri" panose="020F0502020204030204" pitchFamily="34" charset="0"/>
              <a:cs typeface="Calibri" panose="020F0502020204030204" pitchFamily="34" charset="0"/>
            </a:endParaRPr>
          </a:p>
          <a:p>
            <a:pPr marL="457200" lvl="1" indent="-457200">
              <a:spcBef>
                <a:spcPts val="1000"/>
              </a:spcBef>
            </a:pPr>
            <a:r>
              <a:rPr lang="en-US" sz="3200" dirty="0">
                <a:latin typeface="Calibri" panose="020F0502020204030204" pitchFamily="34" charset="0"/>
                <a:cs typeface="Calibri" panose="020F0502020204030204" pitchFamily="34" charset="0"/>
              </a:rPr>
              <a:t>The atomic mass of an element is the average mass of all its naturally occurring isotopes</a:t>
            </a:r>
          </a:p>
        </p:txBody>
      </p:sp>
    </p:spTree>
    <p:extLst>
      <p:ext uri="{BB962C8B-B14F-4D97-AF65-F5344CB8AC3E}">
        <p14:creationId xmlns:p14="http://schemas.microsoft.com/office/powerpoint/2010/main" val="4247203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5B2A71-DAD2-4442-A084-878E4762DCEC}"/>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Atomic Structures</a:t>
            </a:r>
          </a:p>
        </p:txBody>
      </p:sp>
      <p:pic>
        <p:nvPicPr>
          <p:cNvPr id="11" name="Content Placeholder 7" descr="A diagram illustrates 8 atomic structures and identifies their atomic number, mass number, and atomic mass. The atomic number equals the number of protons in an atom, the mass number equals the number of protons and neutrons in an atom, and the atomic mass equals the average mass of all stable atoms of a given element in daltons. Hydrogen, H, has one electron shell with a single electron; its nucleus is labeled 1 P superscript positive. Its atomic number equals 1, its mass number equals 1 (common isotype) or 2, and its atomic mass equals 1.01. Carbon, C, has 2 electron shells; the first shell has 2 electrons, and the second has 4. The nucleus of the carbon atom is labeled 6 P superscript positive, and 6 N superscript zero. The atomic number of carbon equals 6, its mass number equals 12 (common isotype) or 13, and its atomic mass equals 12.01. Nitrogen, N, has two electron shells; the first shell has 2 electrons, and the second has 5. The nucleus of the nitrogen atom is labeled 7 P superscript positive, and 7 N superscript zero. The atomic number of nitrogen equals 7, its mass number equals 14 (common isotype) or 15, and its atomic mass equals 14.01. Oxygen, O, has two electron shells; the first shell has 2 electrons, and the second has 6. The nucleus of the oxygen atom is labeled 8 P superscript positive, and 8 N superscript zero. The atomic number of oxygen equals 8, its mass number equals 16 (common isotype), 17, or 18, and its atomic mass is 16.00. Sodium, N a, has three electron shells; the first shell has 2 electrons, the second shell has 8, and the third has 1. The nucleus of the sodium atom is labeled 11 P superscript positive, and 12 N superscript zero. The atomic number of sodium equals 11, its mass number equals 23 (common isotype), and its atomic mass equals 22.99. Chlorine, C l, has three electron shells; the first shell has 2 electrons, the second has 8, and the third has 7. The nucleus of the chlorine is labeled 17 P superscript positive, and 18 N superscript zero. The atomic number of sodium equals 17, its mass number equals 35 (common isotype) or 37, and its atomic mass equals 35.45. Potassium, K, has 4 electron shells; the first shell has 2 electrons, the second has 8, the third has 8, and the fourth has 1. The nucleus of the potassium atom is labeled 19 P superscript positive, and 20 N superscript zero. The atomic number of potassium equals 19, its mass number equals 39 (common isotype), 40, or 41, and its atomic mass equals 39.10. Iodine, I, has 5 electron shells; the first shell has 2 electrons, the second has 8, the third has 18, the fourth has 18, and the fifth shell has 7 electrons. The nucleus of the iodine atom is labeled 53 P superscript positive, and 74 N superscript zero. The atomic number of iodine equals 53, its mass number equals 127 (common isotype), and its atomic mass equals 126.90.">
            <a:extLst>
              <a:ext uri="{FF2B5EF4-FFF2-40B4-BE49-F238E27FC236}">
                <a16:creationId xmlns:a16="http://schemas.microsoft.com/office/drawing/2014/main" id="{975D6946-35F0-4EB8-97A4-D79AE8DB4807}"/>
              </a:ext>
            </a:extLst>
          </p:cNvPr>
          <p:cNvPicPr>
            <a:picLocks noGrp="1" noChangeAspect="1"/>
          </p:cNvPicPr>
          <p:nvPr>
            <p:ph type="pic" sz="quarter" idx="18"/>
          </p:nvPr>
        </p:nvPicPr>
        <p:blipFill>
          <a:blip r:embed="rId2" cstate="print">
            <a:extLst>
              <a:ext uri="{28A0092B-C50C-407E-A947-70E740481C1C}">
                <a14:useLocalDpi xmlns:a14="http://schemas.microsoft.com/office/drawing/2010/main" val="0"/>
              </a:ext>
            </a:extLst>
          </a:blip>
          <a:stretch>
            <a:fillRect/>
          </a:stretch>
        </p:blipFill>
        <p:spPr>
          <a:xfrm>
            <a:off x="692728" y="1435100"/>
            <a:ext cx="7758545" cy="4701041"/>
          </a:xfrm>
          <a:prstGeom prst="rect">
            <a:avLst/>
          </a:prstGeom>
        </p:spPr>
      </p:pic>
    </p:spTree>
    <p:extLst>
      <p:ext uri="{BB962C8B-B14F-4D97-AF65-F5344CB8AC3E}">
        <p14:creationId xmlns:p14="http://schemas.microsoft.com/office/powerpoint/2010/main" val="3032365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5BF5-BE6C-42E9-85D8-14535D7BE41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Ions, Molecules, and Compounds</a:t>
            </a:r>
          </a:p>
        </p:txBody>
      </p:sp>
      <p:sp>
        <p:nvSpPr>
          <p:cNvPr id="3" name="Content Placeholder 2">
            <a:extLst>
              <a:ext uri="{FF2B5EF4-FFF2-40B4-BE49-F238E27FC236}">
                <a16:creationId xmlns:a16="http://schemas.microsoft.com/office/drawing/2014/main" id="{F6C4A560-367C-45C7-AE6E-6223034DB2A8}"/>
              </a:ext>
            </a:extLst>
          </p:cNvPr>
          <p:cNvSpPr>
            <a:spLocks noGrp="1"/>
          </p:cNvSpPr>
          <p:nvPr>
            <p:ph sz="quarter" idx="16"/>
          </p:nvPr>
        </p:nvSpPr>
        <p:spPr>
          <a:xfrm>
            <a:off x="304800" y="1600200"/>
            <a:ext cx="8534400" cy="4838700"/>
          </a:xfrm>
        </p:spPr>
        <p:txBody>
          <a:bodyPr/>
          <a:lstStyle/>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Ion – an atom that has lost or gained an electron</a:t>
            </a:r>
          </a:p>
          <a:p>
            <a:pPr marL="978408" lvl="1" indent="-292608">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Cation</a:t>
            </a:r>
          </a:p>
          <a:p>
            <a:pPr marL="1435608" lvl="2" indent="-292608">
              <a:buClr>
                <a:schemeClr val="accent2"/>
              </a:buClr>
              <a:buSzPct val="100000"/>
              <a:buFont typeface="Arial" panose="020B0604020202020204" pitchFamily="34" charset="0"/>
              <a:buChar char="•"/>
            </a:pPr>
            <a:r>
              <a:rPr lang="en-US" sz="2400" dirty="0">
                <a:latin typeface="Calibri" panose="020F0502020204030204" pitchFamily="34" charset="0"/>
                <a:cs typeface="Calibri" panose="020F0502020204030204" pitchFamily="34" charset="0"/>
              </a:rPr>
              <a:t>Lost an electron</a:t>
            </a:r>
          </a:p>
          <a:p>
            <a:pPr marL="1435608" lvl="2" indent="-292608">
              <a:buClr>
                <a:schemeClr val="accent2"/>
              </a:buClr>
              <a:buSzPct val="100000"/>
              <a:buFont typeface="Arial" panose="020B0604020202020204" pitchFamily="34" charset="0"/>
              <a:buChar char="•"/>
            </a:pPr>
            <a:r>
              <a:rPr lang="en-US" sz="2400" dirty="0">
                <a:latin typeface="Calibri" panose="020F0502020204030204" pitchFamily="34" charset="0"/>
                <a:cs typeface="Calibri" panose="020F0502020204030204" pitchFamily="34" charset="0"/>
              </a:rPr>
              <a:t>Positively charged </a:t>
            </a:r>
          </a:p>
          <a:p>
            <a:pPr marL="978408" lvl="1" indent="-292608">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Anion </a:t>
            </a:r>
          </a:p>
          <a:p>
            <a:pPr marL="1435608" lvl="2" indent="-292608">
              <a:buClr>
                <a:schemeClr val="accent2"/>
              </a:buClr>
              <a:buSzPct val="100000"/>
              <a:buFont typeface="Arial" panose="020B0604020202020204" pitchFamily="34" charset="0"/>
              <a:buChar char="•"/>
            </a:pPr>
            <a:r>
              <a:rPr lang="en-US" sz="2400" dirty="0">
                <a:latin typeface="Calibri" panose="020F0502020204030204" pitchFamily="34" charset="0"/>
                <a:cs typeface="Calibri" panose="020F0502020204030204" pitchFamily="34" charset="0"/>
              </a:rPr>
              <a:t>Gained an electron </a:t>
            </a:r>
          </a:p>
          <a:p>
            <a:pPr marL="1435608" lvl="2" indent="-292608">
              <a:buClr>
                <a:schemeClr val="accent2"/>
              </a:buClr>
              <a:buSzPct val="100000"/>
              <a:buFont typeface="Arial" panose="020B0604020202020204" pitchFamily="34" charset="0"/>
              <a:buChar char="•"/>
            </a:pPr>
            <a:r>
              <a:rPr lang="en-US" sz="2400" dirty="0">
                <a:latin typeface="Calibri" panose="020F0502020204030204" pitchFamily="34" charset="0"/>
                <a:cs typeface="Calibri" panose="020F0502020204030204" pitchFamily="34" charset="0"/>
              </a:rPr>
              <a:t>Negatively charged </a:t>
            </a:r>
          </a:p>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Molecule – 2 or more atoms sharing electrons</a:t>
            </a:r>
          </a:p>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Compound – a substance that can be broken down into 2 or more different elements</a:t>
            </a:r>
          </a:p>
        </p:txBody>
      </p:sp>
    </p:spTree>
    <p:extLst>
      <p:ext uri="{BB962C8B-B14F-4D97-AF65-F5344CB8AC3E}">
        <p14:creationId xmlns:p14="http://schemas.microsoft.com/office/powerpoint/2010/main" val="3146847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FAEB7D-A247-40C1-B353-4129ADFFFE2C}"/>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Ions: Cations</a:t>
            </a:r>
          </a:p>
        </p:txBody>
      </p:sp>
      <p:graphicFrame>
        <p:nvGraphicFramePr>
          <p:cNvPr id="11" name="Content Placeholder 66" descr="Table is accessible to screen readers.">
            <a:extLst>
              <a:ext uri="{FF2B5EF4-FFF2-40B4-BE49-F238E27FC236}">
                <a16:creationId xmlns:a16="http://schemas.microsoft.com/office/drawing/2014/main" id="{C30F7AB7-B7A9-4180-83B4-E0A66C5F7105}"/>
              </a:ext>
            </a:extLst>
          </p:cNvPr>
          <p:cNvGraphicFramePr>
            <a:graphicFrameLocks noGrp="1"/>
          </p:cNvGraphicFramePr>
          <p:nvPr>
            <p:ph type="tbl" sz="quarter" idx="19"/>
            <p:extLst>
              <p:ext uri="{D42A27DB-BD31-4B8C-83A1-F6EECF244321}">
                <p14:modId xmlns:p14="http://schemas.microsoft.com/office/powerpoint/2010/main" val="2580030963"/>
              </p:ext>
            </p:extLst>
          </p:nvPr>
        </p:nvGraphicFramePr>
        <p:xfrm>
          <a:off x="533400" y="1511300"/>
          <a:ext cx="8305800" cy="4584699"/>
        </p:xfrm>
        <a:graphic>
          <a:graphicData uri="http://schemas.openxmlformats.org/drawingml/2006/table">
            <a:tbl>
              <a:tblPr firstRow="1" bandRow="1">
                <a:tableStyleId>{69012ECD-51FC-41F1-AA8D-1B2483CD663E}</a:tableStyleId>
              </a:tblPr>
              <a:tblGrid>
                <a:gridCol w="4031008">
                  <a:extLst>
                    <a:ext uri="{9D8B030D-6E8A-4147-A177-3AD203B41FA5}">
                      <a16:colId xmlns:a16="http://schemas.microsoft.com/office/drawing/2014/main" val="386481957"/>
                    </a:ext>
                  </a:extLst>
                </a:gridCol>
                <a:gridCol w="4274792">
                  <a:extLst>
                    <a:ext uri="{9D8B030D-6E8A-4147-A177-3AD203B41FA5}">
                      <a16:colId xmlns:a16="http://schemas.microsoft.com/office/drawing/2014/main" val="3579437920"/>
                    </a:ext>
                  </a:extLst>
                </a:gridCol>
              </a:tblGrid>
              <a:tr h="509411">
                <a:tc>
                  <a:txBody>
                    <a:bodyPr/>
                    <a:lstStyle/>
                    <a:p>
                      <a:r>
                        <a:rPr lang="en-US" dirty="0"/>
                        <a:t>Name</a:t>
                      </a:r>
                    </a:p>
                  </a:txBody>
                  <a:tcPr/>
                </a:tc>
                <a:tc>
                  <a:txBody>
                    <a:bodyPr/>
                    <a:lstStyle/>
                    <a:p>
                      <a:r>
                        <a:rPr lang="en-US" dirty="0"/>
                        <a:t>Symbol</a:t>
                      </a:r>
                    </a:p>
                  </a:txBody>
                  <a:tcPr/>
                </a:tc>
                <a:extLst>
                  <a:ext uri="{0D108BD9-81ED-4DB2-BD59-A6C34878D82A}">
                    <a16:rowId xmlns:a16="http://schemas.microsoft.com/office/drawing/2014/main" val="1373356259"/>
                  </a:ext>
                </a:extLst>
              </a:tr>
              <a:tr h="509411">
                <a:tc>
                  <a:txBody>
                    <a:bodyPr/>
                    <a:lstStyle/>
                    <a:p>
                      <a:r>
                        <a:rPr lang="en-US" dirty="0"/>
                        <a:t>Hydrogen ion</a:t>
                      </a:r>
                    </a:p>
                  </a:txBody>
                  <a:tcPr/>
                </a:tc>
                <a:tc>
                  <a:txBody>
                    <a:bodyPr/>
                    <a:lstStyle/>
                    <a:p>
                      <a:r>
                        <a:rPr lang="en-US" dirty="0"/>
                        <a:t>H</a:t>
                      </a:r>
                      <a:r>
                        <a:rPr lang="en-US" baseline="30000" dirty="0"/>
                        <a:t>+</a:t>
                      </a:r>
                    </a:p>
                  </a:txBody>
                  <a:tcPr/>
                </a:tc>
                <a:extLst>
                  <a:ext uri="{0D108BD9-81ED-4DB2-BD59-A6C34878D82A}">
                    <a16:rowId xmlns:a16="http://schemas.microsoft.com/office/drawing/2014/main" val="4077992129"/>
                  </a:ext>
                </a:extLst>
              </a:tr>
              <a:tr h="509411">
                <a:tc>
                  <a:txBody>
                    <a:bodyPr/>
                    <a:lstStyle/>
                    <a:p>
                      <a:r>
                        <a:rPr lang="en-US" dirty="0"/>
                        <a:t>Sodium ion</a:t>
                      </a:r>
                    </a:p>
                  </a:txBody>
                  <a:tcPr/>
                </a:tc>
                <a:tc>
                  <a:txBody>
                    <a:bodyPr/>
                    <a:lstStyle/>
                    <a:p>
                      <a:r>
                        <a:rPr lang="en-US" dirty="0"/>
                        <a:t>Na</a:t>
                      </a:r>
                      <a:r>
                        <a:rPr lang="en-US" baseline="30000" dirty="0"/>
                        <a:t>+</a:t>
                      </a:r>
                    </a:p>
                  </a:txBody>
                  <a:tcPr/>
                </a:tc>
                <a:extLst>
                  <a:ext uri="{0D108BD9-81ED-4DB2-BD59-A6C34878D82A}">
                    <a16:rowId xmlns:a16="http://schemas.microsoft.com/office/drawing/2014/main" val="3711193147"/>
                  </a:ext>
                </a:extLst>
              </a:tr>
              <a:tr h="509411">
                <a:tc>
                  <a:txBody>
                    <a:bodyPr/>
                    <a:lstStyle/>
                    <a:p>
                      <a:r>
                        <a:rPr lang="en-US" dirty="0"/>
                        <a:t>Potassium ion</a:t>
                      </a:r>
                    </a:p>
                  </a:txBody>
                  <a:tcPr/>
                </a:tc>
                <a:tc>
                  <a:txBody>
                    <a:bodyPr/>
                    <a:lstStyle/>
                    <a:p>
                      <a:r>
                        <a:rPr lang="en-US" dirty="0"/>
                        <a:t>K</a:t>
                      </a:r>
                      <a:r>
                        <a:rPr lang="en-US" baseline="30000" dirty="0"/>
                        <a:t>+</a:t>
                      </a:r>
                    </a:p>
                  </a:txBody>
                  <a:tcPr/>
                </a:tc>
                <a:extLst>
                  <a:ext uri="{0D108BD9-81ED-4DB2-BD59-A6C34878D82A}">
                    <a16:rowId xmlns:a16="http://schemas.microsoft.com/office/drawing/2014/main" val="3581016800"/>
                  </a:ext>
                </a:extLst>
              </a:tr>
              <a:tr h="509411">
                <a:tc>
                  <a:txBody>
                    <a:bodyPr/>
                    <a:lstStyle/>
                    <a:p>
                      <a:r>
                        <a:rPr lang="en-US" dirty="0"/>
                        <a:t>Ammonium ion</a:t>
                      </a:r>
                    </a:p>
                  </a:txBody>
                  <a:tcPr/>
                </a:tc>
                <a:tc>
                  <a:txBody>
                    <a:bodyPr/>
                    <a:lstStyle/>
                    <a:p>
                      <a:r>
                        <a:rPr lang="en-US" dirty="0"/>
                        <a:t>NH</a:t>
                      </a:r>
                      <a:r>
                        <a:rPr lang="en-US" baseline="-25000" dirty="0"/>
                        <a:t>4</a:t>
                      </a:r>
                      <a:r>
                        <a:rPr lang="en-US" baseline="30000" dirty="0"/>
                        <a:t>+</a:t>
                      </a:r>
                    </a:p>
                  </a:txBody>
                  <a:tcPr/>
                </a:tc>
                <a:extLst>
                  <a:ext uri="{0D108BD9-81ED-4DB2-BD59-A6C34878D82A}">
                    <a16:rowId xmlns:a16="http://schemas.microsoft.com/office/drawing/2014/main" val="3140957926"/>
                  </a:ext>
                </a:extLst>
              </a:tr>
              <a:tr h="509411">
                <a:tc>
                  <a:txBody>
                    <a:bodyPr/>
                    <a:lstStyle/>
                    <a:p>
                      <a:r>
                        <a:rPr lang="en-US" dirty="0"/>
                        <a:t>Magnesium ion</a:t>
                      </a:r>
                    </a:p>
                  </a:txBody>
                  <a:tcPr/>
                </a:tc>
                <a:tc>
                  <a:txBody>
                    <a:bodyPr/>
                    <a:lstStyle/>
                    <a:p>
                      <a:r>
                        <a:rPr lang="en-US" dirty="0"/>
                        <a:t>Mg</a:t>
                      </a:r>
                      <a:r>
                        <a:rPr lang="en-US" baseline="30000" dirty="0"/>
                        <a:t>2+</a:t>
                      </a:r>
                    </a:p>
                  </a:txBody>
                  <a:tcPr/>
                </a:tc>
                <a:extLst>
                  <a:ext uri="{0D108BD9-81ED-4DB2-BD59-A6C34878D82A}">
                    <a16:rowId xmlns:a16="http://schemas.microsoft.com/office/drawing/2014/main" val="2767440572"/>
                  </a:ext>
                </a:extLst>
              </a:tr>
              <a:tr h="509411">
                <a:tc>
                  <a:txBody>
                    <a:bodyPr/>
                    <a:lstStyle/>
                    <a:p>
                      <a:r>
                        <a:rPr lang="en-US" dirty="0"/>
                        <a:t>Calcium ion</a:t>
                      </a:r>
                    </a:p>
                  </a:txBody>
                  <a:tcPr/>
                </a:tc>
                <a:tc>
                  <a:txBody>
                    <a:bodyPr/>
                    <a:lstStyle/>
                    <a:p>
                      <a:r>
                        <a:rPr lang="en-US" dirty="0"/>
                        <a:t>Ca</a:t>
                      </a:r>
                      <a:r>
                        <a:rPr lang="en-US" baseline="30000" dirty="0"/>
                        <a:t>2+</a:t>
                      </a:r>
                    </a:p>
                  </a:txBody>
                  <a:tcPr/>
                </a:tc>
                <a:extLst>
                  <a:ext uri="{0D108BD9-81ED-4DB2-BD59-A6C34878D82A}">
                    <a16:rowId xmlns:a16="http://schemas.microsoft.com/office/drawing/2014/main" val="686052462"/>
                  </a:ext>
                </a:extLst>
              </a:tr>
              <a:tr h="509411">
                <a:tc>
                  <a:txBody>
                    <a:bodyPr/>
                    <a:lstStyle/>
                    <a:p>
                      <a:r>
                        <a:rPr lang="en-US" dirty="0"/>
                        <a:t>Iron (II) ion</a:t>
                      </a:r>
                    </a:p>
                  </a:txBody>
                  <a:tcPr/>
                </a:tc>
                <a:tc>
                  <a:txBody>
                    <a:bodyPr/>
                    <a:lstStyle/>
                    <a:p>
                      <a:r>
                        <a:rPr lang="en-US" dirty="0"/>
                        <a:t>Fe</a:t>
                      </a:r>
                      <a:r>
                        <a:rPr lang="en-US" baseline="30000" dirty="0"/>
                        <a:t>2+</a:t>
                      </a:r>
                    </a:p>
                  </a:txBody>
                  <a:tcPr/>
                </a:tc>
                <a:extLst>
                  <a:ext uri="{0D108BD9-81ED-4DB2-BD59-A6C34878D82A}">
                    <a16:rowId xmlns:a16="http://schemas.microsoft.com/office/drawing/2014/main" val="4291409810"/>
                  </a:ext>
                </a:extLst>
              </a:tr>
              <a:tr h="509411">
                <a:tc>
                  <a:txBody>
                    <a:bodyPr/>
                    <a:lstStyle/>
                    <a:p>
                      <a:r>
                        <a:rPr lang="en-US" dirty="0"/>
                        <a:t>Iron (III) ion</a:t>
                      </a:r>
                    </a:p>
                  </a:txBody>
                  <a:tcPr/>
                </a:tc>
                <a:tc>
                  <a:txBody>
                    <a:bodyPr/>
                    <a:lstStyle/>
                    <a:p>
                      <a:r>
                        <a:rPr lang="en-US" dirty="0"/>
                        <a:t>Fe</a:t>
                      </a:r>
                      <a:r>
                        <a:rPr lang="en-US" baseline="30000" dirty="0"/>
                        <a:t>3+</a:t>
                      </a:r>
                    </a:p>
                  </a:txBody>
                  <a:tcPr/>
                </a:tc>
                <a:extLst>
                  <a:ext uri="{0D108BD9-81ED-4DB2-BD59-A6C34878D82A}">
                    <a16:rowId xmlns:a16="http://schemas.microsoft.com/office/drawing/2014/main" val="3591541758"/>
                  </a:ext>
                </a:extLst>
              </a:tr>
            </a:tbl>
          </a:graphicData>
        </a:graphic>
      </p:graphicFrame>
    </p:spTree>
    <p:extLst>
      <p:ext uri="{BB962C8B-B14F-4D97-AF65-F5344CB8AC3E}">
        <p14:creationId xmlns:p14="http://schemas.microsoft.com/office/powerpoint/2010/main" val="1860353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FAEB7D-A247-40C1-B353-4129ADFFFE2C}"/>
              </a:ext>
            </a:extLst>
          </p:cNvPr>
          <p:cNvSpPr>
            <a:spLocks noGrp="1"/>
          </p:cNvSpPr>
          <p:nvPr>
            <p:ph type="title"/>
          </p:nvPr>
        </p:nvSpPr>
        <p:spPr/>
        <p:txBody>
          <a:bodyPr/>
          <a:lstStyle/>
          <a:p>
            <a:r>
              <a:rPr lang="en-US" dirty="0"/>
              <a:t>Ions: Anions</a:t>
            </a:r>
            <a:endParaRPr lang="en-US" dirty="0">
              <a:latin typeface="Calibri" panose="020F0502020204030204" pitchFamily="34" charset="0"/>
              <a:cs typeface="Calibri" panose="020F0502020204030204" pitchFamily="34" charset="0"/>
            </a:endParaRPr>
          </a:p>
        </p:txBody>
      </p:sp>
      <p:graphicFrame>
        <p:nvGraphicFramePr>
          <p:cNvPr id="11" name="Content Placeholder 66" descr="Table is accessible to screen readers.">
            <a:extLst>
              <a:ext uri="{FF2B5EF4-FFF2-40B4-BE49-F238E27FC236}">
                <a16:creationId xmlns:a16="http://schemas.microsoft.com/office/drawing/2014/main" id="{C30F7AB7-B7A9-4180-83B4-E0A66C5F7105}"/>
              </a:ext>
            </a:extLst>
          </p:cNvPr>
          <p:cNvGraphicFramePr>
            <a:graphicFrameLocks noGrp="1"/>
          </p:cNvGraphicFramePr>
          <p:nvPr>
            <p:ph type="tbl" sz="quarter" idx="19"/>
            <p:extLst>
              <p:ext uri="{D42A27DB-BD31-4B8C-83A1-F6EECF244321}">
                <p14:modId xmlns:p14="http://schemas.microsoft.com/office/powerpoint/2010/main" val="1162593437"/>
              </p:ext>
            </p:extLst>
          </p:nvPr>
        </p:nvGraphicFramePr>
        <p:xfrm>
          <a:off x="482600" y="1447800"/>
          <a:ext cx="8356600" cy="4648203"/>
        </p:xfrm>
        <a:graphic>
          <a:graphicData uri="http://schemas.openxmlformats.org/drawingml/2006/table">
            <a:tbl>
              <a:tblPr firstRow="1" bandRow="1">
                <a:tableStyleId>{69012ECD-51FC-41F1-AA8D-1B2483CD663E}</a:tableStyleId>
              </a:tblPr>
              <a:tblGrid>
                <a:gridCol w="4055662">
                  <a:extLst>
                    <a:ext uri="{9D8B030D-6E8A-4147-A177-3AD203B41FA5}">
                      <a16:colId xmlns:a16="http://schemas.microsoft.com/office/drawing/2014/main" val="386481957"/>
                    </a:ext>
                  </a:extLst>
                </a:gridCol>
                <a:gridCol w="4300938">
                  <a:extLst>
                    <a:ext uri="{9D8B030D-6E8A-4147-A177-3AD203B41FA5}">
                      <a16:colId xmlns:a16="http://schemas.microsoft.com/office/drawing/2014/main" val="3579437920"/>
                    </a:ext>
                  </a:extLst>
                </a:gridCol>
              </a:tblGrid>
              <a:tr h="516467">
                <a:tc>
                  <a:txBody>
                    <a:bodyPr/>
                    <a:lstStyle/>
                    <a:p>
                      <a:r>
                        <a:rPr lang="en-US" dirty="0"/>
                        <a:t>Name</a:t>
                      </a:r>
                    </a:p>
                  </a:txBody>
                  <a:tcPr/>
                </a:tc>
                <a:tc>
                  <a:txBody>
                    <a:bodyPr/>
                    <a:lstStyle/>
                    <a:p>
                      <a:r>
                        <a:rPr lang="en-US" dirty="0"/>
                        <a:t>Symbol</a:t>
                      </a:r>
                    </a:p>
                  </a:txBody>
                  <a:tcPr/>
                </a:tc>
                <a:extLst>
                  <a:ext uri="{0D108BD9-81ED-4DB2-BD59-A6C34878D82A}">
                    <a16:rowId xmlns:a16="http://schemas.microsoft.com/office/drawing/2014/main" val="1373356259"/>
                  </a:ext>
                </a:extLst>
              </a:tr>
              <a:tr h="516467">
                <a:tc>
                  <a:txBody>
                    <a:bodyPr/>
                    <a:lstStyle/>
                    <a:p>
                      <a:r>
                        <a:rPr lang="en-US" dirty="0"/>
                        <a:t>Fluoride ion</a:t>
                      </a:r>
                    </a:p>
                  </a:txBody>
                  <a:tcPr/>
                </a:tc>
                <a:tc>
                  <a:txBody>
                    <a:bodyPr/>
                    <a:lstStyle/>
                    <a:p>
                      <a:r>
                        <a:rPr lang="en-US" dirty="0"/>
                        <a:t>F</a:t>
                      </a:r>
                      <a:r>
                        <a:rPr lang="en-US" baseline="30000" dirty="0"/>
                        <a:t>–</a:t>
                      </a:r>
                    </a:p>
                  </a:txBody>
                  <a:tcPr/>
                </a:tc>
                <a:extLst>
                  <a:ext uri="{0D108BD9-81ED-4DB2-BD59-A6C34878D82A}">
                    <a16:rowId xmlns:a16="http://schemas.microsoft.com/office/drawing/2014/main" val="4077992129"/>
                  </a:ext>
                </a:extLst>
              </a:tr>
              <a:tr h="516467">
                <a:tc>
                  <a:txBody>
                    <a:bodyPr/>
                    <a:lstStyle/>
                    <a:p>
                      <a:r>
                        <a:rPr lang="en-US" dirty="0"/>
                        <a:t>Chloride ion</a:t>
                      </a:r>
                    </a:p>
                  </a:txBody>
                  <a:tcPr/>
                </a:tc>
                <a:tc>
                  <a:txBody>
                    <a:bodyPr/>
                    <a:lstStyle/>
                    <a:p>
                      <a:r>
                        <a:rPr lang="en-US" dirty="0"/>
                        <a:t>Cl</a:t>
                      </a:r>
                      <a:r>
                        <a:rPr lang="en-US" baseline="30000" dirty="0"/>
                        <a:t>–</a:t>
                      </a:r>
                    </a:p>
                  </a:txBody>
                  <a:tcPr/>
                </a:tc>
                <a:extLst>
                  <a:ext uri="{0D108BD9-81ED-4DB2-BD59-A6C34878D82A}">
                    <a16:rowId xmlns:a16="http://schemas.microsoft.com/office/drawing/2014/main" val="3711193147"/>
                  </a:ext>
                </a:extLst>
              </a:tr>
              <a:tr h="516467">
                <a:tc>
                  <a:txBody>
                    <a:bodyPr/>
                    <a:lstStyle/>
                    <a:p>
                      <a:r>
                        <a:rPr lang="en-US" dirty="0"/>
                        <a:t>Iodide ion</a:t>
                      </a:r>
                    </a:p>
                  </a:txBody>
                  <a:tcPr/>
                </a:tc>
                <a:tc>
                  <a:txBody>
                    <a:bodyPr/>
                    <a:lstStyle/>
                    <a:p>
                      <a:r>
                        <a:rPr lang="en-US" dirty="0"/>
                        <a:t>I</a:t>
                      </a:r>
                      <a:r>
                        <a:rPr lang="en-US" baseline="30000" dirty="0"/>
                        <a:t>–</a:t>
                      </a:r>
                    </a:p>
                  </a:txBody>
                  <a:tcPr/>
                </a:tc>
                <a:extLst>
                  <a:ext uri="{0D108BD9-81ED-4DB2-BD59-A6C34878D82A}">
                    <a16:rowId xmlns:a16="http://schemas.microsoft.com/office/drawing/2014/main" val="3581016800"/>
                  </a:ext>
                </a:extLst>
              </a:tr>
              <a:tr h="516467">
                <a:tc>
                  <a:txBody>
                    <a:bodyPr/>
                    <a:lstStyle/>
                    <a:p>
                      <a:r>
                        <a:rPr lang="en-US" dirty="0"/>
                        <a:t>Hydroxide ion</a:t>
                      </a:r>
                    </a:p>
                  </a:txBody>
                  <a:tcPr/>
                </a:tc>
                <a:tc>
                  <a:txBody>
                    <a:bodyPr/>
                    <a:lstStyle/>
                    <a:p>
                      <a:r>
                        <a:rPr lang="en-US" dirty="0"/>
                        <a:t>OH</a:t>
                      </a:r>
                      <a:r>
                        <a:rPr lang="en-US" baseline="30000" dirty="0"/>
                        <a:t>–</a:t>
                      </a:r>
                    </a:p>
                  </a:txBody>
                  <a:tcPr/>
                </a:tc>
                <a:extLst>
                  <a:ext uri="{0D108BD9-81ED-4DB2-BD59-A6C34878D82A}">
                    <a16:rowId xmlns:a16="http://schemas.microsoft.com/office/drawing/2014/main" val="3140957926"/>
                  </a:ext>
                </a:extLst>
              </a:tr>
              <a:tr h="516467">
                <a:tc>
                  <a:txBody>
                    <a:bodyPr/>
                    <a:lstStyle/>
                    <a:p>
                      <a:r>
                        <a:rPr lang="en-US" dirty="0"/>
                        <a:t>Bicarbonate ion</a:t>
                      </a:r>
                    </a:p>
                  </a:txBody>
                  <a:tcPr/>
                </a:tc>
                <a:tc>
                  <a:txBody>
                    <a:bodyPr/>
                    <a:lstStyle/>
                    <a:p>
                      <a:r>
                        <a:rPr lang="en-US" dirty="0"/>
                        <a:t>HCO</a:t>
                      </a:r>
                      <a:r>
                        <a:rPr lang="en-US" baseline="-25000" dirty="0"/>
                        <a:t>3</a:t>
                      </a:r>
                      <a:r>
                        <a:rPr lang="en-US" baseline="30000" dirty="0"/>
                        <a:t>–</a:t>
                      </a:r>
                    </a:p>
                  </a:txBody>
                  <a:tcPr/>
                </a:tc>
                <a:extLst>
                  <a:ext uri="{0D108BD9-81ED-4DB2-BD59-A6C34878D82A}">
                    <a16:rowId xmlns:a16="http://schemas.microsoft.com/office/drawing/2014/main" val="2767440572"/>
                  </a:ext>
                </a:extLst>
              </a:tr>
              <a:tr h="516467">
                <a:tc>
                  <a:txBody>
                    <a:bodyPr/>
                    <a:lstStyle/>
                    <a:p>
                      <a:r>
                        <a:rPr lang="en-US" dirty="0"/>
                        <a:t>Oxide ion</a:t>
                      </a:r>
                    </a:p>
                  </a:txBody>
                  <a:tcPr/>
                </a:tc>
                <a:tc>
                  <a:txBody>
                    <a:bodyPr/>
                    <a:lstStyle/>
                    <a:p>
                      <a:r>
                        <a:rPr lang="en-US" dirty="0"/>
                        <a:t>O</a:t>
                      </a:r>
                      <a:r>
                        <a:rPr lang="en-US" baseline="30000" dirty="0"/>
                        <a:t>2–</a:t>
                      </a:r>
                    </a:p>
                  </a:txBody>
                  <a:tcPr/>
                </a:tc>
                <a:extLst>
                  <a:ext uri="{0D108BD9-81ED-4DB2-BD59-A6C34878D82A}">
                    <a16:rowId xmlns:a16="http://schemas.microsoft.com/office/drawing/2014/main" val="686052462"/>
                  </a:ext>
                </a:extLst>
              </a:tr>
              <a:tr h="516467">
                <a:tc>
                  <a:txBody>
                    <a:bodyPr/>
                    <a:lstStyle/>
                    <a:p>
                      <a:r>
                        <a:rPr lang="en-US" dirty="0"/>
                        <a:t>Sulfate ion</a:t>
                      </a:r>
                    </a:p>
                  </a:txBody>
                  <a:tcPr/>
                </a:tc>
                <a:tc>
                  <a:txBody>
                    <a:bodyPr/>
                    <a:lstStyle/>
                    <a:p>
                      <a:r>
                        <a:rPr lang="en-US" dirty="0"/>
                        <a:t>SO</a:t>
                      </a:r>
                      <a:r>
                        <a:rPr lang="en-US" baseline="-25000" dirty="0"/>
                        <a:t>4</a:t>
                      </a:r>
                      <a:r>
                        <a:rPr lang="en-US" baseline="30000" dirty="0"/>
                        <a:t>2–</a:t>
                      </a:r>
                    </a:p>
                  </a:txBody>
                  <a:tcPr/>
                </a:tc>
                <a:extLst>
                  <a:ext uri="{0D108BD9-81ED-4DB2-BD59-A6C34878D82A}">
                    <a16:rowId xmlns:a16="http://schemas.microsoft.com/office/drawing/2014/main" val="4291409810"/>
                  </a:ext>
                </a:extLst>
              </a:tr>
              <a:tr h="516467">
                <a:tc>
                  <a:txBody>
                    <a:bodyPr/>
                    <a:lstStyle/>
                    <a:p>
                      <a:r>
                        <a:rPr lang="en-US" dirty="0"/>
                        <a:t>Phosphate ion</a:t>
                      </a:r>
                    </a:p>
                  </a:txBody>
                  <a:tcPr/>
                </a:tc>
                <a:tc>
                  <a:txBody>
                    <a:bodyPr/>
                    <a:lstStyle/>
                    <a:p>
                      <a:r>
                        <a:rPr lang="en-US" dirty="0"/>
                        <a:t>PO</a:t>
                      </a:r>
                      <a:r>
                        <a:rPr lang="en-US" baseline="-25000" dirty="0"/>
                        <a:t>4</a:t>
                      </a:r>
                      <a:r>
                        <a:rPr lang="en-US" baseline="30000" dirty="0"/>
                        <a:t>3–</a:t>
                      </a:r>
                    </a:p>
                  </a:txBody>
                  <a:tcPr/>
                </a:tc>
                <a:extLst>
                  <a:ext uri="{0D108BD9-81ED-4DB2-BD59-A6C34878D82A}">
                    <a16:rowId xmlns:a16="http://schemas.microsoft.com/office/drawing/2014/main" val="3591541758"/>
                  </a:ext>
                </a:extLst>
              </a:tr>
            </a:tbl>
          </a:graphicData>
        </a:graphic>
      </p:graphicFrame>
    </p:spTree>
    <p:extLst>
      <p:ext uri="{BB962C8B-B14F-4D97-AF65-F5344CB8AC3E}">
        <p14:creationId xmlns:p14="http://schemas.microsoft.com/office/powerpoint/2010/main" val="3936246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31D926-5D54-4D82-BA9F-BF3A4E484E47}"/>
              </a:ext>
            </a:extLst>
          </p:cNvPr>
          <p:cNvSpPr>
            <a:spLocks noGrp="1"/>
          </p:cNvSpPr>
          <p:nvPr>
            <p:ph type="title"/>
          </p:nvPr>
        </p:nvSpPr>
        <p:spPr>
          <a:xfrm>
            <a:off x="304800" y="482601"/>
            <a:ext cx="8534400" cy="584199"/>
          </a:xfrm>
        </p:spPr>
        <p:txBody>
          <a:bodyPr>
            <a:normAutofit fontScale="90000"/>
          </a:bodyPr>
          <a:lstStyle/>
          <a:p>
            <a:r>
              <a:rPr lang="en-US" dirty="0"/>
              <a:t>Orbitals, Shells, and Valence Electrons </a:t>
            </a:r>
          </a:p>
        </p:txBody>
      </p:sp>
      <p:sp>
        <p:nvSpPr>
          <p:cNvPr id="9" name="Content Placeholder 8">
            <a:extLst>
              <a:ext uri="{FF2B5EF4-FFF2-40B4-BE49-F238E27FC236}">
                <a16:creationId xmlns:a16="http://schemas.microsoft.com/office/drawing/2014/main" id="{599FF830-C210-4A2F-8276-00FFAA69B744}"/>
              </a:ext>
            </a:extLst>
          </p:cNvPr>
          <p:cNvSpPr>
            <a:spLocks noGrp="1"/>
          </p:cNvSpPr>
          <p:nvPr>
            <p:ph sz="quarter" idx="16"/>
          </p:nvPr>
        </p:nvSpPr>
        <p:spPr>
          <a:xfrm>
            <a:off x="304800" y="1257300"/>
            <a:ext cx="8534400" cy="5118099"/>
          </a:xfrm>
        </p:spPr>
        <p:txBody>
          <a:bodyPr/>
          <a:lstStyle/>
          <a:p>
            <a:pPr marL="457200" indent="-457200">
              <a:buFont typeface="Arial" panose="020B0604020202020204" pitchFamily="34" charset="0"/>
              <a:buChar char="•"/>
            </a:pPr>
            <a:r>
              <a:rPr lang="en-US" dirty="0"/>
              <a:t>Electron orbitals </a:t>
            </a:r>
          </a:p>
          <a:p>
            <a:pPr marL="1143000" lvl="1" indent="-457200">
              <a:buFont typeface="Arial" panose="020B0604020202020204" pitchFamily="34" charset="0"/>
              <a:buChar char="•"/>
            </a:pPr>
            <a:r>
              <a:rPr lang="en-US" dirty="0"/>
              <a:t>Area around the nucleus where an electron is most likely to be found </a:t>
            </a:r>
          </a:p>
          <a:p>
            <a:pPr marL="1143000" lvl="1" indent="-457200">
              <a:buFont typeface="Arial" panose="020B0604020202020204" pitchFamily="34" charset="0"/>
              <a:buChar char="•"/>
            </a:pPr>
            <a:r>
              <a:rPr lang="en-US" dirty="0"/>
              <a:t>Fits a maximum of two electrons </a:t>
            </a:r>
          </a:p>
          <a:p>
            <a:pPr marL="457200" indent="-457200">
              <a:buFont typeface="Arial" panose="020B0604020202020204" pitchFamily="34" charset="0"/>
              <a:buChar char="•"/>
            </a:pPr>
            <a:r>
              <a:rPr lang="en-US" dirty="0"/>
              <a:t>Energy shells </a:t>
            </a:r>
          </a:p>
          <a:p>
            <a:pPr marL="1143000" lvl="1" indent="-457200">
              <a:buFont typeface="Arial" panose="020B0604020202020204" pitchFamily="34" charset="0"/>
              <a:buChar char="•"/>
            </a:pPr>
            <a:r>
              <a:rPr lang="en-US" dirty="0"/>
              <a:t>1</a:t>
            </a:r>
            <a:r>
              <a:rPr lang="en-US" baseline="30000" dirty="0"/>
              <a:t>st</a:t>
            </a:r>
            <a:r>
              <a:rPr lang="en-US" dirty="0"/>
              <a:t> (closest to nucleus) is composed of one orbital </a:t>
            </a:r>
          </a:p>
          <a:p>
            <a:pPr marL="1143000" lvl="1" indent="-457200">
              <a:buFont typeface="Arial" panose="020B0604020202020204" pitchFamily="34" charset="0"/>
              <a:buChar char="•"/>
            </a:pPr>
            <a:r>
              <a:rPr lang="en-US" dirty="0"/>
              <a:t>2</a:t>
            </a:r>
            <a:r>
              <a:rPr lang="en-US" baseline="30000" dirty="0"/>
              <a:t>nd</a:t>
            </a:r>
            <a:r>
              <a:rPr lang="en-US" dirty="0"/>
              <a:t> and 3</a:t>
            </a:r>
            <a:r>
              <a:rPr lang="en-US" baseline="30000" dirty="0"/>
              <a:t>rd</a:t>
            </a:r>
            <a:r>
              <a:rPr lang="en-US" dirty="0"/>
              <a:t> each composed to 4 orbitals </a:t>
            </a:r>
          </a:p>
          <a:p>
            <a:pPr marL="457200" indent="-457200">
              <a:buFont typeface="Arial" panose="020B0604020202020204" pitchFamily="34" charset="0"/>
              <a:buChar char="•"/>
            </a:pPr>
            <a:r>
              <a:rPr lang="en-US" dirty="0"/>
              <a:t>Valence electrons </a:t>
            </a:r>
          </a:p>
          <a:p>
            <a:pPr marL="1143000" lvl="1" indent="-457200">
              <a:buFont typeface="Arial" panose="020B0604020202020204" pitchFamily="34" charset="0"/>
              <a:buChar char="•"/>
            </a:pPr>
            <a:r>
              <a:rPr lang="en-US" dirty="0"/>
              <a:t>Electrons in the outermost shell </a:t>
            </a:r>
          </a:p>
          <a:p>
            <a:pPr marL="1143000" lvl="1" indent="-457200">
              <a:buFont typeface="Arial" panose="020B0604020202020204" pitchFamily="34" charset="0"/>
              <a:buChar char="•"/>
            </a:pPr>
            <a:r>
              <a:rPr lang="en-US" dirty="0"/>
              <a:t>Octet rule – goal is to obtain a full outer shell </a:t>
            </a:r>
          </a:p>
          <a:p>
            <a:pPr marL="1600200" lvl="2" indent="-457200">
              <a:buFont typeface="Arial" panose="020B0604020202020204" pitchFamily="34" charset="0"/>
              <a:buChar char="•"/>
            </a:pPr>
            <a:r>
              <a:rPr lang="en-US" dirty="0"/>
              <a:t>Determines what type of bonds form </a:t>
            </a:r>
          </a:p>
          <a:p>
            <a:pPr marL="1600200" lvl="2" indent="-457200">
              <a:buFont typeface="Arial" panose="020B0604020202020204" pitchFamily="34" charset="0"/>
              <a:buChar char="•"/>
            </a:pPr>
            <a:r>
              <a:rPr lang="en-US" dirty="0"/>
              <a:t>Nobel/inert gases – have full outer shells so they do not interact with other atoms </a:t>
            </a:r>
          </a:p>
          <a:p>
            <a:pPr lvl="1" indent="0">
              <a:buNone/>
            </a:pPr>
            <a:endParaRPr lang="en-US" dirty="0"/>
          </a:p>
        </p:txBody>
      </p:sp>
    </p:spTree>
    <p:extLst>
      <p:ext uri="{BB962C8B-B14F-4D97-AF65-F5344CB8AC3E}">
        <p14:creationId xmlns:p14="http://schemas.microsoft.com/office/powerpoint/2010/main" val="2863139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F6A408-BBF7-40F0-83AB-DB841676BF7D}"/>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Free Radicals</a:t>
            </a:r>
          </a:p>
        </p:txBody>
      </p:sp>
      <p:sp>
        <p:nvSpPr>
          <p:cNvPr id="5" name="Content Placeholder 4">
            <a:extLst>
              <a:ext uri="{FF2B5EF4-FFF2-40B4-BE49-F238E27FC236}">
                <a16:creationId xmlns:a16="http://schemas.microsoft.com/office/drawing/2014/main" id="{BFED94BA-D6AE-4C76-8015-2554381BEB72}"/>
              </a:ext>
            </a:extLst>
          </p:cNvPr>
          <p:cNvSpPr>
            <a:spLocks noGrp="1"/>
          </p:cNvSpPr>
          <p:nvPr>
            <p:ph sz="quarter" idx="16"/>
          </p:nvPr>
        </p:nvSpPr>
        <p:spPr>
          <a:xfrm>
            <a:off x="304800" y="1473200"/>
            <a:ext cx="8534400" cy="1955800"/>
          </a:xfrm>
        </p:spPr>
        <p:txBody>
          <a:bodyPr/>
          <a:lstStyle/>
          <a:p>
            <a:pPr marL="292608" indent="-292608">
              <a:lnSpc>
                <a:spcPct val="100000"/>
              </a:lnSpc>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Free Radicals have an unpaired electron in its outermost shell</a:t>
            </a:r>
          </a:p>
          <a:p>
            <a:pPr lvl="1" indent="-403225">
              <a:lnSpc>
                <a:spcPct val="100000"/>
              </a:lnSpc>
              <a:buClr>
                <a:schemeClr val="accent2"/>
              </a:buClr>
              <a:buSzPct val="80000"/>
              <a:buFont typeface="Courier New" panose="02070309020205020404" pitchFamily="49" charset="0"/>
              <a:buChar char="o"/>
            </a:pPr>
            <a:r>
              <a:rPr lang="en-US" sz="2600" dirty="0">
                <a:latin typeface="Calibri" panose="020F0502020204030204" pitchFamily="34" charset="0"/>
                <a:cs typeface="Calibri" panose="020F0502020204030204" pitchFamily="34" charset="0"/>
              </a:rPr>
              <a:t>Sources include UV rays from sunlight, ozone, x-rays, pollution, cigarette smoke</a:t>
            </a:r>
          </a:p>
        </p:txBody>
      </p:sp>
      <p:pic>
        <p:nvPicPr>
          <p:cNvPr id="11" name="Picture Placeholder 10" descr="Two diagrams, labeled a and b, show the atomic structures of oxygen molecules (O 2) and superoxide free radical (O 2 subscript negative). Both the diagrams show two oxygen atoms with two electron shell around each. In diagram (a) each atom’s inner shell has two electrons while the outer shell has three pairs of electrons and both atoms share four outer shell electrons. Diagram (b) is similar to diagram (a) except one atom has an extra unpaired electron in the outer shell.">
            <a:extLst>
              <a:ext uri="{FF2B5EF4-FFF2-40B4-BE49-F238E27FC236}">
                <a16:creationId xmlns:a16="http://schemas.microsoft.com/office/drawing/2014/main" id="{643E6363-A3AA-4870-83E4-5298A94A6DA9}"/>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tretch>
            <a:fillRect/>
          </a:stretch>
        </p:blipFill>
        <p:spPr>
          <a:xfrm>
            <a:off x="1045388" y="3429000"/>
            <a:ext cx="7053223" cy="2110929"/>
          </a:xfrm>
          <a:prstGeom prst="rect">
            <a:avLst/>
          </a:prstGeom>
        </p:spPr>
      </p:pic>
      <p:sp>
        <p:nvSpPr>
          <p:cNvPr id="7" name="Content Placeholder 6">
            <a:extLst>
              <a:ext uri="{FF2B5EF4-FFF2-40B4-BE49-F238E27FC236}">
                <a16:creationId xmlns:a16="http://schemas.microsoft.com/office/drawing/2014/main" id="{5F25AC96-5241-49D0-AA6B-8A1BF57EBC21}"/>
              </a:ext>
            </a:extLst>
          </p:cNvPr>
          <p:cNvSpPr>
            <a:spLocks noGrp="1"/>
          </p:cNvSpPr>
          <p:nvPr>
            <p:ph sz="quarter" idx="17"/>
          </p:nvPr>
        </p:nvSpPr>
        <p:spPr>
          <a:xfrm>
            <a:off x="304800" y="5539930"/>
            <a:ext cx="8686800" cy="762902"/>
          </a:xfrm>
        </p:spPr>
        <p:txBody>
          <a:bodyPr/>
          <a:lstStyle/>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Antioxidants </a:t>
            </a:r>
            <a:r>
              <a:rPr lang="en-US" sz="3200" i="1" dirty="0">
                <a:latin typeface="Calibri" panose="020F0502020204030204" pitchFamily="34" charset="0"/>
                <a:cs typeface="Calibri" panose="020F0502020204030204" pitchFamily="34" charset="0"/>
              </a:rPr>
              <a:t>inactive</a:t>
            </a:r>
            <a:r>
              <a:rPr lang="en-US" sz="3200" dirty="0">
                <a:latin typeface="Calibri" panose="020F0502020204030204" pitchFamily="34" charset="0"/>
                <a:cs typeface="Calibri" panose="020F0502020204030204" pitchFamily="34" charset="0"/>
              </a:rPr>
              <a:t> oxygen-derived free radicals</a:t>
            </a:r>
          </a:p>
        </p:txBody>
      </p:sp>
    </p:spTree>
    <p:extLst>
      <p:ext uri="{BB962C8B-B14F-4D97-AF65-F5344CB8AC3E}">
        <p14:creationId xmlns:p14="http://schemas.microsoft.com/office/powerpoint/2010/main" val="2401550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8567C63-7972-402B-9CC8-92EBB48EA08D}"/>
              </a:ext>
            </a:extLst>
          </p:cNvPr>
          <p:cNvSpPr>
            <a:spLocks noGrp="1"/>
          </p:cNvSpPr>
          <p:nvPr>
            <p:ph type="title"/>
          </p:nvPr>
        </p:nvSpPr>
        <p:spPr>
          <a:xfrm>
            <a:off x="304800" y="3017521"/>
            <a:ext cx="8534400" cy="822959"/>
          </a:xfrm>
        </p:spPr>
        <p:txBody>
          <a:bodyPr/>
          <a:lstStyle/>
          <a:p>
            <a:pPr algn="ctr"/>
            <a:r>
              <a:rPr lang="en-US" b="1" dirty="0">
                <a:latin typeface="Calibri" panose="020F0502020204030204" pitchFamily="34" charset="0"/>
                <a:cs typeface="Calibri" panose="020F0502020204030204" pitchFamily="34" charset="0"/>
              </a:rPr>
              <a:t>Chemical Bonds</a:t>
            </a:r>
          </a:p>
        </p:txBody>
      </p:sp>
    </p:spTree>
    <p:extLst>
      <p:ext uri="{BB962C8B-B14F-4D97-AF65-F5344CB8AC3E}">
        <p14:creationId xmlns:p14="http://schemas.microsoft.com/office/powerpoint/2010/main" val="3126599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5BF5-BE6C-42E9-85D8-14535D7BE41A}"/>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Chemical Bonding Interactions Animation: </a:t>
            </a:r>
          </a:p>
        </p:txBody>
      </p:sp>
      <p:sp>
        <p:nvSpPr>
          <p:cNvPr id="3" name="Content Placeholder 2">
            <a:extLst>
              <a:ext uri="{FF2B5EF4-FFF2-40B4-BE49-F238E27FC236}">
                <a16:creationId xmlns:a16="http://schemas.microsoft.com/office/drawing/2014/main" id="{F6C4A560-367C-45C7-AE6E-6223034DB2A8}"/>
              </a:ext>
            </a:extLst>
          </p:cNvPr>
          <p:cNvSpPr>
            <a:spLocks noGrp="1"/>
          </p:cNvSpPr>
          <p:nvPr>
            <p:ph sz="quarter" idx="16"/>
          </p:nvPr>
        </p:nvSpPr>
        <p:spPr/>
        <p:txBody>
          <a:bodyPr/>
          <a:lstStyle/>
          <a:p>
            <a:r>
              <a:rPr lang="en-US" dirty="0">
                <a:latin typeface="Calibri" panose="020F0502020204030204" pitchFamily="34" charset="0"/>
                <a:cs typeface="Calibri" panose="020F0502020204030204" pitchFamily="34" charset="0"/>
                <a:hlinkClick r:id="rId2"/>
              </a:rPr>
              <a:t>Chemical Bonds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2797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5BF5-BE6C-42E9-85D8-14535D7BE41A}"/>
              </a:ext>
            </a:extLst>
          </p:cNvPr>
          <p:cNvSpPr>
            <a:spLocks noGrp="1"/>
          </p:cNvSpPr>
          <p:nvPr>
            <p:ph type="title"/>
          </p:nvPr>
        </p:nvSpPr>
        <p:spPr/>
        <p:txBody>
          <a:bodyPr>
            <a:normAutofit/>
          </a:bodyPr>
          <a:lstStyle/>
          <a:p>
            <a:r>
              <a:rPr lang="en-US" sz="3600" dirty="0">
                <a:latin typeface="Calibri" panose="020F0502020204030204" pitchFamily="34" charset="0"/>
                <a:cs typeface="Calibri" panose="020F0502020204030204" pitchFamily="34" charset="0"/>
              </a:rPr>
              <a:t>Chemical Bonds</a:t>
            </a:r>
            <a:r>
              <a:rPr lang="en-US" sz="100" dirty="0">
                <a:latin typeface="Calibri" panose="020F0502020204030204" pitchFamily="34" charset="0"/>
                <a:cs typeface="Calibri" panose="020F0502020204030204" pitchFamily="34" charset="0"/>
              </a:rPr>
              <a:t> </a:t>
            </a:r>
          </a:p>
        </p:txBody>
      </p:sp>
      <p:sp>
        <p:nvSpPr>
          <p:cNvPr id="3" name="Content Placeholder 2">
            <a:extLst>
              <a:ext uri="{FF2B5EF4-FFF2-40B4-BE49-F238E27FC236}">
                <a16:creationId xmlns:a16="http://schemas.microsoft.com/office/drawing/2014/main" id="{F6C4A560-367C-45C7-AE6E-6223034DB2A8}"/>
              </a:ext>
            </a:extLst>
          </p:cNvPr>
          <p:cNvSpPr>
            <a:spLocks noGrp="1"/>
          </p:cNvSpPr>
          <p:nvPr>
            <p:ph sz="quarter" idx="16"/>
          </p:nvPr>
        </p:nvSpPr>
        <p:spPr>
          <a:xfrm>
            <a:off x="304800" y="1397000"/>
            <a:ext cx="8534400" cy="2260600"/>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 chemical bond occurs when atoms are held together by forces of attraction</a:t>
            </a:r>
          </a:p>
          <a:p>
            <a:pPr marL="645300" lvl="1" indent="-342900">
              <a:spcBef>
                <a:spcPts val="1000"/>
              </a:spcBef>
              <a:buClr>
                <a:schemeClr val="accent2"/>
              </a:buClr>
            </a:pPr>
            <a:r>
              <a:rPr lang="en-US" sz="2800" dirty="0">
                <a:latin typeface="Calibri" panose="020F0502020204030204" pitchFamily="34" charset="0"/>
                <a:cs typeface="Calibri" panose="020F0502020204030204" pitchFamily="34" charset="0"/>
              </a:rPr>
              <a:t>The number of electrons in the valence shell determines the likelihood that an atom will form a chemical bond with another atom</a:t>
            </a:r>
          </a:p>
        </p:txBody>
      </p:sp>
      <p:pic>
        <p:nvPicPr>
          <p:cNvPr id="8" name="Content Placeholder 8" descr="A diagram shows a carbon atom with two electron shells along with its atomic number, mass number, and atomic mass. The inner ring of the carbon atom has 2 diametrically opposed electrons, and the outer ring has 4 diametrically opposed electrons. The nucleus is labeled 6 P plus, and 6 N zero. The atomic number equals 6, the mass number equals 12 or 13, and the atomic mass equals 12.01.">
            <a:extLst>
              <a:ext uri="{FF2B5EF4-FFF2-40B4-BE49-F238E27FC236}">
                <a16:creationId xmlns:a16="http://schemas.microsoft.com/office/drawing/2014/main" id="{1BF08A59-4C01-441A-81FE-06AF7B72B8C4}"/>
              </a:ext>
            </a:extLst>
          </p:cNvPr>
          <p:cNvPicPr>
            <a:picLocks noGrp="1" noChangeAspect="1"/>
          </p:cNvPicPr>
          <p:nvPr>
            <p:ph type="pic" sz="quarter" idx="20"/>
          </p:nvPr>
        </p:nvPicPr>
        <p:blipFill>
          <a:blip r:embed="rId2"/>
          <a:stretch>
            <a:fillRect/>
          </a:stretch>
        </p:blipFill>
        <p:spPr>
          <a:xfrm>
            <a:off x="2514600" y="3657600"/>
            <a:ext cx="3822699" cy="2679700"/>
          </a:xfrm>
          <a:prstGeom prst="rect">
            <a:avLst/>
          </a:prstGeom>
        </p:spPr>
      </p:pic>
    </p:spTree>
    <p:extLst>
      <p:ext uri="{BB962C8B-B14F-4D97-AF65-F5344CB8AC3E}">
        <p14:creationId xmlns:p14="http://schemas.microsoft.com/office/powerpoint/2010/main" val="4034932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1995EA-0407-4ECD-A97C-BE1D9CA4114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Ionic Bonds</a:t>
            </a:r>
          </a:p>
        </p:txBody>
      </p:sp>
      <p:sp>
        <p:nvSpPr>
          <p:cNvPr id="5" name="Content Placeholder 4">
            <a:extLst>
              <a:ext uri="{FF2B5EF4-FFF2-40B4-BE49-F238E27FC236}">
                <a16:creationId xmlns:a16="http://schemas.microsoft.com/office/drawing/2014/main" id="{364E4046-A95E-47F0-B31D-2F8F326EF1F8}"/>
              </a:ext>
            </a:extLst>
          </p:cNvPr>
          <p:cNvSpPr>
            <a:spLocks noGrp="1"/>
          </p:cNvSpPr>
          <p:nvPr>
            <p:ph sz="quarter" idx="16"/>
          </p:nvPr>
        </p:nvSpPr>
        <p:spPr>
          <a:xfrm>
            <a:off x="304800" y="1447801"/>
            <a:ext cx="4622800" cy="4648198"/>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Transfer of electrons</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One atom donates an electron to become a positively charged cation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One atom accepts an electron to become a negatively charged anion  </a:t>
            </a: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Opposite charges attract </a:t>
            </a:r>
          </a:p>
        </p:txBody>
      </p:sp>
      <p:pic>
        <p:nvPicPr>
          <p:cNvPr id="11" name="Content Placeholder 13" descr="Four diagrams, labeled a through d, show ionic bonds in different atoms and ions. Diagram (a) is labeled Sodium: 1 valence electron. A sodium atom has three electron shells, with 2 electrons in the first shell, 8 electrons in the second shell, and a single electron in the third shell. The donation of this single electron transforms the sodium atom into a sodium ion. The sodium ion, denoted by a plus sign, has 2 shells, with 2 electrons in the first shell and 8 electrons in the second.&#10;Diagram (b) is labeled Chlorine: 7 valence electrons. A chlorine atom has 3 electron shells, with 2 electrons in the first shell, 8 electrons in the second, and 7 electrons in the third shell. A second chlorine atom accepts the seventh electron, transforming the first one into a chlorine ion, denoted by a minus sign. The chlorine ion has 3 shells, with 2 electrons in the first shell, 8 electrons in the second, and 8 electrons in the third shell.&#10;Diagram (c) is labeled ionic bond in sodium chloride, N a C l. An attraction between a positive sodium ion and a negative chloride ion creates an ionic bond. Diagram (d) is labeled packing of ions in a crystal of sodium chloride and shows a cube-shaped structure made of spherical sodium and chloride ions.">
            <a:extLst>
              <a:ext uri="{FF2B5EF4-FFF2-40B4-BE49-F238E27FC236}">
                <a16:creationId xmlns:a16="http://schemas.microsoft.com/office/drawing/2014/main" id="{173D1514-D104-44E4-880E-F857793E3379}"/>
              </a:ext>
            </a:extLst>
          </p:cNvPr>
          <p:cNvPicPr>
            <a:picLocks noGrp="1" noChangeAspect="1"/>
          </p:cNvPicPr>
          <p:nvPr>
            <p:ph type="pic" sz="quarter" idx="4294967295"/>
          </p:nvPr>
        </p:nvPicPr>
        <p:blipFill>
          <a:blip r:embed="rId2" cstate="print">
            <a:extLst>
              <a:ext uri="{28A0092B-C50C-407E-A947-70E740481C1C}">
                <a14:useLocalDpi xmlns:a14="http://schemas.microsoft.com/office/drawing/2010/main" val="0"/>
              </a:ext>
            </a:extLst>
          </a:blip>
          <a:stretch>
            <a:fillRect/>
          </a:stretch>
        </p:blipFill>
        <p:spPr>
          <a:xfrm>
            <a:off x="4927600" y="850900"/>
            <a:ext cx="4076700" cy="5403850"/>
          </a:xfrm>
          <a:prstGeom prst="rect">
            <a:avLst/>
          </a:prstGeom>
        </p:spPr>
      </p:pic>
    </p:spTree>
    <p:extLst>
      <p:ext uri="{BB962C8B-B14F-4D97-AF65-F5344CB8AC3E}">
        <p14:creationId xmlns:p14="http://schemas.microsoft.com/office/powerpoint/2010/main" val="1338624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1995EA-0407-4ECD-A97C-BE1D9CA4114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Covalent Bonds </a:t>
            </a:r>
          </a:p>
        </p:txBody>
      </p:sp>
      <p:sp>
        <p:nvSpPr>
          <p:cNvPr id="2" name="Content Placeholder 1">
            <a:extLst>
              <a:ext uri="{FF2B5EF4-FFF2-40B4-BE49-F238E27FC236}">
                <a16:creationId xmlns:a16="http://schemas.microsoft.com/office/drawing/2014/main" id="{F9EAD702-BF07-4A29-AD9B-C7605E6B32B6}"/>
              </a:ext>
            </a:extLst>
          </p:cNvPr>
          <p:cNvSpPr>
            <a:spLocks noGrp="1"/>
          </p:cNvSpPr>
          <p:nvPr>
            <p:ph sz="quarter" idx="16"/>
          </p:nvPr>
        </p:nvSpPr>
        <p:spPr>
          <a:xfrm>
            <a:off x="304800" y="1460501"/>
            <a:ext cx="8534400" cy="4635498"/>
          </a:xfrm>
        </p:spPr>
        <p:txBody>
          <a:bodyPr/>
          <a:lstStyle/>
          <a:p>
            <a:pPr marL="457200" indent="-457200">
              <a:buFont typeface="Arial" panose="020B0604020202020204" pitchFamily="34" charset="0"/>
              <a:buChar char="•"/>
            </a:pPr>
            <a:r>
              <a:rPr lang="en-US" sz="3200" dirty="0"/>
              <a:t>The sharing of electron pairs </a:t>
            </a:r>
          </a:p>
          <a:p>
            <a:pPr marL="457200" indent="-457200">
              <a:buFont typeface="Arial" panose="020B0604020202020204" pitchFamily="34" charset="0"/>
              <a:buChar char="•"/>
            </a:pPr>
            <a:r>
              <a:rPr lang="en-US" sz="3200" dirty="0"/>
              <a:t>Single bond </a:t>
            </a:r>
          </a:p>
          <a:p>
            <a:pPr marL="1143000" lvl="1" indent="-457200">
              <a:buFont typeface="Arial" panose="020B0604020202020204" pitchFamily="34" charset="0"/>
              <a:buChar char="•"/>
            </a:pPr>
            <a:r>
              <a:rPr lang="en-US" sz="2800" dirty="0"/>
              <a:t>Shares one electron pair </a:t>
            </a:r>
          </a:p>
          <a:p>
            <a:pPr marL="1143000" lvl="1" indent="-457200">
              <a:buFont typeface="Arial" panose="020B0604020202020204" pitchFamily="34" charset="0"/>
              <a:buChar char="•"/>
            </a:pPr>
            <a:r>
              <a:rPr lang="en-US" sz="2800" dirty="0"/>
              <a:t>Indicated by a single, horizontal line </a:t>
            </a:r>
          </a:p>
          <a:p>
            <a:pPr marL="457200" indent="-457200">
              <a:buFont typeface="Arial" panose="020B0604020202020204" pitchFamily="34" charset="0"/>
              <a:buChar char="•"/>
            </a:pPr>
            <a:r>
              <a:rPr lang="en-US" sz="3200" dirty="0"/>
              <a:t>Double bond </a:t>
            </a:r>
          </a:p>
          <a:p>
            <a:pPr marL="1143000" lvl="1" indent="-457200">
              <a:buFont typeface="Arial" panose="020B0604020202020204" pitchFamily="34" charset="0"/>
              <a:buChar char="•"/>
            </a:pPr>
            <a:r>
              <a:rPr lang="en-US" sz="2800" dirty="0"/>
              <a:t>Shares two electron pairs </a:t>
            </a:r>
          </a:p>
          <a:p>
            <a:pPr marL="1143000" lvl="1" indent="-457200">
              <a:buFont typeface="Arial" panose="020B0604020202020204" pitchFamily="34" charset="0"/>
              <a:buChar char="•"/>
            </a:pPr>
            <a:r>
              <a:rPr lang="en-US" sz="2800" dirty="0"/>
              <a:t>Indicated by two horizontal lines</a:t>
            </a:r>
          </a:p>
          <a:p>
            <a:pPr marL="457200" indent="-457200">
              <a:buFont typeface="Arial" panose="020B0604020202020204" pitchFamily="34" charset="0"/>
              <a:buChar char="•"/>
            </a:pPr>
            <a:r>
              <a:rPr lang="en-US" sz="3200" dirty="0"/>
              <a:t>Triple bond </a:t>
            </a:r>
          </a:p>
          <a:p>
            <a:pPr marL="1143000" lvl="1" indent="-457200">
              <a:buFont typeface="Arial" panose="020B0604020202020204" pitchFamily="34" charset="0"/>
              <a:buChar char="•"/>
            </a:pPr>
            <a:r>
              <a:rPr lang="en-US" sz="2800" dirty="0"/>
              <a:t>Shares three electron pairs </a:t>
            </a:r>
          </a:p>
          <a:p>
            <a:pPr marL="1143000" lvl="1" indent="-457200">
              <a:buFont typeface="Arial" panose="020B0604020202020204" pitchFamily="34" charset="0"/>
              <a:buChar char="•"/>
            </a:pPr>
            <a:r>
              <a:rPr lang="en-US" sz="2800" dirty="0"/>
              <a:t>Indicated by three horizontal lines </a:t>
            </a:r>
          </a:p>
        </p:txBody>
      </p:sp>
    </p:spTree>
    <p:extLst>
      <p:ext uri="{BB962C8B-B14F-4D97-AF65-F5344CB8AC3E}">
        <p14:creationId xmlns:p14="http://schemas.microsoft.com/office/powerpoint/2010/main" val="3822605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9725C7-25B6-453C-B45A-F85D8132B5DC}"/>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Covalent Bonds </a:t>
            </a:r>
          </a:p>
        </p:txBody>
      </p:sp>
      <p:pic>
        <p:nvPicPr>
          <p:cNvPr id="16" name="Picture Placeholder 15" descr="Three diagrams, labeled a through c, illustrate atomic and molecular structures, structural formula, and molecular formula for different molecules. In diagram (a), 2 hydrogen atoms form a hydrogen molecule; the structural formula shows a single bond that joins 2 H, and the molecular formula is H 2. In diagram (b), 2 oxygen atoms form an oxygen molecule, the structural formula shows a double bond that joins 2 O, and the molecular formula is O 2. In diagram (c), 2 nitrogen atoms form a nitrogen molecule; the structural formula shows a triple bond that joins 2 N, and the molecular formula is N 2. The diagram continues on the next slide. ">
            <a:extLst>
              <a:ext uri="{FF2B5EF4-FFF2-40B4-BE49-F238E27FC236}">
                <a16:creationId xmlns:a16="http://schemas.microsoft.com/office/drawing/2014/main" id="{275C59B3-2C67-4D68-AA1C-2C5B88C78BA4}"/>
              </a:ext>
            </a:extLst>
          </p:cNvPr>
          <p:cNvPicPr>
            <a:picLocks noGrp="1" noChangeAspect="1"/>
          </p:cNvPicPr>
          <p:nvPr>
            <p:ph sz="quarter" idx="16"/>
          </p:nvPr>
        </p:nvPicPr>
        <p:blipFill>
          <a:blip r:embed="rId2"/>
          <a:stretch>
            <a:fillRect/>
          </a:stretch>
        </p:blipFill>
        <p:spPr>
          <a:xfrm>
            <a:off x="304800" y="1358900"/>
            <a:ext cx="8534400" cy="4902200"/>
          </a:xfrm>
          <a:prstGeom prst="rect">
            <a:avLst/>
          </a:prstGeom>
        </p:spPr>
      </p:pic>
    </p:spTree>
    <p:extLst>
      <p:ext uri="{BB962C8B-B14F-4D97-AF65-F5344CB8AC3E}">
        <p14:creationId xmlns:p14="http://schemas.microsoft.com/office/powerpoint/2010/main" val="938658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D2AE6D-BAD9-4E93-AF29-6B29C388858B}"/>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Covalent Bonds</a:t>
            </a:r>
          </a:p>
        </p:txBody>
      </p:sp>
      <p:pic>
        <p:nvPicPr>
          <p:cNvPr id="6" name="Content Placeholder 5">
            <a:extLst>
              <a:ext uri="{FF2B5EF4-FFF2-40B4-BE49-F238E27FC236}">
                <a16:creationId xmlns:a16="http://schemas.microsoft.com/office/drawing/2014/main" id="{87B7E095-5871-437A-B12A-A70A2920EC2A}"/>
              </a:ext>
            </a:extLst>
          </p:cNvPr>
          <p:cNvPicPr>
            <a:picLocks noGrp="1" noChangeAspect="1"/>
          </p:cNvPicPr>
          <p:nvPr>
            <p:ph sz="quarter" idx="17"/>
          </p:nvPr>
        </p:nvPicPr>
        <p:blipFill>
          <a:blip r:embed="rId2"/>
          <a:stretch>
            <a:fillRect/>
          </a:stretch>
        </p:blipFill>
        <p:spPr>
          <a:xfrm>
            <a:off x="4140200" y="1752600"/>
            <a:ext cx="4699000" cy="4000500"/>
          </a:xfrm>
          <a:prstGeom prst="rect">
            <a:avLst/>
          </a:prstGeom>
        </p:spPr>
      </p:pic>
      <p:sp>
        <p:nvSpPr>
          <p:cNvPr id="5" name="Content Placeholder 4">
            <a:extLst>
              <a:ext uri="{FF2B5EF4-FFF2-40B4-BE49-F238E27FC236}">
                <a16:creationId xmlns:a16="http://schemas.microsoft.com/office/drawing/2014/main" id="{22449854-CCA6-46C1-A929-7947292F4AEE}"/>
              </a:ext>
            </a:extLst>
          </p:cNvPr>
          <p:cNvSpPr>
            <a:spLocks noGrp="1"/>
          </p:cNvSpPr>
          <p:nvPr>
            <p:ph sz="quarter" idx="16"/>
          </p:nvPr>
        </p:nvSpPr>
        <p:spPr>
          <a:xfrm>
            <a:off x="304800" y="1752600"/>
            <a:ext cx="3835400" cy="4451350"/>
          </a:xfrm>
        </p:spPr>
        <p:txBody>
          <a:bodyPr/>
          <a:lstStyle/>
          <a:p>
            <a:pPr marL="457200" indent="-457200">
              <a:buFont typeface="Arial" panose="020B0604020202020204" pitchFamily="34" charset="0"/>
              <a:buChar char="•"/>
            </a:pPr>
            <a:r>
              <a:rPr lang="en-US" sz="3200" dirty="0"/>
              <a:t>Structural formula </a:t>
            </a:r>
          </a:p>
          <a:p>
            <a:pPr marL="1143000" lvl="1" indent="-457200">
              <a:buFont typeface="Arial" panose="020B0604020202020204" pitchFamily="34" charset="0"/>
              <a:buChar char="•"/>
            </a:pPr>
            <a:r>
              <a:rPr lang="en-US" sz="2800" dirty="0"/>
              <a:t>Indicates specific bond arrangement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Molecular formula </a:t>
            </a:r>
          </a:p>
          <a:p>
            <a:pPr marL="1143000" lvl="1" indent="-457200">
              <a:buFont typeface="Arial" panose="020B0604020202020204" pitchFamily="34" charset="0"/>
              <a:buChar char="•"/>
            </a:pPr>
            <a:r>
              <a:rPr lang="en-US" sz="2800" dirty="0"/>
              <a:t>Indicates number and type of each atom </a:t>
            </a:r>
          </a:p>
          <a:p>
            <a:pPr lvl="1" indent="0">
              <a:buNone/>
            </a:pPr>
            <a:endParaRPr lang="en-US" dirty="0"/>
          </a:p>
        </p:txBody>
      </p:sp>
    </p:spTree>
    <p:extLst>
      <p:ext uri="{BB962C8B-B14F-4D97-AF65-F5344CB8AC3E}">
        <p14:creationId xmlns:p14="http://schemas.microsoft.com/office/powerpoint/2010/main" val="1107779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959A921-1823-475B-9D09-495665FBE226}"/>
              </a:ext>
            </a:extLst>
          </p:cNvPr>
          <p:cNvSpPr>
            <a:spLocks noGrp="1"/>
          </p:cNvSpPr>
          <p:nvPr>
            <p:ph type="title"/>
          </p:nvPr>
        </p:nvSpPr>
        <p:spPr/>
        <p:txBody>
          <a:bodyPr/>
          <a:lstStyle/>
          <a:p>
            <a:r>
              <a:rPr lang="en-US" dirty="0"/>
              <a:t>Covalent Bonds </a:t>
            </a:r>
          </a:p>
        </p:txBody>
      </p:sp>
      <p:sp>
        <p:nvSpPr>
          <p:cNvPr id="9" name="Content Placeholder 8">
            <a:extLst>
              <a:ext uri="{FF2B5EF4-FFF2-40B4-BE49-F238E27FC236}">
                <a16:creationId xmlns:a16="http://schemas.microsoft.com/office/drawing/2014/main" id="{336FDC3D-8B58-4268-AE73-04105C11F26B}"/>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Polar</a:t>
            </a:r>
            <a:r>
              <a:rPr lang="en-US" dirty="0"/>
              <a:t> </a:t>
            </a:r>
          </a:p>
          <a:p>
            <a:pPr marL="1143000" lvl="1" indent="-457200">
              <a:buFont typeface="Arial" panose="020B0604020202020204" pitchFamily="34" charset="0"/>
              <a:buChar char="•"/>
            </a:pPr>
            <a:r>
              <a:rPr lang="en-US" sz="2800" dirty="0"/>
              <a:t>Unequal sharing of electrons </a:t>
            </a:r>
          </a:p>
          <a:p>
            <a:pPr marL="1600200" lvl="2" indent="-457200">
              <a:buFont typeface="Arial" panose="020B0604020202020204" pitchFamily="34" charset="0"/>
              <a:buChar char="•"/>
            </a:pPr>
            <a:r>
              <a:rPr lang="en-US" sz="2400" dirty="0"/>
              <a:t>Molecule “side” with electrons is partially negative; “side” waiting for electrons is partially positive </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sz="3200" dirty="0"/>
              <a:t>Nonpolar </a:t>
            </a:r>
          </a:p>
          <a:p>
            <a:pPr marL="1143000" lvl="1" indent="-457200">
              <a:buFont typeface="Arial" panose="020B0604020202020204" pitchFamily="34" charset="0"/>
              <a:buChar char="•"/>
            </a:pPr>
            <a:r>
              <a:rPr lang="en-US" sz="2800" dirty="0"/>
              <a:t>Equal sharing of electrons </a:t>
            </a:r>
          </a:p>
          <a:p>
            <a:pPr marL="1143000" lvl="1" indent="-457200">
              <a:buFont typeface="Arial" panose="020B0604020202020204" pitchFamily="34" charset="0"/>
              <a:buChar char="•"/>
            </a:pPr>
            <a:r>
              <a:rPr lang="en-US" sz="2800" dirty="0"/>
              <a:t>No partial charges associated with nonpolar molecules </a:t>
            </a:r>
          </a:p>
          <a:p>
            <a:pPr lvl="1" indent="0">
              <a:buNone/>
            </a:pPr>
            <a:endParaRPr lang="en-US" dirty="0"/>
          </a:p>
        </p:txBody>
      </p:sp>
    </p:spTree>
    <p:extLst>
      <p:ext uri="{BB962C8B-B14F-4D97-AF65-F5344CB8AC3E}">
        <p14:creationId xmlns:p14="http://schemas.microsoft.com/office/powerpoint/2010/main" val="3324105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0730DC-587B-42D7-8C86-241FAD063EB7}"/>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Hydrogen Bonds</a:t>
            </a:r>
          </a:p>
        </p:txBody>
      </p:sp>
      <p:sp>
        <p:nvSpPr>
          <p:cNvPr id="5" name="Content Placeholder 4">
            <a:extLst>
              <a:ext uri="{FF2B5EF4-FFF2-40B4-BE49-F238E27FC236}">
                <a16:creationId xmlns:a16="http://schemas.microsoft.com/office/drawing/2014/main" id="{25DB9A86-7870-4367-8293-337AB5B0C86F}"/>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Hydrogen bonds result from attraction of oppositely charged parts of molecules</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Indicated as a dotted line, since the bonds constantly break and reform </a:t>
            </a:r>
          </a:p>
        </p:txBody>
      </p:sp>
      <p:pic>
        <p:nvPicPr>
          <p:cNvPr id="11" name="Content Placeholder 7" descr="A diagram illustrates hydrogen bonds in a water molecules. A central water molecule is joined to 4 surrounding water molecules. The O atom of the central water molecule is bound to an H atom of other two water molecules and is labeled delta superscript negative. The both h atoms of the central water molecule are bound to O atom of other two water molecules and are labeled delta superscript positive. The bonds are labeled hydrogen bonds.">
            <a:extLst>
              <a:ext uri="{FF2B5EF4-FFF2-40B4-BE49-F238E27FC236}">
                <a16:creationId xmlns:a16="http://schemas.microsoft.com/office/drawing/2014/main" id="{D1610A1E-4DA4-4C24-A496-3897D2CBCFCB}"/>
              </a:ext>
            </a:extLst>
          </p:cNvPr>
          <p:cNvPicPr>
            <a:picLocks noGrp="1" noChangeAspect="1"/>
          </p:cNvPicPr>
          <p:nvPr>
            <p:ph sz="quarter" idx="17"/>
          </p:nvPr>
        </p:nvPicPr>
        <p:blipFill>
          <a:blip r:embed="rId2"/>
          <a:stretch>
            <a:fillRect/>
          </a:stretch>
        </p:blipFill>
        <p:spPr>
          <a:xfrm>
            <a:off x="4572000" y="1600201"/>
            <a:ext cx="4419600" cy="4211764"/>
          </a:xfrm>
          <a:prstGeom prst="rect">
            <a:avLst/>
          </a:prstGeom>
        </p:spPr>
      </p:pic>
    </p:spTree>
    <p:extLst>
      <p:ext uri="{BB962C8B-B14F-4D97-AF65-F5344CB8AC3E}">
        <p14:creationId xmlns:p14="http://schemas.microsoft.com/office/powerpoint/2010/main" val="4193193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5BF5-BE6C-42E9-85D8-14535D7BE41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Hydrogen Bonds and Water</a:t>
            </a:r>
          </a:p>
        </p:txBody>
      </p:sp>
      <p:sp>
        <p:nvSpPr>
          <p:cNvPr id="3" name="Content Placeholder 2">
            <a:extLst>
              <a:ext uri="{FF2B5EF4-FFF2-40B4-BE49-F238E27FC236}">
                <a16:creationId xmlns:a16="http://schemas.microsoft.com/office/drawing/2014/main" id="{F6C4A560-367C-45C7-AE6E-6223034DB2A8}"/>
              </a:ext>
            </a:extLst>
          </p:cNvPr>
          <p:cNvSpPr>
            <a:spLocks noGrp="1"/>
          </p:cNvSpPr>
          <p:nvPr>
            <p:ph sz="quarter" idx="16"/>
          </p:nvPr>
        </p:nvSpPr>
        <p:spPr>
          <a:xfrm>
            <a:off x="304800" y="1752600"/>
            <a:ext cx="8534400" cy="3962400"/>
          </a:xfrm>
        </p:spPr>
        <p:txBody>
          <a:bodyPr/>
          <a:lstStyle/>
          <a:p>
            <a:pPr marL="292608" indent="-292608">
              <a:lnSpc>
                <a:spcPct val="100000"/>
              </a:lnSpc>
              <a:spcBef>
                <a:spcPts val="600"/>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Hydrogen bonds between water molecules give water cohesion</a:t>
            </a:r>
          </a:p>
          <a:p>
            <a:pPr marL="571500" lvl="1" indent="-342900">
              <a:lnSpc>
                <a:spcPct val="100000"/>
              </a:lnSpc>
              <a:spcBef>
                <a:spcPts val="600"/>
              </a:spcBef>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Cohesion is the tendency of like particles to stay together</a:t>
            </a:r>
          </a:p>
          <a:p>
            <a:pPr marL="292608" indent="-292608">
              <a:lnSpc>
                <a:spcPct val="100000"/>
              </a:lnSpc>
              <a:spcBef>
                <a:spcPts val="600"/>
              </a:spcBef>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292608" indent="-292608">
              <a:lnSpc>
                <a:spcPct val="100000"/>
              </a:lnSpc>
              <a:spcBef>
                <a:spcPts val="600"/>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Hydrogen bonds create surface tension</a:t>
            </a:r>
          </a:p>
          <a:p>
            <a:pPr lvl="1" indent="-457200">
              <a:lnSpc>
                <a:spcPct val="100000"/>
              </a:lnSpc>
              <a:spcBef>
                <a:spcPts val="600"/>
              </a:spcBef>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Surface tension is a measure of the difficulty of stretching or breaking the surface of a liquid</a:t>
            </a:r>
          </a:p>
        </p:txBody>
      </p:sp>
    </p:spTree>
    <p:extLst>
      <p:ext uri="{BB962C8B-B14F-4D97-AF65-F5344CB8AC3E}">
        <p14:creationId xmlns:p14="http://schemas.microsoft.com/office/powerpoint/2010/main" val="1061357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8567C63-7972-402B-9CC8-92EBB48EA08D}"/>
              </a:ext>
            </a:extLst>
          </p:cNvPr>
          <p:cNvSpPr>
            <a:spLocks noGrp="1"/>
          </p:cNvSpPr>
          <p:nvPr>
            <p:ph type="title"/>
          </p:nvPr>
        </p:nvSpPr>
        <p:spPr>
          <a:xfrm>
            <a:off x="304800" y="3017521"/>
            <a:ext cx="8534400" cy="822959"/>
          </a:xfrm>
        </p:spPr>
        <p:txBody>
          <a:bodyPr/>
          <a:lstStyle/>
          <a:p>
            <a:pPr algn="ctr"/>
            <a:r>
              <a:rPr lang="en-US" b="1" dirty="0">
                <a:latin typeface="Calibri" panose="020F0502020204030204" pitchFamily="34" charset="0"/>
                <a:cs typeface="Calibri" panose="020F0502020204030204" pitchFamily="34" charset="0"/>
              </a:rPr>
              <a:t>Chemical Reactions </a:t>
            </a:r>
          </a:p>
        </p:txBody>
      </p:sp>
    </p:spTree>
    <p:extLst>
      <p:ext uri="{BB962C8B-B14F-4D97-AF65-F5344CB8AC3E}">
        <p14:creationId xmlns:p14="http://schemas.microsoft.com/office/powerpoint/2010/main" val="2954901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6075A0-ADBF-4B3E-93EA-538CD3D9E8EC}"/>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Chemical Reactions</a:t>
            </a:r>
          </a:p>
        </p:txBody>
      </p:sp>
      <p:sp>
        <p:nvSpPr>
          <p:cNvPr id="5" name="Content Placeholder 4">
            <a:extLst>
              <a:ext uri="{FF2B5EF4-FFF2-40B4-BE49-F238E27FC236}">
                <a16:creationId xmlns:a16="http://schemas.microsoft.com/office/drawing/2014/main" id="{548FDE19-D024-41CE-9685-135D426F7D68}"/>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Chemical reactions occur when new bonds are formed or old bonds are broken</a:t>
            </a:r>
          </a:p>
          <a:p>
            <a:pPr marL="645300" lvl="1" indent="-342900">
              <a:spcBef>
                <a:spcPts val="1000"/>
              </a:spcBef>
              <a:buClr>
                <a:schemeClr val="accent2"/>
              </a:buClr>
              <a:buSzPct val="100000"/>
            </a:pPr>
            <a:r>
              <a:rPr lang="en-US" sz="2800" dirty="0">
                <a:latin typeface="Calibri" panose="020F0502020204030204" pitchFamily="34" charset="0"/>
                <a:cs typeface="Calibri" panose="020F0502020204030204" pitchFamily="34" charset="0"/>
              </a:rPr>
              <a:t>Reactants – starting substances</a:t>
            </a:r>
          </a:p>
          <a:p>
            <a:pPr marL="645300" lvl="1" indent="-342900">
              <a:spcBef>
                <a:spcPts val="1000"/>
              </a:spcBef>
              <a:buClr>
                <a:schemeClr val="accent2"/>
              </a:buClr>
              <a:buSzPct val="100000"/>
            </a:pPr>
            <a:r>
              <a:rPr lang="en-US" sz="2800" dirty="0">
                <a:latin typeface="Calibri" panose="020F0502020204030204" pitchFamily="34" charset="0"/>
                <a:cs typeface="Calibri" panose="020F0502020204030204" pitchFamily="34" charset="0"/>
              </a:rPr>
              <a:t>Products – ending substances</a:t>
            </a:r>
          </a:p>
          <a:p>
            <a:pPr marL="645300" lvl="1" indent="-342900">
              <a:spcBef>
                <a:spcPts val="1000"/>
              </a:spcBef>
              <a:buClr>
                <a:schemeClr val="accent2"/>
              </a:buClr>
              <a:buSzPct val="100000"/>
            </a:pPr>
            <a:r>
              <a:rPr lang="en-US" sz="2800" dirty="0">
                <a:latin typeface="Calibri" panose="020F0502020204030204" pitchFamily="34" charset="0"/>
                <a:cs typeface="Calibri" panose="020F0502020204030204" pitchFamily="34" charset="0"/>
              </a:rPr>
              <a:t>Metabolism – all reactions in a body</a:t>
            </a:r>
            <a:r>
              <a:rPr lang="en-US" sz="2600" dirty="0">
                <a:latin typeface="Calibri" panose="020F0502020204030204" pitchFamily="34" charset="0"/>
                <a:cs typeface="Calibri" panose="020F0502020204030204" pitchFamily="34" charset="0"/>
              </a:rPr>
              <a:t> </a:t>
            </a:r>
          </a:p>
          <a:p>
            <a:pPr marL="1102500" lvl="2" indent="-342900">
              <a:spcBef>
                <a:spcPts val="1000"/>
              </a:spcBef>
              <a:buClr>
                <a:schemeClr val="accent2"/>
              </a:buClr>
              <a:buSzPct val="100000"/>
            </a:pPr>
            <a:r>
              <a:rPr lang="en-US" sz="2400" dirty="0">
                <a:latin typeface="Calibri" panose="020F0502020204030204" pitchFamily="34" charset="0"/>
                <a:cs typeface="Calibri" panose="020F0502020204030204" pitchFamily="34" charset="0"/>
              </a:rPr>
              <a:t>Catabolic reactions</a:t>
            </a:r>
          </a:p>
          <a:p>
            <a:pPr marL="1559700" lvl="3" indent="-342900">
              <a:spcBef>
                <a:spcPts val="1000"/>
              </a:spcBef>
              <a:buClr>
                <a:schemeClr val="accent2"/>
              </a:buClr>
              <a:buSzPct val="100000"/>
            </a:pPr>
            <a:r>
              <a:rPr lang="en-US" sz="2000" dirty="0">
                <a:latin typeface="Calibri" panose="020F0502020204030204" pitchFamily="34" charset="0"/>
                <a:cs typeface="Calibri" panose="020F0502020204030204" pitchFamily="34" charset="0"/>
              </a:rPr>
              <a:t>Releases energy by breaking down larger molecules into smaller ones  </a:t>
            </a:r>
          </a:p>
          <a:p>
            <a:pPr marL="1102500" lvl="2" indent="-342900">
              <a:spcBef>
                <a:spcPts val="1000"/>
              </a:spcBef>
              <a:buClr>
                <a:schemeClr val="accent2"/>
              </a:buClr>
              <a:buSzPct val="100000"/>
            </a:pPr>
            <a:r>
              <a:rPr lang="en-US" sz="2400" dirty="0">
                <a:latin typeface="Calibri" panose="020F0502020204030204" pitchFamily="34" charset="0"/>
                <a:cs typeface="Calibri" panose="020F0502020204030204" pitchFamily="34" charset="0"/>
              </a:rPr>
              <a:t>Anabolic reactions</a:t>
            </a:r>
          </a:p>
          <a:p>
            <a:pPr marL="1559700" lvl="3" indent="-342900">
              <a:spcBef>
                <a:spcPts val="1000"/>
              </a:spcBef>
              <a:buClr>
                <a:schemeClr val="accent2"/>
              </a:buClr>
              <a:buSzPct val="100000"/>
            </a:pPr>
            <a:r>
              <a:rPr lang="en-US" sz="2000" dirty="0">
                <a:latin typeface="Calibri" panose="020F0502020204030204" pitchFamily="34" charset="0"/>
                <a:cs typeface="Calibri" panose="020F0502020204030204" pitchFamily="34" charset="0"/>
              </a:rPr>
              <a:t>Requires energy to form larger molecules from smaller ones  </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528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8F90AC-98E2-4029-8190-78D6ECFC7D41}"/>
              </a:ext>
            </a:extLst>
          </p:cNvPr>
          <p:cNvSpPr>
            <a:spLocks noGrp="1"/>
          </p:cNvSpPr>
          <p:nvPr>
            <p:ph type="title"/>
          </p:nvPr>
        </p:nvSpPr>
        <p:spPr/>
        <p:txBody>
          <a:bodyPr/>
          <a:lstStyle/>
          <a:p>
            <a:r>
              <a:rPr lang="en-US" dirty="0"/>
              <a:t>Chemical Reactions </a:t>
            </a:r>
          </a:p>
        </p:txBody>
      </p:sp>
      <p:pic>
        <p:nvPicPr>
          <p:cNvPr id="10" name="Content Placeholder 9">
            <a:extLst>
              <a:ext uri="{FF2B5EF4-FFF2-40B4-BE49-F238E27FC236}">
                <a16:creationId xmlns:a16="http://schemas.microsoft.com/office/drawing/2014/main" id="{1F02A28D-7A6D-4A10-B6D9-CBE8DC28A48C}"/>
              </a:ext>
            </a:extLst>
          </p:cNvPr>
          <p:cNvPicPr>
            <a:picLocks noGrp="1" noChangeAspect="1"/>
          </p:cNvPicPr>
          <p:nvPr>
            <p:ph sz="quarter" idx="16"/>
          </p:nvPr>
        </p:nvPicPr>
        <p:blipFill>
          <a:blip r:embed="rId2"/>
          <a:stretch>
            <a:fillRect/>
          </a:stretch>
        </p:blipFill>
        <p:spPr>
          <a:xfrm>
            <a:off x="546100" y="1993900"/>
            <a:ext cx="8204200" cy="3771900"/>
          </a:xfrm>
          <a:prstGeom prst="rect">
            <a:avLst/>
          </a:prstGeom>
        </p:spPr>
      </p:pic>
    </p:spTree>
    <p:extLst>
      <p:ext uri="{BB962C8B-B14F-4D97-AF65-F5344CB8AC3E}">
        <p14:creationId xmlns:p14="http://schemas.microsoft.com/office/powerpoint/2010/main" val="2221413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5BF5-BE6C-42E9-85D8-14535D7BE41A}"/>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Forms of Energy &amp; Chemical Reactions</a:t>
            </a:r>
          </a:p>
        </p:txBody>
      </p:sp>
      <p:sp>
        <p:nvSpPr>
          <p:cNvPr id="3" name="Content Placeholder 2">
            <a:extLst>
              <a:ext uri="{FF2B5EF4-FFF2-40B4-BE49-F238E27FC236}">
                <a16:creationId xmlns:a16="http://schemas.microsoft.com/office/drawing/2014/main" id="{F6C4A560-367C-45C7-AE6E-6223034DB2A8}"/>
              </a:ext>
            </a:extLst>
          </p:cNvPr>
          <p:cNvSpPr>
            <a:spLocks noGrp="1"/>
          </p:cNvSpPr>
          <p:nvPr>
            <p:ph sz="quarter" idx="16"/>
          </p:nvPr>
        </p:nvSpPr>
        <p:spPr>
          <a:xfrm>
            <a:off x="304800" y="1752599"/>
            <a:ext cx="8534400" cy="3559629"/>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Energy is the capacity to do work</a:t>
            </a:r>
          </a:p>
          <a:p>
            <a:pPr lvl="1" indent="-384175">
              <a:spcBef>
                <a:spcPts val="1000"/>
              </a:spcBef>
              <a:buClr>
                <a:schemeClr val="accent2"/>
              </a:buClr>
              <a:buSzPct val="100000"/>
            </a:pPr>
            <a:r>
              <a:rPr lang="en-US" sz="2800" dirty="0">
                <a:latin typeface="Calibri" panose="020F0502020204030204" pitchFamily="34" charset="0"/>
                <a:cs typeface="Calibri" panose="020F0502020204030204" pitchFamily="34" charset="0"/>
              </a:rPr>
              <a:t>Potential energy </a:t>
            </a:r>
          </a:p>
          <a:p>
            <a:pPr lvl="1" indent="-384175">
              <a:spcBef>
                <a:spcPts val="1000"/>
              </a:spcBef>
              <a:buClr>
                <a:schemeClr val="accent2"/>
              </a:buClr>
              <a:buSzPct val="100000"/>
            </a:pPr>
            <a:r>
              <a:rPr lang="en-US" sz="2800" dirty="0">
                <a:latin typeface="Calibri" panose="020F0502020204030204" pitchFamily="34" charset="0"/>
                <a:cs typeface="Calibri" panose="020F0502020204030204" pitchFamily="34" charset="0"/>
              </a:rPr>
              <a:t>Kinetic energy</a:t>
            </a:r>
          </a:p>
          <a:p>
            <a:pPr lvl="1" indent="-384175">
              <a:spcBef>
                <a:spcPts val="1000"/>
              </a:spcBef>
              <a:buClr>
                <a:schemeClr val="accent2"/>
              </a:buClr>
              <a:buSzPct val="100000"/>
            </a:pPr>
            <a:r>
              <a:rPr lang="en-US" sz="2800" dirty="0">
                <a:latin typeface="Calibri" panose="020F0502020204030204" pitchFamily="34" charset="0"/>
                <a:cs typeface="Calibri" panose="020F0502020204030204" pitchFamily="34" charset="0"/>
              </a:rPr>
              <a:t>Chemical energy</a:t>
            </a:r>
          </a:p>
          <a:p>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Law of conservation of energy – energy can neither be created nor destroyed but it can be converted from one form to another</a:t>
            </a:r>
          </a:p>
        </p:txBody>
      </p:sp>
    </p:spTree>
    <p:extLst>
      <p:ext uri="{BB962C8B-B14F-4D97-AF65-F5344CB8AC3E}">
        <p14:creationId xmlns:p14="http://schemas.microsoft.com/office/powerpoint/2010/main" val="122341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Energy Transfer</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215900" y="1460500"/>
            <a:ext cx="5308600" cy="4591050"/>
          </a:xfrm>
        </p:spPr>
        <p:txBody>
          <a:bodyPr/>
          <a:lstStyle/>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Exergonic reactions</a:t>
            </a:r>
          </a:p>
          <a:p>
            <a:pPr marL="978408" lvl="1" indent="-292608">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Reactants have greater energy than products </a:t>
            </a:r>
          </a:p>
          <a:p>
            <a:pPr marL="1435608" lvl="2" indent="-292608">
              <a:buClr>
                <a:schemeClr val="accent2"/>
              </a:buClr>
              <a:buSzPct val="100000"/>
              <a:buFont typeface="Arial" panose="020B0604020202020204" pitchFamily="34" charset="0"/>
              <a:buChar char="•"/>
            </a:pPr>
            <a:r>
              <a:rPr lang="en-US" sz="2400" dirty="0">
                <a:latin typeface="Calibri" panose="020F0502020204030204" pitchFamily="34" charset="0"/>
                <a:cs typeface="Calibri" panose="020F0502020204030204" pitchFamily="34" charset="0"/>
              </a:rPr>
              <a:t>Releases energy </a:t>
            </a:r>
          </a:p>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Endergonic reactions</a:t>
            </a:r>
          </a:p>
          <a:p>
            <a:pPr marL="978408" lvl="1" indent="-292608">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Products have greater energy than reactants </a:t>
            </a:r>
          </a:p>
          <a:p>
            <a:pPr marL="1435608" lvl="2" indent="-292608">
              <a:buClr>
                <a:schemeClr val="accent2"/>
              </a:buClr>
              <a:buSzPct val="100000"/>
              <a:buFont typeface="Arial" panose="020B0604020202020204" pitchFamily="34" charset="0"/>
              <a:buChar char="•"/>
            </a:pPr>
            <a:r>
              <a:rPr lang="en-US" sz="2400" dirty="0">
                <a:latin typeface="Calibri" panose="020F0502020204030204" pitchFamily="34" charset="0"/>
                <a:cs typeface="Calibri" panose="020F0502020204030204" pitchFamily="34" charset="0"/>
              </a:rPr>
              <a:t>Requires energy </a:t>
            </a:r>
          </a:p>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Activation energy</a:t>
            </a:r>
          </a:p>
          <a:p>
            <a:pPr marL="978408" lvl="1" indent="-292608">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Energy required to initially start a chemical reaction </a:t>
            </a:r>
          </a:p>
        </p:txBody>
      </p:sp>
      <p:pic>
        <p:nvPicPr>
          <p:cNvPr id="11" name="Content Placeholder 7" descr="A graph illustrates energy transfer in chemical reactions. The horizontal axis represents progress of the reaction from left to right and the vertical axis represents potential energy increasing from bottom to top. A line representing the activation energy required for the reaction to occur begins horizontally at a bar labeled energy of reactants. It then rises to a maximum (the threshold), before dropping sharply to a bar labeled energy of products. A horizontal dashed line extends from the point where the activation energy curve begins to the point where it intersects the curve again. The amount of energy absorbed must exceed threshold for the reaction to occur. The difference between the potential energy of the reactants and the potential energy of the products represents energy that is released as new bonds form.">
            <a:extLst>
              <a:ext uri="{FF2B5EF4-FFF2-40B4-BE49-F238E27FC236}">
                <a16:creationId xmlns:a16="http://schemas.microsoft.com/office/drawing/2014/main" id="{6DED470D-BB69-49A2-8A83-06C234B6675A}"/>
              </a:ext>
            </a:extLst>
          </p:cNvPr>
          <p:cNvPicPr>
            <a:picLocks noGrp="1" noChangeAspect="1"/>
          </p:cNvPicPr>
          <p:nvPr>
            <p:ph sz="quarter" idx="17"/>
          </p:nvPr>
        </p:nvPicPr>
        <p:blipFill>
          <a:blip r:embed="rId2"/>
          <a:stretch>
            <a:fillRect/>
          </a:stretch>
        </p:blipFill>
        <p:spPr>
          <a:xfrm>
            <a:off x="5143500" y="1460499"/>
            <a:ext cx="3784600" cy="4635499"/>
          </a:xfrm>
          <a:prstGeom prst="rect">
            <a:avLst/>
          </a:prstGeom>
        </p:spPr>
      </p:pic>
    </p:spTree>
    <p:extLst>
      <p:ext uri="{BB962C8B-B14F-4D97-AF65-F5344CB8AC3E}">
        <p14:creationId xmlns:p14="http://schemas.microsoft.com/office/powerpoint/2010/main" val="31041444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Catalysts</a:t>
            </a:r>
          </a:p>
        </p:txBody>
      </p:sp>
      <p:pic>
        <p:nvPicPr>
          <p:cNvPr id="6" name="Content Placeholder 5">
            <a:extLst>
              <a:ext uri="{FF2B5EF4-FFF2-40B4-BE49-F238E27FC236}">
                <a16:creationId xmlns:a16="http://schemas.microsoft.com/office/drawing/2014/main" id="{71154BB3-6C45-42B8-8073-AAE1A51291E1}"/>
              </a:ext>
            </a:extLst>
          </p:cNvPr>
          <p:cNvPicPr>
            <a:picLocks noGrp="1" noChangeAspect="1"/>
          </p:cNvPicPr>
          <p:nvPr>
            <p:ph sz="quarter" idx="17"/>
          </p:nvPr>
        </p:nvPicPr>
        <p:blipFill>
          <a:blip r:embed="rId2"/>
          <a:stretch>
            <a:fillRect/>
          </a:stretch>
        </p:blipFill>
        <p:spPr>
          <a:xfrm>
            <a:off x="4495800" y="1676401"/>
            <a:ext cx="4521200" cy="4280026"/>
          </a:xfrm>
          <a:prstGeom prst="rect">
            <a:avLst/>
          </a:prstGeom>
        </p:spPr>
      </p:pic>
      <p:sp>
        <p:nvSpPr>
          <p:cNvPr id="5" name="Content Placeholder 4">
            <a:extLst>
              <a:ext uri="{FF2B5EF4-FFF2-40B4-BE49-F238E27FC236}">
                <a16:creationId xmlns:a16="http://schemas.microsoft.com/office/drawing/2014/main" id="{C8816338-79D9-4291-B758-C12EA5AD72A1}"/>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Lower activation energy requirements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Speeds up chemical reactions </a:t>
            </a:r>
          </a:p>
          <a:p>
            <a:pPr marL="1143000" lvl="1" indent="-457200">
              <a:buFont typeface="Arial" panose="020B0604020202020204" pitchFamily="34" charset="0"/>
              <a:buChar char="•"/>
            </a:pPr>
            <a:r>
              <a:rPr lang="en-US" sz="2800" dirty="0"/>
              <a:t>Enzymes are biological catalysts </a:t>
            </a:r>
          </a:p>
        </p:txBody>
      </p:sp>
    </p:spTree>
    <p:extLst>
      <p:ext uri="{BB962C8B-B14F-4D97-AF65-F5344CB8AC3E}">
        <p14:creationId xmlns:p14="http://schemas.microsoft.com/office/powerpoint/2010/main" val="1239488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8567C63-7972-402B-9CC8-92EBB48EA08D}"/>
              </a:ext>
            </a:extLst>
          </p:cNvPr>
          <p:cNvSpPr>
            <a:spLocks noGrp="1"/>
          </p:cNvSpPr>
          <p:nvPr>
            <p:ph type="title"/>
          </p:nvPr>
        </p:nvSpPr>
        <p:spPr>
          <a:xfrm>
            <a:off x="304800" y="3017521"/>
            <a:ext cx="8534400" cy="822959"/>
          </a:xfrm>
        </p:spPr>
        <p:txBody>
          <a:bodyPr/>
          <a:lstStyle/>
          <a:p>
            <a:pPr algn="ctr"/>
            <a:r>
              <a:rPr lang="en-US" b="1" dirty="0">
                <a:latin typeface="Calibri" panose="020F0502020204030204" pitchFamily="34" charset="0"/>
                <a:cs typeface="Calibri" panose="020F0502020204030204" pitchFamily="34" charset="0"/>
              </a:rPr>
              <a:t>Types of Chemical Reactions</a:t>
            </a:r>
          </a:p>
        </p:txBody>
      </p:sp>
    </p:spTree>
    <p:extLst>
      <p:ext uri="{BB962C8B-B14F-4D97-AF65-F5344CB8AC3E}">
        <p14:creationId xmlns:p14="http://schemas.microsoft.com/office/powerpoint/2010/main" val="2915092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Types of Chemical Reactions</a:t>
            </a:r>
            <a:r>
              <a:rPr lang="en-US" sz="100" dirty="0">
                <a:latin typeface="Calibri" panose="020F0502020204030204" pitchFamily="34" charset="0"/>
                <a:cs typeface="Calibri" panose="020F0502020204030204" pitchFamily="34" charset="0"/>
              </a:rPr>
              <a:t> </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1422400"/>
            <a:ext cx="8534400" cy="4952999"/>
          </a:xfrm>
        </p:spPr>
        <p:txBody>
          <a:bodyPr/>
          <a:lstStyle/>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Synthesis</a:t>
            </a:r>
          </a:p>
          <a:p>
            <a:pPr marL="457200" indent="-457200">
              <a:buClr>
                <a:schemeClr val="accent2"/>
              </a:buClr>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Decomposition</a:t>
            </a:r>
          </a:p>
          <a:p>
            <a:pPr marL="457200" indent="-457200">
              <a:buClr>
                <a:schemeClr val="accent2"/>
              </a:buClr>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Exchange</a:t>
            </a:r>
          </a:p>
          <a:p>
            <a:pPr marL="457200" indent="-457200">
              <a:buClr>
                <a:schemeClr val="accent2"/>
              </a:buClr>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Reversible</a:t>
            </a:r>
          </a:p>
          <a:p>
            <a:pPr marL="457200" indent="-457200">
              <a:buClr>
                <a:schemeClr val="accent2"/>
              </a:buClr>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Oxidation-reduction</a:t>
            </a:r>
          </a:p>
          <a:p>
            <a:pPr marL="457200" indent="-457200">
              <a:buClr>
                <a:schemeClr val="accent2"/>
              </a:buCl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457200" indent="-457200">
              <a:buClr>
                <a:schemeClr val="accent2"/>
              </a:buCl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1143000" lvl="1" indent="-457200">
              <a:buClr>
                <a:schemeClr val="accent2"/>
              </a:buClr>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29884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Synthesis Reactions - Anabolism</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1752600"/>
            <a:ext cx="8534400" cy="914400"/>
          </a:xfrm>
        </p:spPr>
        <p:txBody>
          <a:bodyPr/>
          <a:lstStyle/>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When two or more ions, atoms or molecules combine to form new and larger molecules</a:t>
            </a:r>
          </a:p>
        </p:txBody>
      </p:sp>
      <p:pic>
        <p:nvPicPr>
          <p:cNvPr id="11" name="Picture Placeholder 10" descr="An illustration shows a synthesis reaction. 2 H subscript 2 (two hydrogen molecules) plus O subscript 2 (one oxygen molecule) combine to form 2 H subscript 2 O (two water molecules). Below the chemical equation is the structural representation that shows two red rectangles, each contains two red squares plus blue rectangle, a forward arrow, two rectangles, each contains two red squares and a half-blue rectangle. A red square denotes H and a blue rectangle denotes O subscript 2, and a half-blue rectangle denotes O.">
            <a:extLst>
              <a:ext uri="{FF2B5EF4-FFF2-40B4-BE49-F238E27FC236}">
                <a16:creationId xmlns:a16="http://schemas.microsoft.com/office/drawing/2014/main" id="{8A7DD4DA-1780-470C-820C-A5D7B0C19EED}"/>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tretch>
            <a:fillRect/>
          </a:stretch>
        </p:blipFill>
        <p:spPr>
          <a:xfrm>
            <a:off x="889000" y="2819400"/>
            <a:ext cx="7594600" cy="3429000"/>
          </a:xfrm>
          <a:prstGeom prst="rect">
            <a:avLst/>
          </a:prstGeom>
        </p:spPr>
      </p:pic>
    </p:spTree>
    <p:extLst>
      <p:ext uri="{BB962C8B-B14F-4D97-AF65-F5344CB8AC3E}">
        <p14:creationId xmlns:p14="http://schemas.microsoft.com/office/powerpoint/2010/main" val="36957403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normAutofit/>
          </a:bodyPr>
          <a:lstStyle/>
          <a:p>
            <a:r>
              <a:rPr lang="en-US" sz="3600" dirty="0">
                <a:latin typeface="Calibri" panose="020F0502020204030204" pitchFamily="34" charset="0"/>
                <a:cs typeface="Calibri" panose="020F0502020204030204" pitchFamily="34" charset="0"/>
              </a:rPr>
              <a:t>Decomposition Reactions - Catabolism</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1752600"/>
            <a:ext cx="8534400" cy="914400"/>
          </a:xfrm>
        </p:spPr>
        <p:txBody>
          <a:bodyPr/>
          <a:lstStyle/>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When large molecules are split into smaller atoms, ions, atoms or molecules</a:t>
            </a:r>
          </a:p>
        </p:txBody>
      </p:sp>
      <p:pic>
        <p:nvPicPr>
          <p:cNvPr id="7" name="Picture Placeholder 6" descr="An illustration shows a decomposition reaction. C H subscript 4 (one methane molecule) breaks down into C (one carbon atom) plus 2 H subscript 2 (Two hydrogen molecules). Below the chemical equation is the structural representation that shows a brown rectangle with green in the center, a forward arrow, a green rectangle plus two brown rectangles. Green represents carbon and brown represents two hydrogen molecules.">
            <a:extLst>
              <a:ext uri="{FF2B5EF4-FFF2-40B4-BE49-F238E27FC236}">
                <a16:creationId xmlns:a16="http://schemas.microsoft.com/office/drawing/2014/main" id="{1DE94DA9-5D02-47CF-9758-81ECF489A2E5}"/>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tretch>
            <a:fillRect/>
          </a:stretch>
        </p:blipFill>
        <p:spPr>
          <a:xfrm>
            <a:off x="584200" y="2819400"/>
            <a:ext cx="7962899" cy="3416300"/>
          </a:xfrm>
          <a:prstGeom prst="rect">
            <a:avLst/>
          </a:prstGeom>
        </p:spPr>
      </p:pic>
    </p:spTree>
    <p:extLst>
      <p:ext uri="{BB962C8B-B14F-4D97-AF65-F5344CB8AC3E}">
        <p14:creationId xmlns:p14="http://schemas.microsoft.com/office/powerpoint/2010/main" val="3311939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Exchange Reactions</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1513115"/>
            <a:ext cx="8534400" cy="838199"/>
          </a:xfrm>
        </p:spPr>
        <p:txBody>
          <a:bodyPr/>
          <a:lstStyle/>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Include both synthesis and decomposition reactions</a:t>
            </a:r>
          </a:p>
        </p:txBody>
      </p:sp>
      <p:pic>
        <p:nvPicPr>
          <p:cNvPr id="8" name="Picture Placeholder 7" descr="An illustration shows an exchange reaction. H C l (Hydrochloric acid) plus N a H C O subscript 3 (Sodium bicarbonate) leads to H subscript 2 C O subscript 3 (Carbonic acid) plus N a C l (Sodium chloride). Below the chemical equation is the structural representation of the reaction where the molecules are denoted in rectangles with different colors. Brown – H; Green – C l; Red – N a; Blue – H C O subscript 3.">
            <a:extLst>
              <a:ext uri="{FF2B5EF4-FFF2-40B4-BE49-F238E27FC236}">
                <a16:creationId xmlns:a16="http://schemas.microsoft.com/office/drawing/2014/main" id="{1B206DC5-2E94-4FC5-9230-C1C1AD7960C2}"/>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tretch>
            <a:fillRect/>
          </a:stretch>
        </p:blipFill>
        <p:spPr>
          <a:xfrm>
            <a:off x="457200" y="2562319"/>
            <a:ext cx="8293100" cy="3724181"/>
          </a:xfrm>
          <a:prstGeom prst="rect">
            <a:avLst/>
          </a:prstGeom>
        </p:spPr>
      </p:pic>
    </p:spTree>
    <p:extLst>
      <p:ext uri="{BB962C8B-B14F-4D97-AF65-F5344CB8AC3E}">
        <p14:creationId xmlns:p14="http://schemas.microsoft.com/office/powerpoint/2010/main" val="1854235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Reversible Reactions</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1422400"/>
            <a:ext cx="8534400" cy="1768475"/>
          </a:xfrm>
        </p:spPr>
        <p:txBody>
          <a:bodyPr/>
          <a:lstStyle/>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Can proceed in either direction, as indicated by the double arrows.</a:t>
            </a:r>
          </a:p>
          <a:p>
            <a:pPr marL="457200" indent="-457200">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Products can revert to original reactants</a:t>
            </a:r>
          </a:p>
        </p:txBody>
      </p:sp>
      <p:pic>
        <p:nvPicPr>
          <p:cNvPr id="11" name="Picture Placeholder 10" descr="An illustration shows a reversible reaction. A B breaks down into A plus B in the presence of water and A plus B combines to form A B by the action of heat. Below the chemical equation is the structural representation of the reaction where A and B are denoted in two rectangles (yellow and violet) placed one above the other, an irreversible arrow and a yellow rectangle plus violet rectangle.">
            <a:extLst>
              <a:ext uri="{FF2B5EF4-FFF2-40B4-BE49-F238E27FC236}">
                <a16:creationId xmlns:a16="http://schemas.microsoft.com/office/drawing/2014/main" id="{43B8D6AC-3FDD-4CD0-BBF3-343D9E43769D}"/>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tretch>
            <a:fillRect/>
          </a:stretch>
        </p:blipFill>
        <p:spPr>
          <a:xfrm>
            <a:off x="469900" y="3048000"/>
            <a:ext cx="8369299" cy="3225800"/>
          </a:xfrm>
          <a:prstGeom prst="rect">
            <a:avLst/>
          </a:prstGeom>
        </p:spPr>
      </p:pic>
    </p:spTree>
    <p:extLst>
      <p:ext uri="{BB962C8B-B14F-4D97-AF65-F5344CB8AC3E}">
        <p14:creationId xmlns:p14="http://schemas.microsoft.com/office/powerpoint/2010/main" val="42653088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normAutofit/>
          </a:bodyPr>
          <a:lstStyle/>
          <a:p>
            <a:r>
              <a:rPr lang="en-US" sz="3600" dirty="0">
                <a:latin typeface="Calibri" panose="020F0502020204030204" pitchFamily="34" charset="0"/>
                <a:cs typeface="Calibri" panose="020F0502020204030204" pitchFamily="34" charset="0"/>
              </a:rPr>
              <a:t>Oxidation-Reduction Reactions</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1752600"/>
            <a:ext cx="8534400" cy="4201886"/>
          </a:xfrm>
        </p:spPr>
        <p:txBody>
          <a:bodyPr/>
          <a:lstStyle/>
          <a:p>
            <a:pPr marL="347663" indent="-347663">
              <a:lnSpc>
                <a:spcPct val="100000"/>
              </a:lnSpc>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These reactions transfer electrons between atoms and molecules and always occur in parallel (when one substance is oxidized another is reduced)</a:t>
            </a:r>
          </a:p>
          <a:p>
            <a:pPr marL="347663" indent="-347663">
              <a:lnSpc>
                <a:spcPct val="100000"/>
              </a:lnSpc>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Oxidation – loss of electrons and energy release</a:t>
            </a:r>
          </a:p>
          <a:p>
            <a:pPr marL="347663" indent="-347663">
              <a:lnSpc>
                <a:spcPct val="100000"/>
              </a:lnSpc>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Reduction – gain of electrons and energy gain</a:t>
            </a:r>
          </a:p>
          <a:p>
            <a:pPr marL="1033463" lvl="1" indent="-347663">
              <a:lnSpc>
                <a:spcPct val="100000"/>
              </a:lnSpc>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Reduced form of a molecule has greater energy than its oxidized form </a:t>
            </a:r>
          </a:p>
        </p:txBody>
      </p:sp>
    </p:spTree>
    <p:extLst>
      <p:ext uri="{BB962C8B-B14F-4D97-AF65-F5344CB8AC3E}">
        <p14:creationId xmlns:p14="http://schemas.microsoft.com/office/powerpoint/2010/main" val="3637942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8567C63-7972-402B-9CC8-92EBB48EA08D}"/>
              </a:ext>
            </a:extLst>
          </p:cNvPr>
          <p:cNvSpPr>
            <a:spLocks noGrp="1"/>
          </p:cNvSpPr>
          <p:nvPr>
            <p:ph type="title"/>
          </p:nvPr>
        </p:nvSpPr>
        <p:spPr>
          <a:xfrm>
            <a:off x="304800" y="3017521"/>
            <a:ext cx="8534400" cy="822959"/>
          </a:xfrm>
        </p:spPr>
        <p:txBody>
          <a:bodyPr/>
          <a:lstStyle/>
          <a:p>
            <a:pPr algn="ctr"/>
            <a:r>
              <a:rPr lang="en-US" b="1" dirty="0">
                <a:latin typeface="Calibri" panose="020F0502020204030204" pitchFamily="34" charset="0"/>
                <a:cs typeface="Calibri" panose="020F0502020204030204" pitchFamily="34" charset="0"/>
              </a:rPr>
              <a:t>Inorganic Compounds and Solutions</a:t>
            </a:r>
          </a:p>
        </p:txBody>
      </p:sp>
    </p:spTree>
    <p:extLst>
      <p:ext uri="{BB962C8B-B14F-4D97-AF65-F5344CB8AC3E}">
        <p14:creationId xmlns:p14="http://schemas.microsoft.com/office/powerpoint/2010/main" val="9270092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normAutofit/>
          </a:bodyPr>
          <a:lstStyle/>
          <a:p>
            <a:r>
              <a:rPr lang="en-US" sz="3600" dirty="0">
                <a:latin typeface="Calibri" panose="020F0502020204030204" pitchFamily="34" charset="0"/>
                <a:cs typeface="Calibri" panose="020F0502020204030204" pitchFamily="34" charset="0"/>
              </a:rPr>
              <a:t>Inorganic vs. Organic Compounds</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1752600"/>
            <a:ext cx="8534400" cy="4201886"/>
          </a:xfrm>
        </p:spPr>
        <p:txBody>
          <a:bodyPr/>
          <a:lstStyle/>
          <a:p>
            <a:pPr marL="292608" indent="-292608">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Inorganic compounds usually lack carbon and are simple molecules</a:t>
            </a:r>
          </a:p>
          <a:p>
            <a:pPr marL="759600" lvl="1" indent="-457200">
              <a:spcBef>
                <a:spcPts val="1000"/>
              </a:spcBef>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Water is the most important and abundant inorganic compound in all living things</a:t>
            </a:r>
          </a:p>
          <a:p>
            <a:pPr marL="292608" indent="-292608">
              <a:spcAft>
                <a:spcPts val="1200"/>
              </a:spcAft>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292608" indent="-292608">
              <a:spcAft>
                <a:spcPts val="12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Organic compounds always contain C and H, usually contain O, and always have covalent bonds</a:t>
            </a:r>
          </a:p>
        </p:txBody>
      </p:sp>
    </p:spTree>
    <p:extLst>
      <p:ext uri="{BB962C8B-B14F-4D97-AF65-F5344CB8AC3E}">
        <p14:creationId xmlns:p14="http://schemas.microsoft.com/office/powerpoint/2010/main" val="3070067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a:xfrm>
            <a:off x="304800" y="762001"/>
            <a:ext cx="8534400" cy="1014247"/>
          </a:xfrm>
        </p:spPr>
        <p:txBody>
          <a:bodyPr>
            <a:normAutofit fontScale="90000"/>
          </a:bodyPr>
          <a:lstStyle/>
          <a:p>
            <a:r>
              <a:rPr lang="en-US" dirty="0">
                <a:latin typeface="Calibri" panose="020F0502020204030204" pitchFamily="34" charset="0"/>
                <a:cs typeface="Calibri" panose="020F0502020204030204" pitchFamily="34" charset="0"/>
              </a:rPr>
              <a:t>Properties of Water</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Interactions Animation:</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2000250"/>
            <a:ext cx="8534400" cy="1962150"/>
          </a:xfrm>
        </p:spPr>
        <p:txBody>
          <a:bodyPr/>
          <a:lstStyle/>
          <a:p>
            <a:r>
              <a:rPr lang="en-US" dirty="0">
                <a:latin typeface="Calibri" panose="020F0502020204030204" pitchFamily="34" charset="0"/>
                <a:cs typeface="Calibri" panose="020F0502020204030204" pitchFamily="34" charset="0"/>
                <a:hlinkClick r:id="rId2"/>
              </a:rPr>
              <a:t>Polarity and Solubility of Molecules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61579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normAutofit/>
          </a:bodyPr>
          <a:lstStyle/>
          <a:p>
            <a:r>
              <a:rPr lang="en-US" sz="3600" dirty="0">
                <a:latin typeface="Calibri" panose="020F0502020204030204" pitchFamily="34" charset="0"/>
                <a:cs typeface="Calibri" panose="020F0502020204030204" pitchFamily="34" charset="0"/>
              </a:rPr>
              <a:t>Water as a Solvent</a:t>
            </a:r>
          </a:p>
        </p:txBody>
      </p:sp>
      <p:sp>
        <p:nvSpPr>
          <p:cNvPr id="5" name="Content Placeholder 4">
            <a:extLst>
              <a:ext uri="{FF2B5EF4-FFF2-40B4-BE49-F238E27FC236}">
                <a16:creationId xmlns:a16="http://schemas.microsoft.com/office/drawing/2014/main" id="{11F6154F-8FEE-45B8-B49E-3A7C418CA3D4}"/>
              </a:ext>
            </a:extLst>
          </p:cNvPr>
          <p:cNvSpPr>
            <a:spLocks noGrp="1"/>
          </p:cNvSpPr>
          <p:nvPr>
            <p:ph sz="quarter" idx="16"/>
          </p:nvPr>
        </p:nvSpPr>
        <p:spPr>
          <a:xfrm>
            <a:off x="304800" y="1384301"/>
            <a:ext cx="8724900" cy="4711698"/>
          </a:xfrm>
        </p:spPr>
        <p:txBody>
          <a:bodyPr/>
          <a:lstStyle/>
          <a:p>
            <a:pPr marL="457200" indent="-457200">
              <a:buFont typeface="Arial" panose="020B0604020202020204" pitchFamily="34" charset="0"/>
              <a:buChar char="•"/>
            </a:pPr>
            <a:r>
              <a:rPr lang="en-US" sz="3200" dirty="0"/>
              <a:t>Solution</a:t>
            </a:r>
            <a:r>
              <a:rPr lang="en-US" dirty="0"/>
              <a:t> </a:t>
            </a:r>
          </a:p>
          <a:p>
            <a:pPr marL="1143000" lvl="1" indent="-457200">
              <a:buFont typeface="Arial" panose="020B0604020202020204" pitchFamily="34" charset="0"/>
              <a:buChar char="•"/>
            </a:pPr>
            <a:r>
              <a:rPr lang="en-US" sz="2800" dirty="0"/>
              <a:t>Solvent dissolves the solute (another substance) </a:t>
            </a:r>
          </a:p>
          <a:p>
            <a:pPr marL="1600200" lvl="2" indent="-457200">
              <a:buFont typeface="Arial" panose="020B0604020202020204" pitchFamily="34" charset="0"/>
              <a:buChar char="•"/>
            </a:pPr>
            <a:r>
              <a:rPr lang="en-US" sz="2400" dirty="0"/>
              <a:t>Biology often includes aqueous (water-based) solutions</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sz="3200" dirty="0"/>
              <a:t>Since water is a polar molecule, it’s attracted to any other charged molecule or ion </a:t>
            </a:r>
          </a:p>
          <a:p>
            <a:pPr marL="1143000" lvl="1" indent="-457200">
              <a:buFont typeface="Arial" panose="020B0604020202020204" pitchFamily="34" charset="0"/>
              <a:buChar char="•"/>
            </a:pPr>
            <a:r>
              <a:rPr lang="en-US" sz="2800" dirty="0"/>
              <a:t>Hydrophilic – “water loving”</a:t>
            </a:r>
          </a:p>
          <a:p>
            <a:pPr marL="1143000" lvl="1" indent="-457200">
              <a:buFont typeface="Arial" panose="020B0604020202020204" pitchFamily="34" charset="0"/>
              <a:buChar char="•"/>
            </a:pPr>
            <a:r>
              <a:rPr lang="en-US" sz="2800" dirty="0"/>
              <a:t>Hydrophobic – “water-fearing”</a:t>
            </a:r>
          </a:p>
          <a:p>
            <a:pPr marL="1600200" lvl="2" indent="-457200">
              <a:buFont typeface="Arial" panose="020B0604020202020204" pitchFamily="34" charset="0"/>
              <a:buChar char="•"/>
            </a:pPr>
            <a:r>
              <a:rPr lang="en-US" sz="2400" dirty="0"/>
              <a:t>Nonpolar molecules do not have a charge and are therefore not attracted to water </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28274585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normAutofit/>
          </a:bodyPr>
          <a:lstStyle/>
          <a:p>
            <a:r>
              <a:rPr lang="en-US" sz="3600" dirty="0">
                <a:latin typeface="Calibri" panose="020F0502020204030204" pitchFamily="34" charset="0"/>
                <a:cs typeface="Calibri" panose="020F0502020204030204" pitchFamily="34" charset="0"/>
              </a:rPr>
              <a:t>Water as a Solvent</a:t>
            </a:r>
          </a:p>
        </p:txBody>
      </p:sp>
      <p:pic>
        <p:nvPicPr>
          <p:cNvPr id="6" name="Content Placeholder 5">
            <a:extLst>
              <a:ext uri="{FF2B5EF4-FFF2-40B4-BE49-F238E27FC236}">
                <a16:creationId xmlns:a16="http://schemas.microsoft.com/office/drawing/2014/main" id="{1218355D-29D8-4CA6-AC75-5DDBCC3C38F9}"/>
              </a:ext>
            </a:extLst>
          </p:cNvPr>
          <p:cNvPicPr>
            <a:picLocks noGrp="1" noChangeAspect="1"/>
          </p:cNvPicPr>
          <p:nvPr>
            <p:ph sz="quarter" idx="16"/>
          </p:nvPr>
        </p:nvPicPr>
        <p:blipFill>
          <a:blip r:embed="rId2"/>
          <a:stretch>
            <a:fillRect/>
          </a:stretch>
        </p:blipFill>
        <p:spPr>
          <a:xfrm>
            <a:off x="1612900" y="1371599"/>
            <a:ext cx="5575299" cy="4724399"/>
          </a:xfrm>
          <a:prstGeom prst="rect">
            <a:avLst/>
          </a:prstGeom>
        </p:spPr>
      </p:pic>
    </p:spTree>
    <p:extLst>
      <p:ext uri="{BB962C8B-B14F-4D97-AF65-F5344CB8AC3E}">
        <p14:creationId xmlns:p14="http://schemas.microsoft.com/office/powerpoint/2010/main" val="11531524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Water in Chemical Reactions</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799" y="1320800"/>
            <a:ext cx="8534399" cy="2374900"/>
          </a:xfrm>
        </p:spPr>
        <p:txBody>
          <a:bodyPr/>
          <a:lstStyle/>
          <a:p>
            <a:pPr marL="457200" lvl="0" indent="-457200">
              <a:lnSpc>
                <a:spcPct val="100000"/>
              </a:lnSpc>
              <a:spcBef>
                <a:spcPts val="600"/>
              </a:spcBef>
              <a:buFont typeface="Arial" panose="020B0604020202020204" pitchFamily="34" charset="0"/>
              <a:buChar char="•"/>
            </a:pPr>
            <a:r>
              <a:rPr lang="en-US" sz="3200" dirty="0">
                <a:latin typeface="Calibri" panose="020F0502020204030204" pitchFamily="34" charset="0"/>
                <a:cs typeface="Calibri" panose="020F0502020204030204" pitchFamily="34" charset="0"/>
              </a:rPr>
              <a:t>Water is the ideal medium</a:t>
            </a:r>
          </a:p>
          <a:p>
            <a:pPr marL="645300" lvl="1" indent="-342900">
              <a:lnSpc>
                <a:spcPct val="100000"/>
              </a:lnSpc>
              <a:spcBef>
                <a:spcPts val="600"/>
              </a:spcBef>
              <a:buClr>
                <a:schemeClr val="accent2"/>
              </a:buClr>
              <a:buSzPct val="100000"/>
            </a:pPr>
            <a:r>
              <a:rPr lang="en-US" sz="2800" dirty="0">
                <a:latin typeface="Calibri" panose="020F0502020204030204" pitchFamily="34" charset="0"/>
                <a:cs typeface="Calibri" panose="020F0502020204030204" pitchFamily="34" charset="0"/>
              </a:rPr>
              <a:t>In a dehydration synthesis reaction, water is removed to make bonds</a:t>
            </a:r>
          </a:p>
          <a:p>
            <a:pPr marL="645300" lvl="1" indent="-342900">
              <a:lnSpc>
                <a:spcPct val="100000"/>
              </a:lnSpc>
              <a:spcBef>
                <a:spcPts val="600"/>
              </a:spcBef>
              <a:buClr>
                <a:schemeClr val="accent2"/>
              </a:buClr>
              <a:buSzPct val="100000"/>
            </a:pPr>
            <a:r>
              <a:rPr lang="en-US" sz="2800" dirty="0">
                <a:latin typeface="Calibri" panose="020F0502020204030204" pitchFamily="34" charset="0"/>
                <a:cs typeface="Calibri" panose="020F0502020204030204" pitchFamily="34" charset="0"/>
              </a:rPr>
              <a:t>In a hydrolysis reaction, water is added to break bonds</a:t>
            </a:r>
          </a:p>
        </p:txBody>
      </p:sp>
      <p:pic>
        <p:nvPicPr>
          <p:cNvPr id="3" name="Content Placeholder 2">
            <a:extLst>
              <a:ext uri="{FF2B5EF4-FFF2-40B4-BE49-F238E27FC236}">
                <a16:creationId xmlns:a16="http://schemas.microsoft.com/office/drawing/2014/main" id="{3023F363-752A-486C-90BC-E2533B79400F}"/>
              </a:ext>
            </a:extLst>
          </p:cNvPr>
          <p:cNvPicPr>
            <a:picLocks noGrp="1" noChangeAspect="1"/>
          </p:cNvPicPr>
          <p:nvPr>
            <p:ph sz="quarter" idx="17"/>
          </p:nvPr>
        </p:nvPicPr>
        <p:blipFill>
          <a:blip r:embed="rId2"/>
          <a:stretch>
            <a:fillRect/>
          </a:stretch>
        </p:blipFill>
        <p:spPr>
          <a:xfrm>
            <a:off x="1282700" y="3695700"/>
            <a:ext cx="6565900" cy="2654300"/>
          </a:xfrm>
          <a:prstGeom prst="rect">
            <a:avLst/>
          </a:prstGeom>
        </p:spPr>
      </p:pic>
    </p:spTree>
    <p:extLst>
      <p:ext uri="{BB962C8B-B14F-4D97-AF65-F5344CB8AC3E}">
        <p14:creationId xmlns:p14="http://schemas.microsoft.com/office/powerpoint/2010/main" val="40513381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Thermal Properties of Water</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152400" y="1600201"/>
            <a:ext cx="8902700" cy="4495798"/>
          </a:xfrm>
        </p:spPr>
        <p:txBody>
          <a:bodyPr/>
          <a:lstStyle/>
          <a:p>
            <a:pPr marL="457200" lvl="0" indent="-457200">
              <a:lnSpc>
                <a:spcPct val="100000"/>
              </a:lnSpc>
              <a:spcBef>
                <a:spcPts val="600"/>
              </a:spcBef>
              <a:buFont typeface="Arial" panose="020B0604020202020204" pitchFamily="34" charset="0"/>
              <a:buChar char="•"/>
            </a:pPr>
            <a:r>
              <a:rPr lang="en-US" sz="3200" dirty="0">
                <a:latin typeface="Calibri" panose="020F0502020204030204" pitchFamily="34" charset="0"/>
                <a:cs typeface="Calibri" panose="020F0502020204030204" pitchFamily="34" charset="0"/>
              </a:rPr>
              <a:t>Water has a:</a:t>
            </a:r>
          </a:p>
          <a:p>
            <a:pPr marL="739775" lvl="1" indent="-438150">
              <a:lnSpc>
                <a:spcPct val="100000"/>
              </a:lnSpc>
              <a:spcBef>
                <a:spcPts val="600"/>
              </a:spcBef>
              <a:buClr>
                <a:schemeClr val="accent2"/>
              </a:buClr>
              <a:buSzPct val="100000"/>
            </a:pPr>
            <a:r>
              <a:rPr lang="en-US" sz="2800" dirty="0">
                <a:latin typeface="Calibri" panose="020F0502020204030204" pitchFamily="34" charset="0"/>
                <a:cs typeface="Calibri" panose="020F0502020204030204" pitchFamily="34" charset="0"/>
              </a:rPr>
              <a:t>High heat capacity</a:t>
            </a:r>
          </a:p>
          <a:p>
            <a:pPr marL="1196975" lvl="2" indent="-438150">
              <a:lnSpc>
                <a:spcPct val="100000"/>
              </a:lnSpc>
              <a:spcBef>
                <a:spcPts val="600"/>
              </a:spcBef>
              <a:buClr>
                <a:schemeClr val="accent2"/>
              </a:buClr>
              <a:buSzPct val="100000"/>
            </a:pPr>
            <a:r>
              <a:rPr lang="en-US" sz="2400" dirty="0">
                <a:latin typeface="Calibri" panose="020F0502020204030204" pitchFamily="34" charset="0"/>
                <a:cs typeface="Calibri" panose="020F0502020204030204" pitchFamily="34" charset="0"/>
              </a:rPr>
              <a:t>Can absorb a large amount of energy without raising its temperature </a:t>
            </a:r>
          </a:p>
          <a:p>
            <a:pPr marL="1654175" lvl="3" indent="-438150">
              <a:lnSpc>
                <a:spcPct val="100000"/>
              </a:lnSpc>
              <a:spcBef>
                <a:spcPts val="600"/>
              </a:spcBef>
              <a:buClr>
                <a:schemeClr val="accent2"/>
              </a:buClr>
              <a:buSzPct val="100000"/>
            </a:pPr>
            <a:r>
              <a:rPr lang="en-US" sz="2200" dirty="0">
                <a:latin typeface="Calibri" panose="020F0502020204030204" pitchFamily="34" charset="0"/>
                <a:cs typeface="Calibri" panose="020F0502020204030204" pitchFamily="34" charset="0"/>
              </a:rPr>
              <a:t>Helps maintain human body temperature </a:t>
            </a:r>
          </a:p>
          <a:p>
            <a:pPr marL="739775" lvl="1" indent="-438150">
              <a:lnSpc>
                <a:spcPct val="100000"/>
              </a:lnSpc>
              <a:spcBef>
                <a:spcPts val="600"/>
              </a:spcBef>
              <a:buClr>
                <a:schemeClr val="accent2"/>
              </a:buClr>
              <a:buSzPct val="100000"/>
            </a:pPr>
            <a:endParaRPr lang="en-US" sz="2800" dirty="0">
              <a:latin typeface="Calibri" panose="020F0502020204030204" pitchFamily="34" charset="0"/>
              <a:cs typeface="Calibri" panose="020F0502020204030204" pitchFamily="34" charset="0"/>
            </a:endParaRPr>
          </a:p>
          <a:p>
            <a:pPr marL="739775" lvl="1" indent="-438150">
              <a:lnSpc>
                <a:spcPct val="100000"/>
              </a:lnSpc>
              <a:spcBef>
                <a:spcPts val="600"/>
              </a:spcBef>
              <a:buClr>
                <a:schemeClr val="accent2"/>
              </a:buClr>
              <a:buSzPct val="100000"/>
            </a:pPr>
            <a:r>
              <a:rPr lang="en-US" sz="2800" dirty="0">
                <a:latin typeface="Calibri" panose="020F0502020204030204" pitchFamily="34" charset="0"/>
                <a:cs typeface="Calibri" panose="020F0502020204030204" pitchFamily="34" charset="0"/>
              </a:rPr>
              <a:t>High heat of vaporization</a:t>
            </a:r>
          </a:p>
          <a:p>
            <a:pPr marL="1196975" lvl="2" indent="-438150">
              <a:lnSpc>
                <a:spcPct val="100000"/>
              </a:lnSpc>
              <a:spcBef>
                <a:spcPts val="600"/>
              </a:spcBef>
              <a:buClr>
                <a:schemeClr val="accent2"/>
              </a:buClr>
              <a:buSzPct val="100000"/>
            </a:pPr>
            <a:r>
              <a:rPr lang="en-US" sz="2400" dirty="0">
                <a:latin typeface="Calibri" panose="020F0502020204030204" pitchFamily="34" charset="0"/>
                <a:cs typeface="Calibri" panose="020F0502020204030204" pitchFamily="34" charset="0"/>
              </a:rPr>
              <a:t>Water absorbs heat as it changes from a liquid to a gas </a:t>
            </a:r>
          </a:p>
          <a:p>
            <a:pPr marL="1654175" lvl="3" indent="-438150">
              <a:lnSpc>
                <a:spcPct val="100000"/>
              </a:lnSpc>
              <a:spcBef>
                <a:spcPts val="600"/>
              </a:spcBef>
              <a:buClr>
                <a:schemeClr val="accent2"/>
              </a:buClr>
              <a:buSzPct val="100000"/>
            </a:pPr>
            <a:r>
              <a:rPr lang="en-US" sz="2200" dirty="0">
                <a:latin typeface="Calibri" panose="020F0502020204030204" pitchFamily="34" charset="0"/>
                <a:cs typeface="Calibri" panose="020F0502020204030204" pitchFamily="34" charset="0"/>
              </a:rPr>
              <a:t>Evaporative cooling – when sweat, or other water, evaporates from your body, heat is removed and cools you down </a:t>
            </a:r>
          </a:p>
        </p:txBody>
      </p:sp>
    </p:spTree>
    <p:extLst>
      <p:ext uri="{BB962C8B-B14F-4D97-AF65-F5344CB8AC3E}">
        <p14:creationId xmlns:p14="http://schemas.microsoft.com/office/powerpoint/2010/main" val="25773754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Water as a Lubricant</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Water is a major component of our body fluids and helps reduce friction as membranes and organs slide over one another</a:t>
            </a:r>
          </a:p>
        </p:txBody>
      </p:sp>
    </p:spTree>
    <p:extLst>
      <p:ext uri="{BB962C8B-B14F-4D97-AF65-F5344CB8AC3E}">
        <p14:creationId xmlns:p14="http://schemas.microsoft.com/office/powerpoint/2010/main" val="2752696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A68141-D56D-460B-BE00-81303454CC1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Mixtures</a:t>
            </a:r>
          </a:p>
        </p:txBody>
      </p:sp>
      <p:sp>
        <p:nvSpPr>
          <p:cNvPr id="5" name="Content Placeholder 4">
            <a:extLst>
              <a:ext uri="{FF2B5EF4-FFF2-40B4-BE49-F238E27FC236}">
                <a16:creationId xmlns:a16="http://schemas.microsoft.com/office/drawing/2014/main" id="{ECB21658-C8C6-45CD-A110-5966DD7608B8}"/>
              </a:ext>
            </a:extLst>
          </p:cNvPr>
          <p:cNvSpPr>
            <a:spLocks noGrp="1"/>
          </p:cNvSpPr>
          <p:nvPr>
            <p:ph sz="quarter" idx="16"/>
          </p:nvPr>
        </p:nvSpPr>
        <p:spPr>
          <a:xfrm>
            <a:off x="304800" y="1409701"/>
            <a:ext cx="8686800" cy="4686298"/>
          </a:xfrm>
        </p:spPr>
        <p:txBody>
          <a:bodyPr/>
          <a:lstStyle/>
          <a:p>
            <a:pPr marL="457200" indent="-457200">
              <a:lnSpc>
                <a:spcPct val="100000"/>
              </a:lnSpc>
              <a:spcBef>
                <a:spcPts val="600"/>
              </a:spcBef>
              <a:buFont typeface="Arial" panose="020B0604020202020204" pitchFamily="34" charset="0"/>
              <a:buChar char="•"/>
            </a:pPr>
            <a:r>
              <a:rPr lang="en-US" dirty="0">
                <a:latin typeface="Calibri" panose="020F0502020204030204" pitchFamily="34" charset="0"/>
                <a:cs typeface="Calibri" panose="020F0502020204030204" pitchFamily="34" charset="0"/>
              </a:rPr>
              <a:t>Mixture – a combination of elements or compounds that are physically blended together but not bonded together</a:t>
            </a:r>
          </a:p>
          <a:p>
            <a:pPr marL="457200" indent="-457200">
              <a:lnSpc>
                <a:spcPct val="100000"/>
              </a:lnSpc>
              <a:spcBef>
                <a:spcPts val="600"/>
              </a:spcBef>
              <a:buFont typeface="Arial" panose="020B0604020202020204" pitchFamily="34" charset="0"/>
              <a:buChar char="•"/>
            </a:pPr>
            <a:r>
              <a:rPr lang="en-US" dirty="0">
                <a:latin typeface="Calibri" panose="020F0502020204030204" pitchFamily="34" charset="0"/>
                <a:cs typeface="Calibri" panose="020F0502020204030204" pitchFamily="34" charset="0"/>
              </a:rPr>
              <a:t> 3 types of mixtures:</a:t>
            </a:r>
          </a:p>
          <a:p>
            <a:pPr marL="816750" lvl="1" indent="-514350">
              <a:lnSpc>
                <a:spcPct val="100000"/>
              </a:lnSpc>
              <a:spcBef>
                <a:spcPts val="600"/>
              </a:spcBef>
              <a:buClr>
                <a:schemeClr val="accent2"/>
              </a:buClr>
              <a:buSzPct val="100000"/>
            </a:pPr>
            <a:r>
              <a:rPr lang="en-US" dirty="0">
                <a:latin typeface="Calibri" panose="020F0502020204030204" pitchFamily="34" charset="0"/>
                <a:cs typeface="Calibri" panose="020F0502020204030204" pitchFamily="34" charset="0"/>
              </a:rPr>
              <a:t>Solution</a:t>
            </a:r>
          </a:p>
          <a:p>
            <a:pPr marL="1273950" lvl="2" indent="-514350">
              <a:lnSpc>
                <a:spcPct val="100000"/>
              </a:lnSpc>
              <a:spcBef>
                <a:spcPts val="600"/>
              </a:spcBef>
              <a:buClr>
                <a:schemeClr val="accent2"/>
              </a:buClr>
              <a:buSzPct val="100000"/>
            </a:pPr>
            <a:r>
              <a:rPr lang="en-US" dirty="0">
                <a:latin typeface="Calibri" panose="020F0502020204030204" pitchFamily="34" charset="0"/>
                <a:cs typeface="Calibri" panose="020F0502020204030204" pitchFamily="34" charset="0"/>
              </a:rPr>
              <a:t>Once mixed together, the solutes are evenly dispersed among the solvent molecules </a:t>
            </a:r>
          </a:p>
          <a:p>
            <a:pPr marL="816750" lvl="1" indent="-514350">
              <a:lnSpc>
                <a:spcPct val="100000"/>
              </a:lnSpc>
              <a:spcBef>
                <a:spcPts val="600"/>
              </a:spcBef>
              <a:buClr>
                <a:schemeClr val="accent2"/>
              </a:buClr>
              <a:buSzPct val="100000"/>
            </a:pPr>
            <a:r>
              <a:rPr lang="en-US" dirty="0">
                <a:latin typeface="Calibri" panose="020F0502020204030204" pitchFamily="34" charset="0"/>
                <a:cs typeface="Calibri" panose="020F0502020204030204" pitchFamily="34" charset="0"/>
              </a:rPr>
              <a:t>Colloid</a:t>
            </a:r>
          </a:p>
          <a:p>
            <a:pPr marL="1273950" lvl="2" indent="-514350">
              <a:lnSpc>
                <a:spcPct val="100000"/>
              </a:lnSpc>
              <a:spcBef>
                <a:spcPts val="600"/>
              </a:spcBef>
              <a:buClr>
                <a:schemeClr val="accent2"/>
              </a:buClr>
              <a:buSzPct val="100000"/>
            </a:pPr>
            <a:r>
              <a:rPr lang="en-US" dirty="0">
                <a:latin typeface="Calibri" panose="020F0502020204030204" pitchFamily="34" charset="0"/>
                <a:cs typeface="Calibri" panose="020F0502020204030204" pitchFamily="34" charset="0"/>
              </a:rPr>
              <a:t>Solute particles are large enough to scatter light </a:t>
            </a:r>
          </a:p>
          <a:p>
            <a:pPr marL="816750" lvl="1" indent="-514350">
              <a:lnSpc>
                <a:spcPct val="100000"/>
              </a:lnSpc>
              <a:spcBef>
                <a:spcPts val="600"/>
              </a:spcBef>
              <a:buClr>
                <a:schemeClr val="accent2"/>
              </a:buClr>
              <a:buSzPct val="100000"/>
            </a:pPr>
            <a:r>
              <a:rPr lang="en-US" dirty="0">
                <a:latin typeface="Calibri" panose="020F0502020204030204" pitchFamily="34" charset="0"/>
                <a:cs typeface="Calibri" panose="020F0502020204030204" pitchFamily="34" charset="0"/>
              </a:rPr>
              <a:t>Suspension</a:t>
            </a:r>
          </a:p>
          <a:p>
            <a:pPr marL="1273950" lvl="2" indent="-514350">
              <a:lnSpc>
                <a:spcPct val="100000"/>
              </a:lnSpc>
              <a:spcBef>
                <a:spcPts val="600"/>
              </a:spcBef>
              <a:buClr>
                <a:schemeClr val="accent2"/>
              </a:buClr>
              <a:buSzPct val="100000"/>
            </a:pPr>
            <a:r>
              <a:rPr lang="en-US" dirty="0">
                <a:latin typeface="Calibri" panose="020F0502020204030204" pitchFamily="34" charset="0"/>
                <a:cs typeface="Calibri" panose="020F0502020204030204" pitchFamily="34" charset="0"/>
              </a:rPr>
              <a:t>Solute particles can settle out of suspending liquid </a:t>
            </a:r>
          </a:p>
        </p:txBody>
      </p:sp>
    </p:spTree>
    <p:extLst>
      <p:ext uri="{BB962C8B-B14F-4D97-AF65-F5344CB8AC3E}">
        <p14:creationId xmlns:p14="http://schemas.microsoft.com/office/powerpoint/2010/main" val="6646011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Percentage &amp; Molarity</a:t>
            </a:r>
          </a:p>
        </p:txBody>
      </p:sp>
      <p:graphicFrame>
        <p:nvGraphicFramePr>
          <p:cNvPr id="11" name="Content Placeholder 10" descr="Table is accessible to screen readers.">
            <a:extLst>
              <a:ext uri="{FF2B5EF4-FFF2-40B4-BE49-F238E27FC236}">
                <a16:creationId xmlns:a16="http://schemas.microsoft.com/office/drawing/2014/main" id="{77F782F4-3952-464E-A5F9-491100819343}"/>
              </a:ext>
            </a:extLst>
          </p:cNvPr>
          <p:cNvGraphicFramePr>
            <a:graphicFrameLocks noGrp="1"/>
          </p:cNvGraphicFramePr>
          <p:nvPr>
            <p:ph type="tbl" sz="quarter" idx="19"/>
            <p:extLst>
              <p:ext uri="{D42A27DB-BD31-4B8C-83A1-F6EECF244321}">
                <p14:modId xmlns:p14="http://schemas.microsoft.com/office/powerpoint/2010/main" val="726110941"/>
              </p:ext>
            </p:extLst>
          </p:nvPr>
        </p:nvGraphicFramePr>
        <p:xfrm>
          <a:off x="304800" y="1600200"/>
          <a:ext cx="8674662" cy="3771900"/>
        </p:xfrm>
        <a:graphic>
          <a:graphicData uri="http://schemas.openxmlformats.org/drawingml/2006/table">
            <a:tbl>
              <a:tblPr firstRow="1" bandRow="1">
                <a:tableStyleId>{69012ECD-51FC-41F1-AA8D-1B2483CD663E}</a:tableStyleId>
              </a:tblPr>
              <a:tblGrid>
                <a:gridCol w="4337331">
                  <a:extLst>
                    <a:ext uri="{9D8B030D-6E8A-4147-A177-3AD203B41FA5}">
                      <a16:colId xmlns:a16="http://schemas.microsoft.com/office/drawing/2014/main" val="3716734818"/>
                    </a:ext>
                  </a:extLst>
                </a:gridCol>
                <a:gridCol w="4337331">
                  <a:extLst>
                    <a:ext uri="{9D8B030D-6E8A-4147-A177-3AD203B41FA5}">
                      <a16:colId xmlns:a16="http://schemas.microsoft.com/office/drawing/2014/main" val="453050570"/>
                    </a:ext>
                  </a:extLst>
                </a:gridCol>
              </a:tblGrid>
              <a:tr h="565398">
                <a:tc>
                  <a:txBody>
                    <a:bodyPr/>
                    <a:lstStyle/>
                    <a:p>
                      <a:r>
                        <a:rPr lang="en-US" dirty="0"/>
                        <a:t>Definition</a:t>
                      </a:r>
                    </a:p>
                  </a:txBody>
                  <a:tcPr/>
                </a:tc>
                <a:tc>
                  <a:txBody>
                    <a:bodyPr/>
                    <a:lstStyle/>
                    <a:p>
                      <a:r>
                        <a:rPr lang="en-US" dirty="0"/>
                        <a:t>Example</a:t>
                      </a:r>
                    </a:p>
                  </a:txBody>
                  <a:tcPr/>
                </a:tc>
                <a:extLst>
                  <a:ext uri="{0D108BD9-81ED-4DB2-BD59-A6C34878D82A}">
                    <a16:rowId xmlns:a16="http://schemas.microsoft.com/office/drawing/2014/main" val="2872688953"/>
                  </a:ext>
                </a:extLst>
              </a:tr>
              <a:tr h="1394131">
                <a:tc>
                  <a:txBody>
                    <a:bodyPr/>
                    <a:lstStyle/>
                    <a:p>
                      <a:r>
                        <a:rPr lang="en-US" b="1" dirty="0"/>
                        <a:t>Percentage (mass per volume)</a:t>
                      </a:r>
                    </a:p>
                    <a:p>
                      <a:r>
                        <a:rPr lang="en-US" dirty="0"/>
                        <a:t>Number of grams of a substance per 100 milliliters (mL) of solution</a:t>
                      </a:r>
                    </a:p>
                  </a:txBody>
                  <a:tcPr/>
                </a:tc>
                <a:tc>
                  <a:txBody>
                    <a:bodyPr/>
                    <a:lstStyle/>
                    <a:p>
                      <a:r>
                        <a:rPr lang="en-US" dirty="0"/>
                        <a:t>To make a 10% </a:t>
                      </a:r>
                      <a:r>
                        <a:rPr lang="en-US" dirty="0" err="1"/>
                        <a:t>NaCl</a:t>
                      </a:r>
                      <a:r>
                        <a:rPr lang="en-US" dirty="0"/>
                        <a:t> solution, take 10 g of </a:t>
                      </a:r>
                      <a:r>
                        <a:rPr lang="en-US" dirty="0" err="1"/>
                        <a:t>NaCl</a:t>
                      </a:r>
                      <a:r>
                        <a:rPr lang="en-US" dirty="0"/>
                        <a:t> and add enough water to make a total of 100 mL of solution.</a:t>
                      </a:r>
                    </a:p>
                  </a:txBody>
                  <a:tcPr/>
                </a:tc>
                <a:extLst>
                  <a:ext uri="{0D108BD9-81ED-4DB2-BD59-A6C34878D82A}">
                    <a16:rowId xmlns:a16="http://schemas.microsoft.com/office/drawing/2014/main" val="3693946858"/>
                  </a:ext>
                </a:extLst>
              </a:tr>
              <a:tr h="1812371">
                <a:tc>
                  <a:txBody>
                    <a:bodyPr/>
                    <a:lstStyle/>
                    <a:p>
                      <a:r>
                        <a:rPr lang="en-US" b="1" dirty="0"/>
                        <a:t>Molarity—(moles per liter)</a:t>
                      </a:r>
                    </a:p>
                    <a:p>
                      <a:r>
                        <a:rPr lang="en-US" dirty="0"/>
                        <a:t>A 1 molar (1 M) solution = 1 mole of a solute in 1 liter of solution</a:t>
                      </a:r>
                    </a:p>
                  </a:txBody>
                  <a:tcPr/>
                </a:tc>
                <a:tc>
                  <a:txBody>
                    <a:bodyPr/>
                    <a:lstStyle/>
                    <a:p>
                      <a:r>
                        <a:rPr lang="en-US" dirty="0"/>
                        <a:t>To make a 1 molar (1 M) solution of </a:t>
                      </a:r>
                      <a:r>
                        <a:rPr lang="en-US" dirty="0" err="1"/>
                        <a:t>NaCl</a:t>
                      </a:r>
                      <a:r>
                        <a:rPr lang="en-US" dirty="0"/>
                        <a:t>, dissolve 1 mole of </a:t>
                      </a:r>
                      <a:r>
                        <a:rPr lang="en-US" dirty="0" err="1"/>
                        <a:t>NaCl</a:t>
                      </a:r>
                      <a:r>
                        <a:rPr lang="en-US" dirty="0"/>
                        <a:t> (58.44 g) in enough water to make a total of 1 liter of solution.</a:t>
                      </a:r>
                    </a:p>
                  </a:txBody>
                  <a:tcPr/>
                </a:tc>
                <a:extLst>
                  <a:ext uri="{0D108BD9-81ED-4DB2-BD59-A6C34878D82A}">
                    <a16:rowId xmlns:a16="http://schemas.microsoft.com/office/drawing/2014/main" val="1533067765"/>
                  </a:ext>
                </a:extLst>
              </a:tr>
            </a:tbl>
          </a:graphicData>
        </a:graphic>
      </p:graphicFrame>
    </p:spTree>
    <p:extLst>
      <p:ext uri="{BB962C8B-B14F-4D97-AF65-F5344CB8AC3E}">
        <p14:creationId xmlns:p14="http://schemas.microsoft.com/office/powerpoint/2010/main" val="11155440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normAutofit/>
          </a:bodyPr>
          <a:lstStyle/>
          <a:p>
            <a:r>
              <a:rPr lang="en-US" sz="3600" dirty="0">
                <a:latin typeface="Calibri" panose="020F0502020204030204" pitchFamily="34" charset="0"/>
                <a:cs typeface="Calibri" panose="020F0502020204030204" pitchFamily="34" charset="0"/>
              </a:rPr>
              <a:t>Acids, Bases, &amp; Salts</a:t>
            </a:r>
          </a:p>
        </p:txBody>
      </p:sp>
      <p:pic>
        <p:nvPicPr>
          <p:cNvPr id="3" name="Content Placeholder 2">
            <a:extLst>
              <a:ext uri="{FF2B5EF4-FFF2-40B4-BE49-F238E27FC236}">
                <a16:creationId xmlns:a16="http://schemas.microsoft.com/office/drawing/2014/main" id="{FC0E1FCA-C5F9-4D39-9E8A-DC02520B6995}"/>
              </a:ext>
            </a:extLst>
          </p:cNvPr>
          <p:cNvPicPr>
            <a:picLocks noGrp="1" noChangeAspect="1"/>
          </p:cNvPicPr>
          <p:nvPr>
            <p:ph sz="quarter" idx="17"/>
          </p:nvPr>
        </p:nvPicPr>
        <p:blipFill>
          <a:blip r:embed="rId2"/>
          <a:stretch>
            <a:fillRect/>
          </a:stretch>
        </p:blipFill>
        <p:spPr>
          <a:xfrm>
            <a:off x="4572000" y="2438401"/>
            <a:ext cx="4356100" cy="2902330"/>
          </a:xfrm>
          <a:prstGeom prst="rect">
            <a:avLst/>
          </a:prstGeom>
        </p:spPr>
      </p:pic>
      <p:sp>
        <p:nvSpPr>
          <p:cNvPr id="6" name="Content Placeholder 5">
            <a:extLst>
              <a:ext uri="{FF2B5EF4-FFF2-40B4-BE49-F238E27FC236}">
                <a16:creationId xmlns:a16="http://schemas.microsoft.com/office/drawing/2014/main" id="{30659909-C26C-4803-9A61-146AAC8E102C}"/>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All dissociate in water; dissociation is separation/break down ions </a:t>
            </a:r>
          </a:p>
          <a:p>
            <a:pPr marL="1143000" lvl="1" indent="-457200">
              <a:buFont typeface="Arial" panose="020B0604020202020204" pitchFamily="34" charset="0"/>
              <a:buChar char="•"/>
            </a:pPr>
            <a:r>
              <a:rPr lang="en-US" sz="2800" dirty="0"/>
              <a:t>Acids – contributes H+ </a:t>
            </a:r>
          </a:p>
          <a:p>
            <a:pPr marL="1143000" lvl="1" indent="-457200">
              <a:buFont typeface="Arial" panose="020B0604020202020204" pitchFamily="34" charset="0"/>
              <a:buChar char="•"/>
            </a:pPr>
            <a:r>
              <a:rPr lang="en-US" sz="2800" dirty="0"/>
              <a:t>Bases – contributes OH-</a:t>
            </a:r>
          </a:p>
          <a:p>
            <a:pPr marL="1143000" lvl="1" indent="-457200">
              <a:buFont typeface="Arial" panose="020B0604020202020204" pitchFamily="34" charset="0"/>
              <a:buChar char="•"/>
            </a:pPr>
            <a:r>
              <a:rPr lang="en-US" sz="2800" dirty="0"/>
              <a:t>Salts – contributes neither H+ nor OH-</a:t>
            </a:r>
          </a:p>
        </p:txBody>
      </p:sp>
    </p:spTree>
    <p:extLst>
      <p:ext uri="{BB962C8B-B14F-4D97-AF65-F5344CB8AC3E}">
        <p14:creationId xmlns:p14="http://schemas.microsoft.com/office/powerpoint/2010/main" val="20114507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normAutofit/>
          </a:bodyPr>
          <a:lstStyle/>
          <a:p>
            <a:r>
              <a:rPr lang="en-US" dirty="0">
                <a:latin typeface="Calibri" panose="020F0502020204030204" pitchFamily="34" charset="0"/>
                <a:cs typeface="Calibri" panose="020F0502020204030204" pitchFamily="34" charset="0"/>
              </a:rPr>
              <a:t>pH</a:t>
            </a:r>
            <a:r>
              <a:rPr lang="en-US" sz="3600" dirty="0">
                <a:latin typeface="Calibri" panose="020F0502020204030204" pitchFamily="34" charset="0"/>
                <a:cs typeface="Calibri" panose="020F0502020204030204" pitchFamily="34" charset="0"/>
              </a:rPr>
              <a:t> </a:t>
            </a:r>
            <a:endParaRPr lang="en-US" sz="2000" dirty="0">
              <a:latin typeface="Calibri" panose="020F0502020204030204" pitchFamily="34" charset="0"/>
              <a:cs typeface="Calibri" panose="020F0502020204030204" pitchFamily="34" charset="0"/>
            </a:endParaRPr>
          </a:p>
        </p:txBody>
      </p:sp>
      <p:pic>
        <p:nvPicPr>
          <p:cNvPr id="6" name="Content Placeholder 8" descr="A chart shows concentrations of O H minus and H plus in relation to the p H scale. A p H of 7 is neutral. The p H becomes increasingly acidic from 6 to 0, and increasingly basic, or alkaline, from 8 to 14. The O H minus concentrations range from 10 to the power of negative fourteen at a p H of 0 through 10 to the power of negative 7 at a p H of 7 to 10 to the power of 0 at a p H of 14. The H plus concentrations range from 10 to the power of 0 at a p H of 0 through 10 to the power of negative 7 at a p H of 7 to 10 to the power of negative fourteen at a p H of 14.">
            <a:extLst>
              <a:ext uri="{FF2B5EF4-FFF2-40B4-BE49-F238E27FC236}">
                <a16:creationId xmlns:a16="http://schemas.microsoft.com/office/drawing/2014/main" id="{2EBBE3AE-AA7E-4894-B5C3-B8C223F04F4A}"/>
              </a:ext>
            </a:extLst>
          </p:cNvPr>
          <p:cNvPicPr>
            <a:picLocks noGrp="1" noChangeAspect="1"/>
          </p:cNvPicPr>
          <p:nvPr>
            <p:ph type="pic" sz="quarter" idx="18"/>
          </p:nvPr>
        </p:nvPicPr>
        <p:blipFill>
          <a:blip r:embed="rId2" cstate="print">
            <a:extLst>
              <a:ext uri="{28A0092B-C50C-407E-A947-70E740481C1C}">
                <a14:useLocalDpi xmlns:a14="http://schemas.microsoft.com/office/drawing/2010/main" val="0"/>
              </a:ext>
            </a:extLst>
          </a:blip>
          <a:stretch>
            <a:fillRect/>
          </a:stretch>
        </p:blipFill>
        <p:spPr>
          <a:xfrm>
            <a:off x="304800" y="1460500"/>
            <a:ext cx="8534400" cy="4509467"/>
          </a:xfrm>
          <a:prstGeom prst="rect">
            <a:avLst/>
          </a:prstGeom>
        </p:spPr>
      </p:pic>
    </p:spTree>
    <p:extLst>
      <p:ext uri="{BB962C8B-B14F-4D97-AF65-F5344CB8AC3E}">
        <p14:creationId xmlns:p14="http://schemas.microsoft.com/office/powerpoint/2010/main" val="20459373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pH </a:t>
            </a:r>
            <a:endParaRPr lang="en-US" sz="2000"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1485900"/>
            <a:ext cx="8534400" cy="1003300"/>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pH Values of Selected Substances (asterisks indicate substances in the human body)</a:t>
            </a:r>
          </a:p>
        </p:txBody>
      </p:sp>
      <p:graphicFrame>
        <p:nvGraphicFramePr>
          <p:cNvPr id="11" name="Content Placeholder 12" descr="Table is accessible to screen readers.">
            <a:extLst>
              <a:ext uri="{FF2B5EF4-FFF2-40B4-BE49-F238E27FC236}">
                <a16:creationId xmlns:a16="http://schemas.microsoft.com/office/drawing/2014/main" id="{948C8816-47AF-4871-AE9A-4FE228C4B125}"/>
              </a:ext>
            </a:extLst>
          </p:cNvPr>
          <p:cNvGraphicFramePr>
            <a:graphicFrameLocks noGrp="1"/>
          </p:cNvGraphicFramePr>
          <p:nvPr>
            <p:ph type="tbl" sz="quarter" idx="19"/>
            <p:extLst>
              <p:ext uri="{D42A27DB-BD31-4B8C-83A1-F6EECF244321}">
                <p14:modId xmlns:p14="http://schemas.microsoft.com/office/powerpoint/2010/main" val="906617638"/>
              </p:ext>
            </p:extLst>
          </p:nvPr>
        </p:nvGraphicFramePr>
        <p:xfrm>
          <a:off x="304800" y="2590574"/>
          <a:ext cx="8534400" cy="3688080"/>
        </p:xfrm>
        <a:graphic>
          <a:graphicData uri="http://schemas.openxmlformats.org/drawingml/2006/table">
            <a:tbl>
              <a:tblPr firstRow="1" bandRow="1">
                <a:tableStyleId>{69012ECD-51FC-41F1-AA8D-1B2483CD663E}</a:tableStyleId>
              </a:tblPr>
              <a:tblGrid>
                <a:gridCol w="5262520">
                  <a:extLst>
                    <a:ext uri="{9D8B030D-6E8A-4147-A177-3AD203B41FA5}">
                      <a16:colId xmlns:a16="http://schemas.microsoft.com/office/drawing/2014/main" val="2189380143"/>
                    </a:ext>
                  </a:extLst>
                </a:gridCol>
                <a:gridCol w="3271880">
                  <a:extLst>
                    <a:ext uri="{9D8B030D-6E8A-4147-A177-3AD203B41FA5}">
                      <a16:colId xmlns:a16="http://schemas.microsoft.com/office/drawing/2014/main" val="1168022962"/>
                    </a:ext>
                  </a:extLst>
                </a:gridCol>
              </a:tblGrid>
              <a:tr h="315589">
                <a:tc>
                  <a:txBody>
                    <a:bodyPr/>
                    <a:lstStyle/>
                    <a:p>
                      <a:r>
                        <a:rPr lang="en-US" sz="1600" dirty="0"/>
                        <a:t>Substance</a:t>
                      </a:r>
                    </a:p>
                  </a:txBody>
                  <a:tcPr/>
                </a:tc>
                <a:tc>
                  <a:txBody>
                    <a:bodyPr/>
                    <a:lstStyle/>
                    <a:p>
                      <a:r>
                        <a:rPr lang="en-US" sz="1600" dirty="0"/>
                        <a:t>pH Value</a:t>
                      </a:r>
                    </a:p>
                  </a:txBody>
                  <a:tcPr/>
                </a:tc>
                <a:extLst>
                  <a:ext uri="{0D108BD9-81ED-4DB2-BD59-A6C34878D82A}">
                    <a16:rowId xmlns:a16="http://schemas.microsoft.com/office/drawing/2014/main" val="3814834036"/>
                  </a:ext>
                </a:extLst>
              </a:tr>
              <a:tr h="315589">
                <a:tc>
                  <a:txBody>
                    <a:bodyPr/>
                    <a:lstStyle/>
                    <a:p>
                      <a:r>
                        <a:rPr lang="en-US" sz="1600" dirty="0"/>
                        <a:t>* Gastric juice (found in the stomach)</a:t>
                      </a:r>
                    </a:p>
                  </a:txBody>
                  <a:tcPr/>
                </a:tc>
                <a:tc>
                  <a:txBody>
                    <a:bodyPr/>
                    <a:lstStyle/>
                    <a:p>
                      <a:r>
                        <a:rPr lang="en-US" sz="1600" dirty="0"/>
                        <a:t>1.2–3.0</a:t>
                      </a:r>
                    </a:p>
                  </a:txBody>
                  <a:tcPr/>
                </a:tc>
                <a:extLst>
                  <a:ext uri="{0D108BD9-81ED-4DB2-BD59-A6C34878D82A}">
                    <a16:rowId xmlns:a16="http://schemas.microsoft.com/office/drawing/2014/main" val="1456627080"/>
                  </a:ext>
                </a:extLst>
              </a:tr>
              <a:tr h="315589">
                <a:tc>
                  <a:txBody>
                    <a:bodyPr/>
                    <a:lstStyle/>
                    <a:p>
                      <a:r>
                        <a:rPr lang="en-US" sz="1600" dirty="0"/>
                        <a:t>Lemon juice</a:t>
                      </a:r>
                    </a:p>
                  </a:txBody>
                  <a:tcPr/>
                </a:tc>
                <a:tc>
                  <a:txBody>
                    <a:bodyPr/>
                    <a:lstStyle/>
                    <a:p>
                      <a:r>
                        <a:rPr lang="en-US" sz="1600" dirty="0"/>
                        <a:t>2.3</a:t>
                      </a:r>
                    </a:p>
                  </a:txBody>
                  <a:tcPr/>
                </a:tc>
                <a:extLst>
                  <a:ext uri="{0D108BD9-81ED-4DB2-BD59-A6C34878D82A}">
                    <a16:rowId xmlns:a16="http://schemas.microsoft.com/office/drawing/2014/main" val="3257841418"/>
                  </a:ext>
                </a:extLst>
              </a:tr>
              <a:tr h="315589">
                <a:tc>
                  <a:txBody>
                    <a:bodyPr/>
                    <a:lstStyle/>
                    <a:p>
                      <a:r>
                        <a:rPr lang="en-US" sz="1600" dirty="0"/>
                        <a:t>Vinegar</a:t>
                      </a:r>
                    </a:p>
                  </a:txBody>
                  <a:tcPr/>
                </a:tc>
                <a:tc>
                  <a:txBody>
                    <a:bodyPr/>
                    <a:lstStyle/>
                    <a:p>
                      <a:r>
                        <a:rPr lang="en-US" sz="1600" dirty="0"/>
                        <a:t>3.0</a:t>
                      </a:r>
                    </a:p>
                  </a:txBody>
                  <a:tcPr/>
                </a:tc>
                <a:extLst>
                  <a:ext uri="{0D108BD9-81ED-4DB2-BD59-A6C34878D82A}">
                    <a16:rowId xmlns:a16="http://schemas.microsoft.com/office/drawing/2014/main" val="1765637841"/>
                  </a:ext>
                </a:extLst>
              </a:tr>
              <a:tr h="315589">
                <a:tc>
                  <a:txBody>
                    <a:bodyPr/>
                    <a:lstStyle/>
                    <a:p>
                      <a:r>
                        <a:rPr lang="en-US" sz="1600" dirty="0"/>
                        <a:t>Carbonated soft drink</a:t>
                      </a:r>
                    </a:p>
                  </a:txBody>
                  <a:tcPr/>
                </a:tc>
                <a:tc>
                  <a:txBody>
                    <a:bodyPr/>
                    <a:lstStyle/>
                    <a:p>
                      <a:r>
                        <a:rPr lang="en-US" sz="1600" dirty="0"/>
                        <a:t>3.0–3.5</a:t>
                      </a:r>
                    </a:p>
                  </a:txBody>
                  <a:tcPr/>
                </a:tc>
                <a:extLst>
                  <a:ext uri="{0D108BD9-81ED-4DB2-BD59-A6C34878D82A}">
                    <a16:rowId xmlns:a16="http://schemas.microsoft.com/office/drawing/2014/main" val="608770046"/>
                  </a:ext>
                </a:extLst>
              </a:tr>
              <a:tr h="315589">
                <a:tc>
                  <a:txBody>
                    <a:bodyPr/>
                    <a:lstStyle/>
                    <a:p>
                      <a:r>
                        <a:rPr lang="en-US" sz="1600" dirty="0"/>
                        <a:t>Orange juice</a:t>
                      </a:r>
                    </a:p>
                  </a:txBody>
                  <a:tcPr/>
                </a:tc>
                <a:tc>
                  <a:txBody>
                    <a:bodyPr/>
                    <a:lstStyle/>
                    <a:p>
                      <a:r>
                        <a:rPr lang="en-US" sz="1600" dirty="0"/>
                        <a:t>3.5</a:t>
                      </a:r>
                    </a:p>
                  </a:txBody>
                  <a:tcPr/>
                </a:tc>
                <a:extLst>
                  <a:ext uri="{0D108BD9-81ED-4DB2-BD59-A6C34878D82A}">
                    <a16:rowId xmlns:a16="http://schemas.microsoft.com/office/drawing/2014/main" val="3296619775"/>
                  </a:ext>
                </a:extLst>
              </a:tr>
              <a:tr h="315589">
                <a:tc>
                  <a:txBody>
                    <a:bodyPr/>
                    <a:lstStyle/>
                    <a:p>
                      <a:r>
                        <a:rPr lang="en-US" sz="1600" dirty="0"/>
                        <a:t>* Vaginal fluid</a:t>
                      </a:r>
                    </a:p>
                  </a:txBody>
                  <a:tcPr/>
                </a:tc>
                <a:tc>
                  <a:txBody>
                    <a:bodyPr/>
                    <a:lstStyle/>
                    <a:p>
                      <a:r>
                        <a:rPr lang="en-US" sz="1600" dirty="0"/>
                        <a:t>3.4–4.5</a:t>
                      </a:r>
                    </a:p>
                  </a:txBody>
                  <a:tcPr/>
                </a:tc>
                <a:extLst>
                  <a:ext uri="{0D108BD9-81ED-4DB2-BD59-A6C34878D82A}">
                    <a16:rowId xmlns:a16="http://schemas.microsoft.com/office/drawing/2014/main" val="512134845"/>
                  </a:ext>
                </a:extLst>
              </a:tr>
              <a:tr h="315589">
                <a:tc>
                  <a:txBody>
                    <a:bodyPr/>
                    <a:lstStyle/>
                    <a:p>
                      <a:r>
                        <a:rPr lang="en-US" sz="1600" dirty="0"/>
                        <a:t>Tomato juice</a:t>
                      </a:r>
                    </a:p>
                  </a:txBody>
                  <a:tcPr/>
                </a:tc>
                <a:tc>
                  <a:txBody>
                    <a:bodyPr/>
                    <a:lstStyle/>
                    <a:p>
                      <a:r>
                        <a:rPr lang="en-US" sz="1600" dirty="0"/>
                        <a:t>4.2</a:t>
                      </a:r>
                    </a:p>
                  </a:txBody>
                  <a:tcPr/>
                </a:tc>
                <a:extLst>
                  <a:ext uri="{0D108BD9-81ED-4DB2-BD59-A6C34878D82A}">
                    <a16:rowId xmlns:a16="http://schemas.microsoft.com/office/drawing/2014/main" val="3692410157"/>
                  </a:ext>
                </a:extLst>
              </a:tr>
              <a:tr h="315589">
                <a:tc>
                  <a:txBody>
                    <a:bodyPr/>
                    <a:lstStyle/>
                    <a:p>
                      <a:r>
                        <a:rPr lang="en-US" sz="1600" dirty="0"/>
                        <a:t>Coffee</a:t>
                      </a:r>
                    </a:p>
                  </a:txBody>
                  <a:tcPr/>
                </a:tc>
                <a:tc>
                  <a:txBody>
                    <a:bodyPr/>
                    <a:lstStyle/>
                    <a:p>
                      <a:r>
                        <a:rPr lang="en-US" sz="1600" dirty="0"/>
                        <a:t>5.0</a:t>
                      </a:r>
                    </a:p>
                  </a:txBody>
                  <a:tcPr/>
                </a:tc>
                <a:extLst>
                  <a:ext uri="{0D108BD9-81ED-4DB2-BD59-A6C34878D82A}">
                    <a16:rowId xmlns:a16="http://schemas.microsoft.com/office/drawing/2014/main" val="428278732"/>
                  </a:ext>
                </a:extLst>
              </a:tr>
              <a:tr h="315589">
                <a:tc>
                  <a:txBody>
                    <a:bodyPr/>
                    <a:lstStyle/>
                    <a:p>
                      <a:r>
                        <a:rPr lang="en-US" sz="1600" dirty="0"/>
                        <a:t>* Urine</a:t>
                      </a:r>
                    </a:p>
                  </a:txBody>
                  <a:tcPr/>
                </a:tc>
                <a:tc>
                  <a:txBody>
                    <a:bodyPr/>
                    <a:lstStyle/>
                    <a:p>
                      <a:r>
                        <a:rPr lang="en-US" sz="1600" dirty="0"/>
                        <a:t>4.6–8.0</a:t>
                      </a:r>
                    </a:p>
                  </a:txBody>
                  <a:tcPr/>
                </a:tc>
                <a:extLst>
                  <a:ext uri="{0D108BD9-81ED-4DB2-BD59-A6C34878D82A}">
                    <a16:rowId xmlns:a16="http://schemas.microsoft.com/office/drawing/2014/main" val="1888502677"/>
                  </a:ext>
                </a:extLst>
              </a:tr>
              <a:tr h="315589">
                <a:tc>
                  <a:txBody>
                    <a:bodyPr/>
                    <a:lstStyle/>
                    <a:p>
                      <a:r>
                        <a:rPr lang="en-US" sz="1600" dirty="0"/>
                        <a:t>* Saliva</a:t>
                      </a:r>
                    </a:p>
                  </a:txBody>
                  <a:tcPr/>
                </a:tc>
                <a:tc>
                  <a:txBody>
                    <a:bodyPr/>
                    <a:lstStyle/>
                    <a:p>
                      <a:r>
                        <a:rPr lang="en-US" sz="1600" dirty="0"/>
                        <a:t>6.35–6.85</a:t>
                      </a:r>
                    </a:p>
                  </a:txBody>
                  <a:tcPr/>
                </a:tc>
                <a:extLst>
                  <a:ext uri="{0D108BD9-81ED-4DB2-BD59-A6C34878D82A}">
                    <a16:rowId xmlns:a16="http://schemas.microsoft.com/office/drawing/2014/main" val="2364890887"/>
                  </a:ext>
                </a:extLst>
              </a:tr>
            </a:tbl>
          </a:graphicData>
        </a:graphic>
      </p:graphicFrame>
    </p:spTree>
    <p:extLst>
      <p:ext uri="{BB962C8B-B14F-4D97-AF65-F5344CB8AC3E}">
        <p14:creationId xmlns:p14="http://schemas.microsoft.com/office/powerpoint/2010/main" val="2285084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pH </a:t>
            </a:r>
            <a:endParaRPr lang="en-US" sz="2000"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1422400"/>
            <a:ext cx="8534400" cy="1244600"/>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pH Values of Selected Substances (asterisks indicate substances in the human body)</a:t>
            </a:r>
          </a:p>
        </p:txBody>
      </p:sp>
      <p:graphicFrame>
        <p:nvGraphicFramePr>
          <p:cNvPr id="11" name="Content Placeholder 12" descr="Table is accessible to screen readers.">
            <a:extLst>
              <a:ext uri="{FF2B5EF4-FFF2-40B4-BE49-F238E27FC236}">
                <a16:creationId xmlns:a16="http://schemas.microsoft.com/office/drawing/2014/main" id="{55261D1F-6999-44E0-B7D8-AB07F641424D}"/>
              </a:ext>
            </a:extLst>
          </p:cNvPr>
          <p:cNvGraphicFramePr>
            <a:graphicFrameLocks noGrp="1"/>
          </p:cNvGraphicFramePr>
          <p:nvPr>
            <p:ph type="tbl" sz="quarter" idx="19"/>
            <p:extLst>
              <p:ext uri="{D42A27DB-BD31-4B8C-83A1-F6EECF244321}">
                <p14:modId xmlns:p14="http://schemas.microsoft.com/office/powerpoint/2010/main" val="3900256359"/>
              </p:ext>
            </p:extLst>
          </p:nvPr>
        </p:nvGraphicFramePr>
        <p:xfrm>
          <a:off x="304800" y="2689223"/>
          <a:ext cx="8534400" cy="3352800"/>
        </p:xfrm>
        <a:graphic>
          <a:graphicData uri="http://schemas.openxmlformats.org/drawingml/2006/table">
            <a:tbl>
              <a:tblPr firstRow="1" bandRow="1">
                <a:tableStyleId>{69012ECD-51FC-41F1-AA8D-1B2483CD663E}</a:tableStyleId>
              </a:tblPr>
              <a:tblGrid>
                <a:gridCol w="5270612">
                  <a:extLst>
                    <a:ext uri="{9D8B030D-6E8A-4147-A177-3AD203B41FA5}">
                      <a16:colId xmlns:a16="http://schemas.microsoft.com/office/drawing/2014/main" val="2189380143"/>
                    </a:ext>
                  </a:extLst>
                </a:gridCol>
                <a:gridCol w="3263788">
                  <a:extLst>
                    <a:ext uri="{9D8B030D-6E8A-4147-A177-3AD203B41FA5}">
                      <a16:colId xmlns:a16="http://schemas.microsoft.com/office/drawing/2014/main" val="1168022962"/>
                    </a:ext>
                  </a:extLst>
                </a:gridCol>
              </a:tblGrid>
              <a:tr h="315589">
                <a:tc>
                  <a:txBody>
                    <a:bodyPr/>
                    <a:lstStyle/>
                    <a:p>
                      <a:r>
                        <a:rPr lang="en-US" sz="1600" dirty="0"/>
                        <a:t>Substance</a:t>
                      </a:r>
                    </a:p>
                  </a:txBody>
                  <a:tcPr/>
                </a:tc>
                <a:tc>
                  <a:txBody>
                    <a:bodyPr/>
                    <a:lstStyle/>
                    <a:p>
                      <a:r>
                        <a:rPr lang="en-US" sz="1600" dirty="0"/>
                        <a:t>pH Value</a:t>
                      </a:r>
                    </a:p>
                  </a:txBody>
                  <a:tcPr/>
                </a:tc>
                <a:extLst>
                  <a:ext uri="{0D108BD9-81ED-4DB2-BD59-A6C34878D82A}">
                    <a16:rowId xmlns:a16="http://schemas.microsoft.com/office/drawing/2014/main" val="3814834036"/>
                  </a:ext>
                </a:extLst>
              </a:tr>
              <a:tr h="315589">
                <a:tc>
                  <a:txBody>
                    <a:bodyPr/>
                    <a:lstStyle/>
                    <a:p>
                      <a:r>
                        <a:rPr lang="en-US" sz="1600" dirty="0"/>
                        <a:t>Milk</a:t>
                      </a:r>
                    </a:p>
                  </a:txBody>
                  <a:tcPr/>
                </a:tc>
                <a:tc>
                  <a:txBody>
                    <a:bodyPr/>
                    <a:lstStyle/>
                    <a:p>
                      <a:r>
                        <a:rPr lang="en-US" sz="1600" dirty="0"/>
                        <a:t>6.8</a:t>
                      </a:r>
                    </a:p>
                  </a:txBody>
                  <a:tcPr/>
                </a:tc>
                <a:extLst>
                  <a:ext uri="{0D108BD9-81ED-4DB2-BD59-A6C34878D82A}">
                    <a16:rowId xmlns:a16="http://schemas.microsoft.com/office/drawing/2014/main" val="1456627080"/>
                  </a:ext>
                </a:extLst>
              </a:tr>
              <a:tr h="315589">
                <a:tc>
                  <a:txBody>
                    <a:bodyPr/>
                    <a:lstStyle/>
                    <a:p>
                      <a:r>
                        <a:rPr lang="en-US" sz="1600" dirty="0"/>
                        <a:t>Distilled (pure) water</a:t>
                      </a:r>
                    </a:p>
                  </a:txBody>
                  <a:tcPr/>
                </a:tc>
                <a:tc>
                  <a:txBody>
                    <a:bodyPr/>
                    <a:lstStyle/>
                    <a:p>
                      <a:r>
                        <a:rPr lang="en-US" sz="1600" dirty="0"/>
                        <a:t>7.0</a:t>
                      </a:r>
                    </a:p>
                  </a:txBody>
                  <a:tcPr/>
                </a:tc>
                <a:extLst>
                  <a:ext uri="{0D108BD9-81ED-4DB2-BD59-A6C34878D82A}">
                    <a16:rowId xmlns:a16="http://schemas.microsoft.com/office/drawing/2014/main" val="3257841418"/>
                  </a:ext>
                </a:extLst>
              </a:tr>
              <a:tr h="315589">
                <a:tc>
                  <a:txBody>
                    <a:bodyPr/>
                    <a:lstStyle/>
                    <a:p>
                      <a:r>
                        <a:rPr lang="en-US" sz="1600" dirty="0"/>
                        <a:t>* Blood</a:t>
                      </a:r>
                    </a:p>
                  </a:txBody>
                  <a:tcPr/>
                </a:tc>
                <a:tc>
                  <a:txBody>
                    <a:bodyPr/>
                    <a:lstStyle/>
                    <a:p>
                      <a:r>
                        <a:rPr lang="en-US" sz="1600" dirty="0"/>
                        <a:t>7.35–7.45</a:t>
                      </a:r>
                    </a:p>
                  </a:txBody>
                  <a:tcPr/>
                </a:tc>
                <a:extLst>
                  <a:ext uri="{0D108BD9-81ED-4DB2-BD59-A6C34878D82A}">
                    <a16:rowId xmlns:a16="http://schemas.microsoft.com/office/drawing/2014/main" val="1765637841"/>
                  </a:ext>
                </a:extLst>
              </a:tr>
              <a:tr h="315589">
                <a:tc>
                  <a:txBody>
                    <a:bodyPr/>
                    <a:lstStyle/>
                    <a:p>
                      <a:r>
                        <a:rPr lang="en-US" sz="1600" dirty="0"/>
                        <a:t>* Semen (fluid containing sperm)</a:t>
                      </a:r>
                    </a:p>
                  </a:txBody>
                  <a:tcPr/>
                </a:tc>
                <a:tc>
                  <a:txBody>
                    <a:bodyPr/>
                    <a:lstStyle/>
                    <a:p>
                      <a:r>
                        <a:rPr lang="en-US" sz="1600" dirty="0"/>
                        <a:t>7.20–7.60</a:t>
                      </a:r>
                    </a:p>
                  </a:txBody>
                  <a:tcPr/>
                </a:tc>
                <a:extLst>
                  <a:ext uri="{0D108BD9-81ED-4DB2-BD59-A6C34878D82A}">
                    <a16:rowId xmlns:a16="http://schemas.microsoft.com/office/drawing/2014/main" val="608770046"/>
                  </a:ext>
                </a:extLst>
              </a:tr>
              <a:tr h="315589">
                <a:tc>
                  <a:txBody>
                    <a:bodyPr/>
                    <a:lstStyle/>
                    <a:p>
                      <a:r>
                        <a:rPr lang="en-US" sz="1600" dirty="0"/>
                        <a:t>* Cerebrospinal fluid (fluid associated with nervous system)</a:t>
                      </a:r>
                    </a:p>
                  </a:txBody>
                  <a:tcPr/>
                </a:tc>
                <a:tc>
                  <a:txBody>
                    <a:bodyPr/>
                    <a:lstStyle/>
                    <a:p>
                      <a:r>
                        <a:rPr lang="en-US" sz="1600" dirty="0"/>
                        <a:t>7.4</a:t>
                      </a:r>
                    </a:p>
                  </a:txBody>
                  <a:tcPr/>
                </a:tc>
                <a:extLst>
                  <a:ext uri="{0D108BD9-81ED-4DB2-BD59-A6C34878D82A}">
                    <a16:rowId xmlns:a16="http://schemas.microsoft.com/office/drawing/2014/main" val="3296619775"/>
                  </a:ext>
                </a:extLst>
              </a:tr>
              <a:tr h="315589">
                <a:tc>
                  <a:txBody>
                    <a:bodyPr/>
                    <a:lstStyle/>
                    <a:p>
                      <a:r>
                        <a:rPr lang="en-US" sz="1600" dirty="0"/>
                        <a:t>* Pancreatic juice (digestive juice of the pancreas)</a:t>
                      </a:r>
                    </a:p>
                  </a:txBody>
                  <a:tcPr/>
                </a:tc>
                <a:tc>
                  <a:txBody>
                    <a:bodyPr/>
                    <a:lstStyle/>
                    <a:p>
                      <a:r>
                        <a:rPr lang="en-US" sz="1600" dirty="0"/>
                        <a:t>7.1–8.2</a:t>
                      </a:r>
                    </a:p>
                  </a:txBody>
                  <a:tcPr/>
                </a:tc>
                <a:extLst>
                  <a:ext uri="{0D108BD9-81ED-4DB2-BD59-A6C34878D82A}">
                    <a16:rowId xmlns:a16="http://schemas.microsoft.com/office/drawing/2014/main" val="512134845"/>
                  </a:ext>
                </a:extLst>
              </a:tr>
              <a:tr h="315589">
                <a:tc>
                  <a:txBody>
                    <a:bodyPr/>
                    <a:lstStyle/>
                    <a:p>
                      <a:r>
                        <a:rPr lang="en-US" sz="1600" dirty="0"/>
                        <a:t>* Bile (liver secretion that aids fat digestion)</a:t>
                      </a:r>
                    </a:p>
                  </a:txBody>
                  <a:tcPr/>
                </a:tc>
                <a:tc>
                  <a:txBody>
                    <a:bodyPr/>
                    <a:lstStyle/>
                    <a:p>
                      <a:r>
                        <a:rPr lang="en-US" sz="1600" dirty="0"/>
                        <a:t>7.6–8.6</a:t>
                      </a:r>
                    </a:p>
                  </a:txBody>
                  <a:tcPr/>
                </a:tc>
                <a:extLst>
                  <a:ext uri="{0D108BD9-81ED-4DB2-BD59-A6C34878D82A}">
                    <a16:rowId xmlns:a16="http://schemas.microsoft.com/office/drawing/2014/main" val="3692410157"/>
                  </a:ext>
                </a:extLst>
              </a:tr>
              <a:tr h="315589">
                <a:tc>
                  <a:txBody>
                    <a:bodyPr/>
                    <a:lstStyle/>
                    <a:p>
                      <a:r>
                        <a:rPr lang="en-US" sz="1600" dirty="0"/>
                        <a:t>Milk of magnesia</a:t>
                      </a:r>
                    </a:p>
                  </a:txBody>
                  <a:tcPr/>
                </a:tc>
                <a:tc>
                  <a:txBody>
                    <a:bodyPr/>
                    <a:lstStyle/>
                    <a:p>
                      <a:r>
                        <a:rPr lang="en-US" sz="1600" dirty="0"/>
                        <a:t>10.5</a:t>
                      </a:r>
                    </a:p>
                  </a:txBody>
                  <a:tcPr/>
                </a:tc>
                <a:extLst>
                  <a:ext uri="{0D108BD9-81ED-4DB2-BD59-A6C34878D82A}">
                    <a16:rowId xmlns:a16="http://schemas.microsoft.com/office/drawing/2014/main" val="428278732"/>
                  </a:ext>
                </a:extLst>
              </a:tr>
              <a:tr h="315589">
                <a:tc>
                  <a:txBody>
                    <a:bodyPr/>
                    <a:lstStyle/>
                    <a:p>
                      <a:r>
                        <a:rPr lang="en-US" sz="1600" dirty="0"/>
                        <a:t>Lye (sodium hydroxide)</a:t>
                      </a:r>
                    </a:p>
                  </a:txBody>
                  <a:tcPr/>
                </a:tc>
                <a:tc>
                  <a:txBody>
                    <a:bodyPr/>
                    <a:lstStyle/>
                    <a:p>
                      <a:r>
                        <a:rPr lang="en-US" sz="1600" dirty="0"/>
                        <a:t>14.0</a:t>
                      </a:r>
                    </a:p>
                  </a:txBody>
                  <a:tcPr/>
                </a:tc>
                <a:extLst>
                  <a:ext uri="{0D108BD9-81ED-4DB2-BD59-A6C34878D82A}">
                    <a16:rowId xmlns:a16="http://schemas.microsoft.com/office/drawing/2014/main" val="1888502677"/>
                  </a:ext>
                </a:extLst>
              </a:tr>
            </a:tbl>
          </a:graphicData>
        </a:graphic>
      </p:graphicFrame>
    </p:spTree>
    <p:extLst>
      <p:ext uri="{BB962C8B-B14F-4D97-AF65-F5344CB8AC3E}">
        <p14:creationId xmlns:p14="http://schemas.microsoft.com/office/powerpoint/2010/main" val="40190151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normAutofit fontScale="90000"/>
          </a:bodyPr>
          <a:lstStyle/>
          <a:p>
            <a:r>
              <a:rPr lang="en-US" dirty="0">
                <a:latin typeface="Calibri" panose="020F0502020204030204" pitchFamily="34" charset="0"/>
                <a:cs typeface="Calibri" panose="020F0502020204030204" pitchFamily="34" charset="0"/>
              </a:rPr>
              <a:t>pH and Buffers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Interactions Animation:</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2058988"/>
            <a:ext cx="8534400" cy="1903412"/>
          </a:xfrm>
        </p:spPr>
        <p:txBody>
          <a:bodyPr/>
          <a:lstStyle/>
          <a:p>
            <a:r>
              <a:rPr lang="en-US" dirty="0">
                <a:latin typeface="Calibri" panose="020F0502020204030204" pitchFamily="34" charset="0"/>
                <a:cs typeface="Calibri" panose="020F0502020204030204" pitchFamily="34" charset="0"/>
                <a:hlinkClick r:id="rId2"/>
              </a:rPr>
              <a:t>Acids and Bases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47240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Buffer Systems</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1752600"/>
            <a:ext cx="8534400" cy="3797300"/>
          </a:xfrm>
        </p:spPr>
        <p:txBody>
          <a:bodyPr/>
          <a:lstStyle/>
          <a:p>
            <a:pPr marL="457200" indent="-457200">
              <a:lnSpc>
                <a:spcPct val="100000"/>
              </a:lnSpc>
              <a:buFont typeface="Arial" panose="020B0604020202020204" pitchFamily="34" charset="0"/>
              <a:buChar char="•"/>
            </a:pPr>
            <a:r>
              <a:rPr lang="en-US" sz="3200" dirty="0">
                <a:latin typeface="Calibri" panose="020F0502020204030204" pitchFamily="34" charset="0"/>
                <a:cs typeface="Calibri" panose="020F0502020204030204" pitchFamily="34" charset="0"/>
              </a:rPr>
              <a:t>Maintenance of body fluid homeostasis is critical</a:t>
            </a:r>
          </a:p>
          <a:p>
            <a:pPr marL="759600" lvl="1" indent="-457200">
              <a:lnSpc>
                <a:spcPct val="100000"/>
              </a:lnSpc>
              <a:spcBef>
                <a:spcPts val="1000"/>
              </a:spcBef>
              <a:buClr>
                <a:schemeClr val="accent2"/>
              </a:buClr>
            </a:pPr>
            <a:r>
              <a:rPr lang="en-US" sz="2800" dirty="0">
                <a:latin typeface="Calibri" panose="020F0502020204030204" pitchFamily="34" charset="0"/>
                <a:cs typeface="Calibri" panose="020F0502020204030204" pitchFamily="34" charset="0"/>
              </a:rPr>
              <a:t>H</a:t>
            </a:r>
            <a:r>
              <a:rPr lang="en-US" sz="2800" baseline="30000" dirty="0">
                <a:latin typeface="Calibri" panose="020F0502020204030204" pitchFamily="34" charset="0"/>
                <a:cs typeface="Calibri" panose="020F0502020204030204" pitchFamily="34" charset="0"/>
              </a:rPr>
              <a:t>+</a:t>
            </a:r>
            <a:r>
              <a:rPr lang="en-US" sz="2800" dirty="0">
                <a:latin typeface="Calibri" panose="020F0502020204030204" pitchFamily="34" charset="0"/>
                <a:cs typeface="Calibri" panose="020F0502020204030204" pitchFamily="34" charset="0"/>
              </a:rPr>
              <a:t>   +     HCO</a:t>
            </a:r>
            <a:r>
              <a:rPr lang="en-US" sz="2800" baseline="-25000" dirty="0">
                <a:latin typeface="Calibri" panose="020F0502020204030204" pitchFamily="34" charset="0"/>
                <a:cs typeface="Calibri" panose="020F0502020204030204" pitchFamily="34" charset="0"/>
              </a:rPr>
              <a:t>3</a:t>
            </a:r>
            <a:r>
              <a:rPr lang="en-US" sz="2800" baseline="30000" dirty="0">
                <a:latin typeface="Calibri" panose="020F0502020204030204" pitchFamily="34" charset="0"/>
                <a:cs typeface="Calibri" panose="020F0502020204030204" pitchFamily="34" charset="0"/>
              </a:rPr>
              <a:t>-</a:t>
            </a:r>
            <a:r>
              <a:rPr lang="en-US" sz="2800" dirty="0">
                <a:latin typeface="Calibri" panose="020F0502020204030204" pitchFamily="34" charset="0"/>
                <a:cs typeface="Calibri" panose="020F0502020204030204" pitchFamily="34" charset="0"/>
              </a:rPr>
              <a:t>   ↔    H</a:t>
            </a:r>
            <a:r>
              <a:rPr lang="en-US" sz="2800" baseline="-25000" dirty="0">
                <a:latin typeface="Calibri" panose="020F0502020204030204" pitchFamily="34" charset="0"/>
                <a:cs typeface="Calibri" panose="020F0502020204030204" pitchFamily="34" charset="0"/>
              </a:rPr>
              <a:t>2</a:t>
            </a:r>
            <a:r>
              <a:rPr lang="en-US" sz="2800" dirty="0">
                <a:latin typeface="Calibri" panose="020F0502020204030204" pitchFamily="34" charset="0"/>
                <a:cs typeface="Calibri" panose="020F0502020204030204" pitchFamily="34" charset="0"/>
              </a:rPr>
              <a:t>CO</a:t>
            </a:r>
            <a:r>
              <a:rPr lang="en-US" sz="2800" baseline="-25000" dirty="0">
                <a:latin typeface="Calibri" panose="020F0502020204030204" pitchFamily="34" charset="0"/>
                <a:cs typeface="Calibri" panose="020F0502020204030204" pitchFamily="34" charset="0"/>
              </a:rPr>
              <a:t>3</a:t>
            </a:r>
          </a:p>
          <a:p>
            <a:pPr marL="302400" lvl="1" indent="0">
              <a:lnSpc>
                <a:spcPct val="100000"/>
              </a:lnSpc>
              <a:spcBef>
                <a:spcPts val="1000"/>
              </a:spcBef>
              <a:buClr>
                <a:schemeClr val="accent2"/>
              </a:buClr>
              <a:buNone/>
            </a:pPr>
            <a:r>
              <a:rPr lang="en-US" sz="1200" baseline="-25000" dirty="0">
                <a:latin typeface="Calibri" panose="020F0502020204030204" pitchFamily="34" charset="0"/>
                <a:cs typeface="Calibri" panose="020F0502020204030204" pitchFamily="34" charset="0"/>
              </a:rPr>
              <a:t>          </a:t>
            </a:r>
            <a:r>
              <a:rPr lang="en-US" sz="1800" baseline="-25000" dirty="0">
                <a:latin typeface="Calibri" panose="020F0502020204030204" pitchFamily="34" charset="0"/>
                <a:cs typeface="Calibri" panose="020F0502020204030204" pitchFamily="34" charset="0"/>
              </a:rPr>
              <a:t>hydrogen ion            </a:t>
            </a:r>
            <a:r>
              <a:rPr lang="en-US" sz="1800" baseline="-25000" dirty="0" err="1">
                <a:latin typeface="Calibri" panose="020F0502020204030204" pitchFamily="34" charset="0"/>
                <a:cs typeface="Calibri" panose="020F0502020204030204" pitchFamily="34" charset="0"/>
              </a:rPr>
              <a:t>biarcarbonate</a:t>
            </a:r>
            <a:r>
              <a:rPr lang="en-US" sz="1800" baseline="-25000" dirty="0">
                <a:latin typeface="Calibri" panose="020F0502020204030204" pitchFamily="34" charset="0"/>
                <a:cs typeface="Calibri" panose="020F0502020204030204" pitchFamily="34" charset="0"/>
              </a:rPr>
              <a:t> ion                             carbonic acid </a:t>
            </a:r>
          </a:p>
          <a:p>
            <a:pPr marL="302400" lvl="1" indent="0">
              <a:lnSpc>
                <a:spcPct val="100000"/>
              </a:lnSpc>
              <a:spcBef>
                <a:spcPts val="1000"/>
              </a:spcBef>
              <a:buClr>
                <a:schemeClr val="accent2"/>
              </a:buClr>
              <a:buNone/>
            </a:pPr>
            <a:r>
              <a:rPr lang="en-US" sz="1800" baseline="-25000" dirty="0">
                <a:latin typeface="Calibri" panose="020F0502020204030204" pitchFamily="34" charset="0"/>
                <a:cs typeface="Calibri" panose="020F0502020204030204" pitchFamily="34" charset="0"/>
              </a:rPr>
              <a:t>                                          (weak base)</a:t>
            </a:r>
          </a:p>
          <a:p>
            <a:pPr marL="759600" lvl="1" indent="-457200">
              <a:lnSpc>
                <a:spcPct val="100000"/>
              </a:lnSpc>
              <a:spcBef>
                <a:spcPts val="1000"/>
              </a:spcBef>
              <a:buClr>
                <a:schemeClr val="accent2"/>
              </a:buClr>
            </a:pPr>
            <a:r>
              <a:rPr lang="en-US" dirty="0">
                <a:latin typeface="Calibri" panose="020F0502020204030204" pitchFamily="34" charset="0"/>
                <a:cs typeface="Calibri" panose="020F0502020204030204" pitchFamily="34" charset="0"/>
              </a:rPr>
              <a:t>If blood pH drops too low, bicarbonate ion will remove excess hydrogen ions from solution, resulting in a rise of pH </a:t>
            </a:r>
          </a:p>
          <a:p>
            <a:pPr marL="759600" lvl="1" indent="-457200">
              <a:lnSpc>
                <a:spcPct val="100000"/>
              </a:lnSpc>
              <a:spcBef>
                <a:spcPts val="1000"/>
              </a:spcBef>
              <a:buClr>
                <a:schemeClr val="accent2"/>
              </a:buClr>
            </a:pPr>
            <a:r>
              <a:rPr lang="en-US" dirty="0">
                <a:latin typeface="Calibri" panose="020F0502020204030204" pitchFamily="34" charset="0"/>
                <a:cs typeface="Calibri" panose="020F0502020204030204" pitchFamily="34" charset="0"/>
              </a:rPr>
              <a:t>If blood pH becomes too high, carbonic acid will dissociate to release hydrogen ions, resulting in a drop in pH</a:t>
            </a:r>
          </a:p>
        </p:txBody>
      </p:sp>
    </p:spTree>
    <p:extLst>
      <p:ext uri="{BB962C8B-B14F-4D97-AF65-F5344CB8AC3E}">
        <p14:creationId xmlns:p14="http://schemas.microsoft.com/office/powerpoint/2010/main" val="19260312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8567C63-7972-402B-9CC8-92EBB48EA08D}"/>
              </a:ext>
            </a:extLst>
          </p:cNvPr>
          <p:cNvSpPr>
            <a:spLocks noGrp="1"/>
          </p:cNvSpPr>
          <p:nvPr>
            <p:ph type="title"/>
          </p:nvPr>
        </p:nvSpPr>
        <p:spPr>
          <a:xfrm>
            <a:off x="304800" y="3017521"/>
            <a:ext cx="8534400" cy="822959"/>
          </a:xfrm>
        </p:spPr>
        <p:txBody>
          <a:bodyPr/>
          <a:lstStyle/>
          <a:p>
            <a:pPr algn="ctr"/>
            <a:r>
              <a:rPr lang="en-US" b="1" dirty="0">
                <a:latin typeface="Calibri" panose="020F0502020204030204" pitchFamily="34" charset="0"/>
                <a:cs typeface="Calibri" panose="020F0502020204030204" pitchFamily="34" charset="0"/>
              </a:rPr>
              <a:t>Overview of Organic Compounds</a:t>
            </a:r>
          </a:p>
        </p:txBody>
      </p:sp>
    </p:spTree>
    <p:extLst>
      <p:ext uri="{BB962C8B-B14F-4D97-AF65-F5344CB8AC3E}">
        <p14:creationId xmlns:p14="http://schemas.microsoft.com/office/powerpoint/2010/main" val="2403703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Carbon</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1435101"/>
            <a:ext cx="8534400" cy="4660898"/>
          </a:xfrm>
        </p:spPr>
        <p:txBody>
          <a:bodyPr/>
          <a:lstStyle/>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Organic compounds always contain carbon</a:t>
            </a:r>
          </a:p>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Carbons can combine in a variety of shapes</a:t>
            </a:r>
          </a:p>
          <a:p>
            <a:pPr marL="1143000" lvl="1" indent="-457200">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Carbon has 4 valence electrons, so needs to form 4 covalent bonds in order to complete its outer shell </a:t>
            </a:r>
          </a:p>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Carbon compounds do not dissolve easily in water</a:t>
            </a:r>
          </a:p>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Carbon compounds are a good source of energy</a:t>
            </a:r>
          </a:p>
        </p:txBody>
      </p:sp>
    </p:spTree>
    <p:extLst>
      <p:ext uri="{BB962C8B-B14F-4D97-AF65-F5344CB8AC3E}">
        <p14:creationId xmlns:p14="http://schemas.microsoft.com/office/powerpoint/2010/main" val="42507948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a:xfrm>
            <a:off x="304800" y="762001"/>
            <a:ext cx="8534400" cy="990599"/>
          </a:xfrm>
        </p:spPr>
        <p:txBody>
          <a:bodyPr>
            <a:normAutofit fontScale="90000"/>
          </a:bodyPr>
          <a:lstStyle/>
          <a:p>
            <a:r>
              <a:rPr lang="en-US" dirty="0">
                <a:latin typeface="Calibri" panose="020F0502020204030204" pitchFamily="34" charset="0"/>
                <a:cs typeface="Calibri" panose="020F0502020204030204" pitchFamily="34" charset="0"/>
              </a:rPr>
              <a:t>Major Functional Groups of Organic Compounds </a:t>
            </a:r>
            <a:endParaRPr lang="en-US" b="0" dirty="0">
              <a:latin typeface="Calibri" panose="020F0502020204030204" pitchFamily="34" charset="0"/>
              <a:cs typeface="Calibri" panose="020F0502020204030204" pitchFamily="34" charset="0"/>
            </a:endParaRPr>
          </a:p>
        </p:txBody>
      </p:sp>
      <p:pic>
        <p:nvPicPr>
          <p:cNvPr id="11" name="Content Placeholder 10" descr="A table with three rows and two columns shows major functional groups of organic molecules. The column headers are: Name and structural formula where R is a variable group; and occurrence and significance. The row entries are as follows:&#10;Row 1: Name, hydroxyl and structural formula consists of the following chain: R, single bond, O, single bond, H. Occurrence and significance: Alcohols contain an -O H group, which is polar and hydrophilic due to its electronegative O atom. Molecules with many -O H groups dissolve easily in water.&#10;Row 2: Name, sulfhydryl and structural formula consists of the following chain: R, single bond, S, single bond, H. Occurrence and significance: Thiols have an -S H group, which is polar and hydrophilic due to its electronegative S atom. Certain amino acids (for example, cysteine) contain -S H groups, which help stabilize the shape of proteins.&#10;Row 3: Name, carbonyl and structural formula consists of two following chain: Option 1: R, single bond, C, single bond, R with an O double bonded to C at the top. Option 2: R, single bond, C, single bond, H with an O double bonded to C at the top. Occurrence and significance: Ketones contain a carbonyl group within the carbon skeleton. The carbonyl group is polar and hydrophilic due to its electronegative O atom. Aldehydes have a carbonyl group at the end of the carbon skeleton.">
            <a:extLst>
              <a:ext uri="{FF2B5EF4-FFF2-40B4-BE49-F238E27FC236}">
                <a16:creationId xmlns:a16="http://schemas.microsoft.com/office/drawing/2014/main" id="{DED6CF75-E6F2-4D86-9FA8-023EF5D88066}"/>
              </a:ext>
            </a:extLst>
          </p:cNvPr>
          <p:cNvPicPr>
            <a:picLocks noGrp="1" noChangeAspect="1"/>
          </p:cNvPicPr>
          <p:nvPr>
            <p:ph type="pic" sz="quarter" idx="18"/>
          </p:nvPr>
        </p:nvPicPr>
        <p:blipFill>
          <a:blip r:embed="rId2" cstate="print">
            <a:extLst>
              <a:ext uri="{28A0092B-C50C-407E-A947-70E740481C1C}">
                <a14:useLocalDpi xmlns:a14="http://schemas.microsoft.com/office/drawing/2010/main" val="0"/>
              </a:ext>
            </a:extLst>
          </a:blip>
          <a:stretch>
            <a:fillRect/>
          </a:stretch>
        </p:blipFill>
        <p:spPr>
          <a:xfrm>
            <a:off x="1818266" y="1789518"/>
            <a:ext cx="5507468" cy="4465515"/>
          </a:xfrm>
          <a:prstGeom prst="rect">
            <a:avLst/>
          </a:prstGeom>
        </p:spPr>
      </p:pic>
    </p:spTree>
    <p:extLst>
      <p:ext uri="{BB962C8B-B14F-4D97-AF65-F5344CB8AC3E}">
        <p14:creationId xmlns:p14="http://schemas.microsoft.com/office/powerpoint/2010/main" val="15576308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a:xfrm>
            <a:off x="304800" y="762001"/>
            <a:ext cx="8534400" cy="990599"/>
          </a:xfrm>
        </p:spPr>
        <p:txBody>
          <a:bodyPr>
            <a:normAutofit fontScale="90000"/>
          </a:bodyPr>
          <a:lstStyle/>
          <a:p>
            <a:r>
              <a:rPr lang="en-US" dirty="0">
                <a:latin typeface="Calibri" panose="020F0502020204030204" pitchFamily="34" charset="0"/>
                <a:cs typeface="Calibri" panose="020F0502020204030204" pitchFamily="34" charset="0"/>
              </a:rPr>
              <a:t>Major Functional Groups of Organic Compounds </a:t>
            </a:r>
            <a:endParaRPr lang="en-US" b="0" dirty="0">
              <a:latin typeface="Calibri" panose="020F0502020204030204" pitchFamily="34" charset="0"/>
              <a:cs typeface="Calibri" panose="020F0502020204030204" pitchFamily="34" charset="0"/>
            </a:endParaRPr>
          </a:p>
        </p:txBody>
      </p:sp>
      <p:pic>
        <p:nvPicPr>
          <p:cNvPr id="6" name="Content Placeholder 8" descr="A table with two rows and two columns shows major functional groups of organic molecules. The column headers are: Name and structural formula where R is a variable group; and occurrence and significance. The row entries are as follows:&#10;Row 1: Name, carboxyl and structural formula consists of the following two chain: Option 1: R, single bond, C, single bond, O H with an O double bonded to C at the top. Option 2: R, single bond, C, single bond, O superscript negative with an O double bonded to C at the top. Occurrence and significance: Carboxylic acids contain a carboxyl group at the end of the carbon skeleton. All amino acids have a -C O O H group at one end. The negatively charged form predominates at the p H of body cells and is hydrophilic.&#10;Row 2: Name, ester and structural formula consists of the following chain: R, single bond, C, single bond, O, single bond, R, with the C double-bonded to another O at the top. Occurrence and significance: Esters predominate in dietary fats and oils and also occur in our body as triglycerides. Aspirin is an ester of salicylic acid, a pain-relieving molecule found in the bark of the willow tree.">
            <a:extLst>
              <a:ext uri="{FF2B5EF4-FFF2-40B4-BE49-F238E27FC236}">
                <a16:creationId xmlns:a16="http://schemas.microsoft.com/office/drawing/2014/main" id="{67E657B3-3F6F-4739-A1DE-F86DEB8695F9}"/>
              </a:ext>
            </a:extLst>
          </p:cNvPr>
          <p:cNvPicPr>
            <a:picLocks noGrp="1" noChangeAspect="1"/>
          </p:cNvPicPr>
          <p:nvPr>
            <p:ph type="pic" sz="quarter" idx="18"/>
          </p:nvPr>
        </p:nvPicPr>
        <p:blipFill>
          <a:blip r:embed="rId2" cstate="print">
            <a:extLst>
              <a:ext uri="{28A0092B-C50C-407E-A947-70E740481C1C}">
                <a14:useLocalDpi xmlns:a14="http://schemas.microsoft.com/office/drawing/2010/main" val="0"/>
              </a:ext>
            </a:extLst>
          </a:blip>
          <a:stretch>
            <a:fillRect/>
          </a:stretch>
        </p:blipFill>
        <p:spPr>
          <a:xfrm>
            <a:off x="1549190" y="1970717"/>
            <a:ext cx="6045620" cy="4059559"/>
          </a:xfrm>
          <a:prstGeom prst="rect">
            <a:avLst/>
          </a:prstGeom>
        </p:spPr>
      </p:pic>
    </p:spTree>
    <p:extLst>
      <p:ext uri="{BB962C8B-B14F-4D97-AF65-F5344CB8AC3E}">
        <p14:creationId xmlns:p14="http://schemas.microsoft.com/office/powerpoint/2010/main" val="20603260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a:xfrm>
            <a:off x="304800" y="762001"/>
            <a:ext cx="8534400" cy="990599"/>
          </a:xfrm>
        </p:spPr>
        <p:txBody>
          <a:bodyPr>
            <a:normAutofit fontScale="90000"/>
          </a:bodyPr>
          <a:lstStyle/>
          <a:p>
            <a:r>
              <a:rPr lang="en-US" dirty="0">
                <a:latin typeface="Calibri" panose="020F0502020204030204" pitchFamily="34" charset="0"/>
                <a:cs typeface="Calibri" panose="020F0502020204030204" pitchFamily="34" charset="0"/>
              </a:rPr>
              <a:t>Major Functional Groups of Organic Compounds </a:t>
            </a:r>
            <a:endParaRPr lang="en-US" b="0" dirty="0">
              <a:latin typeface="Calibri" panose="020F0502020204030204" pitchFamily="34" charset="0"/>
              <a:cs typeface="Calibri" panose="020F0502020204030204" pitchFamily="34" charset="0"/>
            </a:endParaRPr>
          </a:p>
        </p:txBody>
      </p:sp>
      <p:pic>
        <p:nvPicPr>
          <p:cNvPr id="7" name="Content Placeholder 8" descr="A table with two rows and two columns shows major functional groups of organic molecules. The column headers are: Name and structural formula where R is a variable group; and occurrence and significance. The row entries are as follows:&#10;Row 1: Name, phosphate and structural formula consists of the following chain: R, single bond, O, single bond, P, single bond O superscript negative with the P single bonded to an O superscript negative at the bottom and double bonded to an O atom at the top. Occurrence and significance: Phosphates contain a phosphate group (-P O 4 superscript 2 negative), which is very hydrophilic due to the dual negative charges. An important example is adenosine triphosphate (A T P), which transfers chemical energy between organic molecules during chemical reactions.&#10;Row 2: Name, amino and structural formula consists of the following two chain: Option 1: R single bonded to N, which is single bonded at the upper right and lower right to H atoms. Option 2: R is single bonded to an N superscript positive which is single bonded at the right, upper right, and lower right to H atoms. Occurrence and significance: Amines have an -N H 2 group, which can act as a base and pick up a hydrogen ion, giving the amino group a positive charge. At the p H of body fluids, most amino groups have a charge of 1 plus. All amino acids have an amino group at one end.">
            <a:extLst>
              <a:ext uri="{FF2B5EF4-FFF2-40B4-BE49-F238E27FC236}">
                <a16:creationId xmlns:a16="http://schemas.microsoft.com/office/drawing/2014/main" id="{182D40D9-CAA0-4BB9-B342-82E8BDD7BABB}"/>
              </a:ext>
            </a:extLst>
          </p:cNvPr>
          <p:cNvPicPr>
            <a:picLocks noGrp="1" noChangeAspect="1"/>
          </p:cNvPicPr>
          <p:nvPr>
            <p:ph type="pic" sz="quarter" idx="18"/>
          </p:nvPr>
        </p:nvPicPr>
        <p:blipFill>
          <a:blip r:embed="rId2" cstate="print">
            <a:extLst>
              <a:ext uri="{28A0092B-C50C-407E-A947-70E740481C1C}">
                <a14:useLocalDpi xmlns:a14="http://schemas.microsoft.com/office/drawing/2010/main" val="0"/>
              </a:ext>
            </a:extLst>
          </a:blip>
          <a:stretch>
            <a:fillRect/>
          </a:stretch>
        </p:blipFill>
        <p:spPr>
          <a:xfrm>
            <a:off x="1750711" y="1816731"/>
            <a:ext cx="5642578" cy="4465515"/>
          </a:xfrm>
          <a:prstGeom prst="rect">
            <a:avLst/>
          </a:prstGeom>
        </p:spPr>
      </p:pic>
    </p:spTree>
    <p:extLst>
      <p:ext uri="{BB962C8B-B14F-4D97-AF65-F5344CB8AC3E}">
        <p14:creationId xmlns:p14="http://schemas.microsoft.com/office/powerpoint/2010/main" val="20385779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EB0565B-2AF0-416D-B7CB-C1E6CCF514C2}"/>
              </a:ext>
            </a:extLst>
          </p:cNvPr>
          <p:cNvSpPr>
            <a:spLocks noGrp="1"/>
          </p:cNvSpPr>
          <p:nvPr>
            <p:ph type="title"/>
          </p:nvPr>
        </p:nvSpPr>
        <p:spPr/>
        <p:txBody>
          <a:bodyPr/>
          <a:lstStyle/>
          <a:p>
            <a:r>
              <a:rPr lang="en-US" dirty="0"/>
              <a:t>Macromolecules </a:t>
            </a:r>
          </a:p>
        </p:txBody>
      </p:sp>
      <p:sp>
        <p:nvSpPr>
          <p:cNvPr id="9" name="Content Placeholder 8">
            <a:extLst>
              <a:ext uri="{FF2B5EF4-FFF2-40B4-BE49-F238E27FC236}">
                <a16:creationId xmlns:a16="http://schemas.microsoft.com/office/drawing/2014/main" id="{87A3EA0C-8AF7-485E-8983-8CAAD696093A}"/>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Carbohydrates</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Lipids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Proteins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Nucleic acids </a:t>
            </a:r>
          </a:p>
          <a:p>
            <a:endParaRPr lang="en-US" dirty="0"/>
          </a:p>
        </p:txBody>
      </p:sp>
    </p:spTree>
    <p:extLst>
      <p:ext uri="{BB962C8B-B14F-4D97-AF65-F5344CB8AC3E}">
        <p14:creationId xmlns:p14="http://schemas.microsoft.com/office/powerpoint/2010/main" val="23582984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Carbohydrates</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1752599"/>
            <a:ext cx="8534400" cy="4343400"/>
          </a:xfrm>
        </p:spPr>
        <p:txBody>
          <a:bodyPr/>
          <a:lstStyle/>
          <a:p>
            <a:pPr marL="457200" indent="-457200">
              <a:lnSpc>
                <a:spcPct val="100000"/>
              </a:lnSpc>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Comprised of carbon, hydrogen and oxygen</a:t>
            </a:r>
          </a:p>
          <a:p>
            <a:pPr marL="457200" indent="-457200">
              <a:lnSpc>
                <a:spcPct val="100000"/>
              </a:lnSpc>
              <a:buClr>
                <a:schemeClr val="accent2"/>
              </a:buClr>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lnSpc>
                <a:spcPct val="100000"/>
              </a:lnSpc>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Include sugars, glycogen, starches and cellulose</a:t>
            </a:r>
          </a:p>
          <a:p>
            <a:pPr marL="457200" indent="-457200">
              <a:lnSpc>
                <a:spcPct val="100000"/>
              </a:lnSpc>
              <a:buClr>
                <a:schemeClr val="accent2"/>
              </a:buClr>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lnSpc>
                <a:spcPct val="100000"/>
              </a:lnSpc>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Main source of chemical energy</a:t>
            </a:r>
          </a:p>
          <a:p>
            <a:pPr marL="457200" indent="-457200">
              <a:lnSpc>
                <a:spcPct val="100000"/>
              </a:lnSpc>
              <a:buClr>
                <a:schemeClr val="accent2"/>
              </a:buClr>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lnSpc>
                <a:spcPct val="100000"/>
              </a:lnSpc>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2-3% of total body mass</a:t>
            </a:r>
          </a:p>
        </p:txBody>
      </p:sp>
    </p:spTree>
    <p:extLst>
      <p:ext uri="{BB962C8B-B14F-4D97-AF65-F5344CB8AC3E}">
        <p14:creationId xmlns:p14="http://schemas.microsoft.com/office/powerpoint/2010/main" val="36468494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Major Carbohydrate Groups </a:t>
            </a:r>
          </a:p>
        </p:txBody>
      </p:sp>
      <p:graphicFrame>
        <p:nvGraphicFramePr>
          <p:cNvPr id="11" name="Content Placeholder 5">
            <a:extLst>
              <a:ext uri="{FF2B5EF4-FFF2-40B4-BE49-F238E27FC236}">
                <a16:creationId xmlns:a16="http://schemas.microsoft.com/office/drawing/2014/main" id="{920817D8-3C79-41DE-9B20-6735BA72983A}"/>
              </a:ext>
            </a:extLst>
          </p:cNvPr>
          <p:cNvGraphicFramePr>
            <a:graphicFrameLocks noGrp="1"/>
          </p:cNvGraphicFramePr>
          <p:nvPr>
            <p:ph sz="quarter" idx="16"/>
            <p:extLst>
              <p:ext uri="{D42A27DB-BD31-4B8C-83A1-F6EECF244321}">
                <p14:modId xmlns:p14="http://schemas.microsoft.com/office/powerpoint/2010/main" val="3124356479"/>
              </p:ext>
            </p:extLst>
          </p:nvPr>
        </p:nvGraphicFramePr>
        <p:xfrm>
          <a:off x="304800" y="1752600"/>
          <a:ext cx="8534400" cy="3663724"/>
        </p:xfrm>
        <a:graphic>
          <a:graphicData uri="http://schemas.openxmlformats.org/drawingml/2006/table">
            <a:tbl>
              <a:tblPr firstRow="1" bandRow="1">
                <a:tableStyleId>{69012ECD-51FC-41F1-AA8D-1B2483CD663E}</a:tableStyleId>
              </a:tblPr>
              <a:tblGrid>
                <a:gridCol w="4267200">
                  <a:extLst>
                    <a:ext uri="{9D8B030D-6E8A-4147-A177-3AD203B41FA5}">
                      <a16:colId xmlns:a16="http://schemas.microsoft.com/office/drawing/2014/main" val="249786981"/>
                    </a:ext>
                  </a:extLst>
                </a:gridCol>
                <a:gridCol w="4267200">
                  <a:extLst>
                    <a:ext uri="{9D8B030D-6E8A-4147-A177-3AD203B41FA5}">
                      <a16:colId xmlns:a16="http://schemas.microsoft.com/office/drawing/2014/main" val="79472045"/>
                    </a:ext>
                  </a:extLst>
                </a:gridCol>
              </a:tblGrid>
              <a:tr h="494366">
                <a:tc>
                  <a:txBody>
                    <a:bodyPr/>
                    <a:lstStyle/>
                    <a:p>
                      <a:r>
                        <a:rPr lang="en-US" dirty="0"/>
                        <a:t>Type of Carbohydrate</a:t>
                      </a:r>
                    </a:p>
                  </a:txBody>
                  <a:tcPr/>
                </a:tc>
                <a:tc>
                  <a:txBody>
                    <a:bodyPr/>
                    <a:lstStyle/>
                    <a:p>
                      <a:r>
                        <a:rPr lang="en-US" dirty="0"/>
                        <a:t>Examples</a:t>
                      </a:r>
                    </a:p>
                  </a:txBody>
                  <a:tcPr/>
                </a:tc>
                <a:extLst>
                  <a:ext uri="{0D108BD9-81ED-4DB2-BD59-A6C34878D82A}">
                    <a16:rowId xmlns:a16="http://schemas.microsoft.com/office/drawing/2014/main" val="3039448614"/>
                  </a:ext>
                </a:extLst>
              </a:tr>
              <a:tr h="1950374">
                <a:tc>
                  <a:txBody>
                    <a:bodyPr/>
                    <a:lstStyle/>
                    <a:p>
                      <a:r>
                        <a:rPr lang="en-US" dirty="0"/>
                        <a:t>Monosaccharides (simple sugars that contain from 3 to 7 carbon atoms)</a:t>
                      </a:r>
                    </a:p>
                  </a:txBody>
                  <a:tcPr/>
                </a:tc>
                <a:tc>
                  <a:txBody>
                    <a:bodyPr/>
                    <a:lstStyle/>
                    <a:p>
                      <a:r>
                        <a:rPr lang="en-US" dirty="0"/>
                        <a:t>Glucose (the main blood sugar).</a:t>
                      </a:r>
                    </a:p>
                    <a:p>
                      <a:r>
                        <a:rPr lang="en-US" dirty="0"/>
                        <a:t>Fructose (found in fruits).</a:t>
                      </a:r>
                    </a:p>
                    <a:p>
                      <a:r>
                        <a:rPr lang="en-US" dirty="0"/>
                        <a:t>Galactose (in milk sugar).</a:t>
                      </a:r>
                    </a:p>
                    <a:p>
                      <a:r>
                        <a:rPr lang="en-US" dirty="0"/>
                        <a:t>Deoxyribose (in DNA).</a:t>
                      </a:r>
                    </a:p>
                    <a:p>
                      <a:r>
                        <a:rPr lang="en-US" dirty="0"/>
                        <a:t>Ribose (in RNA).</a:t>
                      </a:r>
                    </a:p>
                  </a:txBody>
                  <a:tcPr/>
                </a:tc>
                <a:extLst>
                  <a:ext uri="{0D108BD9-81ED-4DB2-BD59-A6C34878D82A}">
                    <a16:rowId xmlns:a16="http://schemas.microsoft.com/office/drawing/2014/main" val="1816889012"/>
                  </a:ext>
                </a:extLst>
              </a:tr>
              <a:tr h="1218984">
                <a:tc>
                  <a:txBody>
                    <a:bodyPr/>
                    <a:lstStyle/>
                    <a:p>
                      <a:r>
                        <a:rPr lang="en-US" dirty="0"/>
                        <a:t>Disaccharides (simple sugars formed from the combination of two monosaccharides by dehydration synthesis)</a:t>
                      </a:r>
                    </a:p>
                  </a:txBody>
                  <a:tcPr/>
                </a:tc>
                <a:tc>
                  <a:txBody>
                    <a:bodyPr/>
                    <a:lstStyle/>
                    <a:p>
                      <a:r>
                        <a:rPr lang="en-US" dirty="0"/>
                        <a:t>Sucrose (table sugar) = glucose + fructose.</a:t>
                      </a:r>
                    </a:p>
                    <a:p>
                      <a:r>
                        <a:rPr lang="en-US" dirty="0"/>
                        <a:t>Lactose (milk sugar) = glucose + galactose.</a:t>
                      </a:r>
                    </a:p>
                    <a:p>
                      <a:r>
                        <a:rPr lang="en-US" dirty="0"/>
                        <a:t>Maltose = glucose + glucose.</a:t>
                      </a:r>
                    </a:p>
                  </a:txBody>
                  <a:tcPr/>
                </a:tc>
                <a:extLst>
                  <a:ext uri="{0D108BD9-81ED-4DB2-BD59-A6C34878D82A}">
                    <a16:rowId xmlns:a16="http://schemas.microsoft.com/office/drawing/2014/main" val="2481112278"/>
                  </a:ext>
                </a:extLst>
              </a:tr>
            </a:tbl>
          </a:graphicData>
        </a:graphic>
      </p:graphicFrame>
    </p:spTree>
    <p:extLst>
      <p:ext uri="{BB962C8B-B14F-4D97-AF65-F5344CB8AC3E}">
        <p14:creationId xmlns:p14="http://schemas.microsoft.com/office/powerpoint/2010/main" val="9284844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Glucose</a:t>
            </a:r>
          </a:p>
        </p:txBody>
      </p:sp>
      <p:pic>
        <p:nvPicPr>
          <p:cNvPr id="11" name="Content Placeholder 7" descr="A diagram compares a structural formula for glucose with all atoms written out to a structural formula with standard shorthand. When all atoms are written out: C is at five points of a hexagon and O at the sixth point. Four of the Cs are bonded to H and OH, and one of the Cs next to the O is bonded to C H 2 O H and H. When using standard shorthand, the carbons on the hexagon are omitted, but all other atoms are included.">
            <a:extLst>
              <a:ext uri="{FF2B5EF4-FFF2-40B4-BE49-F238E27FC236}">
                <a16:creationId xmlns:a16="http://schemas.microsoft.com/office/drawing/2014/main" id="{33543A95-EB4F-4AFE-AFC6-D2498344A493}"/>
              </a:ext>
            </a:extLst>
          </p:cNvPr>
          <p:cNvPicPr>
            <a:picLocks noGrp="1" noChangeAspect="1"/>
          </p:cNvPicPr>
          <p:nvPr>
            <p:ph type="pic" sz="quarter" idx="18"/>
          </p:nvPr>
        </p:nvPicPr>
        <p:blipFill>
          <a:blip r:embed="rId2"/>
          <a:stretch>
            <a:fillRect/>
          </a:stretch>
        </p:blipFill>
        <p:spPr>
          <a:xfrm>
            <a:off x="692728" y="2014817"/>
            <a:ext cx="7758545" cy="3762895"/>
          </a:xfrm>
          <a:prstGeom prst="rect">
            <a:avLst/>
          </a:prstGeom>
        </p:spPr>
      </p:pic>
    </p:spTree>
    <p:extLst>
      <p:ext uri="{BB962C8B-B14F-4D97-AF65-F5344CB8AC3E}">
        <p14:creationId xmlns:p14="http://schemas.microsoft.com/office/powerpoint/2010/main" val="36700898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Monosaccharides</a:t>
            </a:r>
          </a:p>
        </p:txBody>
      </p:sp>
      <p:pic>
        <p:nvPicPr>
          <p:cNvPr id="3" name="Content Placeholder 2">
            <a:extLst>
              <a:ext uri="{FF2B5EF4-FFF2-40B4-BE49-F238E27FC236}">
                <a16:creationId xmlns:a16="http://schemas.microsoft.com/office/drawing/2014/main" id="{718FBABA-9B1F-4969-A0AE-4FDF49B526E2}"/>
              </a:ext>
            </a:extLst>
          </p:cNvPr>
          <p:cNvPicPr>
            <a:picLocks noGrp="1" noChangeAspect="1"/>
          </p:cNvPicPr>
          <p:nvPr>
            <p:ph sz="quarter" idx="17"/>
          </p:nvPr>
        </p:nvPicPr>
        <p:blipFill>
          <a:blip r:embed="rId2"/>
          <a:stretch>
            <a:fillRect/>
          </a:stretch>
        </p:blipFill>
        <p:spPr>
          <a:xfrm>
            <a:off x="4826000" y="2112899"/>
            <a:ext cx="4114800" cy="3578351"/>
          </a:xfrm>
          <a:prstGeom prst="rect">
            <a:avLst/>
          </a:prstGeom>
        </p:spPr>
      </p:pic>
      <p:sp>
        <p:nvSpPr>
          <p:cNvPr id="6" name="Content Placeholder 5">
            <a:extLst>
              <a:ext uri="{FF2B5EF4-FFF2-40B4-BE49-F238E27FC236}">
                <a16:creationId xmlns:a16="http://schemas.microsoft.com/office/drawing/2014/main" id="{A0EB0CE6-64C5-46A0-8888-73CEA7EFCAEA}"/>
              </a:ext>
            </a:extLst>
          </p:cNvPr>
          <p:cNvSpPr>
            <a:spLocks noGrp="1"/>
          </p:cNvSpPr>
          <p:nvPr>
            <p:ph sz="quarter" idx="16"/>
          </p:nvPr>
        </p:nvSpPr>
        <p:spPr>
          <a:xfrm>
            <a:off x="304800" y="1600200"/>
            <a:ext cx="4521200" cy="4603750"/>
          </a:xfrm>
        </p:spPr>
        <p:txBody>
          <a:bodyPr/>
          <a:lstStyle/>
          <a:p>
            <a:pPr marL="457200" indent="-457200">
              <a:buFont typeface="Arial" panose="020B0604020202020204" pitchFamily="34" charset="0"/>
              <a:buChar char="•"/>
            </a:pPr>
            <a:r>
              <a:rPr lang="en-US" dirty="0"/>
              <a:t>Ratio of 1:2:1 of </a:t>
            </a:r>
            <a:r>
              <a:rPr lang="en-US" dirty="0" err="1"/>
              <a:t>carbon:hydrogen:oxygen</a:t>
            </a:r>
            <a:endParaRPr lang="en-US" dirty="0"/>
          </a:p>
          <a:p>
            <a:pPr marL="1143000" lvl="1" indent="-457200">
              <a:buFont typeface="Arial" panose="020B0604020202020204" pitchFamily="34" charset="0"/>
              <a:buChar char="•"/>
            </a:pPr>
            <a:r>
              <a:rPr lang="en-US" dirty="0"/>
              <a:t>Isomers – have same molecular formula but vary in structural formula </a:t>
            </a:r>
          </a:p>
          <a:p>
            <a:pPr marL="1143000" lvl="1" indent="-457200">
              <a:buFont typeface="Arial" panose="020B0604020202020204" pitchFamily="34" charset="0"/>
              <a:buChar char="•"/>
            </a:pPr>
            <a:r>
              <a:rPr lang="en-US" dirty="0"/>
              <a:t>Pentoses</a:t>
            </a:r>
          </a:p>
          <a:p>
            <a:pPr marL="1600200" lvl="2" indent="-457200">
              <a:buFont typeface="Arial" panose="020B0604020202020204" pitchFamily="34" charset="0"/>
              <a:buChar char="•"/>
            </a:pPr>
            <a:r>
              <a:rPr lang="en-US" dirty="0"/>
              <a:t>5-carbon sugars</a:t>
            </a:r>
          </a:p>
          <a:p>
            <a:pPr marL="1600200" lvl="2" indent="-457200">
              <a:buFont typeface="Arial" panose="020B0604020202020204" pitchFamily="34" charset="0"/>
              <a:buChar char="•"/>
            </a:pPr>
            <a:r>
              <a:rPr lang="en-US" dirty="0"/>
              <a:t>Often used as a component of DNA and RNA  </a:t>
            </a:r>
          </a:p>
          <a:p>
            <a:pPr marL="1143000" lvl="1" indent="-457200">
              <a:buFont typeface="Arial" panose="020B0604020202020204" pitchFamily="34" charset="0"/>
              <a:buChar char="•"/>
            </a:pPr>
            <a:r>
              <a:rPr lang="en-US" dirty="0"/>
              <a:t>Hexoses </a:t>
            </a:r>
          </a:p>
          <a:p>
            <a:pPr marL="1600200" lvl="2" indent="-457200">
              <a:buFont typeface="Arial" panose="020B0604020202020204" pitchFamily="34" charset="0"/>
              <a:buChar char="•"/>
            </a:pPr>
            <a:r>
              <a:rPr lang="en-US" dirty="0"/>
              <a:t>6-carbon sugars </a:t>
            </a:r>
          </a:p>
          <a:p>
            <a:pPr marL="1600200" lvl="2" indent="-457200">
              <a:buFont typeface="Arial" panose="020B0604020202020204" pitchFamily="34" charset="0"/>
              <a:buChar char="•"/>
            </a:pPr>
            <a:r>
              <a:rPr lang="en-US" dirty="0"/>
              <a:t>Often used for energy </a:t>
            </a:r>
          </a:p>
        </p:txBody>
      </p:sp>
    </p:spTree>
    <p:extLst>
      <p:ext uri="{BB962C8B-B14F-4D97-AF65-F5344CB8AC3E}">
        <p14:creationId xmlns:p14="http://schemas.microsoft.com/office/powerpoint/2010/main" val="4219532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Disaccharides</a:t>
            </a:r>
          </a:p>
        </p:txBody>
      </p:sp>
      <p:pic>
        <p:nvPicPr>
          <p:cNvPr id="12" name="Content Placeholder 8" descr="A diagram (b) shows the hexagonal chemical formulas of lactose, a compound comprised of galactose and glucose bound together by single bonds that connect them to a single O. ">
            <a:extLst>
              <a:ext uri="{FF2B5EF4-FFF2-40B4-BE49-F238E27FC236}">
                <a16:creationId xmlns:a16="http://schemas.microsoft.com/office/drawing/2014/main" id="{956A534F-1CAA-4D72-A5ED-4921F3FD3D3D}"/>
              </a:ext>
            </a:extLst>
          </p:cNvPr>
          <p:cNvPicPr>
            <a:picLocks noGrp="1" noChangeAspect="1"/>
          </p:cNvPicPr>
          <p:nvPr>
            <p:ph sz="quarter" idx="16"/>
          </p:nvPr>
        </p:nvPicPr>
        <p:blipFill>
          <a:blip r:embed="rId2"/>
          <a:stretch>
            <a:fillRect/>
          </a:stretch>
        </p:blipFill>
        <p:spPr>
          <a:xfrm>
            <a:off x="304800" y="1409701"/>
            <a:ext cx="4114800" cy="2882900"/>
          </a:xfrm>
          <a:prstGeom prst="rect">
            <a:avLst/>
          </a:prstGeom>
        </p:spPr>
      </p:pic>
      <p:pic>
        <p:nvPicPr>
          <p:cNvPr id="13" name="Content Placeholder 9" descr="A diagram (c) shows the hexagonal chemical formulas of maltose, a compound comprised of 2 molecules of glucose bound together by single bonds that connect them to a single O.">
            <a:extLst>
              <a:ext uri="{FF2B5EF4-FFF2-40B4-BE49-F238E27FC236}">
                <a16:creationId xmlns:a16="http://schemas.microsoft.com/office/drawing/2014/main" id="{FAC66799-ADFF-4E4A-8D40-159BF836EE2E}"/>
              </a:ext>
            </a:extLst>
          </p:cNvPr>
          <p:cNvPicPr>
            <a:picLocks noGrp="1" noChangeAspect="1"/>
          </p:cNvPicPr>
          <p:nvPr>
            <p:ph sz="quarter" idx="17"/>
          </p:nvPr>
        </p:nvPicPr>
        <p:blipFill>
          <a:blip r:embed="rId3"/>
          <a:stretch>
            <a:fillRect/>
          </a:stretch>
        </p:blipFill>
        <p:spPr>
          <a:xfrm>
            <a:off x="4724400" y="1409700"/>
            <a:ext cx="4114800" cy="2882900"/>
          </a:xfrm>
          <a:prstGeom prst="rect">
            <a:avLst/>
          </a:prstGeom>
        </p:spPr>
      </p:pic>
      <p:sp>
        <p:nvSpPr>
          <p:cNvPr id="2" name="Content Placeholder 1">
            <a:extLst>
              <a:ext uri="{FF2B5EF4-FFF2-40B4-BE49-F238E27FC236}">
                <a16:creationId xmlns:a16="http://schemas.microsoft.com/office/drawing/2014/main" id="{B48876FC-754A-4897-96BB-3ECA8C325401}"/>
              </a:ext>
            </a:extLst>
          </p:cNvPr>
          <p:cNvSpPr>
            <a:spLocks noGrp="1"/>
          </p:cNvSpPr>
          <p:nvPr>
            <p:ph sz="quarter" idx="18"/>
          </p:nvPr>
        </p:nvSpPr>
        <p:spPr>
          <a:xfrm>
            <a:off x="304800" y="4381500"/>
            <a:ext cx="8686800" cy="1831975"/>
          </a:xfrm>
        </p:spPr>
        <p:txBody>
          <a:bodyPr/>
          <a:lstStyle/>
          <a:p>
            <a:pPr marL="457200" indent="-457200">
              <a:buFont typeface="Arial" panose="020B0604020202020204" pitchFamily="34" charset="0"/>
              <a:buChar char="•"/>
            </a:pPr>
            <a:r>
              <a:rPr lang="en-US" sz="3200" dirty="0"/>
              <a:t>2 monosaccharides joined by dehydration synthesis</a:t>
            </a:r>
          </a:p>
          <a:p>
            <a:pPr marL="457200" indent="-457200">
              <a:buFont typeface="Arial" panose="020B0604020202020204" pitchFamily="34" charset="0"/>
              <a:buChar char="•"/>
            </a:pPr>
            <a:r>
              <a:rPr lang="en-US" sz="3200" dirty="0"/>
              <a:t>Both monosaccharide and disaccharide names tend to end with “-</a:t>
            </a:r>
            <a:r>
              <a:rPr lang="en-US" sz="3200" dirty="0" err="1"/>
              <a:t>ose</a:t>
            </a:r>
            <a:r>
              <a:rPr lang="en-US" sz="3200" dirty="0"/>
              <a:t>”</a:t>
            </a:r>
          </a:p>
        </p:txBody>
      </p:sp>
    </p:spTree>
    <p:extLst>
      <p:ext uri="{BB962C8B-B14F-4D97-AF65-F5344CB8AC3E}">
        <p14:creationId xmlns:p14="http://schemas.microsoft.com/office/powerpoint/2010/main" val="29747050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Major Carbohydrate Groups </a:t>
            </a:r>
          </a:p>
        </p:txBody>
      </p:sp>
      <p:graphicFrame>
        <p:nvGraphicFramePr>
          <p:cNvPr id="11" name="Content Placeholder 5">
            <a:extLst>
              <a:ext uri="{FF2B5EF4-FFF2-40B4-BE49-F238E27FC236}">
                <a16:creationId xmlns:a16="http://schemas.microsoft.com/office/drawing/2014/main" id="{920817D8-3C79-41DE-9B20-6735BA72983A}"/>
              </a:ext>
            </a:extLst>
          </p:cNvPr>
          <p:cNvGraphicFramePr>
            <a:graphicFrameLocks noGrp="1"/>
          </p:cNvGraphicFramePr>
          <p:nvPr>
            <p:ph sz="quarter" idx="16"/>
            <p:extLst>
              <p:ext uri="{D42A27DB-BD31-4B8C-83A1-F6EECF244321}">
                <p14:modId xmlns:p14="http://schemas.microsoft.com/office/powerpoint/2010/main" val="1004468452"/>
              </p:ext>
            </p:extLst>
          </p:nvPr>
        </p:nvGraphicFramePr>
        <p:xfrm>
          <a:off x="304800" y="1752600"/>
          <a:ext cx="8534400" cy="2959100"/>
        </p:xfrm>
        <a:graphic>
          <a:graphicData uri="http://schemas.openxmlformats.org/drawingml/2006/table">
            <a:tbl>
              <a:tblPr firstRow="1" bandRow="1">
                <a:tableStyleId>{69012ECD-51FC-41F1-AA8D-1B2483CD663E}</a:tableStyleId>
              </a:tblPr>
              <a:tblGrid>
                <a:gridCol w="4267200">
                  <a:extLst>
                    <a:ext uri="{9D8B030D-6E8A-4147-A177-3AD203B41FA5}">
                      <a16:colId xmlns:a16="http://schemas.microsoft.com/office/drawing/2014/main" val="249786981"/>
                    </a:ext>
                  </a:extLst>
                </a:gridCol>
                <a:gridCol w="4267200">
                  <a:extLst>
                    <a:ext uri="{9D8B030D-6E8A-4147-A177-3AD203B41FA5}">
                      <a16:colId xmlns:a16="http://schemas.microsoft.com/office/drawing/2014/main" val="79472045"/>
                    </a:ext>
                  </a:extLst>
                </a:gridCol>
              </a:tblGrid>
              <a:tr h="455247">
                <a:tc>
                  <a:txBody>
                    <a:bodyPr/>
                    <a:lstStyle/>
                    <a:p>
                      <a:r>
                        <a:rPr lang="en-US" dirty="0"/>
                        <a:t>Type of Carbohydrate</a:t>
                      </a:r>
                    </a:p>
                  </a:txBody>
                  <a:tcPr/>
                </a:tc>
                <a:tc>
                  <a:txBody>
                    <a:bodyPr/>
                    <a:lstStyle/>
                    <a:p>
                      <a:r>
                        <a:rPr lang="en-US" dirty="0"/>
                        <a:t>Examples</a:t>
                      </a:r>
                    </a:p>
                  </a:txBody>
                  <a:tcPr/>
                </a:tc>
                <a:extLst>
                  <a:ext uri="{0D108BD9-81ED-4DB2-BD59-A6C34878D82A}">
                    <a16:rowId xmlns:a16="http://schemas.microsoft.com/office/drawing/2014/main" val="3039448614"/>
                  </a:ext>
                </a:extLst>
              </a:tr>
              <a:tr h="2503853">
                <a:tc>
                  <a:txBody>
                    <a:bodyPr/>
                    <a:lstStyle/>
                    <a:p>
                      <a:r>
                        <a:rPr lang="en-US" dirty="0"/>
                        <a:t>Polysaccharides (from tens to hundreds of monosaccharides joined by dehydration synthesis)</a:t>
                      </a:r>
                    </a:p>
                  </a:txBody>
                  <a:tcPr/>
                </a:tc>
                <a:tc>
                  <a:txBody>
                    <a:bodyPr/>
                    <a:lstStyle/>
                    <a:p>
                      <a:pPr marL="290513" indent="-290513">
                        <a:tabLst/>
                      </a:pPr>
                      <a:r>
                        <a:rPr lang="en-US" dirty="0"/>
                        <a:t>Glycogen (stored form of carbohydrates in animals).</a:t>
                      </a:r>
                    </a:p>
                    <a:p>
                      <a:pPr marL="290513" indent="-290513">
                        <a:tabLst/>
                      </a:pPr>
                      <a:r>
                        <a:rPr lang="en-US" dirty="0"/>
                        <a:t>Starch (stored form of carbohydrates in plants and main carbohydrates in food).</a:t>
                      </a:r>
                    </a:p>
                    <a:p>
                      <a:pPr marL="290513" indent="-290513">
                        <a:tabLst/>
                      </a:pPr>
                      <a:r>
                        <a:rPr lang="en-US" dirty="0"/>
                        <a:t>Cellulose (part of cell walls in plants that cannot be digested by humans but aids movement of food through intestines).</a:t>
                      </a:r>
                    </a:p>
                  </a:txBody>
                  <a:tcPr/>
                </a:tc>
                <a:extLst>
                  <a:ext uri="{0D108BD9-81ED-4DB2-BD59-A6C34878D82A}">
                    <a16:rowId xmlns:a16="http://schemas.microsoft.com/office/drawing/2014/main" val="1816889012"/>
                  </a:ext>
                </a:extLst>
              </a:tr>
            </a:tbl>
          </a:graphicData>
        </a:graphic>
      </p:graphicFrame>
    </p:spTree>
    <p:extLst>
      <p:ext uri="{BB962C8B-B14F-4D97-AF65-F5344CB8AC3E}">
        <p14:creationId xmlns:p14="http://schemas.microsoft.com/office/powerpoint/2010/main" val="1716003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7632327-4DA8-4B06-AA1E-7B46EDA3156F}"/>
              </a:ext>
            </a:extLst>
          </p:cNvPr>
          <p:cNvSpPr>
            <a:spLocks noGrp="1"/>
          </p:cNvSpPr>
          <p:nvPr>
            <p:ph type="title"/>
          </p:nvPr>
        </p:nvSpPr>
        <p:spPr/>
        <p:txBody>
          <a:bodyPr/>
          <a:lstStyle/>
          <a:p>
            <a:r>
              <a:rPr lang="en-US" dirty="0"/>
              <a:t>Carbohydrates </a:t>
            </a:r>
          </a:p>
        </p:txBody>
      </p:sp>
      <p:sp>
        <p:nvSpPr>
          <p:cNvPr id="9" name="Content Placeholder 8">
            <a:extLst>
              <a:ext uri="{FF2B5EF4-FFF2-40B4-BE49-F238E27FC236}">
                <a16:creationId xmlns:a16="http://schemas.microsoft.com/office/drawing/2014/main" id="{8D8B798C-2DFC-45AF-8E1D-1593BAD713F0}"/>
              </a:ext>
            </a:extLst>
          </p:cNvPr>
          <p:cNvSpPr>
            <a:spLocks noGrp="1"/>
          </p:cNvSpPr>
          <p:nvPr>
            <p:ph sz="quarter" idx="16"/>
          </p:nvPr>
        </p:nvSpPr>
        <p:spPr>
          <a:xfrm>
            <a:off x="177800" y="1397001"/>
            <a:ext cx="8750300" cy="4698998"/>
          </a:xfrm>
        </p:spPr>
        <p:txBody>
          <a:bodyPr/>
          <a:lstStyle/>
          <a:p>
            <a:pPr marL="457200" indent="-457200">
              <a:buFont typeface="Arial" panose="020B0604020202020204" pitchFamily="34" charset="0"/>
              <a:buChar char="•"/>
            </a:pPr>
            <a:r>
              <a:rPr lang="en-US" sz="3200" dirty="0"/>
              <a:t>Polysaccharides/complex carbohydrates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Storage carbohydrates </a:t>
            </a:r>
          </a:p>
          <a:p>
            <a:pPr marL="1143000" lvl="1" indent="-457200">
              <a:buFont typeface="Arial" panose="020B0604020202020204" pitchFamily="34" charset="0"/>
              <a:buChar char="•"/>
            </a:pPr>
            <a:r>
              <a:rPr lang="en-US" sz="2800" dirty="0"/>
              <a:t>Glycogen – stored in liver and muscle </a:t>
            </a:r>
          </a:p>
          <a:p>
            <a:pPr marL="1600200" lvl="2" indent="-457200">
              <a:buFont typeface="Arial" panose="020B0604020202020204" pitchFamily="34" charset="0"/>
              <a:buChar char="•"/>
            </a:pPr>
            <a:r>
              <a:rPr lang="en-US" sz="2400" dirty="0"/>
              <a:t>Will hydrolyze into its glucose subunits in response to drop in blood sugar </a:t>
            </a:r>
          </a:p>
          <a:p>
            <a:pPr marL="1143000" lvl="1" indent="-457200">
              <a:buFont typeface="Arial" panose="020B0604020202020204" pitchFamily="34" charset="0"/>
              <a:buChar char="•"/>
            </a:pPr>
            <a:r>
              <a:rPr lang="en-US" sz="2800" dirty="0"/>
              <a:t>Starch – plant equivalent to glycogen </a:t>
            </a:r>
          </a:p>
          <a:p>
            <a:pPr marL="457200" indent="-457200">
              <a:buFont typeface="Arial" panose="020B0604020202020204" pitchFamily="34" charset="0"/>
              <a:buChar char="•"/>
            </a:pPr>
            <a:r>
              <a:rPr lang="en-US" sz="3200" dirty="0"/>
              <a:t>Structural carbohydrates</a:t>
            </a:r>
          </a:p>
          <a:p>
            <a:pPr marL="1143000" lvl="1" indent="-457200">
              <a:buFont typeface="Arial" panose="020B0604020202020204" pitchFamily="34" charset="0"/>
              <a:buChar char="•"/>
            </a:pPr>
            <a:r>
              <a:rPr lang="en-US" sz="2800" dirty="0"/>
              <a:t>Cellulose – part of plant cell walls; cannot be digested by humans but aids with movement of GI tract contents  </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28439084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Polysaccharides</a:t>
            </a:r>
          </a:p>
        </p:txBody>
      </p:sp>
      <p:pic>
        <p:nvPicPr>
          <p:cNvPr id="11" name="Content Placeholder 7" descr="A diagram illustrates part of a polysaccharide, composed of branching chains of hexagonal glucose monomers.">
            <a:extLst>
              <a:ext uri="{FF2B5EF4-FFF2-40B4-BE49-F238E27FC236}">
                <a16:creationId xmlns:a16="http://schemas.microsoft.com/office/drawing/2014/main" id="{874D7D44-F1A9-4264-997E-7BDA424CA823}"/>
              </a:ext>
            </a:extLst>
          </p:cNvPr>
          <p:cNvPicPr>
            <a:picLocks noGrp="1" noChangeAspect="1"/>
          </p:cNvPicPr>
          <p:nvPr>
            <p:ph type="pic" sz="quarter" idx="18"/>
          </p:nvPr>
        </p:nvPicPr>
        <p:blipFill>
          <a:blip r:embed="rId2"/>
          <a:stretch>
            <a:fillRect/>
          </a:stretch>
        </p:blipFill>
        <p:spPr>
          <a:xfrm>
            <a:off x="1917700" y="1485900"/>
            <a:ext cx="4876800" cy="4610099"/>
          </a:xfrm>
          <a:prstGeom prst="rect">
            <a:avLst/>
          </a:prstGeom>
        </p:spPr>
      </p:pic>
    </p:spTree>
    <p:extLst>
      <p:ext uri="{BB962C8B-B14F-4D97-AF65-F5344CB8AC3E}">
        <p14:creationId xmlns:p14="http://schemas.microsoft.com/office/powerpoint/2010/main" val="4950967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Types of Lipids in the Body </a:t>
            </a:r>
            <a:endParaRPr lang="en-US" b="0" dirty="0">
              <a:latin typeface="Calibri" panose="020F0502020204030204" pitchFamily="34" charset="0"/>
              <a:cs typeface="Calibri" panose="020F0502020204030204" pitchFamily="34" charset="0"/>
            </a:endParaRPr>
          </a:p>
        </p:txBody>
      </p:sp>
      <p:graphicFrame>
        <p:nvGraphicFramePr>
          <p:cNvPr id="11" name="Content Placeholder 2" descr="Table is accessible to screen readers.">
            <a:extLst>
              <a:ext uri="{FF2B5EF4-FFF2-40B4-BE49-F238E27FC236}">
                <a16:creationId xmlns:a16="http://schemas.microsoft.com/office/drawing/2014/main" id="{26AEBF58-C954-4828-B918-333FCAC20350}"/>
              </a:ext>
            </a:extLst>
          </p:cNvPr>
          <p:cNvGraphicFramePr>
            <a:graphicFrameLocks noGrp="1"/>
          </p:cNvGraphicFramePr>
          <p:nvPr>
            <p:ph sz="quarter" idx="16"/>
            <p:extLst>
              <p:ext uri="{D42A27DB-BD31-4B8C-83A1-F6EECF244321}">
                <p14:modId xmlns:p14="http://schemas.microsoft.com/office/powerpoint/2010/main" val="3979879780"/>
              </p:ext>
            </p:extLst>
          </p:nvPr>
        </p:nvGraphicFramePr>
        <p:xfrm>
          <a:off x="304800" y="1752600"/>
          <a:ext cx="8534400" cy="2425700"/>
        </p:xfrm>
        <a:graphic>
          <a:graphicData uri="http://schemas.openxmlformats.org/drawingml/2006/table">
            <a:tbl>
              <a:tblPr firstRow="1" bandRow="1">
                <a:tableStyleId>{69012ECD-51FC-41F1-AA8D-1B2483CD663E}</a:tableStyleId>
              </a:tblPr>
              <a:tblGrid>
                <a:gridCol w="2802542">
                  <a:extLst>
                    <a:ext uri="{9D8B030D-6E8A-4147-A177-3AD203B41FA5}">
                      <a16:colId xmlns:a16="http://schemas.microsoft.com/office/drawing/2014/main" val="3013070511"/>
                    </a:ext>
                  </a:extLst>
                </a:gridCol>
                <a:gridCol w="5731858">
                  <a:extLst>
                    <a:ext uri="{9D8B030D-6E8A-4147-A177-3AD203B41FA5}">
                      <a16:colId xmlns:a16="http://schemas.microsoft.com/office/drawing/2014/main" val="1321413988"/>
                    </a:ext>
                  </a:extLst>
                </a:gridCol>
              </a:tblGrid>
              <a:tr h="513264">
                <a:tc>
                  <a:txBody>
                    <a:bodyPr/>
                    <a:lstStyle/>
                    <a:p>
                      <a:r>
                        <a:rPr lang="en-US" dirty="0"/>
                        <a:t>Type of Lipid</a:t>
                      </a:r>
                    </a:p>
                  </a:txBody>
                  <a:tcPr/>
                </a:tc>
                <a:tc>
                  <a:txBody>
                    <a:bodyPr/>
                    <a:lstStyle/>
                    <a:p>
                      <a:r>
                        <a:rPr lang="en-US" dirty="0"/>
                        <a:t>Functions</a:t>
                      </a:r>
                    </a:p>
                  </a:txBody>
                  <a:tcPr/>
                </a:tc>
                <a:extLst>
                  <a:ext uri="{0D108BD9-81ED-4DB2-BD59-A6C34878D82A}">
                    <a16:rowId xmlns:a16="http://schemas.microsoft.com/office/drawing/2014/main" val="118925041"/>
                  </a:ext>
                </a:extLst>
              </a:tr>
              <a:tr h="885908">
                <a:tc>
                  <a:txBody>
                    <a:bodyPr/>
                    <a:lstStyle/>
                    <a:p>
                      <a:r>
                        <a:rPr lang="en-US" dirty="0"/>
                        <a:t>Fatty acids</a:t>
                      </a:r>
                    </a:p>
                  </a:txBody>
                  <a:tcPr/>
                </a:tc>
                <a:tc>
                  <a:txBody>
                    <a:bodyPr/>
                    <a:lstStyle/>
                    <a:p>
                      <a:r>
                        <a:rPr lang="en-US" dirty="0"/>
                        <a:t>Used to synthesize triglycerides and phospholipids or catabolized to generate adenosine triphosphate (ATP).</a:t>
                      </a:r>
                    </a:p>
                  </a:txBody>
                  <a:tcPr/>
                </a:tc>
                <a:extLst>
                  <a:ext uri="{0D108BD9-81ED-4DB2-BD59-A6C34878D82A}">
                    <a16:rowId xmlns:a16="http://schemas.microsoft.com/office/drawing/2014/main" val="1751156075"/>
                  </a:ext>
                </a:extLst>
              </a:tr>
              <a:tr h="513264">
                <a:tc>
                  <a:txBody>
                    <a:bodyPr/>
                    <a:lstStyle/>
                    <a:p>
                      <a:r>
                        <a:rPr lang="en-US" dirty="0"/>
                        <a:t>Triglycerides (fats and oils)</a:t>
                      </a:r>
                    </a:p>
                  </a:txBody>
                  <a:tcPr/>
                </a:tc>
                <a:tc>
                  <a:txBody>
                    <a:bodyPr/>
                    <a:lstStyle/>
                    <a:p>
                      <a:r>
                        <a:rPr lang="en-US" dirty="0"/>
                        <a:t>Protection, insulation, energy storage.</a:t>
                      </a:r>
                    </a:p>
                  </a:txBody>
                  <a:tcPr/>
                </a:tc>
                <a:extLst>
                  <a:ext uri="{0D108BD9-81ED-4DB2-BD59-A6C34878D82A}">
                    <a16:rowId xmlns:a16="http://schemas.microsoft.com/office/drawing/2014/main" val="4273658113"/>
                  </a:ext>
                </a:extLst>
              </a:tr>
              <a:tr h="513264">
                <a:tc>
                  <a:txBody>
                    <a:bodyPr/>
                    <a:lstStyle/>
                    <a:p>
                      <a:r>
                        <a:rPr lang="en-US" dirty="0"/>
                        <a:t>Phospholipids</a:t>
                      </a:r>
                    </a:p>
                  </a:txBody>
                  <a:tcPr/>
                </a:tc>
                <a:tc>
                  <a:txBody>
                    <a:bodyPr/>
                    <a:lstStyle/>
                    <a:p>
                      <a:r>
                        <a:rPr lang="en-US" dirty="0"/>
                        <a:t>Major lipid component of cell membranes.</a:t>
                      </a:r>
                    </a:p>
                  </a:txBody>
                  <a:tcPr/>
                </a:tc>
                <a:extLst>
                  <a:ext uri="{0D108BD9-81ED-4DB2-BD59-A6C34878D82A}">
                    <a16:rowId xmlns:a16="http://schemas.microsoft.com/office/drawing/2014/main" val="461126782"/>
                  </a:ext>
                </a:extLst>
              </a:tr>
            </a:tbl>
          </a:graphicData>
        </a:graphic>
      </p:graphicFrame>
    </p:spTree>
    <p:extLst>
      <p:ext uri="{BB962C8B-B14F-4D97-AF65-F5344CB8AC3E}">
        <p14:creationId xmlns:p14="http://schemas.microsoft.com/office/powerpoint/2010/main" val="24885605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Types of Lipids in the Body </a:t>
            </a:r>
            <a:endParaRPr lang="en-US" b="0" dirty="0">
              <a:latin typeface="Calibri" panose="020F0502020204030204" pitchFamily="34" charset="0"/>
              <a:cs typeface="Calibri" panose="020F0502020204030204" pitchFamily="34" charset="0"/>
            </a:endParaRPr>
          </a:p>
        </p:txBody>
      </p:sp>
      <p:graphicFrame>
        <p:nvGraphicFramePr>
          <p:cNvPr id="11" name="Content Placeholder 2" descr="Table is accessible to screen readers.">
            <a:extLst>
              <a:ext uri="{FF2B5EF4-FFF2-40B4-BE49-F238E27FC236}">
                <a16:creationId xmlns:a16="http://schemas.microsoft.com/office/drawing/2014/main" id="{26AEBF58-C954-4828-B918-333FCAC20350}"/>
              </a:ext>
            </a:extLst>
          </p:cNvPr>
          <p:cNvGraphicFramePr>
            <a:graphicFrameLocks noGrp="1"/>
          </p:cNvGraphicFramePr>
          <p:nvPr>
            <p:ph sz="quarter" idx="16"/>
            <p:extLst>
              <p:ext uri="{D42A27DB-BD31-4B8C-83A1-F6EECF244321}">
                <p14:modId xmlns:p14="http://schemas.microsoft.com/office/powerpoint/2010/main" val="550815735"/>
              </p:ext>
            </p:extLst>
          </p:nvPr>
        </p:nvGraphicFramePr>
        <p:xfrm>
          <a:off x="304800" y="1752600"/>
          <a:ext cx="8534400" cy="3733800"/>
        </p:xfrm>
        <a:graphic>
          <a:graphicData uri="http://schemas.openxmlformats.org/drawingml/2006/table">
            <a:tbl>
              <a:tblPr firstRow="1" bandRow="1">
                <a:tableStyleId>{69012ECD-51FC-41F1-AA8D-1B2483CD663E}</a:tableStyleId>
              </a:tblPr>
              <a:tblGrid>
                <a:gridCol w="2802542">
                  <a:extLst>
                    <a:ext uri="{9D8B030D-6E8A-4147-A177-3AD203B41FA5}">
                      <a16:colId xmlns:a16="http://schemas.microsoft.com/office/drawing/2014/main" val="3013070511"/>
                    </a:ext>
                  </a:extLst>
                </a:gridCol>
                <a:gridCol w="5731858">
                  <a:extLst>
                    <a:ext uri="{9D8B030D-6E8A-4147-A177-3AD203B41FA5}">
                      <a16:colId xmlns:a16="http://schemas.microsoft.com/office/drawing/2014/main" val="1321413988"/>
                    </a:ext>
                  </a:extLst>
                </a:gridCol>
              </a:tblGrid>
              <a:tr h="456562">
                <a:tc>
                  <a:txBody>
                    <a:bodyPr/>
                    <a:lstStyle/>
                    <a:p>
                      <a:r>
                        <a:rPr lang="en-US" dirty="0"/>
                        <a:t>Type of Lipid</a:t>
                      </a:r>
                    </a:p>
                  </a:txBody>
                  <a:tcPr/>
                </a:tc>
                <a:tc>
                  <a:txBody>
                    <a:bodyPr/>
                    <a:lstStyle/>
                    <a:p>
                      <a:r>
                        <a:rPr lang="en-US" dirty="0"/>
                        <a:t>Functions</a:t>
                      </a:r>
                    </a:p>
                  </a:txBody>
                  <a:tcPr/>
                </a:tc>
                <a:extLst>
                  <a:ext uri="{0D108BD9-81ED-4DB2-BD59-A6C34878D82A}">
                    <a16:rowId xmlns:a16="http://schemas.microsoft.com/office/drawing/2014/main" val="118925041"/>
                  </a:ext>
                </a:extLst>
              </a:tr>
              <a:tr h="788038">
                <a:tc>
                  <a:txBody>
                    <a:bodyPr/>
                    <a:lstStyle/>
                    <a:p>
                      <a:r>
                        <a:rPr lang="en-US" dirty="0"/>
                        <a:t>Steroids: Cholesterol</a:t>
                      </a:r>
                    </a:p>
                  </a:txBody>
                  <a:tcPr/>
                </a:tc>
                <a:tc>
                  <a:txBody>
                    <a:bodyPr/>
                    <a:lstStyle/>
                    <a:p>
                      <a:r>
                        <a:rPr lang="en-US" dirty="0"/>
                        <a:t>Minor component of all animal cell membranes; precursor of bile salts, vitamin D, and steroid hormones.</a:t>
                      </a:r>
                    </a:p>
                  </a:txBody>
                  <a:tcPr/>
                </a:tc>
                <a:extLst>
                  <a:ext uri="{0D108BD9-81ED-4DB2-BD59-A6C34878D82A}">
                    <a16:rowId xmlns:a16="http://schemas.microsoft.com/office/drawing/2014/main" val="1751156075"/>
                  </a:ext>
                </a:extLst>
              </a:tr>
              <a:tr h="456562">
                <a:tc>
                  <a:txBody>
                    <a:bodyPr/>
                    <a:lstStyle/>
                    <a:p>
                      <a:r>
                        <a:rPr lang="en-US" dirty="0"/>
                        <a:t>Steroids: Bile salts</a:t>
                      </a:r>
                    </a:p>
                  </a:txBody>
                  <a:tcPr/>
                </a:tc>
                <a:tc>
                  <a:txBody>
                    <a:bodyPr/>
                    <a:lstStyle/>
                    <a:p>
                      <a:r>
                        <a:rPr lang="en-US" dirty="0"/>
                        <a:t>Needed for digestion and absorption of dietary lipids.</a:t>
                      </a:r>
                    </a:p>
                  </a:txBody>
                  <a:tcPr/>
                </a:tc>
                <a:extLst>
                  <a:ext uri="{0D108BD9-81ED-4DB2-BD59-A6C34878D82A}">
                    <a16:rowId xmlns:a16="http://schemas.microsoft.com/office/drawing/2014/main" val="4273658113"/>
                  </a:ext>
                </a:extLst>
              </a:tr>
              <a:tr h="788038">
                <a:tc>
                  <a:txBody>
                    <a:bodyPr/>
                    <a:lstStyle/>
                    <a:p>
                      <a:r>
                        <a:rPr lang="en-US" dirty="0"/>
                        <a:t>Steroids: Vitamin D</a:t>
                      </a:r>
                    </a:p>
                  </a:txBody>
                  <a:tcPr/>
                </a:tc>
                <a:tc>
                  <a:txBody>
                    <a:bodyPr/>
                    <a:lstStyle/>
                    <a:p>
                      <a:r>
                        <a:rPr lang="en-US" dirty="0"/>
                        <a:t>Helps regulate calcium level in body; needed for bone growth and repair.</a:t>
                      </a:r>
                    </a:p>
                  </a:txBody>
                  <a:tcPr/>
                </a:tc>
                <a:extLst>
                  <a:ext uri="{0D108BD9-81ED-4DB2-BD59-A6C34878D82A}">
                    <a16:rowId xmlns:a16="http://schemas.microsoft.com/office/drawing/2014/main" val="461126782"/>
                  </a:ext>
                </a:extLst>
              </a:tr>
              <a:tr h="788038">
                <a:tc>
                  <a:txBody>
                    <a:bodyPr/>
                    <a:lstStyle/>
                    <a:p>
                      <a:r>
                        <a:rPr lang="en-US" dirty="0"/>
                        <a:t>Steroids: Adrenocortical hormones</a:t>
                      </a:r>
                    </a:p>
                  </a:txBody>
                  <a:tcPr/>
                </a:tc>
                <a:tc>
                  <a:txBody>
                    <a:bodyPr/>
                    <a:lstStyle/>
                    <a:p>
                      <a:r>
                        <a:rPr lang="en-US" dirty="0"/>
                        <a:t>Help regulate metabolism, resistance to stress, and salt and water balance.</a:t>
                      </a:r>
                    </a:p>
                  </a:txBody>
                  <a:tcPr/>
                </a:tc>
                <a:extLst>
                  <a:ext uri="{0D108BD9-81ED-4DB2-BD59-A6C34878D82A}">
                    <a16:rowId xmlns:a16="http://schemas.microsoft.com/office/drawing/2014/main" val="684923329"/>
                  </a:ext>
                </a:extLst>
              </a:tr>
              <a:tr h="456562">
                <a:tc>
                  <a:txBody>
                    <a:bodyPr/>
                    <a:lstStyle/>
                    <a:p>
                      <a:r>
                        <a:rPr lang="en-US" dirty="0"/>
                        <a:t>Steroids: Sex hormones</a:t>
                      </a:r>
                    </a:p>
                  </a:txBody>
                  <a:tcPr/>
                </a:tc>
                <a:tc>
                  <a:txBody>
                    <a:bodyPr/>
                    <a:lstStyle/>
                    <a:p>
                      <a:r>
                        <a:rPr lang="en-US" dirty="0"/>
                        <a:t>Stimulate reproductive functions and sexual characteristics.</a:t>
                      </a:r>
                    </a:p>
                  </a:txBody>
                  <a:tcPr/>
                </a:tc>
                <a:extLst>
                  <a:ext uri="{0D108BD9-81ED-4DB2-BD59-A6C34878D82A}">
                    <a16:rowId xmlns:a16="http://schemas.microsoft.com/office/drawing/2014/main" val="254710856"/>
                  </a:ext>
                </a:extLst>
              </a:tr>
            </a:tbl>
          </a:graphicData>
        </a:graphic>
      </p:graphicFrame>
    </p:spTree>
    <p:extLst>
      <p:ext uri="{BB962C8B-B14F-4D97-AF65-F5344CB8AC3E}">
        <p14:creationId xmlns:p14="http://schemas.microsoft.com/office/powerpoint/2010/main" val="31625926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Types of Lipids in the Body </a:t>
            </a:r>
            <a:endParaRPr lang="en-US" b="0" dirty="0">
              <a:latin typeface="Calibri" panose="020F0502020204030204" pitchFamily="34" charset="0"/>
              <a:cs typeface="Calibri" panose="020F0502020204030204" pitchFamily="34" charset="0"/>
            </a:endParaRPr>
          </a:p>
        </p:txBody>
      </p:sp>
      <p:graphicFrame>
        <p:nvGraphicFramePr>
          <p:cNvPr id="6" name="Content Placeholder 2" descr="Table is accessible to screen readers.">
            <a:extLst>
              <a:ext uri="{FF2B5EF4-FFF2-40B4-BE49-F238E27FC236}">
                <a16:creationId xmlns:a16="http://schemas.microsoft.com/office/drawing/2014/main" id="{AE500653-EEAD-42E6-AFE9-D6F01A1FE405}"/>
              </a:ext>
            </a:extLst>
          </p:cNvPr>
          <p:cNvGraphicFramePr>
            <a:graphicFrameLocks noGrp="1"/>
          </p:cNvGraphicFramePr>
          <p:nvPr>
            <p:ph sz="quarter" idx="16"/>
            <p:extLst>
              <p:ext uri="{D42A27DB-BD31-4B8C-83A1-F6EECF244321}">
                <p14:modId xmlns:p14="http://schemas.microsoft.com/office/powerpoint/2010/main" val="617453814"/>
              </p:ext>
            </p:extLst>
          </p:nvPr>
        </p:nvGraphicFramePr>
        <p:xfrm>
          <a:off x="304800" y="1752600"/>
          <a:ext cx="8534400" cy="4124960"/>
        </p:xfrm>
        <a:graphic>
          <a:graphicData uri="http://schemas.openxmlformats.org/drawingml/2006/table">
            <a:tbl>
              <a:tblPr firstRow="1" bandRow="1">
                <a:tableStyleId>{69012ECD-51FC-41F1-AA8D-1B2483CD663E}</a:tableStyleId>
              </a:tblPr>
              <a:tblGrid>
                <a:gridCol w="2802542">
                  <a:extLst>
                    <a:ext uri="{9D8B030D-6E8A-4147-A177-3AD203B41FA5}">
                      <a16:colId xmlns:a16="http://schemas.microsoft.com/office/drawing/2014/main" val="3013070511"/>
                    </a:ext>
                  </a:extLst>
                </a:gridCol>
                <a:gridCol w="5731858">
                  <a:extLst>
                    <a:ext uri="{9D8B030D-6E8A-4147-A177-3AD203B41FA5}">
                      <a16:colId xmlns:a16="http://schemas.microsoft.com/office/drawing/2014/main" val="1321413988"/>
                    </a:ext>
                  </a:extLst>
                </a:gridCol>
              </a:tblGrid>
              <a:tr h="370840">
                <a:tc>
                  <a:txBody>
                    <a:bodyPr/>
                    <a:lstStyle/>
                    <a:p>
                      <a:r>
                        <a:rPr lang="en-US" dirty="0"/>
                        <a:t>Type of Lipid</a:t>
                      </a:r>
                    </a:p>
                  </a:txBody>
                  <a:tcPr/>
                </a:tc>
                <a:tc>
                  <a:txBody>
                    <a:bodyPr/>
                    <a:lstStyle/>
                    <a:p>
                      <a:r>
                        <a:rPr lang="en-US" dirty="0"/>
                        <a:t>Functions</a:t>
                      </a:r>
                    </a:p>
                  </a:txBody>
                  <a:tcPr/>
                </a:tc>
                <a:extLst>
                  <a:ext uri="{0D108BD9-81ED-4DB2-BD59-A6C34878D82A}">
                    <a16:rowId xmlns:a16="http://schemas.microsoft.com/office/drawing/2014/main" val="118925041"/>
                  </a:ext>
                </a:extLst>
              </a:tr>
              <a:tr h="370840">
                <a:tc>
                  <a:txBody>
                    <a:bodyPr/>
                    <a:lstStyle/>
                    <a:p>
                      <a:r>
                        <a:rPr lang="en-US" dirty="0"/>
                        <a:t>Eicosanoids</a:t>
                      </a:r>
                    </a:p>
                    <a:p>
                      <a:r>
                        <a:rPr lang="en-US" dirty="0"/>
                        <a:t>(prostaglandins and leukotrienes)</a:t>
                      </a:r>
                    </a:p>
                  </a:txBody>
                  <a:tcPr/>
                </a:tc>
                <a:tc>
                  <a:txBody>
                    <a:bodyPr/>
                    <a:lstStyle/>
                    <a:p>
                      <a:r>
                        <a:rPr lang="en-US" dirty="0"/>
                        <a:t>Have diverse effects on modifying responses to hormones, blood clotting, inflammation, immunity, stomach acid secretion, airway diameter, lipid breakdown, and smooth muscle contraction.</a:t>
                      </a:r>
                    </a:p>
                  </a:txBody>
                  <a:tcPr/>
                </a:tc>
                <a:extLst>
                  <a:ext uri="{0D108BD9-81ED-4DB2-BD59-A6C34878D82A}">
                    <a16:rowId xmlns:a16="http://schemas.microsoft.com/office/drawing/2014/main" val="1751156075"/>
                  </a:ext>
                </a:extLst>
              </a:tr>
              <a:tr h="370840">
                <a:tc>
                  <a:txBody>
                    <a:bodyPr/>
                    <a:lstStyle/>
                    <a:p>
                      <a:r>
                        <a:rPr lang="en-US" dirty="0"/>
                        <a:t>Other lipids: Carotenes</a:t>
                      </a:r>
                    </a:p>
                  </a:txBody>
                  <a:tcPr/>
                </a:tc>
                <a:tc>
                  <a:txBody>
                    <a:bodyPr/>
                    <a:lstStyle/>
                    <a:p>
                      <a:r>
                        <a:rPr lang="en-US" dirty="0"/>
                        <a:t>Needed for synthesis of vitamin A (used to make visual pigments in eye); function as antioxidants.</a:t>
                      </a:r>
                    </a:p>
                  </a:txBody>
                  <a:tcPr/>
                </a:tc>
                <a:extLst>
                  <a:ext uri="{0D108BD9-81ED-4DB2-BD59-A6C34878D82A}">
                    <a16:rowId xmlns:a16="http://schemas.microsoft.com/office/drawing/2014/main" val="4273658113"/>
                  </a:ext>
                </a:extLst>
              </a:tr>
              <a:tr h="370840">
                <a:tc>
                  <a:txBody>
                    <a:bodyPr/>
                    <a:lstStyle/>
                    <a:p>
                      <a:r>
                        <a:rPr lang="en-US" dirty="0"/>
                        <a:t>Other lipids: Vitamin E</a:t>
                      </a:r>
                    </a:p>
                  </a:txBody>
                  <a:tcPr/>
                </a:tc>
                <a:tc>
                  <a:txBody>
                    <a:bodyPr/>
                    <a:lstStyle/>
                    <a:p>
                      <a:r>
                        <a:rPr lang="en-US" dirty="0"/>
                        <a:t>Promotes wound healing, prevents tissue scarring, contributes to normal structure and function of nervous system, and functions as antioxidant.</a:t>
                      </a:r>
                    </a:p>
                  </a:txBody>
                  <a:tcPr/>
                </a:tc>
                <a:extLst>
                  <a:ext uri="{0D108BD9-81ED-4DB2-BD59-A6C34878D82A}">
                    <a16:rowId xmlns:a16="http://schemas.microsoft.com/office/drawing/2014/main" val="461126782"/>
                  </a:ext>
                </a:extLst>
              </a:tr>
              <a:tr h="370840">
                <a:tc>
                  <a:txBody>
                    <a:bodyPr/>
                    <a:lstStyle/>
                    <a:p>
                      <a:r>
                        <a:rPr lang="en-US" dirty="0"/>
                        <a:t>Other lipids: Vitamin K</a:t>
                      </a:r>
                    </a:p>
                  </a:txBody>
                  <a:tcPr/>
                </a:tc>
                <a:tc>
                  <a:txBody>
                    <a:bodyPr/>
                    <a:lstStyle/>
                    <a:p>
                      <a:r>
                        <a:rPr lang="en-US" dirty="0"/>
                        <a:t>Required for synthesis of blood-clotting proteins.</a:t>
                      </a:r>
                    </a:p>
                  </a:txBody>
                  <a:tcPr/>
                </a:tc>
                <a:extLst>
                  <a:ext uri="{0D108BD9-81ED-4DB2-BD59-A6C34878D82A}">
                    <a16:rowId xmlns:a16="http://schemas.microsoft.com/office/drawing/2014/main" val="2357923616"/>
                  </a:ext>
                </a:extLst>
              </a:tr>
              <a:tr h="370840">
                <a:tc>
                  <a:txBody>
                    <a:bodyPr/>
                    <a:lstStyle/>
                    <a:p>
                      <a:r>
                        <a:rPr lang="en-US" dirty="0"/>
                        <a:t>Other lipids: Lipoproteins</a:t>
                      </a:r>
                    </a:p>
                  </a:txBody>
                  <a:tcPr/>
                </a:tc>
                <a:tc>
                  <a:txBody>
                    <a:bodyPr/>
                    <a:lstStyle/>
                    <a:p>
                      <a:r>
                        <a:rPr lang="en-US" dirty="0"/>
                        <a:t>Transport lipids in blood, carry triglycerides and cholesterol to tissues, and remove excess cholesterol from blood.</a:t>
                      </a:r>
                    </a:p>
                  </a:txBody>
                  <a:tcPr/>
                </a:tc>
                <a:extLst>
                  <a:ext uri="{0D108BD9-81ED-4DB2-BD59-A6C34878D82A}">
                    <a16:rowId xmlns:a16="http://schemas.microsoft.com/office/drawing/2014/main" val="2465127523"/>
                  </a:ext>
                </a:extLst>
              </a:tr>
            </a:tbl>
          </a:graphicData>
        </a:graphic>
      </p:graphicFrame>
    </p:spTree>
    <p:extLst>
      <p:ext uri="{BB962C8B-B14F-4D97-AF65-F5344CB8AC3E}">
        <p14:creationId xmlns:p14="http://schemas.microsoft.com/office/powerpoint/2010/main" val="21253574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Fatty Acids</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Fatty acids can be saturated or unsaturated</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Saturated fatty acids (no double bonds)</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Linear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Solid at room temperature</a:t>
            </a:r>
            <a:r>
              <a:rPr lang="en-US" sz="3200" dirty="0">
                <a:latin typeface="Calibri" panose="020F0502020204030204" pitchFamily="34" charset="0"/>
                <a:cs typeface="Calibri" panose="020F0502020204030204" pitchFamily="34" charset="0"/>
              </a:rPr>
              <a:t> </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Unsaturated fatty acids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Bends at double-bond location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Liquid at room temperature </a:t>
            </a:r>
          </a:p>
          <a:p>
            <a:pPr marL="1143000" lvl="1" indent="-4572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37238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Fatty Acids</a:t>
            </a:r>
          </a:p>
        </p:txBody>
      </p:sp>
      <p:pic>
        <p:nvPicPr>
          <p:cNvPr id="12" name="Content Placeholder 11" descr="A diagram (b) shows dehydration synthesis involving glycerol and a fatty acid. The diagram illustrates dehydration synthesis involving glycerol and a fatty acid by showing the interaction between palmitic acid, a straight-chain fatty acid molecule and an adjoined glycerol molecule. The glycerol molecule consists of a chain of three Cs; the middle C is connected to H and O H, and the two at the ends are connected to 2 Hs and an O H, all by single bonds. There is a circle surrounding the H in the hydroxide ion (O H) at one end of the glycerol molecule, and the O H at the end of the fatty acid molecule to indicate that water forms during the reaction between glycerol and palmitic acid. ">
            <a:extLst>
              <a:ext uri="{FF2B5EF4-FFF2-40B4-BE49-F238E27FC236}">
                <a16:creationId xmlns:a16="http://schemas.microsoft.com/office/drawing/2014/main" id="{68971B1E-0B1D-4581-9C1A-2B46AFCC6774}"/>
              </a:ext>
            </a:extLst>
          </p:cNvPr>
          <p:cNvPicPr>
            <a:picLocks noGrp="1" noChangeAspect="1"/>
          </p:cNvPicPr>
          <p:nvPr>
            <p:ph sz="quarter" idx="16"/>
          </p:nvPr>
        </p:nvPicPr>
        <p:blipFill>
          <a:blip r:embed="rId2"/>
          <a:stretch>
            <a:fillRect/>
          </a:stretch>
        </p:blipFill>
        <p:spPr>
          <a:xfrm>
            <a:off x="304800" y="2743200"/>
            <a:ext cx="4114800" cy="2212340"/>
          </a:xfrm>
          <a:prstGeom prst="rect">
            <a:avLst/>
          </a:prstGeom>
        </p:spPr>
      </p:pic>
      <p:pic>
        <p:nvPicPr>
          <p:cNvPr id="11" name="Content Placeholder 10" descr="A diagram (a) shows structures of saturated and unsaturated fatty acids. The diagram illustrates palmitic acid, a saturated fat with a straight chain; and oleic acid, a monounsaturated fat with a kinked chain. Palmitic acid, C 15 H 31 C O O H, is a chain of 15 Cs connected to 31 Hs and a C O O H by single bonds. Oleic acid, C 17 H 33 C O O H, is a series of 9 Cs single-bonded to 18 Hs and double-bonded to another C at the end of a strand 9 Cs single bonded to 15 Hs and a C O O H at the opposite end. The kink occurs at the double bond between the two Cs.">
            <a:extLst>
              <a:ext uri="{FF2B5EF4-FFF2-40B4-BE49-F238E27FC236}">
                <a16:creationId xmlns:a16="http://schemas.microsoft.com/office/drawing/2014/main" id="{8838137C-F6C8-40DD-8B35-4930BE2DFA07}"/>
              </a:ext>
            </a:extLst>
          </p:cNvPr>
          <p:cNvPicPr>
            <a:picLocks noGrp="1" noChangeAspect="1"/>
          </p:cNvPicPr>
          <p:nvPr>
            <p:ph sz="quarter" idx="17"/>
          </p:nvPr>
        </p:nvPicPr>
        <p:blipFill>
          <a:blip r:embed="rId3"/>
          <a:stretch>
            <a:fillRect/>
          </a:stretch>
        </p:blipFill>
        <p:spPr>
          <a:xfrm>
            <a:off x="4724400" y="2517521"/>
            <a:ext cx="4114800" cy="2921508"/>
          </a:xfrm>
          <a:prstGeom prst="rect">
            <a:avLst/>
          </a:prstGeom>
        </p:spPr>
      </p:pic>
    </p:spTree>
    <p:extLst>
      <p:ext uri="{BB962C8B-B14F-4D97-AF65-F5344CB8AC3E}">
        <p14:creationId xmlns:p14="http://schemas.microsoft.com/office/powerpoint/2010/main" val="26165441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Triglycerides</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Also known as fats </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Glycerol with 3 fatty acid chains </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Triglycerides provide protection, insulation, and energy</a:t>
            </a:r>
          </a:p>
        </p:txBody>
      </p:sp>
      <p:pic>
        <p:nvPicPr>
          <p:cNvPr id="11" name="Content Placeholder 7" descr="A diagram (c) shows structure of triglyceride (fat) molecule. The diagram illustrates the components of a triglyceride molecule. Glycerol is bound to the following 3 fats by an ester linkage: the saturated fat palmitic acid, C 15 H 31 C O O H, the saturated fat stearic acid, C 17 H 35 C O O H, and the monounsaturated fat oleic acid, C 17 H 33 C O O H. The chemical composition of stearic acid is similar to palmitic acid, but with 2 additional C H H chains.">
            <a:extLst>
              <a:ext uri="{FF2B5EF4-FFF2-40B4-BE49-F238E27FC236}">
                <a16:creationId xmlns:a16="http://schemas.microsoft.com/office/drawing/2014/main" id="{71A557B0-FB0B-4B5F-9DB8-9ECEAC4E0838}"/>
              </a:ext>
            </a:extLst>
          </p:cNvPr>
          <p:cNvPicPr>
            <a:picLocks noGrp="1" noChangeAspect="1"/>
          </p:cNvPicPr>
          <p:nvPr>
            <p:ph sz="quarter" idx="17"/>
          </p:nvPr>
        </p:nvPicPr>
        <p:blipFill>
          <a:blip r:embed="rId2"/>
          <a:stretch>
            <a:fillRect/>
          </a:stretch>
        </p:blipFill>
        <p:spPr>
          <a:xfrm>
            <a:off x="4419600" y="2286000"/>
            <a:ext cx="4419600" cy="3187700"/>
          </a:xfrm>
          <a:prstGeom prst="rect">
            <a:avLst/>
          </a:prstGeom>
        </p:spPr>
      </p:pic>
    </p:spTree>
    <p:extLst>
      <p:ext uri="{BB962C8B-B14F-4D97-AF65-F5344CB8AC3E}">
        <p14:creationId xmlns:p14="http://schemas.microsoft.com/office/powerpoint/2010/main" val="6684400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Phospholipids</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1447800"/>
            <a:ext cx="8534400" cy="2667000"/>
          </a:xfrm>
        </p:spPr>
        <p:txBody>
          <a:bodyPr/>
          <a:lstStyle/>
          <a:p>
            <a:pPr marL="457200" indent="-457200">
              <a:buFont typeface="Arial" panose="020B0604020202020204" pitchFamily="34" charset="0"/>
              <a:buChar char="•"/>
            </a:pPr>
            <a:r>
              <a:rPr lang="en-US" sz="2400" dirty="0">
                <a:latin typeface="Calibri" panose="020F0502020204030204" pitchFamily="34" charset="0"/>
                <a:cs typeface="Calibri" panose="020F0502020204030204" pitchFamily="34" charset="0"/>
              </a:rPr>
              <a:t>Phospholipids are an important component of cell membranes</a:t>
            </a:r>
          </a:p>
          <a:p>
            <a:pPr marL="457200" indent="-457200">
              <a:buFont typeface="Arial" panose="020B0604020202020204" pitchFamily="34" charset="0"/>
              <a:buChar char="•"/>
            </a:pPr>
            <a:r>
              <a:rPr lang="en-US" sz="2400" dirty="0">
                <a:latin typeface="Calibri" panose="020F0502020204030204" pitchFamily="34" charset="0"/>
                <a:cs typeface="Calibri" panose="020F0502020204030204" pitchFamily="34" charset="0"/>
              </a:rPr>
              <a:t>Glycerol, phosphate, with two fatty acid tails </a:t>
            </a:r>
          </a:p>
          <a:p>
            <a:pPr marL="457200" indent="-457200">
              <a:buFont typeface="Arial" panose="020B0604020202020204" pitchFamily="34" charset="0"/>
              <a:buChar char="•"/>
            </a:pPr>
            <a:r>
              <a:rPr lang="en-US" sz="2400" dirty="0">
                <a:latin typeface="Calibri" panose="020F0502020204030204" pitchFamily="34" charset="0"/>
                <a:cs typeface="Calibri" panose="020F0502020204030204" pitchFamily="34" charset="0"/>
              </a:rPr>
              <a:t>Hydrophilic heads; hydrophobic tails </a:t>
            </a:r>
          </a:p>
          <a:p>
            <a:pPr marL="1143000" lvl="1" indent="-457200">
              <a:buFont typeface="Arial" panose="020B0604020202020204" pitchFamily="34" charset="0"/>
              <a:buChar char="•"/>
            </a:pPr>
            <a:r>
              <a:rPr lang="en-US" sz="2000" dirty="0">
                <a:latin typeface="Calibri" panose="020F0502020204030204" pitchFamily="34" charset="0"/>
                <a:cs typeface="Calibri" panose="020F0502020204030204" pitchFamily="34" charset="0"/>
              </a:rPr>
              <a:t>Forms micelles (droplets) or bilayers in effort to isolate tails from water-based/aqueous solutions </a:t>
            </a:r>
          </a:p>
        </p:txBody>
      </p:sp>
      <p:pic>
        <p:nvPicPr>
          <p:cNvPr id="11" name="Content Placeholder 7" descr="A series of three diagram, labeled a through c, illustrates phospholipids. Diagram (a) illustrates the chemical structure of a phospholipid. The polar head contains a phosphate group linked to a small charged group and the third carbon in glycerol. The nonpolar tails, one saturated (straight) and one monounsaturated (with one kink), connect to the glycerol molecule. Diagram (b) illustrates a simplified representation of a phospholipid; a spherical head connects to 2 wavy nonpolar tails. Diagram (c) illustrates the arrangement of phospholipids in a portion of a cell membrane. One bracket indicates the cell membrane comprised of rows of two-layer phospholipids, with the polar heads face outward toward both sides of the membrane and the nonpolar tails pointing toward each other. A second set of brackets singles out the polar heads and nonpolar tails of the cell membrane.">
            <a:extLst>
              <a:ext uri="{FF2B5EF4-FFF2-40B4-BE49-F238E27FC236}">
                <a16:creationId xmlns:a16="http://schemas.microsoft.com/office/drawing/2014/main" id="{66439487-433A-4E33-8F9A-FC99127057F4}"/>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1524000" y="3429000"/>
            <a:ext cx="5892800" cy="3052583"/>
          </a:xfrm>
          <a:prstGeom prst="rect">
            <a:avLst/>
          </a:prstGeom>
        </p:spPr>
      </p:pic>
    </p:spTree>
    <p:extLst>
      <p:ext uri="{BB962C8B-B14F-4D97-AF65-F5344CB8AC3E}">
        <p14:creationId xmlns:p14="http://schemas.microsoft.com/office/powerpoint/2010/main" val="27139012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Steroids</a:t>
            </a:r>
          </a:p>
        </p:txBody>
      </p:sp>
      <p:pic>
        <p:nvPicPr>
          <p:cNvPr id="3" name="Content Placeholder 2">
            <a:extLst>
              <a:ext uri="{FF2B5EF4-FFF2-40B4-BE49-F238E27FC236}">
                <a16:creationId xmlns:a16="http://schemas.microsoft.com/office/drawing/2014/main" id="{E6EA7509-FBDE-4087-9B1D-A69F8F4AAEB8}"/>
              </a:ext>
            </a:extLst>
          </p:cNvPr>
          <p:cNvPicPr>
            <a:picLocks noGrp="1" noChangeAspect="1"/>
          </p:cNvPicPr>
          <p:nvPr>
            <p:ph sz="quarter" idx="17"/>
          </p:nvPr>
        </p:nvPicPr>
        <p:blipFill>
          <a:blip r:embed="rId2"/>
          <a:stretch>
            <a:fillRect/>
          </a:stretch>
        </p:blipFill>
        <p:spPr>
          <a:xfrm>
            <a:off x="4943696" y="1753042"/>
            <a:ext cx="3676207" cy="4450466"/>
          </a:xfrm>
          <a:prstGeom prst="rect">
            <a:avLst/>
          </a:prstGeom>
        </p:spPr>
      </p:pic>
      <p:sp>
        <p:nvSpPr>
          <p:cNvPr id="6" name="Content Placeholder 5">
            <a:extLst>
              <a:ext uri="{FF2B5EF4-FFF2-40B4-BE49-F238E27FC236}">
                <a16:creationId xmlns:a16="http://schemas.microsoft.com/office/drawing/2014/main" id="{68AE60B7-D2CB-4228-9B6E-CC6E054179CA}"/>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4 fused rings with various groups attached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Cholesterol is the precursor to sex hormones</a:t>
            </a:r>
          </a:p>
          <a:p>
            <a:pPr marL="1143000" lvl="1" indent="-457200">
              <a:buFont typeface="Arial" panose="020B0604020202020204" pitchFamily="34" charset="0"/>
              <a:buChar char="•"/>
            </a:pPr>
            <a:r>
              <a:rPr lang="en-US" sz="2800" dirty="0"/>
              <a:t>Cholesterol is also component of plasma membrane </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35962718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Proteins</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p:txBody>
          <a:bodyPr/>
          <a:lstStyle/>
          <a:p>
            <a:pPr marL="457200" indent="-457200">
              <a:lnSpc>
                <a:spcPct val="100000"/>
              </a:lnSpc>
              <a:buFont typeface="Arial" panose="020B0604020202020204" pitchFamily="34" charset="0"/>
              <a:buChar char="•"/>
            </a:pPr>
            <a:r>
              <a:rPr lang="en-US" sz="3200" dirty="0">
                <a:latin typeface="Calibri" panose="020F0502020204030204" pitchFamily="34" charset="0"/>
                <a:cs typeface="Calibri" panose="020F0502020204030204" pitchFamily="34" charset="0"/>
              </a:rPr>
              <a:t>Proteins give structure to the body, regulate processes, provide protection, assist in muscle contraction, transport substances, and serve as enzymes</a:t>
            </a:r>
          </a:p>
        </p:txBody>
      </p:sp>
    </p:spTree>
    <p:extLst>
      <p:ext uri="{BB962C8B-B14F-4D97-AF65-F5344CB8AC3E}">
        <p14:creationId xmlns:p14="http://schemas.microsoft.com/office/powerpoint/2010/main" val="26605548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Functions of Proteins </a:t>
            </a:r>
          </a:p>
        </p:txBody>
      </p:sp>
      <p:graphicFrame>
        <p:nvGraphicFramePr>
          <p:cNvPr id="11" name="Content Placeholder 2">
            <a:extLst>
              <a:ext uri="{FF2B5EF4-FFF2-40B4-BE49-F238E27FC236}">
                <a16:creationId xmlns:a16="http://schemas.microsoft.com/office/drawing/2014/main" id="{C376E67B-0623-4601-A661-BFE0BFBB2CC7}"/>
              </a:ext>
            </a:extLst>
          </p:cNvPr>
          <p:cNvGraphicFramePr>
            <a:graphicFrameLocks noGrp="1"/>
          </p:cNvGraphicFramePr>
          <p:nvPr>
            <p:ph sz="quarter" idx="16"/>
            <p:extLst>
              <p:ext uri="{D42A27DB-BD31-4B8C-83A1-F6EECF244321}">
                <p14:modId xmlns:p14="http://schemas.microsoft.com/office/powerpoint/2010/main" val="1881955735"/>
              </p:ext>
            </p:extLst>
          </p:nvPr>
        </p:nvGraphicFramePr>
        <p:xfrm>
          <a:off x="304800" y="1752600"/>
          <a:ext cx="8534400" cy="4439920"/>
        </p:xfrm>
        <a:graphic>
          <a:graphicData uri="http://schemas.openxmlformats.org/drawingml/2006/table">
            <a:tbl>
              <a:tblPr firstRow="1" bandRow="1">
                <a:tableStyleId>{69012ECD-51FC-41F1-AA8D-1B2483CD663E}</a:tableStyleId>
              </a:tblPr>
              <a:tblGrid>
                <a:gridCol w="3012935">
                  <a:extLst>
                    <a:ext uri="{9D8B030D-6E8A-4147-A177-3AD203B41FA5}">
                      <a16:colId xmlns:a16="http://schemas.microsoft.com/office/drawing/2014/main" val="2258493862"/>
                    </a:ext>
                  </a:extLst>
                </a:gridCol>
                <a:gridCol w="5521465">
                  <a:extLst>
                    <a:ext uri="{9D8B030D-6E8A-4147-A177-3AD203B41FA5}">
                      <a16:colId xmlns:a16="http://schemas.microsoft.com/office/drawing/2014/main" val="2941551416"/>
                    </a:ext>
                  </a:extLst>
                </a:gridCol>
              </a:tblGrid>
              <a:tr h="370840">
                <a:tc>
                  <a:txBody>
                    <a:bodyPr/>
                    <a:lstStyle/>
                    <a:p>
                      <a:r>
                        <a:rPr lang="en-US" dirty="0"/>
                        <a:t>Type of Protein</a:t>
                      </a:r>
                    </a:p>
                  </a:txBody>
                  <a:tcPr/>
                </a:tc>
                <a:tc>
                  <a:txBody>
                    <a:bodyPr/>
                    <a:lstStyle/>
                    <a:p>
                      <a:r>
                        <a:rPr lang="en-US" dirty="0"/>
                        <a:t>Functions</a:t>
                      </a:r>
                    </a:p>
                  </a:txBody>
                  <a:tcPr/>
                </a:tc>
                <a:extLst>
                  <a:ext uri="{0D108BD9-81ED-4DB2-BD59-A6C34878D82A}">
                    <a16:rowId xmlns:a16="http://schemas.microsoft.com/office/drawing/2014/main" val="1244187090"/>
                  </a:ext>
                </a:extLst>
              </a:tr>
              <a:tr h="370840">
                <a:tc>
                  <a:txBody>
                    <a:bodyPr/>
                    <a:lstStyle/>
                    <a:p>
                      <a:r>
                        <a:rPr lang="en-US" dirty="0"/>
                        <a:t>Structural</a:t>
                      </a:r>
                    </a:p>
                  </a:txBody>
                  <a:tcPr/>
                </a:tc>
                <a:tc>
                  <a:txBody>
                    <a:bodyPr/>
                    <a:lstStyle/>
                    <a:p>
                      <a:pPr>
                        <a:spcAft>
                          <a:spcPts val="600"/>
                        </a:spcAft>
                      </a:pPr>
                      <a:r>
                        <a:rPr lang="en-US" dirty="0"/>
                        <a:t>Form structural framework of various parts of body.</a:t>
                      </a:r>
                    </a:p>
                    <a:p>
                      <a:pPr>
                        <a:spcAft>
                          <a:spcPts val="600"/>
                        </a:spcAft>
                      </a:pPr>
                      <a:r>
                        <a:rPr lang="en-US" i="1" dirty="0"/>
                        <a:t>Examples</a:t>
                      </a:r>
                      <a:r>
                        <a:rPr lang="en-US" dirty="0"/>
                        <a:t>: collagen in bone and other connective tissues; keratin in skin, hair, and fingernails.</a:t>
                      </a:r>
                    </a:p>
                  </a:txBody>
                  <a:tcPr/>
                </a:tc>
                <a:extLst>
                  <a:ext uri="{0D108BD9-81ED-4DB2-BD59-A6C34878D82A}">
                    <a16:rowId xmlns:a16="http://schemas.microsoft.com/office/drawing/2014/main" val="3433336280"/>
                  </a:ext>
                </a:extLst>
              </a:tr>
              <a:tr h="370840">
                <a:tc>
                  <a:txBody>
                    <a:bodyPr/>
                    <a:lstStyle/>
                    <a:p>
                      <a:r>
                        <a:rPr lang="en-US" dirty="0"/>
                        <a:t>Regulatory</a:t>
                      </a:r>
                    </a:p>
                  </a:txBody>
                  <a:tcPr/>
                </a:tc>
                <a:tc>
                  <a:txBody>
                    <a:bodyPr/>
                    <a:lstStyle/>
                    <a:p>
                      <a:pPr>
                        <a:spcAft>
                          <a:spcPts val="600"/>
                        </a:spcAft>
                      </a:pPr>
                      <a:r>
                        <a:rPr lang="en-US" dirty="0"/>
                        <a:t>Function as hormones that regulate various physiological processes; control growth and development; as neurotransmitters, mediate responses of nervous system.</a:t>
                      </a:r>
                    </a:p>
                    <a:p>
                      <a:pPr>
                        <a:spcAft>
                          <a:spcPts val="600"/>
                        </a:spcAft>
                      </a:pPr>
                      <a:r>
                        <a:rPr lang="en-US" i="1" dirty="0"/>
                        <a:t>Examples</a:t>
                      </a:r>
                      <a:r>
                        <a:rPr lang="en-US" dirty="0"/>
                        <a:t>: the hormone insulin (regulates blood glucose level); the neurotransmitter known as substance P (mediates sensation of pain in nervous system).</a:t>
                      </a:r>
                    </a:p>
                  </a:txBody>
                  <a:tcPr/>
                </a:tc>
                <a:extLst>
                  <a:ext uri="{0D108BD9-81ED-4DB2-BD59-A6C34878D82A}">
                    <a16:rowId xmlns:a16="http://schemas.microsoft.com/office/drawing/2014/main" val="3369164633"/>
                  </a:ext>
                </a:extLst>
              </a:tr>
              <a:tr h="370840">
                <a:tc>
                  <a:txBody>
                    <a:bodyPr/>
                    <a:lstStyle/>
                    <a:p>
                      <a:r>
                        <a:rPr lang="en-US" dirty="0"/>
                        <a:t>Contractile</a:t>
                      </a:r>
                    </a:p>
                  </a:txBody>
                  <a:tcPr/>
                </a:tc>
                <a:tc>
                  <a:txBody>
                    <a:bodyPr/>
                    <a:lstStyle/>
                    <a:p>
                      <a:pPr>
                        <a:spcAft>
                          <a:spcPts val="600"/>
                        </a:spcAft>
                      </a:pPr>
                      <a:r>
                        <a:rPr lang="en-US" dirty="0"/>
                        <a:t>Allow shortening of muscle fibers (cells) which produces movement.</a:t>
                      </a:r>
                    </a:p>
                    <a:p>
                      <a:pPr>
                        <a:spcAft>
                          <a:spcPts val="600"/>
                        </a:spcAft>
                      </a:pPr>
                      <a:r>
                        <a:rPr lang="en-US" i="1" dirty="0"/>
                        <a:t>Examples</a:t>
                      </a:r>
                      <a:r>
                        <a:rPr lang="en-US" dirty="0"/>
                        <a:t>: myosin; actin.</a:t>
                      </a:r>
                    </a:p>
                  </a:txBody>
                  <a:tcPr/>
                </a:tc>
                <a:extLst>
                  <a:ext uri="{0D108BD9-81ED-4DB2-BD59-A6C34878D82A}">
                    <a16:rowId xmlns:a16="http://schemas.microsoft.com/office/drawing/2014/main" val="965726783"/>
                  </a:ext>
                </a:extLst>
              </a:tr>
            </a:tbl>
          </a:graphicData>
        </a:graphic>
      </p:graphicFrame>
    </p:spTree>
    <p:extLst>
      <p:ext uri="{BB962C8B-B14F-4D97-AF65-F5344CB8AC3E}">
        <p14:creationId xmlns:p14="http://schemas.microsoft.com/office/powerpoint/2010/main" val="23209160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Functions of Proteins </a:t>
            </a:r>
          </a:p>
        </p:txBody>
      </p:sp>
      <p:graphicFrame>
        <p:nvGraphicFramePr>
          <p:cNvPr id="11" name="Content Placeholder 2">
            <a:extLst>
              <a:ext uri="{FF2B5EF4-FFF2-40B4-BE49-F238E27FC236}">
                <a16:creationId xmlns:a16="http://schemas.microsoft.com/office/drawing/2014/main" id="{C376E67B-0623-4601-A661-BFE0BFBB2CC7}"/>
              </a:ext>
            </a:extLst>
          </p:cNvPr>
          <p:cNvGraphicFramePr>
            <a:graphicFrameLocks noGrp="1"/>
          </p:cNvGraphicFramePr>
          <p:nvPr>
            <p:ph sz="quarter" idx="16"/>
            <p:extLst>
              <p:ext uri="{D42A27DB-BD31-4B8C-83A1-F6EECF244321}">
                <p14:modId xmlns:p14="http://schemas.microsoft.com/office/powerpoint/2010/main" val="1320094624"/>
              </p:ext>
            </p:extLst>
          </p:nvPr>
        </p:nvGraphicFramePr>
        <p:xfrm>
          <a:off x="304800" y="1752600"/>
          <a:ext cx="8534400" cy="3068320"/>
        </p:xfrm>
        <a:graphic>
          <a:graphicData uri="http://schemas.openxmlformats.org/drawingml/2006/table">
            <a:tbl>
              <a:tblPr firstRow="1" bandRow="1">
                <a:tableStyleId>{69012ECD-51FC-41F1-AA8D-1B2483CD663E}</a:tableStyleId>
              </a:tblPr>
              <a:tblGrid>
                <a:gridCol w="3012935">
                  <a:extLst>
                    <a:ext uri="{9D8B030D-6E8A-4147-A177-3AD203B41FA5}">
                      <a16:colId xmlns:a16="http://schemas.microsoft.com/office/drawing/2014/main" val="2258493862"/>
                    </a:ext>
                  </a:extLst>
                </a:gridCol>
                <a:gridCol w="5521465">
                  <a:extLst>
                    <a:ext uri="{9D8B030D-6E8A-4147-A177-3AD203B41FA5}">
                      <a16:colId xmlns:a16="http://schemas.microsoft.com/office/drawing/2014/main" val="2941551416"/>
                    </a:ext>
                  </a:extLst>
                </a:gridCol>
              </a:tblGrid>
              <a:tr h="370840">
                <a:tc>
                  <a:txBody>
                    <a:bodyPr/>
                    <a:lstStyle/>
                    <a:p>
                      <a:r>
                        <a:rPr lang="en-US" dirty="0"/>
                        <a:t>Type of Protein</a:t>
                      </a:r>
                    </a:p>
                  </a:txBody>
                  <a:tcPr/>
                </a:tc>
                <a:tc>
                  <a:txBody>
                    <a:bodyPr/>
                    <a:lstStyle/>
                    <a:p>
                      <a:r>
                        <a:rPr lang="en-US" dirty="0"/>
                        <a:t>Functions</a:t>
                      </a:r>
                    </a:p>
                  </a:txBody>
                  <a:tcPr/>
                </a:tc>
                <a:extLst>
                  <a:ext uri="{0D108BD9-81ED-4DB2-BD59-A6C34878D82A}">
                    <a16:rowId xmlns:a16="http://schemas.microsoft.com/office/drawing/2014/main" val="1244187090"/>
                  </a:ext>
                </a:extLst>
              </a:tr>
              <a:tr h="370840">
                <a:tc>
                  <a:txBody>
                    <a:bodyPr/>
                    <a:lstStyle/>
                    <a:p>
                      <a:pPr>
                        <a:spcAft>
                          <a:spcPts val="600"/>
                        </a:spcAft>
                      </a:pPr>
                      <a:r>
                        <a:rPr lang="en-US" dirty="0"/>
                        <a:t>Immunological</a:t>
                      </a:r>
                    </a:p>
                  </a:txBody>
                  <a:tcPr/>
                </a:tc>
                <a:tc>
                  <a:txBody>
                    <a:bodyPr/>
                    <a:lstStyle/>
                    <a:p>
                      <a:pPr>
                        <a:spcAft>
                          <a:spcPts val="600"/>
                        </a:spcAft>
                      </a:pPr>
                      <a:r>
                        <a:rPr lang="en-US" dirty="0"/>
                        <a:t>Aid responses that protect body against foreign substances and invading pathogens.</a:t>
                      </a:r>
                    </a:p>
                    <a:p>
                      <a:pPr>
                        <a:spcAft>
                          <a:spcPts val="600"/>
                        </a:spcAft>
                      </a:pPr>
                      <a:r>
                        <a:rPr lang="en-US" i="1" dirty="0"/>
                        <a:t>Examples</a:t>
                      </a:r>
                      <a:r>
                        <a:rPr lang="en-US" dirty="0"/>
                        <a:t>: antibodies; interleukins.</a:t>
                      </a:r>
                    </a:p>
                  </a:txBody>
                  <a:tcPr/>
                </a:tc>
                <a:extLst>
                  <a:ext uri="{0D108BD9-81ED-4DB2-BD59-A6C34878D82A}">
                    <a16:rowId xmlns:a16="http://schemas.microsoft.com/office/drawing/2014/main" val="3433336280"/>
                  </a:ext>
                </a:extLst>
              </a:tr>
              <a:tr h="370840">
                <a:tc>
                  <a:txBody>
                    <a:bodyPr/>
                    <a:lstStyle/>
                    <a:p>
                      <a:pPr>
                        <a:spcAft>
                          <a:spcPts val="600"/>
                        </a:spcAft>
                      </a:pPr>
                      <a:r>
                        <a:rPr lang="en-US" dirty="0"/>
                        <a:t>Transport</a:t>
                      </a:r>
                    </a:p>
                  </a:txBody>
                  <a:tcPr/>
                </a:tc>
                <a:tc>
                  <a:txBody>
                    <a:bodyPr/>
                    <a:lstStyle/>
                    <a:p>
                      <a:pPr>
                        <a:spcAft>
                          <a:spcPts val="600"/>
                        </a:spcAft>
                      </a:pPr>
                      <a:r>
                        <a:rPr lang="en-US" dirty="0"/>
                        <a:t>Carry vital substances throughout body.</a:t>
                      </a:r>
                    </a:p>
                    <a:p>
                      <a:pPr>
                        <a:spcAft>
                          <a:spcPts val="600"/>
                        </a:spcAft>
                      </a:pPr>
                      <a:r>
                        <a:rPr lang="en-US" i="1" dirty="0"/>
                        <a:t>Example</a:t>
                      </a:r>
                      <a:r>
                        <a:rPr lang="en-US" dirty="0"/>
                        <a:t>: hemoglobin (transports most oxygen and some carbon dioxide in blood).</a:t>
                      </a:r>
                    </a:p>
                  </a:txBody>
                  <a:tcPr/>
                </a:tc>
                <a:extLst>
                  <a:ext uri="{0D108BD9-81ED-4DB2-BD59-A6C34878D82A}">
                    <a16:rowId xmlns:a16="http://schemas.microsoft.com/office/drawing/2014/main" val="3369164633"/>
                  </a:ext>
                </a:extLst>
              </a:tr>
              <a:tr h="370840">
                <a:tc>
                  <a:txBody>
                    <a:bodyPr/>
                    <a:lstStyle/>
                    <a:p>
                      <a:pPr>
                        <a:spcAft>
                          <a:spcPts val="600"/>
                        </a:spcAft>
                      </a:pPr>
                      <a:r>
                        <a:rPr lang="en-US" dirty="0"/>
                        <a:t>Catalytic</a:t>
                      </a:r>
                    </a:p>
                  </a:txBody>
                  <a:tcPr/>
                </a:tc>
                <a:tc>
                  <a:txBody>
                    <a:bodyPr/>
                    <a:lstStyle/>
                    <a:p>
                      <a:pPr>
                        <a:spcAft>
                          <a:spcPts val="600"/>
                        </a:spcAft>
                      </a:pPr>
                      <a:r>
                        <a:rPr lang="en-US" dirty="0"/>
                        <a:t>Act as enzymes that regulate biochemical reactions.</a:t>
                      </a:r>
                    </a:p>
                    <a:p>
                      <a:pPr>
                        <a:spcAft>
                          <a:spcPts val="600"/>
                        </a:spcAft>
                      </a:pPr>
                      <a:r>
                        <a:rPr lang="en-US" i="1" dirty="0"/>
                        <a:t>Examples</a:t>
                      </a:r>
                      <a:r>
                        <a:rPr lang="en-US" dirty="0"/>
                        <a:t>: salivary amylase; sucrase; ATPase.</a:t>
                      </a:r>
                    </a:p>
                  </a:txBody>
                  <a:tcPr/>
                </a:tc>
                <a:extLst>
                  <a:ext uri="{0D108BD9-81ED-4DB2-BD59-A6C34878D82A}">
                    <a16:rowId xmlns:a16="http://schemas.microsoft.com/office/drawing/2014/main" val="965726783"/>
                  </a:ext>
                </a:extLst>
              </a:tr>
            </a:tbl>
          </a:graphicData>
        </a:graphic>
      </p:graphicFrame>
    </p:spTree>
    <p:extLst>
      <p:ext uri="{BB962C8B-B14F-4D97-AF65-F5344CB8AC3E}">
        <p14:creationId xmlns:p14="http://schemas.microsoft.com/office/powerpoint/2010/main" val="15872482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Amino Acids</a:t>
            </a:r>
          </a:p>
        </p:txBody>
      </p:sp>
      <p:sp>
        <p:nvSpPr>
          <p:cNvPr id="2" name="Content Placeholder 1">
            <a:extLst>
              <a:ext uri="{FF2B5EF4-FFF2-40B4-BE49-F238E27FC236}">
                <a16:creationId xmlns:a16="http://schemas.microsoft.com/office/drawing/2014/main" id="{C9A02A0E-2807-403E-93E0-EFEB1A4BBC79}"/>
              </a:ext>
            </a:extLst>
          </p:cNvPr>
          <p:cNvSpPr>
            <a:spLocks noGrp="1"/>
          </p:cNvSpPr>
          <p:nvPr>
            <p:ph sz="quarter" idx="16"/>
          </p:nvPr>
        </p:nvSpPr>
        <p:spPr>
          <a:xfrm>
            <a:off x="304800" y="1409700"/>
            <a:ext cx="4559300" cy="4794250"/>
          </a:xfrm>
        </p:spPr>
        <p:txBody>
          <a:bodyPr/>
          <a:lstStyle/>
          <a:p>
            <a:pPr marL="457200" indent="-457200">
              <a:buFont typeface="Arial" panose="020B0604020202020204" pitchFamily="34" charset="0"/>
              <a:buChar char="•"/>
            </a:pPr>
            <a:r>
              <a:rPr lang="en-US" sz="3200" dirty="0"/>
              <a:t>Monomer of proteins </a:t>
            </a:r>
          </a:p>
          <a:p>
            <a:pPr marL="457200" indent="-457200">
              <a:buFont typeface="Arial" panose="020B0604020202020204" pitchFamily="34" charset="0"/>
              <a:buChar char="•"/>
            </a:pPr>
            <a:r>
              <a:rPr lang="en-US" sz="3200" dirty="0"/>
              <a:t>Structure </a:t>
            </a:r>
          </a:p>
          <a:p>
            <a:pPr marL="1143000" lvl="1" indent="-457200">
              <a:buFont typeface="Arial" panose="020B0604020202020204" pitchFamily="34" charset="0"/>
              <a:buChar char="•"/>
            </a:pPr>
            <a:r>
              <a:rPr lang="en-US" sz="2800" dirty="0"/>
              <a:t>Central carbon atom forms 4 bonds with:</a:t>
            </a:r>
          </a:p>
          <a:p>
            <a:pPr marL="1600200" lvl="2" indent="-457200">
              <a:buFont typeface="Arial" panose="020B0604020202020204" pitchFamily="34" charset="0"/>
              <a:buChar char="•"/>
            </a:pPr>
            <a:r>
              <a:rPr lang="en-US" sz="2400" dirty="0"/>
              <a:t>Amino group </a:t>
            </a:r>
          </a:p>
          <a:p>
            <a:pPr marL="1600200" lvl="2" indent="-457200">
              <a:buFont typeface="Arial" panose="020B0604020202020204" pitchFamily="34" charset="0"/>
              <a:buChar char="•"/>
            </a:pPr>
            <a:r>
              <a:rPr lang="en-US" sz="2400" dirty="0"/>
              <a:t>Carboxyl group </a:t>
            </a:r>
          </a:p>
          <a:p>
            <a:pPr marL="1600200" lvl="2" indent="-457200">
              <a:buFont typeface="Arial" panose="020B0604020202020204" pitchFamily="34" charset="0"/>
              <a:buChar char="•"/>
            </a:pPr>
            <a:r>
              <a:rPr lang="en-US" sz="2400" dirty="0"/>
              <a:t>H atom </a:t>
            </a:r>
          </a:p>
          <a:p>
            <a:pPr marL="1600200" lvl="2" indent="-457200">
              <a:buFont typeface="Arial" panose="020B0604020202020204" pitchFamily="34" charset="0"/>
              <a:buChar char="•"/>
            </a:pPr>
            <a:r>
              <a:rPr lang="en-US" sz="2400" dirty="0"/>
              <a:t>R group </a:t>
            </a:r>
          </a:p>
          <a:p>
            <a:pPr marL="2057400" lvl="3" indent="-457200">
              <a:buFont typeface="Arial" panose="020B0604020202020204" pitchFamily="34" charset="0"/>
              <a:buChar char="•"/>
            </a:pPr>
            <a:r>
              <a:rPr lang="en-US" sz="2200" dirty="0"/>
              <a:t>What is at the variable R region defines the specific amino acid and its chemical properties </a:t>
            </a:r>
          </a:p>
          <a:p>
            <a:pPr lvl="2" indent="0">
              <a:buNone/>
            </a:pPr>
            <a:endParaRPr lang="en-US" dirty="0"/>
          </a:p>
        </p:txBody>
      </p:sp>
      <p:pic>
        <p:nvPicPr>
          <p:cNvPr id="11" name="Content Placeholder 7" descr="Three diagrams, labeled a through c, illustrate the chemical composition of amino acids. Diagram (a) shows the nonionized form of an amino acid, with carbon at the center connected to H, R (the side chain), an amino or base group consisting of N H 2, and a carboxyl or acid group consisting of C O O H. Diagram (b) shows the doubly ionized form of an amino acid, with carbon at the center connected to H, R, an amino group consisting of N H 3 plus, and a carboxyl group consisting of C O O minus. Diagram (c) illustrates the representative amino acids glycine, cysteine, tyrosine, and lysine. The carbon at the center of glycine connects to H, another H serving as the side chain, an amino group consisting of N H 2, and a carboxyl group consisting of C O O H. The carbon at the center of cysteine connects to H, the side chain S H C H 2, an amino group consisting of N H 2, and a carboxyl group consisting of C O O H. The carbon at the center of tyrosine is connected to H, the side chain C 6 C H 2 O H, an amino group consisting of N H 2, and a carboxyl group consisting of C O O H. The carbon at the center of lysine connects to H, a side chain of four C H 2s connected to N H 2, an amino group consisting of N H 2, and a carboxyl group consisting of C O O H.">
            <a:extLst>
              <a:ext uri="{FF2B5EF4-FFF2-40B4-BE49-F238E27FC236}">
                <a16:creationId xmlns:a16="http://schemas.microsoft.com/office/drawing/2014/main" id="{8F05C03C-B629-4473-9D39-2BD9A2E4DE99}"/>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4756944" y="1244600"/>
            <a:ext cx="4082256" cy="4959350"/>
          </a:xfrm>
          <a:prstGeom prst="rect">
            <a:avLst/>
          </a:prstGeom>
        </p:spPr>
      </p:pic>
    </p:spTree>
    <p:extLst>
      <p:ext uri="{BB962C8B-B14F-4D97-AF65-F5344CB8AC3E}">
        <p14:creationId xmlns:p14="http://schemas.microsoft.com/office/powerpoint/2010/main" val="35403112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Peptide Bond Formation</a:t>
            </a:r>
          </a:p>
        </p:txBody>
      </p:sp>
      <p:pic>
        <p:nvPicPr>
          <p:cNvPr id="6" name="Content Placeholder 5">
            <a:extLst>
              <a:ext uri="{FF2B5EF4-FFF2-40B4-BE49-F238E27FC236}">
                <a16:creationId xmlns:a16="http://schemas.microsoft.com/office/drawing/2014/main" id="{7F17EA66-41B9-4B2A-B52D-D9FAEDAD32D0}"/>
              </a:ext>
            </a:extLst>
          </p:cNvPr>
          <p:cNvPicPr>
            <a:picLocks noGrp="1" noChangeAspect="1"/>
          </p:cNvPicPr>
          <p:nvPr>
            <p:ph sz="quarter" idx="17"/>
          </p:nvPr>
        </p:nvPicPr>
        <p:blipFill>
          <a:blip r:embed="rId2"/>
          <a:stretch>
            <a:fillRect/>
          </a:stretch>
        </p:blipFill>
        <p:spPr>
          <a:xfrm>
            <a:off x="495300" y="3757352"/>
            <a:ext cx="8343900" cy="2554547"/>
          </a:xfrm>
          <a:prstGeom prst="rect">
            <a:avLst/>
          </a:prstGeom>
        </p:spPr>
      </p:pic>
      <p:sp>
        <p:nvSpPr>
          <p:cNvPr id="5" name="Content Placeholder 4">
            <a:extLst>
              <a:ext uri="{FF2B5EF4-FFF2-40B4-BE49-F238E27FC236}">
                <a16:creationId xmlns:a16="http://schemas.microsoft.com/office/drawing/2014/main" id="{10CE6E6D-726E-473E-8168-66A84D0C70D9}"/>
              </a:ext>
            </a:extLst>
          </p:cNvPr>
          <p:cNvSpPr>
            <a:spLocks noGrp="1"/>
          </p:cNvSpPr>
          <p:nvPr>
            <p:ph sz="quarter" idx="16"/>
          </p:nvPr>
        </p:nvSpPr>
        <p:spPr>
          <a:xfrm>
            <a:off x="304800" y="1447800"/>
            <a:ext cx="8534400" cy="2442556"/>
          </a:xfrm>
        </p:spPr>
        <p:txBody>
          <a:bodyPr/>
          <a:lstStyle/>
          <a:p>
            <a:pPr marL="457200" indent="-457200">
              <a:buFont typeface="Arial" panose="020B0604020202020204" pitchFamily="34" charset="0"/>
              <a:buChar char="•"/>
            </a:pPr>
            <a:r>
              <a:rPr lang="en-US" sz="3200" dirty="0"/>
              <a:t>Amino acids are linked together via dehydration synthesis </a:t>
            </a:r>
          </a:p>
          <a:p>
            <a:pPr marL="1143000" lvl="1" indent="-457200">
              <a:buFont typeface="Arial" panose="020B0604020202020204" pitchFamily="34" charset="0"/>
              <a:buChar char="•"/>
            </a:pPr>
            <a:r>
              <a:rPr lang="en-US" sz="2800" dirty="0"/>
              <a:t>Peptide bond </a:t>
            </a:r>
          </a:p>
          <a:p>
            <a:pPr marL="1143000" lvl="1" indent="-457200">
              <a:buFont typeface="Arial" panose="020B0604020202020204" pitchFamily="34" charset="0"/>
              <a:buChar char="•"/>
            </a:pPr>
            <a:r>
              <a:rPr lang="en-US" sz="2800" dirty="0"/>
              <a:t>Polypeptide – chain of dozens to hundreds of amino acids linked together </a:t>
            </a:r>
          </a:p>
          <a:p>
            <a:endParaRPr lang="en-US" dirty="0"/>
          </a:p>
        </p:txBody>
      </p:sp>
    </p:spTree>
    <p:extLst>
      <p:ext uri="{BB962C8B-B14F-4D97-AF65-F5344CB8AC3E}">
        <p14:creationId xmlns:p14="http://schemas.microsoft.com/office/powerpoint/2010/main" val="10508883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08E11CA-3E0C-49C9-8F47-B0FB3236B863}"/>
              </a:ext>
            </a:extLst>
          </p:cNvPr>
          <p:cNvSpPr>
            <a:spLocks noGrp="1"/>
          </p:cNvSpPr>
          <p:nvPr>
            <p:ph type="title"/>
          </p:nvPr>
        </p:nvSpPr>
        <p:spPr/>
        <p:txBody>
          <a:bodyPr/>
          <a:lstStyle/>
          <a:p>
            <a:r>
              <a:rPr lang="en-US" dirty="0"/>
              <a:t>Protein Structure </a:t>
            </a:r>
          </a:p>
        </p:txBody>
      </p:sp>
      <p:sp>
        <p:nvSpPr>
          <p:cNvPr id="9" name="Content Placeholder 8">
            <a:extLst>
              <a:ext uri="{FF2B5EF4-FFF2-40B4-BE49-F238E27FC236}">
                <a16:creationId xmlns:a16="http://schemas.microsoft.com/office/drawing/2014/main" id="{13DD36C1-A5FB-4FA9-9DA8-BA28868668B6}"/>
              </a:ext>
            </a:extLst>
          </p:cNvPr>
          <p:cNvSpPr>
            <a:spLocks noGrp="1"/>
          </p:cNvSpPr>
          <p:nvPr>
            <p:ph sz="quarter" idx="16"/>
          </p:nvPr>
        </p:nvSpPr>
        <p:spPr>
          <a:xfrm>
            <a:off x="304800" y="1333501"/>
            <a:ext cx="8534400" cy="4762498"/>
          </a:xfrm>
        </p:spPr>
        <p:txBody>
          <a:bodyPr/>
          <a:lstStyle/>
          <a:p>
            <a:pPr marL="457200" indent="-457200">
              <a:buFont typeface="Arial" panose="020B0604020202020204" pitchFamily="34" charset="0"/>
              <a:buChar char="•"/>
            </a:pPr>
            <a:r>
              <a:rPr lang="en-US" sz="3200" dirty="0"/>
              <a:t>Primary structure </a:t>
            </a:r>
          </a:p>
          <a:p>
            <a:pPr marL="1143000" lvl="1" indent="-457200">
              <a:buFont typeface="Arial" panose="020B0604020202020204" pitchFamily="34" charset="0"/>
              <a:buChar char="•"/>
            </a:pPr>
            <a:r>
              <a:rPr lang="en-US" sz="2800" dirty="0"/>
              <a:t>Sequence of amino acids in the chain </a:t>
            </a:r>
          </a:p>
          <a:p>
            <a:pPr marL="457200" indent="-457200">
              <a:buFont typeface="Arial" panose="020B0604020202020204" pitchFamily="34" charset="0"/>
              <a:buChar char="•"/>
            </a:pPr>
            <a:r>
              <a:rPr lang="en-US" sz="3200" dirty="0"/>
              <a:t>Secondary structure</a:t>
            </a:r>
          </a:p>
          <a:p>
            <a:pPr marL="1143000" lvl="1" indent="-457200">
              <a:buFont typeface="Arial" panose="020B0604020202020204" pitchFamily="34" charset="0"/>
              <a:buChar char="•"/>
            </a:pPr>
            <a:r>
              <a:rPr lang="en-US" sz="2800" dirty="0"/>
              <a:t>Formed by hydrogen bonds </a:t>
            </a:r>
          </a:p>
          <a:p>
            <a:pPr marL="1600200" lvl="2" indent="-457200">
              <a:buFont typeface="Arial" panose="020B0604020202020204" pitchFamily="34" charset="0"/>
              <a:buChar char="•"/>
            </a:pPr>
            <a:r>
              <a:rPr lang="en-US" sz="2400" dirty="0"/>
              <a:t>Alpha helix or beta pleated sheath </a:t>
            </a:r>
          </a:p>
          <a:p>
            <a:pPr marL="457200" indent="-457200">
              <a:buFont typeface="Arial" panose="020B0604020202020204" pitchFamily="34" charset="0"/>
              <a:buChar char="•"/>
            </a:pPr>
            <a:r>
              <a:rPr lang="en-US" sz="3200" dirty="0"/>
              <a:t>Tertiary structure </a:t>
            </a:r>
          </a:p>
          <a:p>
            <a:pPr marL="1143000" lvl="1" indent="-457200">
              <a:buFont typeface="Arial" panose="020B0604020202020204" pitchFamily="34" charset="0"/>
              <a:buChar char="•"/>
            </a:pPr>
            <a:r>
              <a:rPr lang="en-US" sz="2800" dirty="0"/>
              <a:t>Interaction of R groups </a:t>
            </a:r>
          </a:p>
          <a:p>
            <a:pPr marL="457200" indent="-457200">
              <a:buFont typeface="Arial" panose="020B0604020202020204" pitchFamily="34" charset="0"/>
              <a:buChar char="•"/>
            </a:pPr>
            <a:r>
              <a:rPr lang="en-US" sz="3200" dirty="0"/>
              <a:t>Quaternary structure </a:t>
            </a:r>
          </a:p>
          <a:p>
            <a:pPr marL="1143000" lvl="1" indent="-457200">
              <a:buFont typeface="Arial" panose="020B0604020202020204" pitchFamily="34" charset="0"/>
              <a:buChar char="•"/>
            </a:pPr>
            <a:r>
              <a:rPr lang="en-US" sz="2800" dirty="0"/>
              <a:t>If a protein is composed of more than one polypeptide chain, how the chains join together </a:t>
            </a:r>
          </a:p>
          <a:p>
            <a:pPr lvl="1" indent="0">
              <a:buNone/>
            </a:pPr>
            <a:endParaRPr lang="en-US" dirty="0"/>
          </a:p>
        </p:txBody>
      </p:sp>
    </p:spTree>
    <p:extLst>
      <p:ext uri="{BB962C8B-B14F-4D97-AF65-F5344CB8AC3E}">
        <p14:creationId xmlns:p14="http://schemas.microsoft.com/office/powerpoint/2010/main" val="40721241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Structural Organization in Proteins</a:t>
            </a:r>
          </a:p>
        </p:txBody>
      </p:sp>
      <p:pic>
        <p:nvPicPr>
          <p:cNvPr id="11" name="Content Placeholder 6" descr="A series of four diagrams, labeled a through d, illustrate the different levels of structural organization in proteins. Diagram (a) illustrates primary structure, or the sequence of amino acids. A polypeptide chain is comprised of amino acids joined by peptide bonds. Diagram (b), secondary structure, consists of the twisting and folding of neighboring amino acids, which are stabilized by hydrogen bonds. The alpha helix and the beta pleated sheet, both created by hydrogen bonds, are examples of secondary structure. Diagram (c), tertiary structure, is the 3-dimensional shape of a polypeptide chain formed from alpha helices and beta pleated sheets. Diagram (d), quaternary structure, is an arrangement of 2 or more polypeptide chains consisting of helices and beta sheets that combine to form a large complex.">
            <a:extLst>
              <a:ext uri="{FF2B5EF4-FFF2-40B4-BE49-F238E27FC236}">
                <a16:creationId xmlns:a16="http://schemas.microsoft.com/office/drawing/2014/main" id="{F71E13FF-8A99-4ECE-90DB-A0A96ECB4DCB}"/>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1739900" y="1473200"/>
            <a:ext cx="5168899" cy="4813300"/>
          </a:xfrm>
          <a:prstGeom prst="rect">
            <a:avLst/>
          </a:prstGeom>
        </p:spPr>
      </p:pic>
    </p:spTree>
    <p:extLst>
      <p:ext uri="{BB962C8B-B14F-4D97-AF65-F5344CB8AC3E}">
        <p14:creationId xmlns:p14="http://schemas.microsoft.com/office/powerpoint/2010/main" val="28838158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Proteins - Enzymes </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1397000"/>
            <a:ext cx="8534400" cy="4927600"/>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Active site – pocket/cleft where the substrate (reactant) fits</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Induced fit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Once the substrate binds to active site, the enzyme shape alters slightly </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An enzyme is a catalyst in a living cell</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Enzymes are:</a:t>
            </a:r>
          </a:p>
          <a:p>
            <a:pPr marL="645300" lvl="1" indent="-342900">
              <a:spcBef>
                <a:spcPts val="1000"/>
              </a:spcBef>
              <a:buClr>
                <a:schemeClr val="accent2"/>
              </a:buClr>
              <a:buSzPct val="100000"/>
            </a:pPr>
            <a:r>
              <a:rPr lang="en-US" sz="2800" dirty="0">
                <a:latin typeface="Calibri" panose="020F0502020204030204" pitchFamily="34" charset="0"/>
                <a:cs typeface="Calibri" panose="020F0502020204030204" pitchFamily="34" charset="0"/>
              </a:rPr>
              <a:t>Highly specific</a:t>
            </a:r>
          </a:p>
          <a:p>
            <a:pPr marL="645300" lvl="1" indent="-342900">
              <a:spcBef>
                <a:spcPts val="1000"/>
              </a:spcBef>
              <a:buClr>
                <a:schemeClr val="accent2"/>
              </a:buClr>
              <a:buSzPct val="100000"/>
            </a:pPr>
            <a:r>
              <a:rPr lang="en-US" sz="2800" dirty="0">
                <a:latin typeface="Calibri" panose="020F0502020204030204" pitchFamily="34" charset="0"/>
                <a:cs typeface="Calibri" panose="020F0502020204030204" pitchFamily="34" charset="0"/>
              </a:rPr>
              <a:t>Extremely efficient</a:t>
            </a:r>
          </a:p>
          <a:p>
            <a:pPr marL="645300" lvl="1" indent="-342900">
              <a:spcBef>
                <a:spcPts val="1000"/>
              </a:spcBef>
              <a:buClr>
                <a:schemeClr val="accent2"/>
              </a:buClr>
              <a:buSzPct val="100000"/>
            </a:pPr>
            <a:r>
              <a:rPr lang="en-US" sz="2800" dirty="0">
                <a:latin typeface="Calibri" panose="020F0502020204030204" pitchFamily="34" charset="0"/>
                <a:cs typeface="Calibri" panose="020F0502020204030204" pitchFamily="34" charset="0"/>
              </a:rPr>
              <a:t>Subject to cellular controls</a:t>
            </a:r>
          </a:p>
        </p:txBody>
      </p:sp>
    </p:spTree>
    <p:extLst>
      <p:ext uri="{BB962C8B-B14F-4D97-AF65-F5344CB8AC3E}">
        <p14:creationId xmlns:p14="http://schemas.microsoft.com/office/powerpoint/2010/main" val="8532439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Enzyme-Substrate Complexes</a:t>
            </a:r>
          </a:p>
        </p:txBody>
      </p:sp>
      <p:pic>
        <p:nvPicPr>
          <p:cNvPr id="11" name="Content Placeholder 7" descr="A diagram (b) shows a molecular model of enzyme hexokinase and the substrate glucose uncombined at left, and combined into an enzyme-substrate complex at right.">
            <a:extLst>
              <a:ext uri="{FF2B5EF4-FFF2-40B4-BE49-F238E27FC236}">
                <a16:creationId xmlns:a16="http://schemas.microsoft.com/office/drawing/2014/main" id="{0ED38432-1208-4360-9305-189547DD72E4}"/>
              </a:ext>
            </a:extLst>
          </p:cNvPr>
          <p:cNvPicPr>
            <a:picLocks noGrp="1" noChangeAspect="1"/>
          </p:cNvPicPr>
          <p:nvPr>
            <p:ph type="pic" sz="quarter" idx="18"/>
          </p:nvPr>
        </p:nvPicPr>
        <p:blipFill>
          <a:blip r:embed="rId2"/>
          <a:stretch>
            <a:fillRect/>
          </a:stretch>
        </p:blipFill>
        <p:spPr>
          <a:xfrm>
            <a:off x="304800" y="1447799"/>
            <a:ext cx="8534400" cy="4648199"/>
          </a:xfrm>
          <a:prstGeom prst="rect">
            <a:avLst/>
          </a:prstGeom>
        </p:spPr>
      </p:pic>
    </p:spTree>
    <p:extLst>
      <p:ext uri="{BB962C8B-B14F-4D97-AF65-F5344CB8AC3E}">
        <p14:creationId xmlns:p14="http://schemas.microsoft.com/office/powerpoint/2010/main" val="29397499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Enzymes</a:t>
            </a:r>
          </a:p>
        </p:txBody>
      </p:sp>
      <p:pic>
        <p:nvPicPr>
          <p:cNvPr id="6" name="Content Placeholder 5">
            <a:extLst>
              <a:ext uri="{FF2B5EF4-FFF2-40B4-BE49-F238E27FC236}">
                <a16:creationId xmlns:a16="http://schemas.microsoft.com/office/drawing/2014/main" id="{36CAF310-1749-440E-B467-90083E8374F2}"/>
              </a:ext>
            </a:extLst>
          </p:cNvPr>
          <p:cNvPicPr>
            <a:picLocks noGrp="1" noChangeAspect="1"/>
          </p:cNvPicPr>
          <p:nvPr>
            <p:ph sz="quarter" idx="17"/>
          </p:nvPr>
        </p:nvPicPr>
        <p:blipFill>
          <a:blip r:embed="rId2"/>
          <a:stretch>
            <a:fillRect/>
          </a:stretch>
        </p:blipFill>
        <p:spPr>
          <a:xfrm>
            <a:off x="4724403" y="1320358"/>
            <a:ext cx="4216398" cy="4883150"/>
          </a:xfrm>
          <a:prstGeom prst="rect">
            <a:avLst/>
          </a:prstGeom>
        </p:spPr>
      </p:pic>
      <p:sp>
        <p:nvSpPr>
          <p:cNvPr id="5" name="Content Placeholder 4">
            <a:extLst>
              <a:ext uri="{FF2B5EF4-FFF2-40B4-BE49-F238E27FC236}">
                <a16:creationId xmlns:a16="http://schemas.microsoft.com/office/drawing/2014/main" id="{20D612CF-8DC0-4BE3-B165-CF0C8D522485}"/>
              </a:ext>
            </a:extLst>
          </p:cNvPr>
          <p:cNvSpPr>
            <a:spLocks noGrp="1"/>
          </p:cNvSpPr>
          <p:nvPr>
            <p:ph sz="quarter" idx="16"/>
          </p:nvPr>
        </p:nvSpPr>
        <p:spPr>
          <a:xfrm>
            <a:off x="304800" y="1320800"/>
            <a:ext cx="4114800" cy="4883150"/>
          </a:xfrm>
        </p:spPr>
        <p:txBody>
          <a:bodyPr/>
          <a:lstStyle/>
          <a:p>
            <a:pPr marL="457200" indent="-457200">
              <a:buFont typeface="Arial" panose="020B0604020202020204" pitchFamily="34" charset="0"/>
              <a:buChar char="•"/>
            </a:pPr>
            <a:r>
              <a:rPr lang="en-US" sz="3200" dirty="0"/>
              <a:t>Names tend to end in “-</a:t>
            </a:r>
            <a:r>
              <a:rPr lang="en-US" sz="3200" dirty="0" err="1"/>
              <a:t>ase</a:t>
            </a:r>
            <a:r>
              <a:rPr lang="en-US" sz="3200" dirty="0"/>
              <a:t>”</a:t>
            </a:r>
          </a:p>
          <a:p>
            <a:pPr marL="1143000" lvl="1" indent="-457200">
              <a:buFont typeface="Arial" panose="020B0604020202020204" pitchFamily="34" charset="0"/>
              <a:buChar char="•"/>
            </a:pPr>
            <a:r>
              <a:rPr lang="en-US" sz="2800" dirty="0"/>
              <a:t>Often named by their substrate (example: sucrase {sucrose is substrate}) or their action (example: dehydrogenase – removes hydrogen) </a:t>
            </a:r>
          </a:p>
          <a:p>
            <a:pPr marL="457200" indent="-457200">
              <a:buFont typeface="Arial" panose="020B0604020202020204" pitchFamily="34" charset="0"/>
              <a:buChar char="•"/>
            </a:pPr>
            <a:r>
              <a:rPr lang="en-US" sz="3200" dirty="0"/>
              <a:t>Are not altered; can be reused </a:t>
            </a:r>
          </a:p>
        </p:txBody>
      </p:sp>
    </p:spTree>
    <p:extLst>
      <p:ext uri="{BB962C8B-B14F-4D97-AF65-F5344CB8AC3E}">
        <p14:creationId xmlns:p14="http://schemas.microsoft.com/office/powerpoint/2010/main" val="25001231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a:xfrm>
            <a:off x="304800" y="762001"/>
            <a:ext cx="8534400" cy="1121228"/>
          </a:xfrm>
        </p:spPr>
        <p:txBody>
          <a:bodyPr>
            <a:normAutofit fontScale="90000"/>
          </a:bodyPr>
          <a:lstStyle/>
          <a:p>
            <a:r>
              <a:rPr lang="en-US" dirty="0">
                <a:latin typeface="Calibri" panose="020F0502020204030204" pitchFamily="34" charset="0"/>
                <a:cs typeface="Calibri" panose="020F0502020204030204" pitchFamily="34" charset="0"/>
              </a:rPr>
              <a:t>Enzymes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Interactions Animation:</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81000" y="2111829"/>
            <a:ext cx="8534400" cy="555171"/>
          </a:xfrm>
        </p:spPr>
        <p:txBody>
          <a:bodyPr/>
          <a:lstStyle/>
          <a:p>
            <a:r>
              <a:rPr lang="en-US" dirty="0">
                <a:latin typeface="Calibri" panose="020F0502020204030204" pitchFamily="34" charset="0"/>
                <a:cs typeface="Calibri" panose="020F0502020204030204" pitchFamily="34" charset="0"/>
                <a:hlinkClick r:id="rId2"/>
              </a:rPr>
              <a:t>Enzyme Functions and ATP</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940293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Nucleic Acids</a:t>
            </a:r>
          </a:p>
        </p:txBody>
      </p:sp>
      <p:sp>
        <p:nvSpPr>
          <p:cNvPr id="5" name="Content Placeholder 4">
            <a:extLst>
              <a:ext uri="{FF2B5EF4-FFF2-40B4-BE49-F238E27FC236}">
                <a16:creationId xmlns:a16="http://schemas.microsoft.com/office/drawing/2014/main" id="{0379991F-0550-42B7-86C7-4769D24EDFAF}"/>
              </a:ext>
            </a:extLst>
          </p:cNvPr>
          <p:cNvSpPr>
            <a:spLocks noGrp="1"/>
          </p:cNvSpPr>
          <p:nvPr>
            <p:ph sz="quarter" idx="16"/>
          </p:nvPr>
        </p:nvSpPr>
        <p:spPr>
          <a:xfrm>
            <a:off x="304800" y="1752600"/>
            <a:ext cx="8534400" cy="3683000"/>
          </a:xfrm>
        </p:spPr>
        <p:txBody>
          <a:bodyPr/>
          <a:lstStyle/>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DNA – deoxyribonucleic acid </a:t>
            </a:r>
          </a:p>
          <a:p>
            <a:pPr marL="1143000" lvl="1" indent="-457200">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Forms the genetic code and regulates most of the cell’s activities</a:t>
            </a:r>
          </a:p>
          <a:p>
            <a:pPr marL="457200" indent="-457200">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RNA – ribonucleic acid </a:t>
            </a:r>
          </a:p>
          <a:p>
            <a:pPr marL="1143000" lvl="1" indent="-457200">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Guides protein formation</a:t>
            </a:r>
          </a:p>
        </p:txBody>
      </p:sp>
    </p:spTree>
    <p:extLst>
      <p:ext uri="{BB962C8B-B14F-4D97-AF65-F5344CB8AC3E}">
        <p14:creationId xmlns:p14="http://schemas.microsoft.com/office/powerpoint/2010/main" val="29859283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964FF67-9510-4954-AAFA-9FAF5DD6DF2B}"/>
              </a:ext>
            </a:extLst>
          </p:cNvPr>
          <p:cNvSpPr>
            <a:spLocks noGrp="1"/>
          </p:cNvSpPr>
          <p:nvPr>
            <p:ph type="title"/>
          </p:nvPr>
        </p:nvSpPr>
        <p:spPr/>
        <p:txBody>
          <a:bodyPr/>
          <a:lstStyle/>
          <a:p>
            <a:r>
              <a:rPr lang="en-US" dirty="0"/>
              <a:t>Nucleotide </a:t>
            </a:r>
          </a:p>
        </p:txBody>
      </p:sp>
      <p:sp>
        <p:nvSpPr>
          <p:cNvPr id="9" name="Content Placeholder 8">
            <a:extLst>
              <a:ext uri="{FF2B5EF4-FFF2-40B4-BE49-F238E27FC236}">
                <a16:creationId xmlns:a16="http://schemas.microsoft.com/office/drawing/2014/main" id="{CF4BEACE-D4C2-47A6-BA98-AD12A5681985}"/>
              </a:ext>
            </a:extLst>
          </p:cNvPr>
          <p:cNvSpPr>
            <a:spLocks noGrp="1"/>
          </p:cNvSpPr>
          <p:nvPr>
            <p:ph sz="quarter" idx="16"/>
          </p:nvPr>
        </p:nvSpPr>
        <p:spPr>
          <a:xfrm>
            <a:off x="304800" y="1409701"/>
            <a:ext cx="8534400" cy="4686298"/>
          </a:xfrm>
        </p:spPr>
        <p:txBody>
          <a:bodyPr/>
          <a:lstStyle/>
          <a:p>
            <a:pPr marL="457200" indent="-457200">
              <a:buFont typeface="Arial" panose="020B0604020202020204" pitchFamily="34" charset="0"/>
              <a:buChar char="•"/>
            </a:pPr>
            <a:r>
              <a:rPr lang="en-US" sz="3200" dirty="0"/>
              <a:t>Monomer of nucleic acids </a:t>
            </a:r>
          </a:p>
          <a:p>
            <a:pPr marL="457200" indent="-457200">
              <a:buFont typeface="Arial" panose="020B0604020202020204" pitchFamily="34" charset="0"/>
              <a:buChar char="•"/>
            </a:pPr>
            <a:r>
              <a:rPr lang="en-US" sz="3200" dirty="0"/>
              <a:t>Structure </a:t>
            </a:r>
          </a:p>
          <a:p>
            <a:pPr marL="1143000" lvl="1" indent="-457200">
              <a:buFont typeface="Arial" panose="020B0604020202020204" pitchFamily="34" charset="0"/>
              <a:buChar char="•"/>
            </a:pPr>
            <a:r>
              <a:rPr lang="en-US" sz="2800" dirty="0"/>
              <a:t>Pentose sugar </a:t>
            </a:r>
          </a:p>
          <a:p>
            <a:pPr marL="1600200" lvl="2" indent="-457200">
              <a:buFont typeface="Arial" panose="020B0604020202020204" pitchFamily="34" charset="0"/>
              <a:buChar char="•"/>
            </a:pPr>
            <a:r>
              <a:rPr lang="en-US" sz="2400" dirty="0"/>
              <a:t>Deoxyribose in DNA; ribose in RNA </a:t>
            </a:r>
          </a:p>
          <a:p>
            <a:pPr marL="1143000" lvl="1" indent="-457200">
              <a:buFont typeface="Arial" panose="020B0604020202020204" pitchFamily="34" charset="0"/>
              <a:buChar char="•"/>
            </a:pPr>
            <a:r>
              <a:rPr lang="en-US" sz="2800" dirty="0"/>
              <a:t>Phosphate group </a:t>
            </a:r>
          </a:p>
          <a:p>
            <a:pPr marL="1143000" lvl="1" indent="-457200">
              <a:buFont typeface="Arial" panose="020B0604020202020204" pitchFamily="34" charset="0"/>
              <a:buChar char="•"/>
            </a:pPr>
            <a:r>
              <a:rPr lang="en-US" sz="2800" dirty="0"/>
              <a:t>Nitrogenous base </a:t>
            </a:r>
          </a:p>
          <a:p>
            <a:pPr marL="1600200" lvl="2" indent="-457200">
              <a:buFont typeface="Arial" panose="020B0604020202020204" pitchFamily="34" charset="0"/>
              <a:buChar char="•"/>
            </a:pPr>
            <a:r>
              <a:rPr lang="en-US" sz="2400" dirty="0"/>
              <a:t>Adenine </a:t>
            </a:r>
          </a:p>
          <a:p>
            <a:pPr marL="1600200" lvl="2" indent="-457200">
              <a:buFont typeface="Arial" panose="020B0604020202020204" pitchFamily="34" charset="0"/>
              <a:buChar char="•"/>
            </a:pPr>
            <a:r>
              <a:rPr lang="en-US" sz="2400" dirty="0"/>
              <a:t>Guanine </a:t>
            </a:r>
          </a:p>
          <a:p>
            <a:pPr marL="1600200" lvl="2" indent="-457200">
              <a:buFont typeface="Arial" panose="020B0604020202020204" pitchFamily="34" charset="0"/>
              <a:buChar char="•"/>
            </a:pPr>
            <a:r>
              <a:rPr lang="en-US" sz="2400" dirty="0"/>
              <a:t>Cytosine </a:t>
            </a:r>
          </a:p>
          <a:p>
            <a:pPr marL="1600200" lvl="2" indent="-457200">
              <a:buFont typeface="Arial" panose="020B0604020202020204" pitchFamily="34" charset="0"/>
              <a:buChar char="•"/>
            </a:pPr>
            <a:r>
              <a:rPr lang="en-US" sz="2400" dirty="0"/>
              <a:t>Thymine (only in DNA)</a:t>
            </a:r>
          </a:p>
          <a:p>
            <a:pPr marL="1600200" lvl="2" indent="-457200">
              <a:buFont typeface="Arial" panose="020B0604020202020204" pitchFamily="34" charset="0"/>
              <a:buChar char="•"/>
            </a:pPr>
            <a:r>
              <a:rPr lang="en-US" sz="2400" dirty="0"/>
              <a:t>Uracil (only in RNA)</a:t>
            </a:r>
          </a:p>
        </p:txBody>
      </p:sp>
    </p:spTree>
    <p:extLst>
      <p:ext uri="{BB962C8B-B14F-4D97-AF65-F5344CB8AC3E}">
        <p14:creationId xmlns:p14="http://schemas.microsoft.com/office/powerpoint/2010/main" val="41602132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Components of a Nucleotide</a:t>
            </a:r>
          </a:p>
        </p:txBody>
      </p:sp>
      <p:pic>
        <p:nvPicPr>
          <p:cNvPr id="11" name="Content Placeholder 7" descr="A diagram illustrates the components of a nucleotide, which include a phosphate group, a nitrogenous base, and a pentose sugar. The nitrogenous bases include the pyrimidines cytosine (in D N A and R N A), thymine (in D N A), and uracil (in R N A); and the purines adenine (in D N A and R N A) and guanine (in D N A and R N A). The pentose sugars include deoxyribose in D N A and ribose in R N A.">
            <a:extLst>
              <a:ext uri="{FF2B5EF4-FFF2-40B4-BE49-F238E27FC236}">
                <a16:creationId xmlns:a16="http://schemas.microsoft.com/office/drawing/2014/main" id="{5EEA5424-A87A-4F97-80A9-66CAF99D4170}"/>
              </a:ext>
            </a:extLst>
          </p:cNvPr>
          <p:cNvPicPr>
            <a:picLocks noGrp="1" noChangeAspect="1"/>
          </p:cNvPicPr>
          <p:nvPr>
            <p:ph type="pic" sz="quarter" idx="18"/>
          </p:nvPr>
        </p:nvPicPr>
        <p:blipFill>
          <a:blip r:embed="rId2" cstate="print">
            <a:extLst>
              <a:ext uri="{28A0092B-C50C-407E-A947-70E740481C1C}">
                <a14:useLocalDpi xmlns:a14="http://schemas.microsoft.com/office/drawing/2010/main" val="0"/>
              </a:ext>
            </a:extLst>
          </a:blip>
          <a:stretch>
            <a:fillRect/>
          </a:stretch>
        </p:blipFill>
        <p:spPr>
          <a:xfrm>
            <a:off x="419100" y="1422401"/>
            <a:ext cx="8420100" cy="4799616"/>
          </a:xfrm>
          <a:prstGeom prst="rect">
            <a:avLst/>
          </a:prstGeom>
        </p:spPr>
      </p:pic>
    </p:spTree>
    <p:extLst>
      <p:ext uri="{BB962C8B-B14F-4D97-AF65-F5344CB8AC3E}">
        <p14:creationId xmlns:p14="http://schemas.microsoft.com/office/powerpoint/2010/main" val="6424183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69CD28D-3C51-4B94-9EF8-2CA4D0B041A3}"/>
              </a:ext>
            </a:extLst>
          </p:cNvPr>
          <p:cNvSpPr>
            <a:spLocks noGrp="1"/>
          </p:cNvSpPr>
          <p:nvPr>
            <p:ph type="title"/>
          </p:nvPr>
        </p:nvSpPr>
        <p:spPr/>
        <p:txBody>
          <a:bodyPr/>
          <a:lstStyle/>
          <a:p>
            <a:r>
              <a:rPr lang="en-US" dirty="0"/>
              <a:t>Nucleic Acids </a:t>
            </a:r>
          </a:p>
        </p:txBody>
      </p:sp>
      <p:sp>
        <p:nvSpPr>
          <p:cNvPr id="9" name="Content Placeholder 8">
            <a:extLst>
              <a:ext uri="{FF2B5EF4-FFF2-40B4-BE49-F238E27FC236}">
                <a16:creationId xmlns:a16="http://schemas.microsoft.com/office/drawing/2014/main" id="{FFAD553C-42EE-43CD-8431-8FB3F8C297FC}"/>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DNA is double-stranded</a:t>
            </a:r>
          </a:p>
          <a:p>
            <a:pPr marL="1143000" lvl="1" indent="-457200">
              <a:buFont typeface="Arial" panose="020B0604020202020204" pitchFamily="34" charset="0"/>
              <a:buChar char="•"/>
            </a:pPr>
            <a:r>
              <a:rPr lang="en-US" sz="2800" dirty="0"/>
              <a:t>Adenine hydrogen bonds with thymine </a:t>
            </a:r>
          </a:p>
          <a:p>
            <a:pPr marL="1143000" lvl="1" indent="-457200">
              <a:buFont typeface="Arial" panose="020B0604020202020204" pitchFamily="34" charset="0"/>
              <a:buChar char="•"/>
            </a:pPr>
            <a:r>
              <a:rPr lang="en-US" sz="2800" dirty="0"/>
              <a:t>Guanine hydrogen bonds with cytosine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RNA is single-stranded </a:t>
            </a:r>
          </a:p>
        </p:txBody>
      </p:sp>
    </p:spTree>
    <p:extLst>
      <p:ext uri="{BB962C8B-B14F-4D97-AF65-F5344CB8AC3E}">
        <p14:creationId xmlns:p14="http://schemas.microsoft.com/office/powerpoint/2010/main" val="40558416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364DFE-A9C2-4D73-BD3A-0FCB9379020F}"/>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D</a:t>
            </a:r>
            <a:r>
              <a:rPr lang="en-US" sz="1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N</a:t>
            </a:r>
            <a:r>
              <a:rPr lang="en-US" sz="1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a:t>
            </a:r>
          </a:p>
        </p:txBody>
      </p:sp>
      <p:pic>
        <p:nvPicPr>
          <p:cNvPr id="6" name="Content Placeholder 5">
            <a:extLst>
              <a:ext uri="{FF2B5EF4-FFF2-40B4-BE49-F238E27FC236}">
                <a16:creationId xmlns:a16="http://schemas.microsoft.com/office/drawing/2014/main" id="{2EF832DD-939A-41A1-9285-E6A22922D163}"/>
              </a:ext>
            </a:extLst>
          </p:cNvPr>
          <p:cNvPicPr>
            <a:picLocks noGrp="1" noChangeAspect="1"/>
          </p:cNvPicPr>
          <p:nvPr>
            <p:ph sz="quarter" idx="16"/>
          </p:nvPr>
        </p:nvPicPr>
        <p:blipFill>
          <a:blip r:embed="rId2"/>
          <a:stretch>
            <a:fillRect/>
          </a:stretch>
        </p:blipFill>
        <p:spPr>
          <a:xfrm>
            <a:off x="1206500" y="1397000"/>
            <a:ext cx="6083300" cy="4978400"/>
          </a:xfrm>
          <a:prstGeom prst="rect">
            <a:avLst/>
          </a:prstGeom>
        </p:spPr>
      </p:pic>
    </p:spTree>
    <p:extLst>
      <p:ext uri="{BB962C8B-B14F-4D97-AF65-F5344CB8AC3E}">
        <p14:creationId xmlns:p14="http://schemas.microsoft.com/office/powerpoint/2010/main" val="119171247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0AD50-B632-44DA-B81E-B7CB2EB9E9B8}"/>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D</a:t>
            </a:r>
            <a:r>
              <a:rPr lang="en-US" sz="1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N</a:t>
            </a:r>
            <a:r>
              <a:rPr lang="en-US" sz="1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 vs. R</a:t>
            </a:r>
            <a:r>
              <a:rPr lang="en-US" sz="1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N</a:t>
            </a:r>
            <a:r>
              <a:rPr lang="en-US" sz="1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a:t>
            </a:r>
          </a:p>
        </p:txBody>
      </p:sp>
      <p:graphicFrame>
        <p:nvGraphicFramePr>
          <p:cNvPr id="8" name="Content Placeholder 2" descr="Table is accessible to screen readers.">
            <a:extLst>
              <a:ext uri="{FF2B5EF4-FFF2-40B4-BE49-F238E27FC236}">
                <a16:creationId xmlns:a16="http://schemas.microsoft.com/office/drawing/2014/main" id="{0B6A4A1D-08F5-4245-B884-66181F447A78}"/>
              </a:ext>
            </a:extLst>
          </p:cNvPr>
          <p:cNvGraphicFramePr>
            <a:graphicFrameLocks noGrp="1"/>
          </p:cNvGraphicFramePr>
          <p:nvPr>
            <p:ph type="tbl" sz="quarter" idx="19"/>
            <p:extLst>
              <p:ext uri="{D42A27DB-BD31-4B8C-83A1-F6EECF244321}">
                <p14:modId xmlns:p14="http://schemas.microsoft.com/office/powerpoint/2010/main" val="1888466436"/>
              </p:ext>
            </p:extLst>
          </p:nvPr>
        </p:nvGraphicFramePr>
        <p:xfrm>
          <a:off x="233321" y="1412422"/>
          <a:ext cx="8677359" cy="4846320"/>
        </p:xfrm>
        <a:graphic>
          <a:graphicData uri="http://schemas.openxmlformats.org/drawingml/2006/table">
            <a:tbl>
              <a:tblPr firstRow="1" bandRow="1">
                <a:tableStyleId>{69012ECD-51FC-41F1-AA8D-1B2483CD663E}</a:tableStyleId>
              </a:tblPr>
              <a:tblGrid>
                <a:gridCol w="2577976">
                  <a:extLst>
                    <a:ext uri="{9D8B030D-6E8A-4147-A177-3AD203B41FA5}">
                      <a16:colId xmlns:a16="http://schemas.microsoft.com/office/drawing/2014/main" val="1271631147"/>
                    </a:ext>
                  </a:extLst>
                </a:gridCol>
                <a:gridCol w="2994841">
                  <a:extLst>
                    <a:ext uri="{9D8B030D-6E8A-4147-A177-3AD203B41FA5}">
                      <a16:colId xmlns:a16="http://schemas.microsoft.com/office/drawing/2014/main" val="1944842625"/>
                    </a:ext>
                  </a:extLst>
                </a:gridCol>
                <a:gridCol w="3104542">
                  <a:extLst>
                    <a:ext uri="{9D8B030D-6E8A-4147-A177-3AD203B41FA5}">
                      <a16:colId xmlns:a16="http://schemas.microsoft.com/office/drawing/2014/main" val="1969781692"/>
                    </a:ext>
                  </a:extLst>
                </a:gridCol>
              </a:tblGrid>
              <a:tr h="359714">
                <a:tc>
                  <a:txBody>
                    <a:bodyPr/>
                    <a:lstStyle/>
                    <a:p>
                      <a:r>
                        <a:rPr lang="en-US" dirty="0">
                          <a:solidFill>
                            <a:schemeClr val="bg1"/>
                          </a:solidFill>
                        </a:rPr>
                        <a:t>Feature</a:t>
                      </a:r>
                    </a:p>
                  </a:txBody>
                  <a:tcPr/>
                </a:tc>
                <a:tc>
                  <a:txBody>
                    <a:bodyPr/>
                    <a:lstStyle/>
                    <a:p>
                      <a:r>
                        <a:rPr lang="en-US" dirty="0">
                          <a:solidFill>
                            <a:schemeClr val="bg1"/>
                          </a:solidFill>
                        </a:rPr>
                        <a:t>DNA</a:t>
                      </a:r>
                    </a:p>
                  </a:txBody>
                  <a:tcPr/>
                </a:tc>
                <a:tc>
                  <a:txBody>
                    <a:bodyPr/>
                    <a:lstStyle/>
                    <a:p>
                      <a:r>
                        <a:rPr lang="en-US" dirty="0">
                          <a:solidFill>
                            <a:schemeClr val="bg1"/>
                          </a:solidFill>
                        </a:rPr>
                        <a:t>RNA</a:t>
                      </a:r>
                    </a:p>
                  </a:txBody>
                  <a:tcPr/>
                </a:tc>
                <a:extLst>
                  <a:ext uri="{0D108BD9-81ED-4DB2-BD59-A6C34878D82A}">
                    <a16:rowId xmlns:a16="http://schemas.microsoft.com/office/drawing/2014/main" val="1791196831"/>
                  </a:ext>
                </a:extLst>
              </a:tr>
              <a:tr h="629499">
                <a:tc>
                  <a:txBody>
                    <a:bodyPr/>
                    <a:lstStyle/>
                    <a:p>
                      <a:r>
                        <a:rPr lang="en-US" dirty="0">
                          <a:solidFill>
                            <a:schemeClr val="tx1"/>
                          </a:solidFill>
                        </a:rPr>
                        <a:t>Nitrogenous bases</a:t>
                      </a:r>
                    </a:p>
                  </a:txBody>
                  <a:tcPr/>
                </a:tc>
                <a:tc>
                  <a:txBody>
                    <a:bodyPr/>
                    <a:lstStyle/>
                    <a:p>
                      <a:r>
                        <a:rPr lang="en-US" dirty="0">
                          <a:solidFill>
                            <a:schemeClr val="tx1"/>
                          </a:solidFill>
                        </a:rPr>
                        <a:t>Adenine (A), cytosine (C), guanine (G), </a:t>
                      </a:r>
                      <a:r>
                        <a:rPr lang="en-US" b="1" dirty="0">
                          <a:solidFill>
                            <a:schemeClr val="tx1"/>
                          </a:solidFill>
                        </a:rPr>
                        <a:t>thymine (T)</a:t>
                      </a:r>
                      <a:r>
                        <a:rPr lang="en-US" dirty="0">
                          <a:solidFill>
                            <a:schemeClr val="tx1"/>
                          </a:solidFill>
                        </a:rPr>
                        <a:t>.</a:t>
                      </a:r>
                    </a:p>
                  </a:txBody>
                  <a:tcPr/>
                </a:tc>
                <a:tc>
                  <a:txBody>
                    <a:bodyPr/>
                    <a:lstStyle/>
                    <a:p>
                      <a:r>
                        <a:rPr lang="en-US" dirty="0">
                          <a:solidFill>
                            <a:schemeClr val="tx1"/>
                          </a:solidFill>
                        </a:rPr>
                        <a:t>Adenine (A), cytosine (C), guanine (G), </a:t>
                      </a:r>
                      <a:r>
                        <a:rPr lang="en-US" b="1" dirty="0">
                          <a:solidFill>
                            <a:schemeClr val="tx1"/>
                          </a:solidFill>
                        </a:rPr>
                        <a:t>uracil (U)</a:t>
                      </a:r>
                      <a:r>
                        <a:rPr lang="en-US" dirty="0">
                          <a:solidFill>
                            <a:schemeClr val="tx1"/>
                          </a:solidFill>
                        </a:rPr>
                        <a:t>.</a:t>
                      </a:r>
                    </a:p>
                  </a:txBody>
                  <a:tcPr/>
                </a:tc>
                <a:extLst>
                  <a:ext uri="{0D108BD9-81ED-4DB2-BD59-A6C34878D82A}">
                    <a16:rowId xmlns:a16="http://schemas.microsoft.com/office/drawing/2014/main" val="3145707235"/>
                  </a:ext>
                </a:extLst>
              </a:tr>
              <a:tr h="359714">
                <a:tc>
                  <a:txBody>
                    <a:bodyPr/>
                    <a:lstStyle/>
                    <a:p>
                      <a:r>
                        <a:rPr lang="en-US" dirty="0">
                          <a:solidFill>
                            <a:schemeClr val="tx1"/>
                          </a:solidFill>
                        </a:rPr>
                        <a:t>Sugar in nucleotides</a:t>
                      </a:r>
                    </a:p>
                  </a:txBody>
                  <a:tcPr/>
                </a:tc>
                <a:tc>
                  <a:txBody>
                    <a:bodyPr/>
                    <a:lstStyle/>
                    <a:p>
                      <a:r>
                        <a:rPr lang="en-US" b="1" dirty="0">
                          <a:solidFill>
                            <a:schemeClr val="tx1"/>
                          </a:solidFill>
                        </a:rPr>
                        <a:t>Deoxyribose.</a:t>
                      </a:r>
                    </a:p>
                  </a:txBody>
                  <a:tcPr/>
                </a:tc>
                <a:tc>
                  <a:txBody>
                    <a:bodyPr/>
                    <a:lstStyle/>
                    <a:p>
                      <a:r>
                        <a:rPr lang="en-US" b="1" dirty="0">
                          <a:solidFill>
                            <a:schemeClr val="tx1"/>
                          </a:solidFill>
                        </a:rPr>
                        <a:t>Ribose.</a:t>
                      </a:r>
                    </a:p>
                  </a:txBody>
                  <a:tcPr/>
                </a:tc>
                <a:extLst>
                  <a:ext uri="{0D108BD9-81ED-4DB2-BD59-A6C34878D82A}">
                    <a16:rowId xmlns:a16="http://schemas.microsoft.com/office/drawing/2014/main" val="3130914406"/>
                  </a:ext>
                </a:extLst>
              </a:tr>
              <a:tr h="629499">
                <a:tc>
                  <a:txBody>
                    <a:bodyPr/>
                    <a:lstStyle/>
                    <a:p>
                      <a:r>
                        <a:rPr lang="en-US" dirty="0">
                          <a:solidFill>
                            <a:schemeClr val="tx1"/>
                          </a:solidFill>
                        </a:rPr>
                        <a:t>Number of strands</a:t>
                      </a:r>
                    </a:p>
                  </a:txBody>
                  <a:tcPr/>
                </a:tc>
                <a:tc>
                  <a:txBody>
                    <a:bodyPr/>
                    <a:lstStyle/>
                    <a:p>
                      <a:r>
                        <a:rPr lang="en-US" dirty="0">
                          <a:solidFill>
                            <a:schemeClr val="tx1"/>
                          </a:solidFill>
                        </a:rPr>
                        <a:t>Two (</a:t>
                      </a:r>
                      <a:r>
                        <a:rPr lang="en-US" b="1" dirty="0">
                          <a:solidFill>
                            <a:schemeClr val="tx1"/>
                          </a:solidFill>
                        </a:rPr>
                        <a:t>double-helix</a:t>
                      </a:r>
                      <a:r>
                        <a:rPr lang="en-US" dirty="0">
                          <a:solidFill>
                            <a:schemeClr val="tx1"/>
                          </a:solidFill>
                        </a:rPr>
                        <a:t>, like a twisted ladder).</a:t>
                      </a:r>
                    </a:p>
                  </a:txBody>
                  <a:tcPr/>
                </a:tc>
                <a:tc>
                  <a:txBody>
                    <a:bodyPr/>
                    <a:lstStyle/>
                    <a:p>
                      <a:r>
                        <a:rPr lang="en-US" dirty="0">
                          <a:solidFill>
                            <a:schemeClr val="tx1"/>
                          </a:solidFill>
                        </a:rPr>
                        <a:t>One.</a:t>
                      </a:r>
                    </a:p>
                  </a:txBody>
                  <a:tcPr/>
                </a:tc>
                <a:extLst>
                  <a:ext uri="{0D108BD9-81ED-4DB2-BD59-A6C34878D82A}">
                    <a16:rowId xmlns:a16="http://schemas.microsoft.com/office/drawing/2014/main" val="1210811606"/>
                  </a:ext>
                </a:extLst>
              </a:tr>
              <a:tr h="899285">
                <a:tc>
                  <a:txBody>
                    <a:bodyPr/>
                    <a:lstStyle/>
                    <a:p>
                      <a:r>
                        <a:rPr lang="en-US" dirty="0">
                          <a:solidFill>
                            <a:schemeClr val="tx1"/>
                          </a:solidFill>
                        </a:rPr>
                        <a:t>Nitrogenous base pairing (number of hydrogen bonds)</a:t>
                      </a:r>
                    </a:p>
                  </a:txBody>
                  <a:tcPr/>
                </a:tc>
                <a:tc>
                  <a:txBody>
                    <a:bodyPr/>
                    <a:lstStyle/>
                    <a:p>
                      <a:r>
                        <a:rPr lang="en-US" b="1" dirty="0">
                          <a:solidFill>
                            <a:schemeClr val="tx1"/>
                          </a:solidFill>
                        </a:rPr>
                        <a:t>A with T </a:t>
                      </a:r>
                      <a:r>
                        <a:rPr lang="en-US" dirty="0">
                          <a:solidFill>
                            <a:schemeClr val="tx1"/>
                          </a:solidFill>
                        </a:rPr>
                        <a:t>(2), G with C (3).</a:t>
                      </a:r>
                    </a:p>
                  </a:txBody>
                  <a:tcPr/>
                </a:tc>
                <a:tc>
                  <a:txBody>
                    <a:bodyPr/>
                    <a:lstStyle/>
                    <a:p>
                      <a:r>
                        <a:rPr lang="en-US" b="1" dirty="0">
                          <a:solidFill>
                            <a:schemeClr val="tx1"/>
                          </a:solidFill>
                        </a:rPr>
                        <a:t>A with U </a:t>
                      </a:r>
                      <a:r>
                        <a:rPr lang="en-US" dirty="0">
                          <a:solidFill>
                            <a:schemeClr val="tx1"/>
                          </a:solidFill>
                        </a:rPr>
                        <a:t>(2), G with C (3).</a:t>
                      </a:r>
                    </a:p>
                  </a:txBody>
                  <a:tcPr/>
                </a:tc>
                <a:extLst>
                  <a:ext uri="{0D108BD9-81ED-4DB2-BD59-A6C34878D82A}">
                    <a16:rowId xmlns:a16="http://schemas.microsoft.com/office/drawing/2014/main" val="2529250023"/>
                  </a:ext>
                </a:extLst>
              </a:tr>
              <a:tr h="629499">
                <a:tc>
                  <a:txBody>
                    <a:bodyPr/>
                    <a:lstStyle/>
                    <a:p>
                      <a:r>
                        <a:rPr lang="en-US" dirty="0">
                          <a:solidFill>
                            <a:schemeClr val="tx1"/>
                          </a:solidFill>
                        </a:rPr>
                        <a:t>How is it copied?</a:t>
                      </a:r>
                    </a:p>
                  </a:txBody>
                  <a:tcPr/>
                </a:tc>
                <a:tc>
                  <a:txBody>
                    <a:bodyPr/>
                    <a:lstStyle/>
                    <a:p>
                      <a:r>
                        <a:rPr lang="en-US" b="1" dirty="0">
                          <a:solidFill>
                            <a:schemeClr val="tx1"/>
                          </a:solidFill>
                        </a:rPr>
                        <a:t>Self-replicating.</a:t>
                      </a:r>
                    </a:p>
                  </a:txBody>
                  <a:tcPr/>
                </a:tc>
                <a:tc>
                  <a:txBody>
                    <a:bodyPr/>
                    <a:lstStyle/>
                    <a:p>
                      <a:r>
                        <a:rPr lang="en-US" b="1" dirty="0">
                          <a:solidFill>
                            <a:schemeClr val="tx1"/>
                          </a:solidFill>
                        </a:rPr>
                        <a:t>Made by using DNA as a blueprint.</a:t>
                      </a:r>
                    </a:p>
                  </a:txBody>
                  <a:tcPr/>
                </a:tc>
                <a:extLst>
                  <a:ext uri="{0D108BD9-81ED-4DB2-BD59-A6C34878D82A}">
                    <a16:rowId xmlns:a16="http://schemas.microsoft.com/office/drawing/2014/main" val="2111448528"/>
                  </a:ext>
                </a:extLst>
              </a:tr>
              <a:tr h="629499">
                <a:tc>
                  <a:txBody>
                    <a:bodyPr/>
                    <a:lstStyle/>
                    <a:p>
                      <a:r>
                        <a:rPr lang="en-US" dirty="0">
                          <a:solidFill>
                            <a:schemeClr val="tx1"/>
                          </a:solidFill>
                        </a:rPr>
                        <a:t>Function</a:t>
                      </a:r>
                    </a:p>
                  </a:txBody>
                  <a:tcPr/>
                </a:tc>
                <a:tc>
                  <a:txBody>
                    <a:bodyPr/>
                    <a:lstStyle/>
                    <a:p>
                      <a:r>
                        <a:rPr lang="en-US" b="1" dirty="0">
                          <a:solidFill>
                            <a:schemeClr val="tx1"/>
                          </a:solidFill>
                        </a:rPr>
                        <a:t>Encodes information for making proteins.</a:t>
                      </a:r>
                    </a:p>
                  </a:txBody>
                  <a:tcPr/>
                </a:tc>
                <a:tc>
                  <a:txBody>
                    <a:bodyPr/>
                    <a:lstStyle/>
                    <a:p>
                      <a:r>
                        <a:rPr lang="en-US" b="1" dirty="0">
                          <a:solidFill>
                            <a:schemeClr val="tx1"/>
                          </a:solidFill>
                        </a:rPr>
                        <a:t>Carries the genetic code and assists in making proteins.</a:t>
                      </a:r>
                    </a:p>
                  </a:txBody>
                  <a:tcPr/>
                </a:tc>
                <a:extLst>
                  <a:ext uri="{0D108BD9-81ED-4DB2-BD59-A6C34878D82A}">
                    <a16:rowId xmlns:a16="http://schemas.microsoft.com/office/drawing/2014/main" val="3721201059"/>
                  </a:ext>
                </a:extLst>
              </a:tr>
              <a:tr h="629499">
                <a:tc>
                  <a:txBody>
                    <a:bodyPr/>
                    <a:lstStyle/>
                    <a:p>
                      <a:r>
                        <a:rPr lang="en-US" dirty="0">
                          <a:solidFill>
                            <a:schemeClr val="tx1"/>
                          </a:solidFill>
                        </a:rPr>
                        <a:t>Types</a:t>
                      </a:r>
                    </a:p>
                  </a:txBody>
                  <a:tcPr/>
                </a:tc>
                <a:tc>
                  <a:txBody>
                    <a:bodyPr/>
                    <a:lstStyle/>
                    <a:p>
                      <a:r>
                        <a:rPr lang="en-US" b="1" dirty="0">
                          <a:solidFill>
                            <a:schemeClr val="tx1"/>
                          </a:solidFill>
                        </a:rPr>
                        <a:t>Nuclear, mitochondrial.</a:t>
                      </a:r>
                    </a:p>
                  </a:txBody>
                  <a:tcPr/>
                </a:tc>
                <a:tc>
                  <a:txBody>
                    <a:bodyPr/>
                    <a:lstStyle/>
                    <a:p>
                      <a:r>
                        <a:rPr lang="en-US" b="1" dirty="0">
                          <a:solidFill>
                            <a:schemeClr val="tx1"/>
                          </a:solidFill>
                        </a:rPr>
                        <a:t>Messenger RNA (mRNA), transfer</a:t>
                      </a:r>
                    </a:p>
                  </a:txBody>
                  <a:tcPr/>
                </a:tc>
                <a:extLst>
                  <a:ext uri="{0D108BD9-81ED-4DB2-BD59-A6C34878D82A}">
                    <a16:rowId xmlns:a16="http://schemas.microsoft.com/office/drawing/2014/main" val="2827595985"/>
                  </a:ext>
                </a:extLst>
              </a:tr>
            </a:tbl>
          </a:graphicData>
        </a:graphic>
      </p:graphicFrame>
    </p:spTree>
    <p:extLst>
      <p:ext uri="{BB962C8B-B14F-4D97-AF65-F5344CB8AC3E}">
        <p14:creationId xmlns:p14="http://schemas.microsoft.com/office/powerpoint/2010/main" val="25415874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0AD50-B632-44DA-B81E-B7CB2EB9E9B8}"/>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Adenosine Triphosphate (A</a:t>
            </a:r>
            <a:r>
              <a:rPr lang="en-US" sz="1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a:t>
            </a:r>
            <a:r>
              <a:rPr lang="en-US" sz="1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a:t>
            </a:r>
          </a:p>
        </p:txBody>
      </p:sp>
      <p:sp>
        <p:nvSpPr>
          <p:cNvPr id="3" name="Content Placeholder 2">
            <a:extLst>
              <a:ext uri="{FF2B5EF4-FFF2-40B4-BE49-F238E27FC236}">
                <a16:creationId xmlns:a16="http://schemas.microsoft.com/office/drawing/2014/main" id="{3FD84702-940D-4C98-A013-4912098B0BB2}"/>
              </a:ext>
            </a:extLst>
          </p:cNvPr>
          <p:cNvSpPr>
            <a:spLocks noGrp="1"/>
          </p:cNvSpPr>
          <p:nvPr>
            <p:ph sz="quarter" idx="16"/>
          </p:nvPr>
        </p:nvSpPr>
        <p:spPr>
          <a:xfrm>
            <a:off x="304800" y="1752600"/>
            <a:ext cx="4343400" cy="4451350"/>
          </a:xfrm>
        </p:spPr>
        <p:txBody>
          <a:bodyPr/>
          <a:lstStyle/>
          <a:p>
            <a:pPr marL="457200" indent="-457200">
              <a:buFont typeface="Arial" panose="020B0604020202020204" pitchFamily="34" charset="0"/>
              <a:buChar char="•"/>
            </a:pPr>
            <a:r>
              <a:rPr lang="en-US" dirty="0">
                <a:latin typeface="Calibri" panose="020F0502020204030204" pitchFamily="34" charset="0"/>
                <a:cs typeface="Calibri" panose="020F0502020204030204" pitchFamily="34" charset="0"/>
              </a:rPr>
              <a:t>ATP is the principal energy-providing  molecule in the body</a:t>
            </a:r>
          </a:p>
          <a:p>
            <a:pPr marL="457200" indent="-457200">
              <a:buFont typeface="Arial" panose="020B0604020202020204" pitchFamily="34" charset="0"/>
              <a:buChar char="•"/>
            </a:pPr>
            <a:r>
              <a:rPr lang="en-US" dirty="0">
                <a:latin typeface="Calibri" panose="020F0502020204030204" pitchFamily="34" charset="0"/>
                <a:cs typeface="Calibri" panose="020F0502020204030204" pitchFamily="34" charset="0"/>
              </a:rPr>
              <a:t>Since phosphates are negatively-charged, they repel one another </a:t>
            </a:r>
          </a:p>
          <a:p>
            <a:pPr marL="1143000" lvl="1" indent="-457200">
              <a:buFont typeface="Arial" panose="020B0604020202020204" pitchFamily="34" charset="0"/>
              <a:buChar char="•"/>
            </a:pPr>
            <a:r>
              <a:rPr lang="en-US" dirty="0">
                <a:latin typeface="Calibri" panose="020F0502020204030204" pitchFamily="34" charset="0"/>
                <a:cs typeface="Calibri" panose="020F0502020204030204" pitchFamily="34" charset="0"/>
              </a:rPr>
              <a:t>Results in ATP being an unstable molecule </a:t>
            </a:r>
          </a:p>
          <a:p>
            <a:pPr marL="1600200" lvl="2" indent="-457200">
              <a:buFont typeface="Arial" panose="020B0604020202020204" pitchFamily="34" charset="0"/>
              <a:buChar char="•"/>
            </a:pPr>
            <a:r>
              <a:rPr lang="en-US" dirty="0">
                <a:latin typeface="Calibri" panose="020F0502020204030204" pitchFamily="34" charset="0"/>
                <a:cs typeface="Calibri" panose="020F0502020204030204" pitchFamily="34" charset="0"/>
              </a:rPr>
              <a:t>This is why energy must be stored in a more stable form – carbohydrates and fats</a:t>
            </a:r>
          </a:p>
        </p:txBody>
      </p:sp>
      <p:pic>
        <p:nvPicPr>
          <p:cNvPr id="8" name="Content Placeholder 8" descr="A diagram shows the structures of adenosine diphosphate, A D P, and adenosine triphospate, A T P. Adenosine consists of a complex of the molecules adenine and ribose; the ribose is connected to phosphate groups. A T P has three phosphate groups, and A D P has two.">
            <a:extLst>
              <a:ext uri="{FF2B5EF4-FFF2-40B4-BE49-F238E27FC236}">
                <a16:creationId xmlns:a16="http://schemas.microsoft.com/office/drawing/2014/main" id="{96207892-BA07-4E28-93E0-4F7E49EDD439}"/>
              </a:ext>
            </a:extLst>
          </p:cNvPr>
          <p:cNvPicPr>
            <a:picLocks noGrp="1" noChangeAspect="1"/>
          </p:cNvPicPr>
          <p:nvPr>
            <p:ph sz="quarter" idx="17"/>
          </p:nvPr>
        </p:nvPicPr>
        <p:blipFill>
          <a:blip r:embed="rId2"/>
          <a:stretch>
            <a:fillRect/>
          </a:stretch>
        </p:blipFill>
        <p:spPr>
          <a:xfrm>
            <a:off x="4724400" y="2408939"/>
            <a:ext cx="4114800" cy="3138672"/>
          </a:xfrm>
          <a:prstGeom prst="rect">
            <a:avLst/>
          </a:prstGeom>
        </p:spPr>
      </p:pic>
    </p:spTree>
    <p:extLst>
      <p:ext uri="{BB962C8B-B14F-4D97-AF65-F5344CB8AC3E}">
        <p14:creationId xmlns:p14="http://schemas.microsoft.com/office/powerpoint/2010/main" val="12010501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0AD50-B632-44DA-B81E-B7CB2EB9E9B8}"/>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How Does The Cell Produce ATP?</a:t>
            </a:r>
          </a:p>
        </p:txBody>
      </p:sp>
      <p:sp>
        <p:nvSpPr>
          <p:cNvPr id="3" name="Content Placeholder 2">
            <a:extLst>
              <a:ext uri="{FF2B5EF4-FFF2-40B4-BE49-F238E27FC236}">
                <a16:creationId xmlns:a16="http://schemas.microsoft.com/office/drawing/2014/main" id="{3FD84702-940D-4C98-A013-4912098B0BB2}"/>
              </a:ext>
            </a:extLst>
          </p:cNvPr>
          <p:cNvSpPr>
            <a:spLocks noGrp="1"/>
          </p:cNvSpPr>
          <p:nvPr>
            <p:ph sz="quarter" idx="16"/>
          </p:nvPr>
        </p:nvSpPr>
        <p:spPr>
          <a:xfrm>
            <a:off x="215900" y="1460501"/>
            <a:ext cx="8788400" cy="4504870"/>
          </a:xfrm>
        </p:spPr>
        <p:txBody>
          <a:bodyPr/>
          <a:lstStyle/>
          <a:p>
            <a:pPr marL="457200" indent="-457200">
              <a:lnSpc>
                <a:spcPct val="100000"/>
              </a:lnSpc>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Cellular respiration is when glucose is catabolized</a:t>
            </a:r>
          </a:p>
          <a:p>
            <a:pPr marL="457200" indent="-457200">
              <a:lnSpc>
                <a:spcPct val="100000"/>
              </a:lnSpc>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Releases energy to remove phosphate </a:t>
            </a:r>
            <a:r>
              <a:rPr lang="en-US" sz="3200">
                <a:latin typeface="Calibri" panose="020F0502020204030204" pitchFamily="34" charset="0"/>
                <a:cs typeface="Calibri" panose="020F0502020204030204" pitchFamily="34" charset="0"/>
              </a:rPr>
              <a:t>to form ADP</a:t>
            </a:r>
            <a:endParaRPr lang="en-US" sz="3200" dirty="0">
              <a:latin typeface="Calibri" panose="020F0502020204030204" pitchFamily="34" charset="0"/>
              <a:cs typeface="Calibri" panose="020F0502020204030204" pitchFamily="34" charset="0"/>
            </a:endParaRPr>
          </a:p>
          <a:p>
            <a:pPr marL="457200" indent="-457200">
              <a:lnSpc>
                <a:spcPct val="100000"/>
              </a:lnSpc>
              <a:buClr>
                <a:schemeClr val="accent2"/>
              </a:buClr>
              <a:buFont typeface="Arial" panose="020B0604020202020204" pitchFamily="34" charset="0"/>
              <a:buChar char="•"/>
            </a:pPr>
            <a:r>
              <a:rPr lang="en-US" sz="3200" dirty="0">
                <a:latin typeface="Calibri" panose="020F0502020204030204" pitchFamily="34" charset="0"/>
                <a:cs typeface="Calibri" panose="020F0502020204030204" pitchFamily="34" charset="0"/>
              </a:rPr>
              <a:t>Two phases</a:t>
            </a:r>
          </a:p>
          <a:p>
            <a:pPr marL="1143000" lvl="1" indent="-457200">
              <a:lnSpc>
                <a:spcPct val="100000"/>
              </a:lnSpc>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Anaerobic (without oxygen); glucose partially broken down into pyruvic acid; yields 2 ATP</a:t>
            </a:r>
          </a:p>
          <a:p>
            <a:pPr marL="1143000" lvl="1" indent="-457200">
              <a:lnSpc>
                <a:spcPct val="100000"/>
              </a:lnSpc>
              <a:spcAft>
                <a:spcPts val="1800"/>
              </a:spcAft>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Aerobic (requires oxygen); glucose broken into CO</a:t>
            </a:r>
            <a:r>
              <a:rPr lang="en-US" sz="2800" baseline="-25000" dirty="0">
                <a:latin typeface="Calibri" panose="020F0502020204030204" pitchFamily="34" charset="0"/>
                <a:cs typeface="Calibri" panose="020F0502020204030204" pitchFamily="34" charset="0"/>
              </a:rPr>
              <a:t>2</a:t>
            </a:r>
            <a:r>
              <a:rPr lang="en-US" sz="2800" dirty="0">
                <a:latin typeface="Calibri" panose="020F0502020204030204" pitchFamily="34" charset="0"/>
                <a:cs typeface="Calibri" panose="020F0502020204030204" pitchFamily="34" charset="0"/>
              </a:rPr>
              <a:t> and H</a:t>
            </a:r>
            <a:r>
              <a:rPr lang="en-US" sz="2800" baseline="-25000" dirty="0">
                <a:latin typeface="Calibri" panose="020F0502020204030204" pitchFamily="34" charset="0"/>
                <a:cs typeface="Calibri" panose="020F0502020204030204" pitchFamily="34" charset="0"/>
              </a:rPr>
              <a:t>2</a:t>
            </a:r>
            <a:r>
              <a:rPr lang="en-US" sz="2800" dirty="0">
                <a:latin typeface="Calibri" panose="020F0502020204030204" pitchFamily="34" charset="0"/>
                <a:cs typeface="Calibri" panose="020F0502020204030204" pitchFamily="34" charset="0"/>
              </a:rPr>
              <a:t>O); yields 30-32 ATP</a:t>
            </a:r>
          </a:p>
          <a:p>
            <a:pPr marL="1143000" lvl="1" indent="-457200">
              <a:lnSpc>
                <a:spcPct val="100000"/>
              </a:lnSpc>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Chapters 10 and 25 cover respiration</a:t>
            </a:r>
          </a:p>
        </p:txBody>
      </p:sp>
    </p:spTree>
    <p:extLst>
      <p:ext uri="{BB962C8B-B14F-4D97-AF65-F5344CB8AC3E}">
        <p14:creationId xmlns:p14="http://schemas.microsoft.com/office/powerpoint/2010/main" val="231690458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Copyright</a:t>
            </a:r>
          </a:p>
        </p:txBody>
      </p:sp>
      <p:sp>
        <p:nvSpPr>
          <p:cNvPr id="3" name="Content Placeholder 2"/>
          <p:cNvSpPr>
            <a:spLocks noGrp="1"/>
          </p:cNvSpPr>
          <p:nvPr>
            <p:ph sz="quarter" idx="16"/>
          </p:nvPr>
        </p:nvSpPr>
        <p:spPr>
          <a:xfrm>
            <a:off x="304800" y="1752600"/>
            <a:ext cx="8534400" cy="3429000"/>
          </a:xfrm>
        </p:spPr>
        <p:txBody>
          <a:bodyPr/>
          <a:lstStyle/>
          <a:p>
            <a:r>
              <a:rPr lang="en-US" sz="2400" b="1" dirty="0">
                <a:latin typeface="Calibri" panose="020F0502020204030204" pitchFamily="34" charset="0"/>
                <a:cs typeface="Calibri" panose="020F0502020204030204" pitchFamily="34" charset="0"/>
              </a:rPr>
              <a:t>Copyright © 2021 John Wiley &amp; Sons, Inc.</a:t>
            </a:r>
          </a:p>
          <a:p>
            <a:pPr>
              <a:lnSpc>
                <a:spcPct val="150000"/>
              </a:lnSpc>
            </a:pPr>
            <a:r>
              <a:rPr lang="en-US" sz="1800" dirty="0">
                <a:latin typeface="Calibri" panose="020F0502020204030204" pitchFamily="34" charset="0"/>
                <a:cs typeface="Calibri" panose="020F0502020204030204" pitchFamily="34" charset="0"/>
              </a:rPr>
              <a:t>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Tree>
    <p:extLst>
      <p:ext uri="{BB962C8B-B14F-4D97-AF65-F5344CB8AC3E}">
        <p14:creationId xmlns:p14="http://schemas.microsoft.com/office/powerpoint/2010/main" val="13856248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4bb1a6f6a37846e759f335af07b6f9d3376d58a"/>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E01F302C440524FA31D7DCD25615BF1" ma:contentTypeVersion="7" ma:contentTypeDescription="Create a new document." ma:contentTypeScope="" ma:versionID="70c2503ec15103d2cca162ccd324bd4f">
  <xsd:schema xmlns:xsd="http://www.w3.org/2001/XMLSchema" xmlns:xs="http://www.w3.org/2001/XMLSchema" xmlns:p="http://schemas.microsoft.com/office/2006/metadata/properties" xmlns:ns2="e88296c4-2d3a-4b5e-b7cc-73362ec365d5" targetNamespace="http://schemas.microsoft.com/office/2006/metadata/properties" ma:root="true" ma:fieldsID="1ee8fd890c3ab4027bd76155cf630935" ns2:_="">
    <xsd:import namespace="e88296c4-2d3a-4b5e-b7cc-73362ec365d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8296c4-2d3a-4b5e-b7cc-73362ec365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2.xml><?xml version="1.0" encoding="utf-8"?>
<ds:datastoreItem xmlns:ds="http://schemas.openxmlformats.org/officeDocument/2006/customXml" ds:itemID="{EF1C71EB-81EB-430C-AADD-7391148CA65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30F00BB-C9EC-44FA-8C15-694B97F32F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8296c4-2d3a-4b5e-b7cc-73362ec365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23753</TotalTime>
  <Words>3962</Words>
  <Application>Microsoft Office PowerPoint</Application>
  <PresentationFormat>On-screen Show (4:3)</PresentationFormat>
  <Paragraphs>675</Paragraphs>
  <Slides>103</Slides>
  <Notes>2</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103</vt:i4>
      </vt:variant>
    </vt:vector>
  </HeadingPairs>
  <TitlesOfParts>
    <vt:vector size="116" baseType="lpstr">
      <vt:lpstr>Arial</vt:lpstr>
      <vt:lpstr>Calibri</vt:lpstr>
      <vt:lpstr>Calibri Light</vt:lpstr>
      <vt:lpstr>Courier New</vt:lpstr>
      <vt:lpstr>Source Sans Pro</vt:lpstr>
      <vt:lpstr>Times New Roman</vt:lpstr>
      <vt:lpstr>Opener</vt:lpstr>
      <vt:lpstr>Chapter Outline</vt:lpstr>
      <vt:lpstr>Learning Objectives</vt:lpstr>
      <vt:lpstr>Concept Check Question</vt:lpstr>
      <vt:lpstr>Key Term</vt:lpstr>
      <vt:lpstr>Section</vt:lpstr>
      <vt:lpstr>Image Slide Master</vt:lpstr>
      <vt:lpstr>Principles of Anatomy and Physiology</vt:lpstr>
      <vt:lpstr>Introduction</vt:lpstr>
      <vt:lpstr>How Matter Is Organized</vt:lpstr>
      <vt:lpstr>Basic Principles of Chemistry</vt:lpstr>
      <vt:lpstr>Chemical Elements</vt:lpstr>
      <vt:lpstr>Elements</vt:lpstr>
      <vt:lpstr>Main Chemical Elements in the Body </vt:lpstr>
      <vt:lpstr>Main Chemical Elements in the Body </vt:lpstr>
      <vt:lpstr>Main Chemical Elements in the Body </vt:lpstr>
      <vt:lpstr>Main Chemical Elements in the Body </vt:lpstr>
      <vt:lpstr>Main Chemical Elements in the Body </vt:lpstr>
      <vt:lpstr>Atoms</vt:lpstr>
      <vt:lpstr>Atomic Structure </vt:lpstr>
      <vt:lpstr>Atomic Number and Mass Number</vt:lpstr>
      <vt:lpstr>Radioactive Isotopes </vt:lpstr>
      <vt:lpstr>Atomic Mass</vt:lpstr>
      <vt:lpstr>Atomic Structures</vt:lpstr>
      <vt:lpstr>Ions, Molecules, and Compounds</vt:lpstr>
      <vt:lpstr>Ions: Cations</vt:lpstr>
      <vt:lpstr>Ions: Anions</vt:lpstr>
      <vt:lpstr>Orbitals, Shells, and Valence Electrons </vt:lpstr>
      <vt:lpstr>Free Radicals</vt:lpstr>
      <vt:lpstr>Chemical Bonds</vt:lpstr>
      <vt:lpstr>Chemical Bonding Interactions Animation: </vt:lpstr>
      <vt:lpstr>Chemical Bonds </vt:lpstr>
      <vt:lpstr>Ionic Bonds</vt:lpstr>
      <vt:lpstr>Covalent Bonds </vt:lpstr>
      <vt:lpstr>Covalent Bonds </vt:lpstr>
      <vt:lpstr>Covalent Bonds</vt:lpstr>
      <vt:lpstr>Covalent Bonds </vt:lpstr>
      <vt:lpstr>Hydrogen Bonds</vt:lpstr>
      <vt:lpstr>Hydrogen Bonds and Water</vt:lpstr>
      <vt:lpstr>Chemical Reactions </vt:lpstr>
      <vt:lpstr>Chemical Reactions</vt:lpstr>
      <vt:lpstr>Chemical Reactions </vt:lpstr>
      <vt:lpstr>Forms of Energy &amp; Chemical Reactions</vt:lpstr>
      <vt:lpstr>Energy Transfer</vt:lpstr>
      <vt:lpstr>Catalysts</vt:lpstr>
      <vt:lpstr>Types of Chemical Reactions</vt:lpstr>
      <vt:lpstr>Types of Chemical Reactions </vt:lpstr>
      <vt:lpstr>Synthesis Reactions - Anabolism</vt:lpstr>
      <vt:lpstr>Decomposition Reactions - Catabolism</vt:lpstr>
      <vt:lpstr>Exchange Reactions</vt:lpstr>
      <vt:lpstr>Reversible Reactions</vt:lpstr>
      <vt:lpstr>Oxidation-Reduction Reactions</vt:lpstr>
      <vt:lpstr>Inorganic Compounds and Solutions</vt:lpstr>
      <vt:lpstr>Inorganic vs. Organic Compounds</vt:lpstr>
      <vt:lpstr>Properties of Water Interactions Animation:</vt:lpstr>
      <vt:lpstr>Water as a Solvent</vt:lpstr>
      <vt:lpstr>Water as a Solvent</vt:lpstr>
      <vt:lpstr>Water in Chemical Reactions</vt:lpstr>
      <vt:lpstr>Thermal Properties of Water</vt:lpstr>
      <vt:lpstr>Water as a Lubricant</vt:lpstr>
      <vt:lpstr>Mixtures</vt:lpstr>
      <vt:lpstr>Percentage &amp; Molarity</vt:lpstr>
      <vt:lpstr>Acids, Bases, &amp; Salts</vt:lpstr>
      <vt:lpstr>pH </vt:lpstr>
      <vt:lpstr>pH </vt:lpstr>
      <vt:lpstr>pH </vt:lpstr>
      <vt:lpstr>pH and Buffers Interactions Animation:</vt:lpstr>
      <vt:lpstr>Buffer Systems</vt:lpstr>
      <vt:lpstr>Overview of Organic Compounds</vt:lpstr>
      <vt:lpstr>Carbon</vt:lpstr>
      <vt:lpstr>Major Functional Groups of Organic Compounds </vt:lpstr>
      <vt:lpstr>Major Functional Groups of Organic Compounds </vt:lpstr>
      <vt:lpstr>Major Functional Groups of Organic Compounds </vt:lpstr>
      <vt:lpstr>Macromolecules </vt:lpstr>
      <vt:lpstr>Carbohydrates</vt:lpstr>
      <vt:lpstr>Major Carbohydrate Groups </vt:lpstr>
      <vt:lpstr>Glucose</vt:lpstr>
      <vt:lpstr>Monosaccharides</vt:lpstr>
      <vt:lpstr>Disaccharides</vt:lpstr>
      <vt:lpstr>Major Carbohydrate Groups </vt:lpstr>
      <vt:lpstr>Carbohydrates </vt:lpstr>
      <vt:lpstr>Polysaccharides</vt:lpstr>
      <vt:lpstr>Types of Lipids in the Body </vt:lpstr>
      <vt:lpstr>Types of Lipids in the Body </vt:lpstr>
      <vt:lpstr>Types of Lipids in the Body </vt:lpstr>
      <vt:lpstr>Fatty Acids</vt:lpstr>
      <vt:lpstr>Fatty Acids</vt:lpstr>
      <vt:lpstr>Triglycerides</vt:lpstr>
      <vt:lpstr>Phospholipids</vt:lpstr>
      <vt:lpstr>Steroids</vt:lpstr>
      <vt:lpstr>Proteins</vt:lpstr>
      <vt:lpstr>Functions of Proteins </vt:lpstr>
      <vt:lpstr>Functions of Proteins </vt:lpstr>
      <vt:lpstr>Amino Acids</vt:lpstr>
      <vt:lpstr>Peptide Bond Formation</vt:lpstr>
      <vt:lpstr>Protein Structure </vt:lpstr>
      <vt:lpstr>Structural Organization in Proteins</vt:lpstr>
      <vt:lpstr>Proteins - Enzymes </vt:lpstr>
      <vt:lpstr>Enzyme-Substrate Complexes</vt:lpstr>
      <vt:lpstr>Enzymes</vt:lpstr>
      <vt:lpstr>Enzymes Interactions Animation:</vt:lpstr>
      <vt:lpstr>Nucleic Acids</vt:lpstr>
      <vt:lpstr>Nucleotide </vt:lpstr>
      <vt:lpstr>Components of a Nucleotide</vt:lpstr>
      <vt:lpstr>Nucleic Acids </vt:lpstr>
      <vt:lpstr>D N A</vt:lpstr>
      <vt:lpstr>D N A vs. R N A</vt:lpstr>
      <vt:lpstr>Adenosine Triphosphate (A T P)</vt:lpstr>
      <vt:lpstr>How Does The Cell Produce ATP?</vt:lpstr>
      <vt:lpstr>Copyright</vt:lpstr>
    </vt:vector>
  </TitlesOfParts>
  <Manager/>
  <Company>John Wiley &amp; Sons,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The Chemical Level of Organization</dc:title>
  <dc:subject/>
  <dc:creator>Gerard Tortora/Bryan Derrickson</dc:creator>
  <cp:keywords/>
  <dc:description/>
  <cp:lastModifiedBy>Jill</cp:lastModifiedBy>
  <cp:revision>1292</cp:revision>
  <cp:lastPrinted>2017-04-26T13:25:47Z</cp:lastPrinted>
  <dcterms:created xsi:type="dcterms:W3CDTF">2017-04-21T14:49:46Z</dcterms:created>
  <dcterms:modified xsi:type="dcterms:W3CDTF">2021-05-24T02:09:50Z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0x0101000E01F302C440524FA31D7DCD25615BF1</vt:lpwstr>
  </property>
</Properties>
</file>